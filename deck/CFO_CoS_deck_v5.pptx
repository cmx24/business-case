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autoCompressPictures="0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15"/>
    <ns0:sldId id="270" ns1:id="rId16"/>
    <ns0:sldId id="271" ns1:id="rId17"/>
    <ns0:sldId id="272" ns1:id="rId18"/>
    <ns0:sldId id="273" ns1:id="rId19"/>
    <ns0:sldId id="274" ns1:id="rId20"/>
    <ns0:sldId id="275" ns1:id="rId21"/>
    <ns0:sldId id="276" ns1:id="rId22"/>
    <ns0:sldId id="277" ns1:id="rId23"/>
  </ns0:sldIdLst>
  <ns0:sldSz cx="12192000" cy="6858000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Met on the shared platform</c:v>
                </c:pt>
                <c:pt idx="2">
                  <c:v>Back for a 60-day case</c:v>
                </c:pt>
                <c:pt idx="3">
                  <c:v>H2 reserve (not in plan)</c:v>
                </c:pt>
                <c:pt idx="4">
                  <c:v>Funded (two releases)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52</c:v>
                </c:pt>
                <c:pt idx="2">
                  <c:v>40</c:v>
                </c:pt>
                <c:pt idx="3">
                  <c:v>25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5B4B7A"/>
              </a:solidFill>
            </c:spPr>
          </c:dPt>
          <c:dPt>
            <c:idx val="1"/>
            <c:spPr>
              <a:solidFill>
                <a:srgbClr val="8B5CF6"/>
              </a:solidFill>
            </c:spPr>
          </c:dPt>
          <c:dPt>
            <c:idx val="2"/>
            <c:spPr>
              <a:solidFill>
                <a:srgbClr val="8B5CF6"/>
              </a:solidFill>
            </c:spPr>
          </c:dPt>
          <c:dPt>
            <c:idx val="3"/>
            <c:spPr>
              <a:solidFill>
                <a:srgbClr val="D97706"/>
              </a:solidFill>
            </c:spPr>
          </c:dPt>
          <c:dPt>
            <c:idx val="4"/>
            <c:spPr>
              <a:solidFill>
                <a:srgbClr val="820AD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$60M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$8M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$12M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$15M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$25M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Met on the shared platform</c:v>
                </c:pt>
                <c:pt idx="2">
                  <c:v>Back for a 60-day case</c:v>
                </c:pt>
                <c:pt idx="3">
                  <c:v>H2 reserve (not in plan)</c:v>
                </c:pt>
                <c:pt idx="4">
                  <c:v>Funded (two releases)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8</c:v>
                </c:pt>
                <c:pt idx="2">
                  <c:v>12</c:v>
                </c:pt>
                <c:pt idx="3">
                  <c:v>15</c:v>
                </c:pt>
                <c:pt idx="4">
                  <c:v>25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1052C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Triage: the Board date is fixed, so it goes first; the budget sets the precedent; the HQ is paced by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decisions, each with a number. The reserve is stated up front, with its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 matters most: if the dispute is about capital by entity, slide 8 carries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$35M is small against Nu's scale; the precedent and the efficiency ratio are what matter. $25M is about 0.15 points of efficiency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Scores and weights are judgment; option 3 stays first under every 10-point weight change (backup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dollar of the $60M has a path; the reserve opens only on its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hub of 4-6 people and three standing meetings, plus the HQ pod; the CFO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Equity by entity first; the 70/30 opex split is the second half of the same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four moves every time; the GM keeps the goal and earns the next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calendar with owners. If materials are late, the locked outline decides what moves to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governance project before a real-estate project; no savings figure until gate 1 produces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rules, each tied to a mechanism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stop rules, all visible at quarter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ask, the 90-day measures and the stop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685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C084FC"/>
                </a:solidFill>
                <a:latin typeface="Arial"/>
              </a:rPr>
              <a:t>NU HOLDINGS  //  OFFICE OF THE CFO AND CORPORATE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Chief of Staff to the CFO: planning, the Board and the new HQ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2402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9D5FF"/>
                </a:solidFill>
                <a:latin typeface="Arial"/>
              </a:rPr>
              <a:t>Case presentation, 60 days into the role. Cassio Modelli, October 2026. Nu figures are public Q2'26 data; my assumptions are on slide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2376" y="3264408"/>
            <a:ext cx="3255263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084FC"/>
                </a:solidFill>
                <a:latin typeface="Arial"/>
              </a:rPr>
              <a:t>PLANNING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$60M of asks, a $25M cap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9D5FF"/>
                </a:solidFill>
                <a:latin typeface="Arial"/>
              </a:rPr>
              <a:t>Bring planning in-house and give every ask an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25696" y="3264408"/>
            <a:ext cx="3255263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084FC"/>
                </a:solidFill>
                <a:latin typeface="Arial"/>
              </a:rPr>
              <a:t>GOVERNANCE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 Board in four weeks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9D5FF"/>
                </a:solidFill>
                <a:latin typeface="Arial"/>
              </a:rPr>
              <a:t>Two executives disagree on capital, and the Board book is 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29015" y="3264408"/>
            <a:ext cx="3255263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084FC"/>
                </a:solidFill>
                <a:latin typeface="Arial"/>
              </a:rPr>
              <a:t>SPECIAL PROJECT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 new HQ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9D5FF"/>
                </a:solidFill>
                <a:latin typeface="Arial"/>
              </a:rPr>
              <a:t>Legal, tax and campus terms across jurisdictions, with no line authority.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49834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528" y="5074920"/>
            <a:ext cx="10515600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1052C"/>
                </a:solidFill>
                <a:latin typeface="Arial"/>
              </a:rPr>
              <a:t>How I triaged them: </a:t>
            </a:r>
            <a:r>
              <a:rPr sz="1350" b="0">
                <a:solidFill>
                  <a:srgbClr val="11052C"/>
                </a:solidFill>
                <a:latin typeface="Arial"/>
              </a:rPr>
              <a:t>the Board date is fixed, so it goes first. The budget sets the precedent for every cycle after it. The HQ is chartered now and paced by gates.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084F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Three decisions today: the $25M plan, the Board calendar and the HQ charter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560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801368"/>
            <a:ext cx="2340863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DELIVERABLE 1  //  PLANNING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$25M in two releases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Every ask needs a business case. $15M on 1 January, $10M at Q1 close if the numbers hold. No flat cuts.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691640"/>
            <a:ext cx="2560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5576" y="1801368"/>
            <a:ext cx="2340863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DELIVERABLE 2  //  BOARD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One capital ranking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Both executives' positions go through the same test. The plan locks 16 days before the Board; the book ships 7 days before.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1691640"/>
            <a:ext cx="2560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08776" y="1801368"/>
            <a:ext cx="2340863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DELIVERABLE 3  //  HQ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Four gates in 120 days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Tax, grant terms, officers and lease, each with an owner and an exit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1691640"/>
            <a:ext cx="2560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51976" y="1801368"/>
            <a:ext cx="2340863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DELIVERABLE 4  //  LEADERSHIP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Rigor inside the business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I work in the numbers with the GMs. The CFO gets the trade-offs and makes the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297680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5528" y="4389120"/>
            <a:ext cx="104241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C084FC"/>
                </a:solidFill>
                <a:latin typeface="Arial"/>
              </a:rPr>
              <a:t>THE ASK  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Approve the $25M FY27 cap in two releases, the Board calendar and the HQ charter. Up to $15M more is held in reserve, outside the plan: the CFO decides, and Risk can block it. I report back in 90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WHAT I KNOW AND WHAT I AM ASSUMING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What I know, and the assumptions that could break the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554480"/>
          <a:ext cx="109728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6720840"/>
                <a:gridCol w="1783080"/>
                <a:gridCol w="19659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Nu Q2'26: 138.9M customers; monthly ARPAC $17.1; cost to serve $1.0; efficiency ratio 19.5%; ROE 33%; net income $1.06B.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Q2'26 release and 6-K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A2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Management expects the FY26 efficiency ratio near 20% and will keep the US entry within about 100 bps of efficiency-ratio impact.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FACT (management guidance)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Q2'26 earnings call, 13 Aug 2026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The two MTeam members disagree about the growth-opex envelope, core markets against new bets, not about regulatory capital by entity. If wrong, slide 8's capital ranking is the decision.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$8M of the asks can be met on the shared platform at near-zero marginal cost; what Engineering cannot confirm moves to the case track, never above the cap.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My estimate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Spend above $25M only from H1 profit above plan, inside the ~20% guide, with NPL 90+ on plan. The CFO decides; Risk can block; IR sets the disclosure.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RULE (proposed)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To agree with the CFO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A10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The cap is FY27's: first release on 1 Jan 2027, second at Q1 close (31 Mar), the reserve at H1 close. The hub needs 4-6 people.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Calendar fiscal year; sizing is mine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06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Confirming now: the real MTeam positions; the Board and committee calendar; who owns the planning model; local-CFO decision rights in Mexico and Colombia; the HQ project's status; today's cycle time and forecast accuracy. Full list A1-A10: backup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Underwrite budgets like credit lines: the precedent matters more than the $35M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66160" cy="4343400"/>
          </a:xfrm>
          <a:prstGeom prst="roundRect">
            <a:avLst>
              <a:gd name="adj" fmla="val 5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  <a:latin typeface="Arial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Arial"/>
              </a:rPr>
              <a:t>$35M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32461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E9D5FF"/>
                </a:solidFill>
                <a:latin typeface="Arial"/>
              </a:rPr>
              <a:t>$60M of asks against a $25M cap.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E9D5FF"/>
                </a:solidFill>
                <a:latin typeface="Arial"/>
              </a:rPr>
              <a:t>About 15 bps of annualized revenue.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E9D5FF"/>
                </a:solidFill>
                <a:latin typeface="Arial"/>
              </a:rPr>
              <a:t>About 1.1% of annual opex.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E9D5FF"/>
                </a:solidFill>
                <a:latin typeface="Arial"/>
              </a:rPr>
              <a:t>About 0.2 points of efficiency ratio.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7132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The constraint is the efficiency ratio</a:t>
            </a:r>
          </a:p>
          <a:p>
            <a:pPr algn="l"/>
            <a:r>
              <a:rPr sz="1250" b="0">
                <a:solidFill>
                  <a:srgbClr val="3B2A54"/>
                </a:solidFill>
                <a:latin typeface="Arial"/>
              </a:rPr>
              <a:t>19.5% in Q2'26, up from 17.6% in Q1, with real-estate and marketing timing and international expansion named. Management expects about 20% for FY26.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7132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Cost to serve has room if central costs stay lean</a:t>
            </a:r>
          </a:p>
          <a:p>
            <a:pPr algn="l"/>
            <a:r>
              <a:rPr sz="1250" b="0">
                <a:solidFill>
                  <a:srgbClr val="3B2A54"/>
                </a:solidFill>
                <a:latin typeface="Arial"/>
              </a:rPr>
              <a:t>$1.0 a month per active customer, up from $0.8 a year earlier, against $17.1 of ARPAC.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840480"/>
            <a:ext cx="7132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Budgets should work like Nu's credit</a:t>
            </a:r>
          </a:p>
          <a:p>
            <a:pPr algn="l"/>
            <a:r>
              <a:rPr sz="1250" b="0">
                <a:solidFill>
                  <a:srgbClr val="3B2A54"/>
                </a:solidFill>
                <a:latin typeface="Arial"/>
              </a:rPr>
              <a:t>Nu's 20-F describes low-and-grow: small limits, raised on behavior. Budgets get the same test-and-learn: start small, grow when four indicators hold: activation, 30-day retention, CAC and unit cost against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937760"/>
            <a:ext cx="7132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This cycle sets the habit</a:t>
            </a:r>
          </a:p>
          <a:p>
            <a:pPr algn="l"/>
            <a:r>
              <a:rPr sz="1250" b="0">
                <a:solidFill>
                  <a:srgbClr val="3B2A54"/>
                </a:solidFill>
                <a:latin typeface="Arial"/>
              </a:rPr>
              <a:t>It is the first cycle planned centrally. It decides whether GMs bring real cases next year or pad their asks. That is smart efficiency, run by owners.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2910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Sources: Nu Q2'26 release and 6-K (opex $806.2M; net revenue ~$4.1B), Q2'26 call, Form 20-F. Calculations: revenue ~$23.5B annualized managerial; opex ~$3.2B annualized; efficiency ratio on Nu's denominator (NII plus fees).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Staged release beats flat cuts and core-first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78992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1280160"/>
                <a:gridCol w="1234440"/>
                <a:gridCol w="1234440"/>
                <a:gridCol w="1097280"/>
                <a:gridCol w="1051560"/>
                <a:gridCol w="12344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Meets $25M cap (30%)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Growth return (25%)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GM ownership (20%)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Agility (15%)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Speed (10%)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Weighted score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052C"/>
                          </a:solidFill>
                          <a:latin typeface="Arial"/>
                        </a:rPr>
                        <a:t>1. Equal cut</a:t>
                      </a:r>
                      <a:r>
                        <a:rPr sz="1300" b="0">
                          <a:solidFill>
                            <a:srgbClr val="11052C"/>
                          </a:solidFill>
                          <a:latin typeface="Arial"/>
                        </a:rPr>
                        <a:t> (every unit gets 42% of its ask)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57.8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052C"/>
                          </a:solidFill>
                          <a:latin typeface="Arial"/>
                        </a:rPr>
                        <a:t>2. Core markets first</a:t>
                      </a:r>
                      <a:r>
                        <a:rPr sz="1300" b="0">
                          <a:solidFill>
                            <a:srgbClr val="11052C"/>
                          </a:solidFill>
                          <a:latin typeface="Arial"/>
                        </a:rPr>
                        <a:t> (pause new bets)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63.8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052C"/>
                          </a:solidFill>
                          <a:latin typeface="Arial"/>
                        </a:rPr>
                        <a:t>3. Business-case readiness and staged release</a:t>
                      </a:r>
                      <a:r>
                        <a:rPr sz="1300" b="0">
                          <a:solidFill>
                            <a:srgbClr val="11052C"/>
                          </a:solidFill>
                          <a:latin typeface="Arial"/>
                        </a:rPr>
                        <a:t> (recommended)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2A54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B2A54"/>
                          </a:solidFill>
                          <a:latin typeface="Arial"/>
                        </a:rPr>
                        <a:t>91.8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279392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4370831"/>
            <a:ext cx="10424160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1052C"/>
                </a:solidFill>
                <a:latin typeface="Arial"/>
              </a:rPr>
              <a:t>Flat cuts win only on speed, and they teach GMs to pad next year's ask. Core-first is honest but gives new bets nothing to earn. Scores and weights are my judgment (A9); option 3 stays first if any weight moves 10 points (backup 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Every dollar of the $60M gets an answer: $25M funded in two releases, $15M held in reserve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60350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645920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84848" y="1755648"/>
            <a:ext cx="453542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FIRST RELEASE, 1 JAN 2027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$15M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$10.5M to core markets (70%) and $4.5M to new bets (30%), for cases already vetted.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944368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84848" y="3054096"/>
            <a:ext cx="453542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SECOND RELEASE, 31 MAR (Q1 CLOSE)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$10M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To units whose Q1 indicators hold. Completes the $25M.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42816"/>
            <a:ext cx="4754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84848" y="4352544"/>
            <a:ext cx="453542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H2 RESERVE, NOT IN PLAN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Up to $15M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Only from H1 profit above plan, inside the ~20% guide, with NPL 90+ on plan. The CFO decides; Risk can block; IR sets the disclosure.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989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$8M of country asks reuse the shared code base at near-zero marginal cost (A5); anything Engineering cannot confirm moves to the case track, and the cap does not grow. $12M enters a 60-day business-case track with my team.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A lean hub and a short meeting cadence bring planning in-house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42062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55648"/>
            <a:ext cx="3986783" cy="4023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THE HUB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A planning hub of 4-6 people (A10)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Owns the single planning model and reads Nu's data platform directly.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Its KPIs: cycle time under 40 days, forecast accuracy, and 100% of spend with an approved case.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Finance partners sit in each market and vertical: solid line to the hub, dotted line to the GM, in place by late November.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I hire for two skills: modeling and plain-English writing, and I keep the review of the model myself.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645920"/>
          <a:ext cx="64008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2011680"/>
                <a:gridCol w="242316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Meeting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Who runs it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052C"/>
                          </a:solidFill>
                          <a:latin typeface="Arial"/>
                        </a:rPr>
                        <a:t>Squad clinics</a:t>
                      </a:r>
                      <a:r>
                        <a:rPr sz="1200" b="0">
                          <a:solidFill>
                            <a:srgbClr val="11052C"/>
                          </a:solidFill>
                          <a:latin typeface="Arial"/>
                        </a:rPr>
                        <a:t>, weekly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2A54"/>
                          </a:solidFill>
                          <a:latin typeface="Arial"/>
                        </a:rPr>
                        <a:t>Finance partner, with the GM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2A54"/>
                          </a:solidFill>
                          <a:latin typeface="Arial"/>
                        </a:rPr>
                        <a:t>A business case in the standard template, co-signed by the GM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052C"/>
                          </a:solidFill>
                          <a:latin typeface="Arial"/>
                        </a:rPr>
                        <a:t>GM one-to-ones</a:t>
                      </a:r>
                      <a:r>
                        <a:rPr sz="1200" b="0">
                          <a:solidFill>
                            <a:srgbClr val="11052C"/>
                          </a:solidFill>
                          <a:latin typeface="Arial"/>
                        </a:rPr>
                        <a:t>, every two weeks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2A54"/>
                          </a:solidFill>
                          <a:latin typeface="Arial"/>
                        </a:rPr>
                        <a:t>Me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2A54"/>
                          </a:solidFill>
                          <a:latin typeface="Arial"/>
                        </a:rPr>
                        <a:t>No surprises at the lock; every ask has a path to yes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052C"/>
                          </a:solidFill>
                          <a:latin typeface="Arial"/>
                        </a:rPr>
                        <a:t>Release review</a:t>
                      </a:r>
                      <a:r>
                        <a:rPr sz="1200" b="0">
                          <a:solidFill>
                            <a:srgbClr val="11052C"/>
                          </a:solidFill>
                          <a:latin typeface="Arial"/>
                        </a:rPr>
                        <a:t>, quarterly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2A54"/>
                          </a:solidFill>
                          <a:latin typeface="Arial"/>
                        </a:rPr>
                        <a:t>CFO decides, on my recommendation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2A54"/>
                          </a:solidFill>
                          <a:latin typeface="Arial"/>
                        </a:rPr>
                        <a:t>Release memo to the GMs the same day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0" y="4434840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80" y="4526279"/>
            <a:ext cx="603504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1052C"/>
                </a:solidFill>
                <a:latin typeface="Arial"/>
              </a:rPr>
              <a:t>Roles are explicit: finance partners recommend, GMs give input, I assemble the pack, the CFO decides, the hub runs it. The fourth standing meeting is the HQ pod (slide 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The capital dispute gets one ranking: return on the equity each use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47472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09928"/>
            <a:ext cx="3255263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WHAT IS ON THE TABLE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Four uses of equity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Brazil deepening.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Nu Mexico: bank authorized 10 Jul 2026, operating since 6 Aug; $4.2B planned to 2030.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US charter: OCC conditional approval 29 Jan 2026; capital in by about 29 Jan 2027.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Buyback of up to $1.0B, announced Jun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600200"/>
            <a:ext cx="347472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79976" y="1709928"/>
            <a:ext cx="3255263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THE TEST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Return on allocated capital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After-tax return on the extra equity each use needs, against that market's cost of equity, with headroom by entity in a downside case.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Beating the cost of equity creates value even if it dilutes the 33% group ROE. The buyback is the 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7848" y="1600200"/>
            <a:ext cx="347472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37575" y="1709928"/>
            <a:ext cx="3255263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WHO DECIDES, BY WHEN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Before Investor Day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The CFO recommends, the CEO decides, the Board approves at this meeting, the last before Investor Day on 8 Dec.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One page per use: return, capital, headroom, risk. Cost of equity comes from Treasury.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846320"/>
            <a:ext cx="10789920" cy="118872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4937759"/>
            <a:ext cx="1042416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Where the two executives meet on opex: </a:t>
            </a:r>
            <a:r>
              <a:rPr sz="1250" b="0">
                <a:solidFill>
                  <a:srgbClr val="FFFFFF"/>
                </a:solidFill>
                <a:latin typeface="Arial"/>
              </a:rPr>
              <a:t>mature cohorts earn about $31 a month at eight years against $17.1 for the group, so core markets take 70% of the first release. New bets take 30% and are judged on activation, retention and unit cost, not first-quarter profit. If the dispute is about equity, the ranking above decides it (A4).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172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Sources: Nu Q2'26 release (ROE 33%, ARPAC $17.1); Q1'26 cohort slide ($30.8 at 96 months vs $15.9 total); Nu announcements (Mexico 10 Jul and 6 Aug 2026; OCC 29 Jan 2026; buyback 4 Jun 2026); Nu IR (Investor Day 8 Dec 2026).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When a senior GM pushes back: four moves, in the same order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56032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55648"/>
            <a:ext cx="2340863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STEP 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Talk privately first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I confirm the strategic goal before any budget line comes up. Nobody is corrected in front of the CFO.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645920"/>
            <a:ext cx="256032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5576" y="1755648"/>
            <a:ext cx="2340863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STEP 2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Move to the evidence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From "I need $25M" to "what would prove this works?" The published rule does the arguing, not 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1645920"/>
            <a:ext cx="256032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08776" y="1755648"/>
            <a:ext cx="2340863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STEP 3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Offer a conditional yes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A funded start, the $4.5M for new bets in the first release, and a reserved claim on the second release once the indicators 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1645920"/>
            <a:ext cx="256032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51976" y="1755648"/>
            <a:ext cx="2340863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STEP 4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Present together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The GM and I present the plan together at the lock. The CEO's office is briefed in advance and sees the same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70916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5528" y="4800600"/>
            <a:ext cx="10424160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Why it works without line authority: </a:t>
            </a:r>
            <a:r>
              <a:rPr sz="1300" b="0">
                <a:solidFill>
                  <a:srgbClr val="FFFFFF"/>
                </a:solidFill>
                <a:latin typeface="Arial"/>
              </a:rPr>
              <a:t>people accept a decision they argued against when the criteria were public before it was made. The rule is public on day one, the conversation is private, and the sign-off is joint.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9436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Fair process: Kim and Mauborgne, "Fair Process: Managing in the Knowledge Economy", Harvard Business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The Board book goes out 7 days before the meeting, after a lock at 16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5603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55648"/>
            <a:ext cx="2340863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T-28 TO T-21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Outline locked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Today I issue the locked outline and standard data tables with the Corporate Secretary, so units stop building rival decks.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645920"/>
            <a:ext cx="25603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5576" y="1755648"/>
            <a:ext cx="2340863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T-20 TO T-14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Executive lock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One-to-ones at T-21. The capital options memo settles the ranking and the 70/30 opex split with the CEO and CFO at T-16.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1645920"/>
            <a:ext cx="25603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08776" y="1755648"/>
            <a:ext cx="2340863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T-13 TO T-7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One pen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Inputs freeze at T-10. Committee chairs are briefed at T-9. The book is on the portal at T-7.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1645920"/>
            <a:ext cx="25603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51976" y="1755648"/>
            <a:ext cx="2340863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T-6 TO T-0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Decisions, not read-outs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Directors' data questions are answered in writing by T-3, so the meeting is spent on the capital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480560"/>
            <a:ext cx="10789920" cy="132588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5528" y="4572000"/>
            <a:ext cx="10424160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1052C"/>
                </a:solidFill>
                <a:latin typeface="Arial"/>
              </a:rPr>
              <a:t>Two items cannot slip: </a:t>
            </a:r>
            <a:r>
              <a:rPr sz="1300" b="0">
                <a:solidFill>
                  <a:srgbClr val="11052C"/>
                </a:solidFill>
                <a:latin typeface="Arial"/>
              </a:rPr>
              <a:t>the capital plan, because this is the last Board before Investor Day on 8 Dec, and the statutory items for new entities. The rule for those: open an entity only when a license or tax substance requires it; officers and signing follow the stage (backup B).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Board assumed on Tue 17 Nov, four weeks from today (A7). Q3'26 results are due 12 Nov.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HQ charter: four gates in 120 days, each with an owner and an exit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55648"/>
            <a:ext cx="2340863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GATE 1  //  D+30  //  TAX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11052C"/>
                </a:solidFill>
                <a:latin typeface="Arial"/>
              </a:rPr>
              <a:t>Tax substance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Nu is above the EUR 750M Pillar Two threshold. In 2026 only 9.4% of payroll and 7.4% of tangible assets come out of the 15% top-up base, so incentives need real people and assets. Exit: the modeled tax rate 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64592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5576" y="1755648"/>
            <a:ext cx="2340863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GATE 2  //  D+60  //  LEGAL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11052C"/>
                </a:solidFill>
                <a:latin typeface="Arial"/>
              </a:rPr>
              <a:t>Grant terms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The grant scales with headcount: 85% of headcount keeps 85% of the grant, with 24 months' grace. Exit: no cliff-edge clawback in the signed term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164592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08776" y="1755648"/>
            <a:ext cx="2340863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GATE 3  //  D+90  //  LEGAL AND PEOPLE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11052C"/>
                </a:solidFill>
                <a:latin typeface="Arial"/>
              </a:rPr>
              <a:t>Officers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Directors who pass the regulator's fit-and-proper test, dual signature above set limits, D&amp;O in place before activation. No commercial signing before then.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164592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51976" y="1755648"/>
            <a:ext cx="2340863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GATE 4  //  D+120  //  WORKPLACE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11052C"/>
                </a:solidFill>
                <a:latin typeface="Arial"/>
              </a:rPr>
              <a:t>Lease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Phase the cost: Q2'26 showed how real-estate timing moves the efficiency ratio. Exit: lease terms inside the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84632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5528" y="4937759"/>
            <a:ext cx="10424160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How I run it without line authority: </a:t>
            </a:r>
            <a:r>
              <a:rPr sz="1250" b="0">
                <a:solidFill>
                  <a:srgbClr val="FFFFFF"/>
                </a:solidFill>
                <a:latin typeface="Arial"/>
              </a:rPr>
              <a:t>one weekly 45-minute pod (Legal, Tax, People, Workplace), one decision log, escalation to the CFO within 48 hours. Risks I track: tax residence, clawback, officer liability, site politics, and dependence on me, covered by a named deputy in the pod.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Jurisdiction open (A8). No savings figure until a site is chosen. Sources: OECD GloBE Model Rules, Art. 5.3 and the Art. 9.2 transitional rates; Nu Q2'26 release.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4  //  LEADERSHIP STYLE AND OPERATING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How I balance strategic influence with hands-on rigor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4747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55648"/>
            <a:ext cx="3255263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RULE 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Publish the rule, then negotiate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People accept outcomes they argued against when the criteria were public first.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I publish the scoring on day one and do not change it mid-cycle. Every GM sees the same four indicators.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645920"/>
            <a:ext cx="34747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79976" y="1755648"/>
            <a:ext cx="3255263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RULE 2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Fix the numbers in private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Model gaps are closed one to one before anything reaches the CFO or the Board.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Senior people trust you when you never surprise them in a room.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7848" y="1645920"/>
            <a:ext cx="34747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37575" y="1755648"/>
            <a:ext cx="3255263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RULE 3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Own the model and the clauses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I build the model and read the clauses myself.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Influence at this level is earned by being right on the detail.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389120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4480559"/>
            <a:ext cx="104241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Where I push back on the CFO: </a:t>
            </a:r>
            <a:r>
              <a:rPr sz="1300" b="0">
                <a:solidFill>
                  <a:srgbClr val="FFFFFF"/>
                </a:solidFill>
                <a:latin typeface="Arial"/>
              </a:rPr>
              <a:t>when a decision skips the published rule. 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What I leave alone for 90 days: </a:t>
            </a:r>
            <a:r>
              <a:rPr sz="1300" b="0">
                <a:solidFill>
                  <a:srgbClr val="FFFFFF"/>
                </a:solidFill>
                <a:latin typeface="Arial"/>
              </a:rPr>
              <a:t>local-CFO decision rights in Mexico and Colombia, credit-model governance, and the IR calendar.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Fair process: Kim and Mauborgne (HBR). Examples from my own record follow in the talk.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RISKS AND STOP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The downside is handled by rules: miss Q1 and the second release waits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789920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834640"/>
                <a:gridCol w="2926080"/>
                <a:gridCol w="28346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Market slows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Base plan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H1 beats plan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Funded spend vs the $25M cap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$15.0M (second release held at Q1 close)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$25.0M ($15M + $10M)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$25.0M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H2 reserve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$0 (not assumed)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Up to $15.0M from H1 profit above plan, inside the ~20% FY26 guide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Stop rules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 unit below plan on two of four indicators: its second-release share is held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Efficiency ratio above the FY26 guide at Q1 close: the second release is held for every unit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Credit cost or NPL 90+ above plan: the reserve stays shut; Risk can block 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Top risks and owners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GMs game the indicators: finance partners own the read-out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Board book slips: the outline locked today decides what goes to the appendix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HQ: tax residence, clawback, officer liability, site politics, key-person risk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What I report in 90 days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First monthly indicator read-outs per unit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Board delivered; capital plan approved; cycle-time and forecast baselines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HQ gates 1 and 2 cleared; gate 3 pack ready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97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Margins are protected without a mid-year freeze. No value figures are claimed beyond the spend lines; before HQ gate 1 they would be guesses.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NEXT 90 DAYS AND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Next 90 days: Board by 17 Nov, hub by late November, first release on 1 January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4747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09928"/>
            <a:ext cx="3255263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NOW TO THE BOARD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20 Oct to 17 Nov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Today: Board outline out, HQ charter signed, tax gate launched.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Early Nov (T-16): capital options lock with the CEO, CFO and MTeam.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17 Nov: Board approves the FY27 plan; first-release allocation published.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600200"/>
            <a:ext cx="34747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79976" y="1709928"/>
            <a:ext cx="3255263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BOARD TO YEAR-END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Build the hub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Late Nov: hub in place, partners embedded.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Early Dec: squad clinics running; $12M case track under way.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Mid-Dec (D+60): HQ grant terms agreed.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7848" y="1600200"/>
            <a:ext cx="34747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37575" y="1709928"/>
            <a:ext cx="3255263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JANUARY TO MARCH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Open FY27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1 Jan: FY27 starts; $15M first release.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Mid-Jan (D+90): HQ officers in place; my 90-day report to the CFO.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B2A54"/>
                </a:solidFill>
                <a:latin typeface="Arial"/>
              </a:rPr>
              <a:t>Mid-Feb: lease (D+120). 31 Mar: second release decided.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114800"/>
            <a:ext cx="10789920" cy="182880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4206240"/>
            <a:ext cx="10424160" cy="1682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THE ASK  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Approve the $25M FY27 cap in two releases, the Board calendar and the HQ charter.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In 90 days (mid-January): every first-release dollar has an approved case; the Board book went out 7 days early; HQ gates 1 and 2 are cleared. I stop if two of four indicators fall below plan, or the efficiency ratio runs above the FY26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3774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1052C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B2A54"/>
                </a:solidFill>
                <a:latin typeface="Arial"/>
              </a:rPr>
              <a:t>A  Full assumptions (A1-A10)   |   B  Statutory entity model   |   C  Option sensitivity</a:t>
            </a:r>
          </a:p>
          <a:p>
            <a:pPr algn="ctr"/>
            <a:r>
              <a:rPr sz="1400" b="0">
                <a:solidFill>
                  <a:srgbClr val="3B2A54"/>
                </a:solidFill>
                <a:latin typeface="Arial"/>
              </a:rPr>
              <a:t>D  Sources   |   E  Full-year split by horizon   |   F  Day-by-day timeline   |   G  Stakeholder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All assumptions, with the facts they rest 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17320"/>
          <a:ext cx="10972800" cy="40111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6720840"/>
                <a:gridCol w="1828800"/>
                <a:gridCol w="1920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Q2'26: 138.9M customers, monthly ARPAC $17.1, cost to serve $1.0, efficiency ratio 19.5%, ROE 33%, net income $1.06B.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Q2'26 release and 6-K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A2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FY26 efficiency ratio near 20%; the US entry kept within about 100 bps of efficiency-ratio impact.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FACT (management guidance)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Q2'26 call, 13 Aug 2026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The $60M asks and $25M cap are the case's figures. $35M is about 15 bps of annualized revenue, about 1.1% of opex and about 0.2 points of efficiency ratio ($25M: about 0.15).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ASSUMPTION + CALCULATION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Case brief; Q2'26 figures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A4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The MTeam dispute is about the growth-opex envelope (core vs new bets), not regulatory capital by entity.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$8M met on the shared platform at near-zero marginal cost; unconfirmed scope moves to the case track; $12M needs a case, ready in 60 days.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My estimate; Engineering confirms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A6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Spend above $25M only from H1 profit above plan, inside the ~20% guide, NPL 90+ on plan; CFO decides, Risk can block, IR sets disclosure.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RULE (proposed)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To agree with the CFO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A7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Board in 4 weeks (assumed Tue 17 Nov); Investor Day 8 Dec 2026; the Board approves the capital plan before the Investor Day story is set.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FACT (dates) + ASSUMPTION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Case brief; Nu IR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A8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HQ jurisdiction open. Nu is above the EUR 750M Pillar Two threshold; 2026 carve-out 9.4% of payroll, 7.4% of tangible assets.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FACT (rule) + ASSUMPTION (site)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OECD GloBE rules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A9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Option scores and weights are my judgment; third-party benchmarks are context only.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Slide 5; backup 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A10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FY27 envelope: first release 1 Jan 2027, second at Q1 close (31 Mar), reserve at H1 close. Hub of 4-6 people.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Calendar fiscal year; sizing is mine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Open an entity only when a license or tax substance requires it; officers and signing follow the 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2353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474720"/>
                <a:gridCol w="219456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Trigger for a local entity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Setup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Officers, signing and insurance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74371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1. Market test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(new countries)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license needed and no taxable presence; served from an existing licensed entity or a partner bank (as the US is today, through Lead Bank, since 10 Sep 2026).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entity. Cross-border or partner model.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Central signing only. No local director. Prevents an accidental permanent establishment.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2. Licensed scale-up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(US charter, new verticals)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 regulator requires a local licensed entity (deposits, lending, custody), or substance rules require local payroll and assets.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Dedicated licensed entity with its own capital plan and headroom.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Fit-and-proper directors; two central officers plus one local leader; dual signature above a set limit; D&amp;O before activation.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3. Core hub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(Mexico, a bank since Aug 2026; Colombia; the HQ)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banking or fintech license in force; local CFO in place (already so in Mexico and Colombia).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licensed entity; regional campus where the HQ lands.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Audit and Risk Committee oversight; dual signature above limits set by category; director liability insurance; annual review of powers of attorney.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Sources: Nu announcements (US launch via Lead Bank, 10 Sep 2026; OCC conditional approval, 29 Jan 2026; Mexico bank authorization, 10 Jul 2026; local finance leadership per the CFO appointment release). Signing limits are proposals.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Option 3 stays first under every 10-point change to a single weight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325880"/>
          <a:ext cx="9509760" cy="4169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554480"/>
                <a:gridCol w="17373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Weight changed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Option 1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Option 2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Option 3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Order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Base weights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57.8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63.8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91.8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Meets $25M cap +10 pts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62.4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68.2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92.9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Meets $25M cap -10 pts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53.1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59.3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90.6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Growth return +10 pts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55.4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62.6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92.2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Growth return -10 pts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60.1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64.9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91.3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GM ownership +10 pts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54.3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61.4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90.9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GM ownership -10 pts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61.2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66.1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92.6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Agility +10 pts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55.1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59.8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91.5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Agility -10 pts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60.4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67.7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92.0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Speed +10 pts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61.9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65.6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89.9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Speed -10 pts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53.6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61.9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93.6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 &gt; 2 &gt; 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2179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Base weights: cap 30%, growth return 25%, GM ownership 20%, agility 15%, speed 10%. The changed weight moves 10 points; the others are rebalanced pro rata. Smallest gap between options 3 and 2: 24.2 points. Scores are judgment (A9).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Every number is a sourced fact, a labeled assumption or context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17320"/>
          <a:ext cx="10972800" cy="3005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651760"/>
                <a:gridCol w="466344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Source and 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Data point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Where it is used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Nu scale and efficiency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 release and 6-K; Form 20-F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138.9M customers; ARPAC $17.1; cost to serve $1.0 ($0.8 a year earlier); efficiency ratio 19.5% (17.6% in Q1; ~20% FY26 per the call); ROE 33%; net income $1.06B; opex $806.2M; net revenue ~$4.1B; low-and-grow underwriting.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Slides 3, 4, 6, 8, 13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8275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Corporate events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announcements; OCC; Nu IR  |  FACT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Mexico bank authorization 10 Jul 2026 (operating from 6 Aug), $4.2B plan to 2030; OCC conditional approval 29 Jan 2026 (capital within 12 months); US launch via Lead Bank 10 Sep 2026; buyback up to $1.0B (4 Jun 2026); CFO since 13 Jul 2026; Q3'26 results 12 Nov; Investor Day 8 Dec 2026.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Slides 8, 10, 14; backup 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Cohorts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Q1'26 earnings presentation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$30.8 monthly ARPAC at 96 months since origination vs $15.9 total.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Slide 8; backup 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HQ tax rules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OECD GloBE Model Rules  |  FACT (rule)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EUR 750M threshold; 15% minimum; 2026 transitional carve-out 9.4% of payroll and 7.4% of tangible assets (Art. 5.3, 9.2).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Slide 11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68275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Context only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Hackett, McKinsey, Gartner, HBR, NACD, Deloitte, Baker McKenzie; three-horizons framing (Baghai, Coley and White)  |  CONTEXT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Central hubs shorten planning cycles; active reallocators earn higher returns; fair process wins acceptance; Board books at T-7.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Footers and talk only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0350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Research assisted by AI tools; every figure, calculation and recommendation was checked by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Full-year split: core markets protect the year, new bets earn the reserve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755648"/>
            <a:ext cx="5084064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CORE MARKETS  //  BRAZIL, MEXICO, COLOMBIA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$16.5M in the cap, plus up to $5.0M from the reserve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70% of the first release: $10.5M on 1 January.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Mature cohorts reach about $31 of monthly ARPAC at eight years ($30.8 at 96 months, Q1'26) against $17.1 for the group, at 33% ROE.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36208" y="1755648"/>
            <a:ext cx="5084064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NEW BETS  //  NEW VERTICALS AND MARKETS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$8.5M in the cap, plus up to $10.0M from the reserve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30% of the first release: $4.5M on 1 January.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B2A54"/>
                </a:solidFill>
                <a:latin typeface="Arial"/>
              </a:rPr>
              <a:t>Judged on activation, retention and unit cost until a cohort can show payback. First claim on up to $14M across the second release and the reserve, if it opens.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83480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" y="5074920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1052C"/>
                </a:solidFill>
                <a:latin typeface="Arial"/>
              </a:rPr>
              <a:t>A new bet judged on mature-market profit in its first quarter always loses. The horizon split is a frame, not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One timeline: tenure days, Board countdown and HQ gates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371600"/>
          <a:ext cx="1097280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103120"/>
                <a:gridCol w="2468880"/>
                <a:gridCol w="50292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Tenure day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Board countdown / HQ gate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20 Oct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T-28  |  HQ D+0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outline out; HQ charter signed; tax gate launched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27 Oct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One-to-ones with each executive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Capital options lock with CEO, CFO and MTeam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78-81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T-10 to T-7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Inputs freeze; chairs briefed (T-9); book on portal (T-7)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88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17 Nov (assumed)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approves FY27 plan; first-release allocation published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Thu 19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D+30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1: tax substance test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Late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Hub in place; finance partners embedded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105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Dec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Squad clinics running; $12M case track under way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Mid-Dec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2: grant terms (24-month grace)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133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Fri 1 Jan 2027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FY27 starts; $15M first release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150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Mid-Jan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D+90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3: officers and D&amp;O; 90-day report to the CFO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180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Mid-Feb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D+120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4: 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222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Wed 31 Mar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Q1 close: second release ($10M) decided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Stakeholder map: who decides, who is consulted, and when they hear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371600"/>
          <a:ext cx="10972800" cy="3913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023360"/>
                <a:gridCol w="40233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Role in these decisions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When they hear it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Decides the capital ranking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Options memo before T-16; CEO's office briefed before any GM lock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CFO (since 13 Jul 2026)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Recommends the ranking; decides releases and the H2 reserve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Weekly; every pack before it moves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Board chair and committee chairs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Approve the capital plan; oversee entities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Pre-read at T-9; book at T-7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Corporate Secretary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Owns the Board book and statutory calendar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From today (T-28)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The two MTeam members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Hold the opposing capital views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One-to-ones at T-21; joint lock at T-16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Local CFOs (Mexico, Colombia); Brazil CFO (new role)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Own local decision rights; inputs to the model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Squad clinics; decision rights unchanged for 90 days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Confirms credit conditions; can block the H2 reserve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Quarterly release review; H1 close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IR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Sets how the plan and reserve are disclosed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Before Investor Day (8 Dec)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Tax, Legal, People, Workplace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Own HQ gates 1-4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Weekly HQ pod; 48-hour escalation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GMs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Bring the cases; co-sign them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Squad clinics weekly; one-to-ones every two weeks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