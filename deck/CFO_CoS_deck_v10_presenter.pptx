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2" r:id="rId4"/>
    <p:sldId id="285" r:id="rId5"/>
    <p:sldId id="259" r:id="rId6"/>
    <p:sldId id="283" r:id="rId7"/>
    <p:sldId id="260" r:id="rId8"/>
    <p:sldId id="284" r:id="rId9"/>
    <p:sldId id="264" r:id="rId10"/>
    <p:sldId id="263" r:id="rId11"/>
    <p:sldId id="265" r:id="rId12"/>
    <p:sldId id="267" r:id="rId13"/>
    <p:sldId id="266" r:id="rId14"/>
    <p:sldId id="268" r:id="rId15"/>
    <p:sldId id="269" r:id="rId16"/>
    <p:sldId id="271" r:id="rId17"/>
    <p:sldId id="272" r:id="rId18"/>
    <p:sldId id="273" r:id="rId19"/>
    <p:sldId id="275" r:id="rId20"/>
    <p:sldId id="277" r:id="rId21"/>
    <p:sldId id="279" r:id="rId22"/>
    <p:sldId id="281" r:id="rId23"/>
    <p:sldId id="28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152" autoAdjust="0"/>
  </p:normalViewPr>
  <p:slideViewPr>
    <p:cSldViewPr snapToGrid="0" snapToObjects="1">
      <p:cViewPr varScale="1">
        <p:scale>
          <a:sx n="82" d="100"/>
          <a:sy n="82" d="100"/>
        </p:scale>
        <p:origin x="11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Reserve</c:v>
                </c:pt>
                <c:pt idx="2">
                  <c:v>2H Checkpoint</c:v>
                </c:pt>
                <c:pt idx="3">
                  <c:v>Second release</c:v>
                </c:pt>
                <c:pt idx="4">
                  <c:v>Fund now: first release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25</c:v>
                </c:pt>
                <c:pt idx="3">
                  <c:v>15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86-4F19-BECC-35448F6307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4B7A"/>
              </a:solidFill>
            </c:spPr>
            <c:extLst>
              <c:ext xmlns:c16="http://schemas.microsoft.com/office/drawing/2014/chart" uri="{C3380CC4-5D6E-409C-BE32-E72D297353CC}">
                <c16:uniqueId val="{00000002-0A86-4F19-BECC-35448F630771}"/>
              </c:ext>
            </c:extLst>
          </c:dPt>
          <c:dPt>
            <c:idx val="1"/>
            <c:invertIfNegative val="1"/>
            <c:bubble3D val="0"/>
            <c:spPr>
              <a:solidFill>
                <a:srgbClr val="8B5CF6"/>
              </a:solidFill>
            </c:spPr>
            <c:extLst>
              <c:ext xmlns:c16="http://schemas.microsoft.com/office/drawing/2014/chart" uri="{C3380CC4-5D6E-409C-BE32-E72D297353CC}">
                <c16:uniqueId val="{00000004-0A86-4F19-BECC-35448F630771}"/>
              </c:ext>
            </c:extLst>
          </c:dPt>
          <c:dPt>
            <c:idx val="2"/>
            <c:invertIfNegative val="1"/>
            <c:bubble3D val="0"/>
            <c:spPr>
              <a:solidFill>
                <a:srgbClr val="8B5CF6"/>
              </a:solidFill>
            </c:spPr>
            <c:extLst>
              <c:ext xmlns:c16="http://schemas.microsoft.com/office/drawing/2014/chart" uri="{C3380CC4-5D6E-409C-BE32-E72D297353CC}">
                <c16:uniqueId val="{00000006-0A86-4F19-BECC-35448F630771}"/>
              </c:ext>
            </c:extLst>
          </c:dPt>
          <c:dPt>
            <c:idx val="3"/>
            <c:invertIfNegative val="1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8-0A86-4F19-BECC-35448F630771}"/>
              </c:ext>
            </c:extLst>
          </c:dPt>
          <c:dPt>
            <c:idx val="4"/>
            <c:invertIfNegative val="1"/>
            <c:bubble3D val="0"/>
            <c:spPr>
              <a:solidFill>
                <a:srgbClr val="820AD1"/>
              </a:solidFill>
            </c:spPr>
            <c:extLst>
              <c:ext xmlns:c16="http://schemas.microsoft.com/office/drawing/2014/chart" uri="{C3380CC4-5D6E-409C-BE32-E72D297353CC}">
                <c16:uniqueId val="{0000000A-0A86-4F19-BECC-35448F63077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$60M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A86-4F19-BECC-35448F63077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A86-4F19-BECC-35448F63077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$25M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A86-4F19-BECC-35448F63077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A86-4F19-BECC-35448F63077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A86-4F19-BECC-35448F63077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Reserve</c:v>
                </c:pt>
                <c:pt idx="2">
                  <c:v>2H Checkpoint</c:v>
                </c:pt>
                <c:pt idx="3">
                  <c:v>Second release</c:v>
                </c:pt>
                <c:pt idx="4">
                  <c:v>Fund now: first release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10</c:v>
                </c:pt>
                <c:pt idx="2">
                  <c:v>25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A86-4F19-BECC-35448F630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1052C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1"/>
        </c:scaling>
        <c:delete val="1"/>
        <c:axPos val="t"/>
        <c:numFmt formatCode="General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79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1.3 min | PACE steady, warm | TONE calm, composed | Say 'we', not 'I'</a:t>
            </a:r>
          </a:p>
          <a:p>
            <a:r>
              <a:t>LAND: Three problems at once. Finance and governance as GROWTH LEVERS.</a:t>
            </a:r>
          </a:p>
          <a:p>
            <a:r>
              <a:t>SAY:</a:t>
            </a:r>
          </a:p>
          <a:p>
            <a:r>
              <a:t>- $60M of asks vs a $25M cap.</a:t>
            </a:r>
          </a:p>
          <a:p>
            <a:r>
              <a:t>- A Board in 4 weeks, two executives who see capital differently.</a:t>
            </a:r>
          </a:p>
          <a:p>
            <a:r>
              <a:t>- A new HQ across Legal, Tax, Compliance, People, Workplace; no single owner.</a:t>
            </a:r>
          </a:p>
          <a:p>
            <a:r>
              <a:t>- Rigor that scale needs, WITHOUT LOSING THE SPEED.</a:t>
            </a:r>
          </a:p>
          <a:p>
            <a:r>
              <a:t>STRESS: sixty days in; twenty-five million; four weeks; growth levers; without losing the speed</a:t>
            </a:r>
          </a:p>
          <a:p>
            <a:r>
              <a:t>PAUSE: after 'cap'; after 'four weeks'; before 'One thread'</a:t>
            </a:r>
          </a:p>
          <a:p>
            <a:r>
              <a:t>AVOID: reading the three cards; a long thank-you.</a:t>
            </a:r>
          </a:p>
          <a:p>
            <a:r>
              <a:t>IF ASKED: one-sentence answer, then 'We'll cover that in Deliverable N.'</a:t>
            </a:r>
          </a:p>
          <a:p>
            <a:r>
              <a:t>NEXT: 'Here is how we would approach all four.'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1.9 min | PACE steady; SLOW on the four measures and the ask | TONE composed, confident | Say 'we', not 'I'</a:t>
            </a:r>
          </a:p>
          <a:p>
            <a:r>
              <a:t>LAND: One principle, OWNERSHIP, used four times. Three decisions today.</a:t>
            </a:r>
          </a:p>
          <a:p>
            <a:r>
              <a:t>SAY:</a:t>
            </a:r>
          </a:p>
          <a:p>
            <a:r>
              <a:t>- Same four behaviors in every deliverable: propose, gather, options with a recommendation, record decision + reasons + dissent.</a:t>
            </a:r>
          </a:p>
          <a:p>
            <a:r>
              <a:t>- Four deliverables, one line each.</a:t>
            </a:r>
          </a:p>
          <a:p>
            <a:r>
              <a:t>- Measures: 100% of spend with a case; book out 7 days early; HQ gates 1-2 by mid-Dec; GMs rate us twice a year, 'not bureaucracy'.</a:t>
            </a:r>
          </a:p>
          <a:p>
            <a:r>
              <a:t>- Ask: $25M cap + release schedule, Board calendar, HQ gates.</a:t>
            </a:r>
          </a:p>
          <a:p>
            <a:r>
              <a:t>STRESS: ownership; with a recommendation; seven days; mid-December; not bureaucracy</a:t>
            </a:r>
          </a:p>
          <a:p>
            <a:r>
              <a:t>PAUSE: full pause after 'ownership' and before the three decisions</a:t>
            </a:r>
          </a:p>
          <a:p>
            <a:r>
              <a:t>AVOID: explaining each tile; reading the success paragraph. Don't say 'arbitrage': say 'the CEO arbitrates'.</a:t>
            </a:r>
          </a:p>
          <a:p>
            <a:r>
              <a:t>NEXT: 'Deliverable 1 of 4: planning.'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85BE-FAEA-6C01-8970-C3D4FF0C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D5042-EFAE-36AD-AB98-4FFCF1A8F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F9BB1-4945-4395-9694-224015D6F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1.8 min | PACE steady; lift through the meetings | TONE precise, practical | Say 'we', not 'I'</a:t>
            </a:r>
          </a:p>
          <a:p>
            <a:r>
              <a:t>LAND: A small hub, built WITH Global Finance. Markets own their numbers.</a:t>
            </a:r>
          </a:p>
          <a:p>
            <a:r>
              <a:t>SAY:</a:t>
            </a:r>
          </a:p>
          <a:p>
            <a:r>
              <a:t>- 4-6 people; hub + market teams report to Global Finance, dotted line to country CFOs.</a:t>
            </a:r>
          </a:p>
          <a:p>
            <a:r>
              <a:t>- Measures: cycle &lt;40 days, forecast accuracy, 100% of spend with a case.</a:t>
            </a:r>
          </a:p>
          <a:p>
            <a:r>
              <a:t>- Three meetings, nothing else on the calendar.</a:t>
            </a:r>
          </a:p>
          <a:p>
            <a:r>
              <a:t>- Local finance OWNS the drivers. We standardize. The CFO DECIDES.</a:t>
            </a:r>
          </a:p>
          <a:p>
            <a:r>
              <a:t>- Biggest risk: markets not buying in. If it feels like bureaucracy, we want to hear it early.</a:t>
            </a:r>
          </a:p>
          <a:p>
            <a:r>
              <a:t>STRESS: with, not alongside; forty days; nothing else on the calendar; owns; decides</a:t>
            </a:r>
          </a:p>
          <a:p>
            <a:r>
              <a:t>AVOID: 'my team': say 'the hub'. Don't say 'leveraging'; say 'using'. Don't read the risk boxes.</a:t>
            </a:r>
          </a:p>
          <a:p>
            <a:r>
              <a:t>IF ASKED: Q10 HQ vs markets | Q11 why not FP&amp;A | Q15 40-day baseline (say you don't know it; measure in weeks 1-2).</a:t>
            </a:r>
          </a:p>
          <a:p>
            <a:r>
              <a:t>NEXT: 'Who that team is, and when we hire.'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567F-5F21-365E-0C5F-F7A0AD3A3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747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1.6 min | PACE steady; slow on the gates | TONE pragmatic, evidence-led | Say 'we', not 'I'</a:t>
            </a:r>
          </a:p>
          <a:p>
            <a:r>
              <a:t>LAND: Hire half now, half only if the quality gates pass.</a:t>
            </a:r>
          </a:p>
          <a:p>
            <a:r>
              <a:t>SAY:</a:t>
            </a:r>
          </a:p>
          <a:p>
            <a:r>
              <a:t>- Wave 1 by Q2'27: planning manager (US), Brazil and Mexico partners. Mexico covers Colombia until wave 2.</a:t>
            </a:r>
          </a:p>
          <a:p>
            <a:r>
              <a:t>- Wave 2 by Q4'27, ONLY IF gates pass: analyst, Colombia, optional 2nd analyst.</a:t>
            </a:r>
          </a:p>
          <a:p>
            <a:r>
              <a:t>- Gates: &lt;40-day cycle; every first-release $ with a case; accuracy improving; positive GM feedback.</a:t>
            </a:r>
          </a:p>
          <a:p>
            <a:r>
              <a:t>- Levels are a proposal. Cost counts against the same $25M.</a:t>
            </a:r>
          </a:p>
          <a:p>
            <a:r>
              <a:t>STRESS: only if the gates pass; if a gate fails, wave two waits</a:t>
            </a:r>
          </a:p>
          <a:p>
            <a:r>
              <a:t>AVOID: defending each role; salaries and levels.</a:t>
            </a:r>
          </a:p>
          <a:p>
            <a:r>
              <a:t>IF ASKED: Q12 why 4-6 | Q13 two waves | Q14 cost vs cap (yes; unpriced) | Q18 why US central.</a:t>
            </a:r>
          </a:p>
          <a:p>
            <a:r>
              <a:t>NEXT: 'Now the money: the thirty-five million gap.'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2.2 min | PACE SLOW on the scale numbers, then steady | TONE plain, calm, no drama | Say 'we', not 'I'</a:t>
            </a:r>
          </a:p>
          <a:p>
            <a:r>
              <a:t>LAND: $35M is small for Nu; the PRECEDENT matters. Budgets work like low-and-grow.</a:t>
            </a:r>
          </a:p>
          <a:p>
            <a:r>
              <a:t>SAY:</a:t>
            </a:r>
          </a:p>
          <a:p>
            <a:r>
              <a:t>- ~15 bps of revenue; ~0.2 pt of efficiency ratio. Say it calmly, then stop.</a:t>
            </a:r>
          </a:p>
          <a:p>
            <a:r>
              <a:t>- ER 17.6% (Q1) to 19.5% (Q2); guide ~20% for the year. NOT a trend. CTS ~$1 vs ARPAC $17.1.</a:t>
            </a:r>
          </a:p>
          <a:p>
            <a:r>
              <a:t>- Broken today: asks are one number, no shared format.</a:t>
            </a:r>
          </a:p>
          <a:p>
            <a:r>
              <a:t>- Equal cut teaches padding; core-first starves new bets; staged release costs speed.</a:t>
            </a:r>
          </a:p>
          <a:p>
            <a:r>
              <a:t>- 20-F low-and-grow: start small, grow on evidence.</a:t>
            </a:r>
          </a:p>
          <a:p>
            <a:r>
              <a:t>STRESS: scale; precedent; one number; staged release; grow on evidence</a:t>
            </a:r>
          </a:p>
          <a:p>
            <a:r>
              <a:t>PAUSE: after each scale number; before 'Start small'</a:t>
            </a:r>
          </a:p>
          <a:p>
            <a:r>
              <a:t>AVOID: overselling the $35M; calling the ratio move a trend.</a:t>
            </a:r>
          </a:p>
          <a:p>
            <a:r>
              <a:t>IF ASKED: Q31 why bother | Q32 why ER rose | Q33 CTS is not margin | Q34 where low-and-grow breaks | Q25 equal cut.</a:t>
            </a:r>
          </a:p>
          <a:p>
            <a:r>
              <a:t>NEXT: 'How a case gets scored and decided.'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1.7 min | PACE steady; lift on the weights | TONE structured, even-handed | Say 'we', not 'I'</a:t>
            </a:r>
          </a:p>
          <a:p>
            <a:r>
              <a:t>LAND: Mandatory spend has its own gate. Discretionary asks compete on PUBLISHED criteria. The score informs; it doesn't decide.</a:t>
            </a:r>
          </a:p>
          <a:p>
            <a:r>
              <a:t>SAY:</a:t>
            </a:r>
          </a:p>
          <a:p>
            <a:r>
              <a:t>- Weights: economic value 30, strategic 25, customer/risk 20, delivery 15, speed to evidence 10. Published BEFORE submission.</a:t>
            </a:r>
          </a:p>
          <a:p>
            <a:r>
              <a:t>- Four steps, named owners: submit one case; Global Planning calibrates; CFO approves within cap, CEO settles trade-offs; track monthly, reallocate quarterly.</a:t>
            </a:r>
          </a:p>
          <a:p>
            <a:r>
              <a:t>- All a proposal to agree with the CFO.</a:t>
            </a:r>
          </a:p>
          <a:p>
            <a:r>
              <a:t>STRESS: separate gate; before anyone submits; evidence; informs; one case</a:t>
            </a:r>
          </a:p>
          <a:p>
            <a:r>
              <a:t>AVOID: walking through the formula; reading the evidence column.</a:t>
            </a:r>
          </a:p>
          <a:p>
            <a:r>
              <a:t>IF ASKED: Q26 rewards storytellers? | Q27 sandbagging | Q30 mandatory spend over the cap.</a:t>
            </a:r>
          </a:p>
          <a:p>
            <a:r>
              <a:t>NEXT: 'And here is how the money flows through the year.'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1.9 min | PACE SLOW | TONE careful, exact, reassuring | Say 'we', not 'I'</a:t>
            </a:r>
          </a:p>
          <a:p>
            <a:r>
              <a:t>LAND: $25M is the cap in two releases. The rest is CONDITIONAL. Nobody hears a flat no.</a:t>
            </a:r>
          </a:p>
          <a:p>
            <a:r>
              <a:t>SAY (read the chart from the bottom):</a:t>
            </a:r>
          </a:p>
          <a:p>
            <a:r>
              <a:t>- $15M in 1Q27 for vetted cases, 70/30 core/new bets. $10M in 2Q27 on Q1 data. = the $25M cap.</a:t>
            </a:r>
          </a:p>
          <a:p>
            <a:r>
              <a:t>- Half-year close checkpoint: up to $25M. Only from profit above plan, inside the efficiency guide, NPL 90+ on plan. CFO decides, Risk can block.</a:t>
            </a:r>
          </a:p>
          <a:p>
            <a:r>
              <a:t>- $10M reserve for regulatory/strategic surprises, after MTeam validation.</a:t>
            </a:r>
          </a:p>
          <a:p>
            <a:r>
              <a:t>- 70/30: mature cohorts ~$31/month vs $17.1 group.</a:t>
            </a:r>
          </a:p>
          <a:p>
            <a:r>
              <a:t>STRESS: every dollar; cap; only from profit above plan; Risk can block; nobody hears a flat no</a:t>
            </a:r>
          </a:p>
          <a:p>
            <a:r>
              <a:t>PAUSE: after 'cap'; after 'Risk can block it'; before the close</a:t>
            </a:r>
          </a:p>
          <a:p>
            <a:r>
              <a:t>AVOID: saying the $60M is approved; 'budget' (say 'cap'). The slide's box says 'decided on Q4 data': say 'at the half-year close'.</a:t>
            </a:r>
          </a:p>
          <a:p>
            <a:r>
              <a:t>IF ASKED: Q21 | Q22 reserve | Q23-24 70/30 | Q27-29 checkpoint | Q41 Q4 wording.</a:t>
            </a:r>
          </a:p>
          <a:p>
            <a:r>
              <a:t>NEXT: PAUSE for questions (max 90 s). Then 'Deliverable 2 of 4.'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1.1 min | PACE steady, lift | TONE conversational, respectful | Say 'we', not 'I'</a:t>
            </a:r>
          </a:p>
          <a:p>
            <a:r>
              <a:t>LAND: Clear roles, four rhythms. EXECUTIVES OWN THE CONTENT.</a:t>
            </a:r>
          </a:p>
          <a:p>
            <a:r>
              <a:t>SAY:</a:t>
            </a:r>
          </a:p>
          <a:p>
            <a:r>
              <a:t>- Lead works with executives BEFORE formal decisions; unresolved trade-offs go to the CFO with a recommendation.</a:t>
            </a:r>
          </a:p>
          <a:p>
            <a:r>
              <a:t>- Core team: calendar, briefs, actions.</a:t>
            </a:r>
          </a:p>
          <a:p>
            <a:r>
              <a:t>- Chair approves the agenda; Corporate Secretary owns formal governance and minutes.</a:t>
            </a:r>
          </a:p>
          <a:p>
            <a:r>
              <a:t>- Rhythms: weekly CFO; monthly CFO + GMs (two Boards ahead); a countdown; actions within 5 working days after the Board.</a:t>
            </a:r>
          </a:p>
          <a:p>
            <a:r>
              <a:t>STRESS: before formal decisions; executives own the content; five working days</a:t>
            </a:r>
          </a:p>
          <a:p>
            <a:r>
              <a:t>AVOID: reading the subtitle ('resolves executive differences'): say 'we bring options; the CFO and CEO decide'. Don't say 'leverages'.</a:t>
            </a:r>
          </a:p>
          <a:p>
            <a:r>
              <a:t>IF ASKED: Q49 turf with Chair/Secretary | Q58 GM goes to the CEO.</a:t>
            </a:r>
          </a:p>
          <a:p>
            <a:r>
              <a:t>NEXT: 'Here is the countdown for this Board.'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1.8 min | PACE SLOW on the day counts | TONE concrete, practical | Say 'we', not 'I'</a:t>
            </a:r>
          </a:p>
          <a:p>
            <a:r>
              <a:t>LAND: The book is late because nothing is locked. A 28-day countdown fixes it. DECISIONS, NOT READ-OUTS.</a:t>
            </a:r>
          </a:p>
          <a:p>
            <a:r>
              <a:t>SAY:</a:t>
            </a:r>
          </a:p>
          <a:p>
            <a:r>
              <a:t>- Hypothesis: no owner, no locked outline, no standard templates.</a:t>
            </a:r>
          </a:p>
          <a:p>
            <a:r>
              <a:t>- 28 days out: outline + data tables locked. 21: one-to-ones. 16: options memo locks capital priorities incl. 70/30. 10: inputs freeze. 7: book on portal. Written answers to directors by 3 days out.</a:t>
            </a:r>
          </a:p>
          <a:p>
            <a:r>
              <a:t>- Board assumed Tue 17 Nov; Q3 results 12 Nov; Investor Day 8 Dec.</a:t>
            </a:r>
          </a:p>
          <a:p>
            <a:r>
              <a:t>- Can't slip: the capital plan; statutory items.</a:t>
            </a:r>
          </a:p>
          <a:p>
            <a:r>
              <a:t>- No agreement at the lock: both positions in the memo, CEO decides, dissent recorded. One recommendation.</a:t>
            </a:r>
          </a:p>
          <a:p>
            <a:r>
              <a:t>STRESS: hypothesis; locked; sixteen; decisions, not read-outs; one recommendation</a:t>
            </a:r>
          </a:p>
          <a:p>
            <a:r>
              <a:t>AVOID: 'T-minus' (say 'days out'). Don't cite weekdays: T-16, T-10, T-3 fall on weekends.</a:t>
            </a:r>
          </a:p>
          <a:p>
            <a:r>
              <a:t>IF ASKED: Q42 why late | Q43 why 7 days | Q44 weekends | Q45 Q3 timing | Q46 disagree at the lock | Q54 AI drafting.</a:t>
            </a:r>
          </a:p>
          <a:p>
            <a:r>
              <a:t>NEXT: 'The people side of disagreement.'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1.8 min | PACE steady; slower and lower on the story | TONE personal, respectful, humble | Say 'we', not 'I'</a:t>
            </a:r>
          </a:p>
          <a:p>
            <a:r>
              <a:t>LAND: Rules PUBLIC. Conversations PRIVATE. Sign-off JOINT.</a:t>
            </a:r>
          </a:p>
          <a:p>
            <a:r>
              <a:t>SAY:</a:t>
            </a:r>
          </a:p>
          <a:p>
            <a:r>
              <a:t>- Disagreement here is healthy; our job is to turn it into a decision.</a:t>
            </a:r>
          </a:p>
          <a:p>
            <a:r>
              <a:t>- Four moves: talk privately; move past the number ('what would prove this ask works?'); the people side; build WITH them, not for them.</a:t>
            </a:r>
          </a:p>
          <a:p>
            <a:r>
              <a:t>- [YOUR STORY A, ~40 words: a time a senior leader disagreed, what you did privately first, how it ended.]</a:t>
            </a:r>
          </a:p>
          <a:p>
            <a:r>
              <a:t>- Optional pattern line (your own, from v10 notes): 'I've seen fast, agile companies like Itau BBA get slowed down by increasing committees and many cooks in the kitchen. Consensus everywhere all the time is not a reasonable expectation; disagree and commit is a good, mature outcome.' Tip: describe the pattern, not the institution.</a:t>
            </a:r>
          </a:p>
          <a:p>
            <a:r>
              <a:t>STRESS: healthy; privately; what would prove this ask works; with them; public / private / joint</a:t>
            </a:r>
          </a:p>
          <a:p>
            <a:r>
              <a:t>AVOID: 'I win them over'; 'synergy' (say 'alignment'); 'dissent but commit' (say 'disagree and commit').</a:t>
            </a:r>
          </a:p>
          <a:p>
            <a:r>
              <a:t>IF ASKED: Q56 GM won't accept | Q57 leverage without authority | Q55 governance slows fast companies | Q59 no commitment.</a:t>
            </a:r>
          </a:p>
          <a:p>
            <a:r>
              <a:t>NEXT: PAUSE for questions (max 90 s). Then 'Deliverable 3 of 4: the HQ.'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1.7 min | PACE steady; SLOW on the four tests and Pillar Two | TONE measured, careful | Say 'we', not 'I'</a:t>
            </a:r>
          </a:p>
          <a:p>
            <a:r>
              <a:t>LAND: Governance first, campus last. Hard tests first, then preferences.</a:t>
            </a:r>
          </a:p>
          <a:p>
            <a:r>
              <a:t>SAY:</a:t>
            </a:r>
          </a:p>
          <a:p>
            <a:r>
              <a:t>- Five functions, more than one jurisdiction, no single owner.</a:t>
            </a:r>
          </a:p>
          <a:p>
            <a:r>
              <a:t>- Two kinds of agreement: regulatory (incentive, tax rulings, permits) and campus (lease, fit-out, zoning).</a:t>
            </a:r>
          </a:p>
          <a:p>
            <a:r>
              <a:t>- Four pass/fail tests: licenses; tax residence stays; qualified officers; real payroll and assets (Pillar Two).</a:t>
            </a:r>
          </a:p>
          <a:p>
            <a:r>
              <a:t>- 2026 carve-out only ~9% of payroll, ~7% of tangible assets: incentive without substance is worth less than it looks. Tax owns the detail.</a:t>
            </a:r>
          </a:p>
          <a:p>
            <a:r>
              <a:t>- Only sites that pass are scored. Two go to term sheet; CEO and CFO choose.</a:t>
            </a:r>
          </a:p>
          <a:p>
            <a:r>
              <a:t>STRESS: four pass-or-fail tests; tax residence; real payroll and real assets; worth less than it looks</a:t>
            </a:r>
          </a:p>
          <a:p>
            <a:r>
              <a:t>AVOID: naming a city; claiming savings; giving tax advice.</a:t>
            </a:r>
          </a:p>
          <a:p>
            <a:r>
              <a:t>IF ASKED: Q61 which site | Q65 governance vs talent first | Q68 explain Pillar Two | Q69 rules changing | Q70 why start where Nu has substance.</a:t>
            </a:r>
          </a:p>
          <a:p>
            <a:r>
              <a:t>NEXT: 'Who owns which call.'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1.3 min | PACE steady | TONE matter-of-fact, clear on boundaries | Say 'we', not 'I'</a:t>
            </a:r>
          </a:p>
          <a:p>
            <a:r>
              <a:t>LAND: Experts own the judgment. We own the process. The CFO owns the recommendation.</a:t>
            </a:r>
          </a:p>
          <a:p>
            <a:r>
              <a:t>SAY:</a:t>
            </a:r>
          </a:p>
          <a:p>
            <a:r>
              <a:t>- Monthly SteerCo chaired by the CFO. Signing central until officers are approved and insured. Filings start at gate 1: approvals are the long pole.</a:t>
            </a:r>
          </a:p>
          <a:p>
            <a:r>
              <a:t>- Functions disagree: both views in the log, in their own words, to the CFO within 48 hours with a recommendation.</a:t>
            </a:r>
          </a:p>
          <a:p>
            <a:r>
              <a:t>- Legal and Compliance keep a veto on LEGALITY. No one else has a veto.</a:t>
            </a:r>
          </a:p>
          <a:p>
            <a:r>
              <a:t>- Risk we name ourselves: dependence on one person. Named deputy + shared decision log.</a:t>
            </a:r>
          </a:p>
          <a:p>
            <a:r>
              <a:t>STRESS: experts; we own the process; gate one; forty-eight hours; legality; no one else has a veto</a:t>
            </a:r>
          </a:p>
          <a:p>
            <a:r>
              <a:t>AVOID: implying you'd sign or be an officer; legal opinions.</a:t>
            </a:r>
          </a:p>
          <a:p>
            <a:r>
              <a:t>IF ASKED: Q62 would you sign | Q63 Legal no, Tax yes | Q72 dependence on one person | Q74 leak.</a:t>
            </a:r>
          </a:p>
          <a:p>
            <a:r>
              <a:t>NEXT: 'And the four gates.'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1.4 min | PACE SLOW on the four questions and the walk-away | TONE crisp, firm | Say 'we', not 'I'</a:t>
            </a:r>
          </a:p>
          <a:p>
            <a:r>
              <a:t>LAND: Four decisions, each with an owner, an exit test and a walk-away. NOTHING SIGNED BETWEEN GATES.</a:t>
            </a:r>
          </a:p>
          <a:p>
            <a:r>
              <a:t>SAY:</a:t>
            </a:r>
          </a:p>
          <a:p>
            <a:r>
              <a:t>- Gate 1, day 30: CAN WE? Tax + Compliance confirm residence and permissions for both sites.</a:t>
            </a:r>
          </a:p>
          <a:p>
            <a:r>
              <a:t>- Gate 2, day 60: WHAT MAY WE OFFER? Legal; grant with 12-24 months' grace; one site dropped.</a:t>
            </a:r>
          </a:p>
          <a:p>
            <a:r>
              <a:t>- Gate 3, day 90: WHO MAY BIND NU? Officers named and approved.</a:t>
            </a:r>
          </a:p>
          <a:p>
            <a:r>
              <a:t>- Gate 4, day 120: DO WE COMMIT? Lease inside the plan, with a break option.</a:t>
            </a:r>
          </a:p>
          <a:p>
            <a:r>
              <a:t>- Walk-away to say aloud: any site that moves tax residence is out, whatever the incentive. Also: cliff-edge clawback.</a:t>
            </a:r>
          </a:p>
          <a:p>
            <a:r>
              <a:t>- We are the project office; the MTeam decides.</a:t>
            </a:r>
          </a:p>
          <a:p>
            <a:r>
              <a:t>STRESS: decision; can we / what may we offer / who may bind Nu / do we commit; whatever the incentive; nothing signed between gates</a:t>
            </a:r>
          </a:p>
          <a:p>
            <a:r>
              <a:t>AVOID: reading every cell.</a:t>
            </a:r>
          </a:p>
          <a:p>
            <a:r>
              <a:t>IF ASKED: Q64 grant walk-away | Q66 120 days realistic? | Q67 residence moves for both | Q73 lease before incentive.</a:t>
            </a:r>
          </a:p>
          <a:p>
            <a:r>
              <a:t>NEXT: 'Deliverable 4 of 4: how this function works.'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1.3 min | PACE steady; slow on the story | TONE personal, candid | Say 'we', not 'I'</a:t>
            </a:r>
          </a:p>
          <a:p>
            <a:r>
              <a:t>LAND: How the function works: trust, clear recommendations, visible accountability, learning.</a:t>
            </a:r>
          </a:p>
          <a:p>
            <a:r>
              <a:t>SAY:</a:t>
            </a:r>
          </a:p>
          <a:p>
            <a:r>
              <a:t>- Trust: understand GM priorities privately; build recommendations with country teams and experts.</a:t>
            </a:r>
          </a:p>
          <a:p>
            <a:r>
              <a:t>- Alignment: criteria explicit BEFORE the decision; trade-offs to the CFO with a recommendation and a record of dissent.</a:t>
            </a:r>
          </a:p>
          <a:p>
            <a:r>
              <a:t>- Execution: every commitment has an owner and a date. AI supports; PEOPLE VALIDATE.</a:t>
            </a:r>
          </a:p>
          <a:p>
            <a:r>
              <a:t>- Learning: clear proposal + review date; change what isn't working.</a:t>
            </a:r>
          </a:p>
          <a:p>
            <a:r>
              <a:t>- [YOUR STORY B, ~40 words: a time the data showed you were wrong and you changed course. End on what you changed.]</a:t>
            </a:r>
          </a:p>
          <a:p>
            <a:r>
              <a:t>- Local decision rights and specialist governance stay where they are.</a:t>
            </a:r>
          </a:p>
          <a:p>
            <a:r>
              <a:t>STRESS: privately; before the decision; owner and a date; people validate it; where they are</a:t>
            </a:r>
          </a:p>
          <a:p>
            <a:r>
              <a:t>AVOID: personal traits ('I'm collaborative'); a story where you were right all along.</a:t>
            </a:r>
          </a:p>
          <a:p>
            <a:r>
              <a:t>IF ASKED: Q75 time you were wrong | Q76 weakness | Q77 push back on the CFO | Q78 what to leave alone.</a:t>
            </a:r>
          </a:p>
          <a:p>
            <a:r>
              <a:t>NEXT: 'That in practice, and how we'll know it's working.'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1.4 min | PACE steady; SLOW on the ask | TONE firm, brief, grateful | Say 'we', not 'I'</a:t>
            </a:r>
          </a:p>
          <a:p>
            <a:r>
              <a:t>LAND: The function earns its place with the markets. Then the ask.</a:t>
            </a:r>
          </a:p>
          <a:p>
            <a:r>
              <a:t>SAY:</a:t>
            </a:r>
          </a:p>
          <a:p>
            <a:r>
              <a:t>- Same split across all three: team owns the process (model, calendar, decision log); we influence through one-to-ones and prep; GMs and local CFOs own their numbers, narrative, decisions.</a:t>
            </a:r>
          </a:p>
          <a:p>
            <a:r>
              <a:t>- Quarterly with the CFO: KEEP IT, FIX IT, OR DROP IT.</a:t>
            </a:r>
          </a:p>
          <a:p>
            <a:r>
              <a:t>- THE ASK (full pause after each): the $25M cap in two releases; the Board calendar; the HQ gates.</a:t>
            </a:r>
          </a:p>
          <a:p>
            <a:r>
              <a:t>- Report back in 90 days.</a:t>
            </a:r>
          </a:p>
          <a:p>
            <a:r>
              <a:t>- Close: finance and governance as growth levers, with the rigor scale needs and the speed Nu already has.</a:t>
            </a:r>
          </a:p>
          <a:p>
            <a:r>
              <a:t>STRESS: process; their numbers; keep it, fix it, or drop it; three decisions; ninety days</a:t>
            </a:r>
          </a:p>
          <a:p>
            <a:r>
              <a:t>AVOID: ending on 'thank you' alone; adding new content after the ask.</a:t>
            </a:r>
          </a:p>
          <a:p>
            <a:r>
              <a:t>IF ASKED: Q1 one more layer | Q51 is the Board better off | Q80 what success looks like at 90 days.</a:t>
            </a:r>
          </a:p>
          <a:p>
            <a:r>
              <a:t>AFTER: go back to slide 2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DIVIDER (Q&amp;A only). Backups: A assumptions | B statutory entity model | C sources | D timeline | E AI support | F HQ scorecard and risks | G how AI was used.</a:t>
            </a:r>
          </a:p>
          <a:p>
            <a:r>
              <a:t>Don't open a backup unless a question calls for it. Name it: 'That's on backup B.'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IF: asked what is fact vs assumption, or 'which assumption breaks the case'.</a:t>
            </a:r>
          </a:p>
          <a:p>
            <a:r>
              <a:t>SAY: Nu Q2'26 numbers are FACT. The $60M asks / $25M cap are the case's figures. The dispute being about the growth-opex envelope (core vs new bets), not regulatory capital, is an ASSUMPTION; so are the hub size, the AI tools in Nu's environment, and the HQ site.</a:t>
            </a:r>
          </a:p>
          <a:p>
            <a:r>
              <a:t>SPEND ABOVE $25M: only from H1 profit above plan, inside the efficiency guide, NPL 90+ on plan; CFO decides, Risk can block, IR sets disclosure (a proposed rule).</a:t>
            </a:r>
          </a:p>
          <a:p>
            <a:r>
              <a:t>Q: Q6 | Q2 | Q21 | Q35.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IF: asked about entities, signing, officers, or 'where does the HQ sit legally'.</a:t>
            </a:r>
          </a:p>
          <a:p>
            <a:r>
              <a:t>SAY: Open an entity only when a license or tax substance requires it. Stage 1 market test: no entity, central signing (the US today, through Lead Bank). Stage 2 licensed scale-up: fit-and-proper directors, dual signature, D&amp;O before activation. Stage 3 core hub: Audit and Risk oversight; if the HQ sits in an existing licensed entity, a powers-of-attorney update only.</a:t>
            </a:r>
          </a:p>
          <a:p>
            <a:r>
              <a:t>Signing limits are proposals. Legal owns the detail.</a:t>
            </a:r>
          </a:p>
          <a:p>
            <a:r>
              <a:t>Q: Q62 | Q63 | Q67.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IF: asked 'where does that number come from?'</a:t>
            </a:r>
          </a:p>
          <a:p>
            <a:r>
              <a:t>SAY: Every number is a sourced fact, a labeled assumption or context. Nu data: Q2'26 release and 6-K, 20-F. Corporate events: Nu announcements, OCC, Nu IR. Cohorts: Q1'26 presentation: $30.8 at 96 months vs $15.9 total (the like-for-like pair). HQ tax: OECD GloBE. Hackett, McKinsey, Gartner, HBR etc. are CONTEXT only.</a:t>
            </a:r>
          </a:p>
          <a:p>
            <a:r>
              <a:t>NOTE: slide 7 shows ~$31 vs $17.1 (Q1 cohort vs Q2 group). Concede it if asked: Q37.</a:t>
            </a:r>
          </a:p>
          <a:p>
            <a:r>
              <a:t>Q: Q37 | Q32 | Q33 | Q68.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IF: asked about dates, sequencing, or 'what happens when'.</a:t>
            </a:r>
          </a:p>
          <a:p>
            <a:r>
              <a:t>SAY: Day 60 = Tue 20 Oct (outline out, HQ charter, tax gate launched). Board assumed Tue 17 Nov. Gate 1 Thu 19 Nov; gate 2 mid-Dec; FY27 starts 1 Jan with the $15M; gate 3 mid-Jan; gate 4 mid-Feb; second release decided early April on Q1 data.</a:t>
            </a:r>
          </a:p>
          <a:p>
            <a:r>
              <a:t>WEEKENDS: T-16 = Sun 1 Nov, T-10 = Sat 7 Nov, T-9 = Sun 8 Nov, T-3 = Sat 14 Nov. Use the prior working day. Q44.</a:t>
            </a:r>
          </a:p>
          <a:p>
            <a:r>
              <a:t>Q: Q44 | Q45 | Q53 | Q66.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IF: asked about AI agents, controls, or data security.</a:t>
            </a:r>
          </a:p>
          <a:p>
            <a:r>
              <a:t>SAY: Two agents. PMO agent: coordination (tracking, agendas, status packs). Review agent: decision support (checks cases against the scorecard, papers against decisions, flags gaps). Human control: owners confirm status, people approve changes, the team owns escalation to the CFO. AGENTS NEVER APPROVE FUNDING OR COMMITMENTS.</a:t>
            </a:r>
          </a:p>
          <a:p>
            <a:r>
              <a:t>Approved tools and source-linked inputs only; Security and Risk approve data access before go-live (assumption to confirm).</a:t>
            </a:r>
          </a:p>
          <a:p>
            <a:r>
              <a:t>Pilot measures: hours saved, on-time papers and gate packs, errors caught, overdue actions. Baselines first.</a:t>
            </a:r>
          </a:p>
          <a:p>
            <a:r>
              <a:t>Q: Q19 | Q54 | Q82.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IF: asked which site, or about the HQ risks.</a:t>
            </a:r>
          </a:p>
          <a:p>
            <a:r>
              <a:t>SAY: Hard tests first, pass or fail; only sites that pass are scored. Weights (our judgment): talent and wage cost 30; incentive net of clawback 20; campus cost, flexibility, timing 20; modeled tax rate under Pillar Two 15; political and reputational risk 15.</a:t>
            </a:r>
          </a:p>
          <a:p>
            <a:r>
              <a:t>Risks: tax residence moves (opinion at gate 1); clawback (proportional scaling, 12-24 months' grace); officer approval late (file at gate 1); site politics (no public contact, one spokesperson); dependence on the CoS (deputy, log).</a:t>
            </a:r>
          </a:p>
          <a:p>
            <a:r>
              <a:t>No savings figure until a site is chosen. DON'T NAME A CITY.</a:t>
            </a:r>
          </a:p>
          <a:p>
            <a:r>
              <a:t>Q: Q61 | Q64 | Q67 | Q71 | Q72 | Q74.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IF: asked 'did AI write this?'</a:t>
            </a:r>
          </a:p>
          <a:p>
            <a:r>
              <a:t>SAY: AI-SUPPORTED, not AI-DRIVEN. AI helped with research, checking numbers, references, some formatting, testing assumptions. HUMAN-BUILT: ideas, recommendations, writing, structure, assumptions and their classification, final review of every figure, and the decision to present it this way. Tools: Claude, Gemini and Copilot, each for different aspects.</a:t>
            </a:r>
          </a:p>
          <a:p>
            <a:r>
              <a:t>Looking ahead: the agents we propose can run on whatever LLM Nubank enables, on approved tools.</a:t>
            </a:r>
          </a:p>
          <a:p>
            <a:r>
              <a:t>TONE relaxed and direct. Say only what is true. Q82.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685800"/>
            <a:ext cx="10972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1" dirty="0">
                <a:solidFill>
                  <a:srgbClr val="C084FC"/>
                </a:solidFill>
                <a:latin typeface="Arial"/>
              </a:rPr>
              <a:t>NUBANK // BUSINESS CASE</a:t>
            </a:r>
            <a:endParaRPr sz="1050" b="1" dirty="0">
              <a:solidFill>
                <a:srgbClr val="C084F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6852181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rial"/>
              </a:rPr>
              <a:t>Chief of Staff to the CFO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 &amp; Global Corporate Governance</a:t>
            </a:r>
            <a:endParaRPr sz="3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2240280"/>
            <a:ext cx="96012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E9D5FF"/>
                </a:solidFill>
                <a:latin typeface="Arial"/>
              </a:rPr>
              <a:t>Cassio Modelli</a:t>
            </a:r>
            <a:r>
              <a:rPr lang="en-US" sz="1500" b="0" dirty="0">
                <a:solidFill>
                  <a:srgbClr val="E9D5FF"/>
                </a:solidFill>
                <a:latin typeface="Arial"/>
              </a:rPr>
              <a:t> -</a:t>
            </a:r>
            <a:r>
              <a:rPr sz="1500" b="0" dirty="0">
                <a:solidFill>
                  <a:srgbClr val="E9D5FF"/>
                </a:solidFill>
                <a:latin typeface="Arial"/>
              </a:rPr>
              <a:t>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3264408"/>
            <a:ext cx="3255263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1 | IN-HOUSING </a:t>
            </a:r>
            <a:r>
              <a:rPr sz="950" b="1" dirty="0">
                <a:solidFill>
                  <a:srgbClr val="C084FC"/>
                </a:solidFill>
                <a:latin typeface="Arial"/>
              </a:rPr>
              <a:t>PLANNING</a:t>
            </a:r>
            <a:r>
              <a:rPr lang="en-US" sz="950" b="1" dirty="0">
                <a:solidFill>
                  <a:srgbClr val="C084FC"/>
                </a:solidFill>
                <a:latin typeface="Arial"/>
              </a:rPr>
              <a:t> &amp; BUDGET TRADE-OFFS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$60M of asks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 vs.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a $25M cap</a:t>
            </a:r>
          </a:p>
          <a:p>
            <a:pPr algn="l">
              <a:spcAft>
                <a:spcPts val="400"/>
              </a:spcAft>
            </a:pPr>
            <a:r>
              <a:rPr lang="en-US" sz="1300" dirty="0">
                <a:solidFill>
                  <a:srgbClr val="E9D5FF"/>
                </a:solidFill>
                <a:latin typeface="Arial"/>
              </a:rPr>
              <a:t>Centralizing </a:t>
            </a:r>
            <a:r>
              <a:rPr sz="1300" b="0" dirty="0">
                <a:solidFill>
                  <a:srgbClr val="E9D5FF"/>
                </a:solidFill>
                <a:latin typeface="Arial"/>
              </a:rPr>
              <a:t>planning </a:t>
            </a:r>
            <a:r>
              <a:rPr lang="en-US" sz="1300" b="0" dirty="0">
                <a:solidFill>
                  <a:srgbClr val="E9D5FF"/>
                </a:solidFill>
                <a:latin typeface="Arial"/>
              </a:rPr>
              <a:t>to improve alignment and coordination</a:t>
            </a:r>
            <a:r>
              <a:rPr lang="en-US" sz="1300" dirty="0">
                <a:solidFill>
                  <a:srgbClr val="E9D5FF"/>
                </a:solidFill>
                <a:latin typeface="Arial"/>
              </a:rPr>
              <a:t>, while driving investment/expense discipline and methodology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596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25696" y="3264408"/>
            <a:ext cx="3255263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2 | C-SUITE ALIGNMENT &amp; BOARD GOVERNANCE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Board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meeting cadence and prep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E9D5FF"/>
                </a:solidFill>
                <a:latin typeface="Arial"/>
              </a:rPr>
              <a:t>Establishing agenda rhythm and material preparation efficiency + ways of working to navigate executive priorities and support alignment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1928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29015" y="3264408"/>
            <a:ext cx="3255263" cy="1184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3 | </a:t>
            </a:r>
            <a:r>
              <a:rPr sz="950" b="1" dirty="0">
                <a:solidFill>
                  <a:srgbClr val="C084FC"/>
                </a:solidFill>
                <a:latin typeface="Arial"/>
              </a:rPr>
              <a:t>SPECIAL PROJECT</a:t>
            </a:r>
            <a:r>
              <a:rPr lang="en-US" sz="950" b="1" dirty="0">
                <a:solidFill>
                  <a:srgbClr val="C084FC"/>
                </a:solidFill>
                <a:latin typeface="Arial"/>
              </a:rPr>
              <a:t> NEGOTIATION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A new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HQ: complex workstreams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E9D5FF"/>
                </a:solidFill>
                <a:latin typeface="Arial"/>
              </a:rPr>
              <a:t>Leading cross-functional engagement without hierarchy to incorporate specialist input and lead to better outcomes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" y="49834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9" y="5189886"/>
            <a:ext cx="108354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300" b="1" dirty="0">
                <a:solidFill>
                  <a:srgbClr val="11052C"/>
                </a:solidFill>
                <a:latin typeface="Arial"/>
              </a:rPr>
              <a:t>THE FOUNDATION: FINANCE &amp; GOVERNANCE AS GROWTH LEVERS AND BUSINESS ENABLERS, SUPPORTING NUBANK’S GROWTH AMBITIONS BY ESTABLISHING WAYS OF WORKING TO REMAIN AGILE WHILE ADDING RIGOR REQUIRED BY SCALE.</a:t>
            </a:r>
            <a:endParaRPr sz="130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084F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820AD1"/>
                </a:solidFill>
                <a:latin typeface="Arial"/>
              </a:rPr>
              <a:t>PROPOSED APPROACH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Establishing principle-based structure for each deliverable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7899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50" b="1" dirty="0">
                <a:solidFill>
                  <a:srgbClr val="11052C"/>
                </a:solidFill>
                <a:latin typeface="Arial"/>
              </a:rPr>
              <a:t>OWNERSHIP as a core principle guiding </a:t>
            </a:r>
            <a:r>
              <a:rPr sz="1250" b="1" dirty="0">
                <a:solidFill>
                  <a:srgbClr val="11052C"/>
                </a:solidFill>
                <a:latin typeface="Arial"/>
              </a:rPr>
              <a:t>all </a:t>
            </a:r>
            <a:r>
              <a:rPr lang="en-US" sz="1250" b="1" dirty="0">
                <a:solidFill>
                  <a:srgbClr val="11052C"/>
                </a:solidFill>
                <a:latin typeface="Arial"/>
              </a:rPr>
              <a:t>four topics: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Proposing methodology</a:t>
            </a:r>
            <a:r>
              <a:rPr lang="en-US" sz="1250" dirty="0">
                <a:solidFill>
                  <a:srgbClr val="11052C"/>
                </a:solidFill>
                <a:latin typeface="Arial"/>
              </a:rPr>
              <a:t>, gathering data/viewpoints, providing recommendations and options,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establishing decision management criteria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.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D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ecision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s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, rationale and dissent are recorded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 </a:t>
            </a:r>
            <a:r>
              <a:rPr lang="en-US" sz="1250" dirty="0">
                <a:solidFill>
                  <a:srgbClr val="11052C"/>
                </a:solidFill>
                <a:latin typeface="Arial"/>
              </a:rPr>
              <a:t>for processes and outcome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continuous improvement</a:t>
            </a:r>
            <a:endParaRPr sz="125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2011679"/>
            <a:ext cx="2560320" cy="250607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2092316"/>
            <a:ext cx="2340863" cy="2046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1  //  PLANNING</a:t>
            </a:r>
          </a:p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11052C"/>
                </a:solidFill>
                <a:latin typeface="Arial"/>
              </a:rPr>
              <a:t>Global Planning Hub + spend discipline</a:t>
            </a:r>
          </a:p>
          <a:p>
            <a:pPr algn="l">
              <a:spcAft>
                <a:spcPts val="6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CoS &amp; CG and Global Finance / FP&amp;A stand up a Planning CoE with the Countries and GMs: one Nubank</a:t>
            </a:r>
          </a:p>
          <a:p>
            <a:pPr algn="l">
              <a:spcAft>
                <a:spcPts val="6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B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usiness case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methodology for spend prioritization + proposed funding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schedule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011680"/>
            <a:ext cx="2560320" cy="25060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65576" y="2092316"/>
            <a:ext cx="2340863" cy="2072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2  //  BOARD</a:t>
            </a:r>
          </a:p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11052C"/>
                </a:solidFill>
                <a:latin typeface="Arial"/>
              </a:rPr>
              <a:t>Establishing cadence and ownership</a:t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Agenda topics are living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concepts – updates are key. </a:t>
            </a:r>
          </a:p>
          <a:p>
            <a:pPr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The book ships 7 days before the Board, every quarter.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Decision fram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ework: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positions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, voting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&amp;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CEO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arbitrage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8" y="2011680"/>
            <a:ext cx="2560320" cy="25060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2092316"/>
            <a:ext cx="2340863" cy="21364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3  //  HQ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120-day gated approach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What c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an we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do?</a:t>
            </a: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W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hat may we offer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W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ho may bind Nu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D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o we commit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Our team recommends; the CEO and CFO decide.</a:t>
            </a:r>
            <a:endParaRPr sz="12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842248" y="2011680"/>
            <a:ext cx="2560320" cy="25060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1976" y="2092316"/>
            <a:ext cx="2340863" cy="2033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4  //  LEADERSHIP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Built with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, not for</a:t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This team will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work inside the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business and its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numbers: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we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propose, implement, assess, and change course fast. </a:t>
            </a:r>
            <a:endParaRPr lang="en-US" sz="125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AI-enabled processes to support integration.</a:t>
            </a:r>
            <a:endParaRPr lang="en-US" sz="125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0" dirty="0">
                <a:solidFill>
                  <a:srgbClr val="3B2A54"/>
                </a:solidFill>
                <a:latin typeface="Arial"/>
              </a:rPr>
              <a:t>The CFO owns the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663285"/>
            <a:ext cx="10789920" cy="182880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4718149"/>
            <a:ext cx="10424160" cy="171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/>
              </a:rPr>
              <a:t>How will we measure success? </a:t>
            </a:r>
          </a:p>
          <a:p>
            <a:r>
              <a:rPr lang="en-US" sz="1500" b="1" dirty="0">
                <a:solidFill>
                  <a:srgbClr val="C084FC"/>
                </a:solidFill>
                <a:latin typeface="Arial"/>
              </a:rPr>
              <a:t>The </a:t>
            </a:r>
            <a:r>
              <a:rPr lang="en-US" sz="1500" b="1" dirty="0" err="1">
                <a:solidFill>
                  <a:srgbClr val="C084FC"/>
                </a:solidFill>
                <a:latin typeface="Arial"/>
              </a:rPr>
              <a:t>CoS</a:t>
            </a:r>
            <a:r>
              <a:rPr lang="en-US" sz="1500" b="1" dirty="0">
                <a:solidFill>
                  <a:srgbClr val="C084FC"/>
                </a:solidFill>
                <a:latin typeface="Arial"/>
              </a:rPr>
              <a:t> &amp; Governance team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acts as equal parts catalyst, facilitator and trusted advisor to drive (1) 100% of discretionary spend released against an approved case, with cycle time under 40 days; (2) a living Board agenda, with the book out 7 days before every Board; (3) HQ gates 1 and 2 cleared by mid-December, nothing signed between gates; (4) the team rated twice a year by the GMs as a growth facilitator, not corporate bureaucracy. Decisions requested today: the $25M FY27 cap and its release schedule, the Board calendar, and the HQ gates.</a:t>
            </a:r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6684-5295-6C91-ACC7-591CAAD5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BAC111-C5EF-3C24-643D-DA0EDD66880E}"/>
              </a:ext>
            </a:extLst>
          </p:cNvPr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30D54-ED3F-17BD-B2FA-6CFD041109CF}"/>
              </a:ext>
            </a:extLst>
          </p:cNvPr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052C"/>
                </a:solidFill>
                <a:latin typeface="Arial"/>
              </a:rPr>
              <a:t>A lean hub and three meetings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to centralize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planning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E8414F-1E86-1A1F-5FD2-67EBEB22B60B}"/>
              </a:ext>
            </a:extLst>
          </p:cNvPr>
          <p:cNvSpPr/>
          <p:nvPr/>
        </p:nvSpPr>
        <p:spPr>
          <a:xfrm>
            <a:off x="612648" y="1325880"/>
            <a:ext cx="420624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E02CA-C90E-3178-3CA8-4E7B7C99D2E3}"/>
              </a:ext>
            </a:extLst>
          </p:cNvPr>
          <p:cNvSpPr txBox="1"/>
          <p:nvPr/>
        </p:nvSpPr>
        <p:spPr>
          <a:xfrm>
            <a:off x="722376" y="1389888"/>
            <a:ext cx="3986783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THE 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CENTRALIZED PLANNING STRUCTURE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A </a:t>
            </a:r>
            <a:r>
              <a:rPr lang="en-US" sz="1500" b="1" dirty="0" err="1">
                <a:solidFill>
                  <a:srgbClr val="11052C"/>
                </a:solidFill>
                <a:latin typeface="Arial"/>
              </a:rPr>
              <a:t>CoE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 </a:t>
            </a:r>
            <a:r>
              <a:rPr sz="1500" b="1" dirty="0">
                <a:solidFill>
                  <a:srgbClr val="11052C"/>
                </a:solidFill>
                <a:latin typeface="Arial"/>
              </a:rPr>
              <a:t>hub of 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4</a:t>
            </a:r>
            <a:r>
              <a:rPr sz="1500" b="1" dirty="0">
                <a:solidFill>
                  <a:srgbClr val="11052C"/>
                </a:solidFill>
                <a:latin typeface="Arial"/>
              </a:rPr>
              <a:t>-6 people</a:t>
            </a:r>
            <a:endParaRPr lang="en-US" sz="1500" b="1" dirty="0">
              <a:solidFill>
                <a:srgbClr val="11052C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150" b="0" dirty="0">
                <a:solidFill>
                  <a:srgbClr val="3B2A54"/>
                </a:solidFill>
                <a:latin typeface="Arial"/>
              </a:rPr>
              <a:t>CoS &amp; CG partners with Global Finance / FP&amp;A to stand up the CoE; the hub and market/vertical teams report to Global Finance, with a dotted line to Country CFOs.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1" dirty="0">
                <a:solidFill>
                  <a:srgbClr val="3B2A54"/>
                </a:solidFill>
                <a:latin typeface="Arial"/>
              </a:rPr>
              <a:t>KPIs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: cycle time under 40 days, forecast accuracy, and 100% of discretionary spend with an approved case.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1" dirty="0">
                <a:solidFill>
                  <a:srgbClr val="3B2A54"/>
                </a:solidFill>
                <a:latin typeface="Arial"/>
              </a:rPr>
              <a:t>A</a:t>
            </a:r>
            <a:r>
              <a:rPr lang="en-US" sz="1150" b="1" dirty="0">
                <a:solidFill>
                  <a:srgbClr val="3B2A54"/>
                </a:solidFill>
                <a:latin typeface="Arial"/>
              </a:rPr>
              <a:t>I-enabled processes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: agents to support consolidation, tracking action items, facilitating alignment and reducing manual work. 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lang="en-US" sz="1150" b="1" dirty="0">
                <a:solidFill>
                  <a:srgbClr val="3B2A54"/>
                </a:solidFill>
                <a:latin typeface="Arial"/>
              </a:rPr>
              <a:t>Career pathways</a:t>
            </a:r>
            <a:r>
              <a:rPr lang="en-US" sz="1150" dirty="0">
                <a:solidFill>
                  <a:srgbClr val="3B2A54"/>
                </a:solidFill>
                <a:latin typeface="Arial"/>
              </a:rPr>
              <a:t>: “seeding” talent across markets.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352F86-9452-5598-6279-6D662371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576590"/>
              </p:ext>
            </p:extLst>
          </p:nvPr>
        </p:nvGraphicFramePr>
        <p:xfrm>
          <a:off x="5029200" y="1600200"/>
          <a:ext cx="6400800" cy="15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Meeting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Who runs it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Stand-ups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</a:t>
                      </a:r>
                      <a:r>
                        <a:rPr lang="en-US" sz="1050" b="0" dirty="0">
                          <a:solidFill>
                            <a:srgbClr val="11052C"/>
                          </a:solidFill>
                          <a:latin typeface="Arial"/>
                        </a:rPr>
                        <a:t>bi-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weekly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Global Planning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Local Finance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Data gathering, alignment on drivers, reporting best practices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CFO 1:1s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</a:t>
                      </a:r>
                      <a:r>
                        <a:rPr lang="en-US" sz="1050" b="0" dirty="0">
                          <a:solidFill>
                            <a:srgbClr val="11052C"/>
                          </a:solidFill>
                          <a:latin typeface="Arial"/>
                        </a:rPr>
                        <a:t>monthly</a:t>
                      </a:r>
                      <a:endParaRPr sz="1050" b="0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team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Country CFOs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No surprises at the lock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and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ask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s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knowing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path to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approval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GM R</a:t>
                      </a:r>
                      <a:r>
                        <a:rPr sz="1050" b="1" dirty="0">
                          <a:solidFill>
                            <a:srgbClr val="11052C"/>
                          </a:solidFill>
                          <a:latin typeface="Arial"/>
                        </a:rPr>
                        <a:t>eview</a:t>
                      </a:r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quarterly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Global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CFO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&amp; </a:t>
                      </a:r>
                      <a:r>
                        <a:rPr lang="en-US" sz="10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GMs/Business Leaders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Tracking of strategic projects, prioritizing spend and investments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51ACB9-EB6E-D542-61A7-7C05646063EA}"/>
              </a:ext>
            </a:extLst>
          </p:cNvPr>
          <p:cNvSpPr/>
          <p:nvPr/>
        </p:nvSpPr>
        <p:spPr>
          <a:xfrm>
            <a:off x="5029200" y="3273552"/>
            <a:ext cx="6400800" cy="1481328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10F7A-1A6A-8273-DB59-455CE9C7EBBC}"/>
              </a:ext>
            </a:extLst>
          </p:cNvPr>
          <p:cNvSpPr txBox="1"/>
          <p:nvPr/>
        </p:nvSpPr>
        <p:spPr>
          <a:xfrm>
            <a:off x="5120640" y="3273523"/>
            <a:ext cx="6236208" cy="144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>
                <a:solidFill>
                  <a:srgbClr val="11052C"/>
                </a:solidFill>
                <a:latin typeface="Arial"/>
              </a:rPr>
              <a:t>Ways of Working: </a:t>
            </a:r>
            <a:r>
              <a:rPr lang="en-US" sz="1200" b="0">
                <a:solidFill>
                  <a:srgbClr val="11052C"/>
                </a:solidFill>
                <a:latin typeface="Arial"/>
              </a:rPr>
              <a:t>Local Finance teams own the FP&amp;A drivers and business case assumptions; CoS &amp; CG team standardizes, consolidates and provide analysis and insights; the CFO makes decisions on spend and reports results to the board.</a:t>
            </a: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11052C"/>
                </a:solidFill>
                <a:latin typeface="Arial"/>
              </a:rPr>
              <a:t>Global Planning becomes a key resource to inform Senior Management on what we are doing, what’s working or not, and how those inputs inform decision-making.</a:t>
            </a:r>
            <a:endParaRPr lang="en-US" sz="120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DDEC54-611E-FCFD-D031-048274AD1CB1}"/>
              </a:ext>
            </a:extLst>
          </p:cNvPr>
          <p:cNvSpPr/>
          <p:nvPr/>
        </p:nvSpPr>
        <p:spPr>
          <a:xfrm>
            <a:off x="61264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7DF5-A727-B049-D6F8-A3A1828AF686}"/>
              </a:ext>
            </a:extLst>
          </p:cNvPr>
          <p:cNvSpPr txBox="1"/>
          <p:nvPr/>
        </p:nvSpPr>
        <p:spPr>
          <a:xfrm>
            <a:off x="722375" y="5029200"/>
            <a:ext cx="3363329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Without Country buy-in, model can drive Local vs. Global inaccuracy/misalignment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In-market presence and alignment with local </a:t>
            </a:r>
            <a:r>
              <a:rPr lang="en-US" sz="1050" dirty="0">
                <a:solidFill>
                  <a:srgbClr val="3B2A54"/>
                </a:solidFill>
                <a:latin typeface="Arial"/>
              </a:rPr>
              <a:t>CFO/GM agendas are crucial.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6486E3-67E7-CCDF-E985-7F2A2A7A628A}"/>
              </a:ext>
            </a:extLst>
          </p:cNvPr>
          <p:cNvSpPr/>
          <p:nvPr/>
        </p:nvSpPr>
        <p:spPr>
          <a:xfrm>
            <a:off x="422452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F78E2-6E02-52FD-20B2-5F1A82C2C490}"/>
              </a:ext>
            </a:extLst>
          </p:cNvPr>
          <p:cNvSpPr txBox="1"/>
          <p:nvPr/>
        </p:nvSpPr>
        <p:spPr>
          <a:xfrm>
            <a:off x="4334256" y="5029200"/>
            <a:ext cx="3300984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Mismatched job descriptions and leveling to existing structures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Roles and responsibilities clearly established and assimilated to inform who does what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F0FF15-D922-90F6-7DB9-FB98F1B57533}"/>
              </a:ext>
            </a:extLst>
          </p:cNvPr>
          <p:cNvSpPr/>
          <p:nvPr/>
        </p:nvSpPr>
        <p:spPr>
          <a:xfrm>
            <a:off x="783640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434691-8E99-5AD3-8E11-590B7B6298D7}"/>
              </a:ext>
            </a:extLst>
          </p:cNvPr>
          <p:cNvSpPr txBox="1"/>
          <p:nvPr/>
        </p:nvSpPr>
        <p:spPr>
          <a:xfrm>
            <a:off x="7946136" y="5029200"/>
            <a:ext cx="3300984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Governance can be perceived as bureaucracy and loss of speed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Leveraging AI processes to speed up manual work helps avoid the pitfalls seen in large companies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94F2C-0ABA-30C0-245C-D1141090238D}"/>
              </a:ext>
            </a:extLst>
          </p:cNvPr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3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794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Hub of 4-6: 2-3 in the countries, 2-3 central in the US, in two waves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25177"/>
              </p:ext>
            </p:extLst>
          </p:nvPr>
        </p:nvGraphicFramePr>
        <p:xfrm>
          <a:off x="612648" y="1554480"/>
          <a:ext cx="110642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Level (proposal)</a:t>
                      </a:r>
                    </a:p>
                  </a:txBody>
                  <a:tcPr marL="73152" marR="73152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73152" marR="73152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Reports to</a:t>
                      </a:r>
                    </a:p>
                  </a:txBody>
                  <a:tcPr marL="73152" marR="73152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Wave</a:t>
                      </a:r>
                    </a:p>
                  </a:txBody>
                  <a:tcPr marL="73152" marR="73152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1052C"/>
                          </a:solidFill>
                          <a:latin typeface="Arial"/>
                        </a:rPr>
                        <a:t>Hub lead: </a:t>
                      </a:r>
                      <a:r>
                        <a:rPr sz="1050" b="1" dirty="0" err="1">
                          <a:solidFill>
                            <a:srgbClr val="11052C"/>
                          </a:solidFill>
                          <a:latin typeface="Arial"/>
                        </a:rPr>
                        <a:t>CoS</a:t>
                      </a:r>
                      <a:r>
                        <a:rPr sz="1050" b="1" dirty="0">
                          <a:solidFill>
                            <a:srgbClr val="11052C"/>
                          </a:solidFill>
                          <a:latin typeface="Arial"/>
                        </a:rPr>
                        <a:t> &amp; Corporate Governance</a:t>
                      </a:r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 / Global Finance</a:t>
                      </a:r>
                      <a:endParaRPr sz="10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Existing role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US (central)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Global CFO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In place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Global planning manager: owns the model, the case template and the release packs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Senior manager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US (central)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Hub lead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1: by Q2'27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Finance partner, Brazil: cases and drivers with the GMs and the Brazil CFO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Manager / senior 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Brazil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Global Finance; dotted line to the Country CFO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1: by Q2'27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Finance partner, Mexico: same role for Mexico (and Colombia until wave 2)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Manager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Mexico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Global Finance; dotted line to the Country CFO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1: by Q2'27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Decision-support analyst: data platform, AI agents, consolidation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Senior analyst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US (central)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Global planning 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2: by Q4'27, if gates 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Finance partner, Colombia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Manager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Colombia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Global Finance; dotted line to the Country CFO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2: by Q4'27, if gates pass</a:t>
                      </a:r>
                    </a:p>
                  </a:txBody>
                  <a:tcPr marL="73152" marR="73152" marT="36576" marB="36576" anchor="ctr">
                    <a:solidFill>
                      <a:srgbClr val="F5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Second central analyst (only if volume requires)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Analyst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US (central)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Global planning 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2: by Q4'27, if gates 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80060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F5F0FC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4892040"/>
            <a:ext cx="104241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1052C"/>
                </a:solidFill>
                <a:latin typeface="Arial"/>
              </a:rPr>
              <a:t>Quality gates for wave 2 (checked at the H1 close): </a:t>
            </a:r>
            <a:r>
              <a:rPr sz="1150" b="0">
                <a:solidFill>
                  <a:srgbClr val="11052C"/>
                </a:solidFill>
                <a:latin typeface="Arial"/>
              </a:rPr>
              <a:t>wave 1 in seat and onboarded; cycle time under 40 days on the Q1'27 release; 100% of first-release spend with an approved case; forecast-accuracy baseline set in Q1 and improving in Q2; mid-year GM feedback positive. If a gate fails, wave 2 waits and the gap is fixed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989320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Proposal. 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CoS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 &amp; CG partners with Global Finance / FP&amp;A to stand up the 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CoE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; the central roles sit with Global Finance in the US. Levels map to Nu's leveling at hire. Country partners are market hires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 or 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relocations. Wave 1 recruiting starts after the Board; wave 2 only on the gates above.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94F2C-0ABA-30C0-245C-D1141090238D}"/>
              </a:ext>
            </a:extLst>
          </p:cNvPr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4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820AD1"/>
                </a:solidFill>
                <a:latin typeface="Arial"/>
              </a:rPr>
              <a:t>DELIVERABLE 1  //  </a:t>
            </a:r>
            <a:r>
              <a:rPr lang="en-US" sz="1000" b="1" dirty="0">
                <a:solidFill>
                  <a:srgbClr val="820AD1"/>
                </a:solidFill>
                <a:latin typeface="Arial"/>
              </a:rPr>
              <a:t>BUDGET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Prioritized 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taged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deployment &gt;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flat cuts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across the board;</a:t>
            </a:r>
          </a:p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t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he precedent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and the discipline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matter more than the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nominal asks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108960" cy="4389120"/>
          </a:xfrm>
          <a:prstGeom prst="roundRect">
            <a:avLst>
              <a:gd name="adj" fmla="val 5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880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C084FC"/>
                </a:solidFill>
                <a:latin typeface="Arial"/>
              </a:rPr>
              <a:t>THE GAP</a:t>
            </a:r>
            <a:r>
              <a:rPr lang="en-US" sz="1000" b="1" dirty="0">
                <a:solidFill>
                  <a:srgbClr val="C084FC"/>
                </a:solidFill>
                <a:latin typeface="Arial"/>
              </a:rPr>
              <a:t> ($60M of asks vs. a $25M cap):</a:t>
            </a:r>
            <a:endParaRPr sz="1000" b="1" dirty="0">
              <a:solidFill>
                <a:srgbClr val="C084FC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Arial"/>
              </a:rPr>
              <a:t>$35M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788920" cy="11464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Equal to:</a:t>
            </a:r>
            <a:endParaRPr lang="en-US" sz="1400" dirty="0">
              <a:solidFill>
                <a:srgbClr val="E9D5FF"/>
              </a:solidFill>
              <a:latin typeface="Arial"/>
            </a:endParaRPr>
          </a:p>
          <a:p>
            <a:pPr algn="ctr">
              <a:spcAft>
                <a:spcPts val="6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15 bps of annualized revenue</a:t>
            </a:r>
          </a:p>
          <a:p>
            <a:pPr algn="ctr">
              <a:spcAft>
                <a:spcPts val="3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1.1% of annual </a:t>
            </a:r>
            <a:r>
              <a:rPr sz="1400" b="0" dirty="0" err="1">
                <a:solidFill>
                  <a:srgbClr val="E9D5FF"/>
                </a:solidFill>
                <a:latin typeface="Arial"/>
              </a:rPr>
              <a:t>opex</a:t>
            </a:r>
            <a:endParaRPr lang="en-US" sz="1400" b="0" dirty="0">
              <a:solidFill>
                <a:srgbClr val="E9D5FF"/>
              </a:solidFill>
              <a:latin typeface="Arial"/>
            </a:endParaRPr>
          </a:p>
          <a:p>
            <a:pPr algn="ctr">
              <a:spcAft>
                <a:spcPts val="3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0.2 points of efficiency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2788920" cy="1031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b="0" dirty="0">
                <a:solidFill>
                  <a:srgbClr val="E9D5FF"/>
                </a:solidFill>
                <a:latin typeface="Arial"/>
              </a:rPr>
              <a:t>Drivers: </a:t>
            </a:r>
            <a:r>
              <a:rPr sz="1050" b="0" dirty="0">
                <a:solidFill>
                  <a:srgbClr val="E9D5FF"/>
                </a:solidFill>
                <a:latin typeface="Arial"/>
              </a:rPr>
              <a:t>Efficiency ratio 19.5% in Q2'26 (17.6% in Q1); FY26 expected near 20%. Cost to serve $1.0 a month ($0.8 a year earlier) against $17.1 of ARPAC.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7498079" cy="83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820AD1"/>
                </a:solidFill>
                <a:latin typeface="Arial"/>
              </a:rPr>
              <a:t>Problem statement: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Asks as number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s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with no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pre-defined, globally standardized format for valuation and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assessment. Establishing the approach is a tone-setter; proper discipline and decision-making support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will inform how we prepare for investment and expenditure as we scale.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472168"/>
              </p:ext>
            </p:extLst>
          </p:nvPr>
        </p:nvGraphicFramePr>
        <p:xfrm>
          <a:off x="3931920" y="2572927"/>
          <a:ext cx="7394171" cy="1730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Three ways to close the gap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Equal cut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(every unit gets 42% of its ask)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Fast,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but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it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shows a path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to pad next year's ask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Core markets first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(pause new bets)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Simple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, but new bets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lack focus/funding</a:t>
                      </a:r>
                      <a:endParaRPr sz="11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96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1052C"/>
                          </a:solidFill>
                          <a:latin typeface="Arial"/>
                        </a:rPr>
                        <a:t>Business-case readiness and staged release</a:t>
                      </a:r>
                      <a:r>
                        <a:rPr sz="1100" b="0" dirty="0">
                          <a:solidFill>
                            <a:srgbClr val="11052C"/>
                          </a:solidFill>
                          <a:latin typeface="Arial"/>
                        </a:rPr>
                        <a:t> (recommended)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Wins on growth return, ownership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, value creation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;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trade-off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on speed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31920" y="4440936"/>
            <a:ext cx="7498079" cy="1396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820AD1"/>
                </a:solidFill>
                <a:latin typeface="Arial"/>
              </a:rPr>
              <a:t>Budgets 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can </a:t>
            </a:r>
            <a:r>
              <a:rPr sz="1400" b="1" dirty="0">
                <a:solidFill>
                  <a:srgbClr val="820AD1"/>
                </a:solidFill>
                <a:latin typeface="Arial"/>
              </a:rPr>
              <a:t>work like Nu's credit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 management principles.</a:t>
            </a:r>
            <a:endParaRPr sz="1400" b="1" dirty="0">
              <a:solidFill>
                <a:srgbClr val="820AD1"/>
              </a:solidFill>
              <a:latin typeface="Arial"/>
            </a:endParaRPr>
          </a:p>
          <a:p>
            <a:pPr algn="l">
              <a:lnSpc>
                <a:spcPct val="200000"/>
              </a:lnSpc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Nu's 20-F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Form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describes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"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low-and-grow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"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: small limits, raised on behavior. </a:t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200000"/>
              </a:lnSpc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Budgets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should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get same test-and-learn: start small, grow when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KPIs (i.e.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activation, 30-day retention, unit cost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) can support further scaling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This becomes an ownership-driving, principle-based methodology.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6126480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Sources: Nu Q2'26 release and 6-K (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opex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 $806.2M; net revenue ~$4.1B a quarter), Q2'26 call, Form 20-F. Calculations: the 15 bps is on managerial revenue, ~$23.5B annualized; the 1.1% is on 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opex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, ~$3.2B annualized; the efficiency-ratio points are on Nu's denominator (NII plus fees).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Proposed investment and spend prioritization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28016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 dirty="0">
                <a:solidFill>
                  <a:srgbClr val="820AD1"/>
                </a:solidFill>
                <a:latin typeface="Arial"/>
              </a:rPr>
              <a:t>Mandatory obligations pass a separate gate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, and d</a:t>
            </a:r>
            <a:r>
              <a:rPr sz="1400" b="1" dirty="0">
                <a:solidFill>
                  <a:srgbClr val="820AD1"/>
                </a:solidFill>
                <a:latin typeface="Arial"/>
              </a:rPr>
              <a:t>iscretionary asks compete within agreed strategic envelopes.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9019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PROPOSED SCORECARD  //  DISCRETIONARY ASKS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644537"/>
              </p:ext>
            </p:extLst>
          </p:nvPr>
        </p:nvGraphicFramePr>
        <p:xfrm>
          <a:off x="704088" y="2340864"/>
          <a:ext cx="484631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 required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Strategic contribution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Priority + measurable outcome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Economic value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NPV, payback + downside case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Customer / risk impact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Customer KPI or risk reduction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Delivery confidence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Owner, capacity + dependencies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Speed to evidence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Time and cost to validate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2648" y="504748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Rate 1–5 against published anchors.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Score / 100 = Σ(weight × rating / 5).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Finance tests downside assumptions and ranking sensitivity.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90195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DECISION PROCESS  //  CLEAR 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317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1  Intake and hard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15184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Business + Local Finance submit one case: full cost, baseline, alternatives and benefit owner. Legal / Risk validate mandatory scope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when applicable.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7880" y="316382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2  Challenge and 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447288"/>
            <a:ext cx="5532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Global Planning calibrates scores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across markets. Compare core and new bets </a:t>
            </a:r>
            <a:r>
              <a:rPr sz="1150" b="0">
                <a:solidFill>
                  <a:srgbClr val="3B2A54"/>
                </a:solidFill>
                <a:latin typeface="Arial"/>
              </a:rPr>
              <a:t>within agreed envelopes using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horizon-appropriate </a:t>
            </a:r>
            <a:r>
              <a:rPr sz="1150" b="0">
                <a:solidFill>
                  <a:srgbClr val="3B2A54"/>
                </a:solidFill>
                <a:latin typeface="Arial"/>
              </a:rPr>
              <a:t>KPIs.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99592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3  Decide and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279392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CFO approves within delegation and the cap. CEO resolves strategic trade-offs. </a:t>
            </a:r>
            <a:r>
              <a:rPr lang="en-US" sz="1150" b="0" dirty="0" err="1">
                <a:solidFill>
                  <a:srgbClr val="3B2A54"/>
                </a:solidFill>
                <a:latin typeface="Arial"/>
              </a:rPr>
              <a:t>CoS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 &amp; </a:t>
            </a:r>
            <a:r>
              <a:rPr lang="en-US" sz="1150" dirty="0">
                <a:solidFill>
                  <a:srgbClr val="3B2A54"/>
                </a:solidFill>
                <a:latin typeface="Arial"/>
              </a:rPr>
              <a:t>CG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r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ecord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s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 rationale, dissent and next-gate KPIs.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828031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4  Track and reallocate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5111495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b="0">
                <a:solidFill>
                  <a:srgbClr val="3B2A54"/>
                </a:solidFill>
                <a:latin typeface="Arial"/>
              </a:rPr>
              <a:t>Owners report actual spend and benefits </a:t>
            </a:r>
            <a:r>
              <a:rPr sz="1150" b="0">
                <a:solidFill>
                  <a:srgbClr val="3B2A54"/>
                </a:solidFill>
                <a:latin typeface="Arial"/>
              </a:rPr>
              <a:t>monthly.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Global Planning consolidates and reviews </a:t>
            </a:r>
            <a:r>
              <a:rPr sz="1150" b="0">
                <a:solidFill>
                  <a:srgbClr val="3B2A54"/>
                </a:solidFill>
                <a:latin typeface="Arial"/>
              </a:rPr>
              <a:t>quarterly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 with CFO, which decides further releases / deployments.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2648" y="6016752"/>
            <a:ext cx="1065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 b="0">
                <a:solidFill>
                  <a:srgbClr val="6B5B82"/>
                </a:solidFill>
                <a:latin typeface="Arial"/>
              </a:rPr>
              <a:t>Proposal: </a:t>
            </a:r>
            <a:r>
              <a:rPr sz="900" b="0">
                <a:solidFill>
                  <a:srgbClr val="6B5B82"/>
                </a:solidFill>
                <a:latin typeface="Arial"/>
              </a:rPr>
              <a:t>weights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and cadence require CFO agreement</a:t>
            </a:r>
            <a:r>
              <a:rPr sz="900" b="0">
                <a:solidFill>
                  <a:srgbClr val="6B5B82"/>
                </a:solidFill>
                <a:latin typeface="Arial"/>
              </a:rPr>
              <a:t>. Method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draws on</a:t>
            </a:r>
            <a:r>
              <a:rPr sz="900" b="0">
                <a:solidFill>
                  <a:srgbClr val="6B5B82"/>
                </a:solidFill>
                <a:latin typeface="Arial"/>
              </a:rPr>
              <a:t> 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McKinsey capital-allocation guidance (2023, </a:t>
            </a:r>
            <a:r>
              <a:rPr sz="900" b="0">
                <a:solidFill>
                  <a:srgbClr val="6B5B82"/>
                </a:solidFill>
                <a:latin typeface="Arial"/>
              </a:rPr>
              <a:t>2024).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</a:t>
            </a:r>
            <a:endParaRPr sz="900" b="0" dirty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620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820AD1"/>
                </a:solidFill>
                <a:latin typeface="Arial"/>
              </a:rPr>
              <a:t>DELIVERABLE 1  //  </a:t>
            </a:r>
            <a:r>
              <a:rPr lang="en-US" sz="1000" b="1" dirty="0">
                <a:solidFill>
                  <a:srgbClr val="820AD1"/>
                </a:solidFill>
                <a:latin typeface="Arial"/>
              </a:rPr>
              <a:t>SCHEDULING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Proposed path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: fund now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+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stage,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assess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,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go/no-go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Chart 3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120336"/>
              </p:ext>
            </p:extLst>
          </p:nvPr>
        </p:nvGraphicFramePr>
        <p:xfrm>
          <a:off x="457200" y="1645920"/>
          <a:ext cx="60350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645920"/>
            <a:ext cx="4754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4848" y="1732401"/>
            <a:ext cx="4535424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FUND NOW  //  FIRST RELEASE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 1Q</a:t>
            </a:r>
            <a:r>
              <a:rPr sz="950" b="1" dirty="0">
                <a:solidFill>
                  <a:srgbClr val="820AD1"/>
                </a:solidFill>
                <a:latin typeface="Arial"/>
              </a:rPr>
              <a:t>27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, SECOND RELEASE 2Q27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1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5M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 -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$10.5M to core markets (70%) and $4.5M to new bets (30%), for cases vetted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 through the proposed methodology.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$10M </a:t>
            </a:r>
            <a:r>
              <a:rPr lang="en-US" sz="1200" b="1" dirty="0">
                <a:solidFill>
                  <a:srgbClr val="3B2A54"/>
                </a:solidFill>
                <a:latin typeface="Arial"/>
              </a:rPr>
              <a:t>-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Second release to asks for Business where Q1 results support additional investment, decided on Q1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63240"/>
            <a:ext cx="4754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4848" y="3227211"/>
            <a:ext cx="4535424" cy="13898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rtl="0">
              <a:buNone/>
            </a:pPr>
            <a:r>
              <a:rPr lang="en-US" sz="1050" b="1" i="0" u="none" strike="noStrike" dirty="0">
                <a:solidFill>
                  <a:srgbClr val="820AD1"/>
                </a:solidFill>
                <a:effectLst/>
                <a:latin typeface="Arial" panose="020B0604020202020204" pitchFamily="34" charset="0"/>
              </a:rPr>
              <a:t>STAGE-GATE  //  LATE FISCAL YEAR RELEASE, 3Q-4Q27</a:t>
            </a:r>
            <a:endParaRPr lang="en-US" sz="1200" b="0" dirty="0">
              <a:effectLst/>
            </a:endParaRPr>
          </a:p>
          <a:p>
            <a:pPr rtl="0">
              <a:lnSpc>
                <a:spcPts val="2200"/>
              </a:lnSpc>
              <a:spcBef>
                <a:spcPts val="300"/>
              </a:spcBef>
              <a:buNone/>
            </a:pPr>
            <a:r>
              <a:rPr lang="en-US" sz="1600" b="1" i="0" u="none" strike="noStrike" dirty="0">
                <a:solidFill>
                  <a:srgbClr val="11052C"/>
                </a:solidFill>
                <a:effectLst/>
                <a:latin typeface="Arial" panose="020B0604020202020204" pitchFamily="34" charset="0"/>
              </a:rPr>
              <a:t>$25M - </a:t>
            </a:r>
            <a:r>
              <a:rPr lang="en-US" sz="1200" b="0" i="0" u="none" strike="noStrike" dirty="0">
                <a:solidFill>
                  <a:srgbClr val="3B2A54"/>
                </a:solidFill>
                <a:effectLst/>
                <a:latin typeface="Arial" panose="020B0604020202020204" pitchFamily="34" charset="0"/>
              </a:rPr>
              <a:t>For deployment if requesting Business units on track to outperform FY27 expectations, decided on Q4 data; remedial investments for Business units underperforming and requiring spend get discussed at the </a:t>
            </a:r>
            <a:r>
              <a:rPr lang="en-US" sz="1200" b="0" i="0" u="none" strike="noStrike" dirty="0" err="1">
                <a:solidFill>
                  <a:srgbClr val="3B2A54"/>
                </a:solidFill>
                <a:effectLst/>
                <a:latin typeface="Arial" panose="020B0604020202020204" pitchFamily="34" charset="0"/>
              </a:rPr>
              <a:t>MTeam</a:t>
            </a:r>
            <a:r>
              <a:rPr lang="en-US" sz="1200" b="0" i="0" u="none" strike="noStrike" dirty="0">
                <a:solidFill>
                  <a:srgbClr val="3B2A54"/>
                </a:solidFill>
                <a:effectLst/>
                <a:latin typeface="Arial" panose="020B0604020202020204" pitchFamily="34" charset="0"/>
              </a:rPr>
              <a:t> level with CFO prioritization.</a:t>
            </a:r>
            <a:endParaRPr lang="en-US" sz="1200" b="0" dirty="0">
              <a:effectLst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75120" y="4937760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5000994"/>
            <a:ext cx="4535424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DEFER  //  </a:t>
            </a:r>
            <a:r>
              <a:rPr lang="en-US" sz="950" b="1" dirty="0">
                <a:solidFill>
                  <a:srgbClr val="D97706"/>
                </a:solidFill>
                <a:latin typeface="Arial"/>
              </a:rPr>
              <a:t>Q4 </a:t>
            </a:r>
            <a:r>
              <a:rPr sz="950" b="1" dirty="0">
                <a:solidFill>
                  <a:srgbClr val="D97706"/>
                </a:solidFill>
                <a:latin typeface="Arial"/>
              </a:rPr>
              <a:t>RESERVE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$10M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 - </a:t>
            </a:r>
            <a:r>
              <a:rPr lang="en-US" sz="1200" dirty="0">
                <a:solidFill>
                  <a:srgbClr val="3B2A54"/>
                </a:solidFill>
                <a:latin typeface="Arial" panose="020B0604020202020204" pitchFamily="34" charset="0"/>
              </a:rPr>
              <a:t>Set aside for strategic imperatives, special projects, regulatory requirements or similar extraordinary escalation factors, and deployed after </a:t>
            </a:r>
            <a:r>
              <a:rPr lang="en-US" sz="1200" dirty="0" err="1">
                <a:solidFill>
                  <a:srgbClr val="3B2A54"/>
                </a:solidFill>
                <a:latin typeface="Arial" panose="020B0604020202020204" pitchFamily="34" charset="0"/>
              </a:rPr>
              <a:t>Mteam</a:t>
            </a:r>
            <a:r>
              <a:rPr lang="en-US" sz="1200" dirty="0">
                <a:solidFill>
                  <a:srgbClr val="3B2A54"/>
                </a:solidFill>
                <a:latin typeface="Arial" panose="020B0604020202020204" pitchFamily="34" charset="0"/>
              </a:rPr>
              <a:t> validation</a:t>
            </a:r>
            <a:endParaRPr sz="1200" dirty="0">
              <a:solidFill>
                <a:srgbClr val="3B2A54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7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6B5B82"/>
                </a:solidFill>
                <a:latin typeface="Arial"/>
              </a:rPr>
              <a:t>The two releases ($25M) are the cap. The 2H checkpoint (up to $25M) and the reserve ($10M) sit outside the plan and open only on the conditions stated, so every dollar of the $60M has a path. The 70/30 split follows mature cohorts: ~$31 of monthly ARPAC at eight years against $17.1 for the group (Q1'26 cohort data).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11052C"/>
                </a:solidFill>
                <a:latin typeface="Arial"/>
              </a:rPr>
              <a:t>CoS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&amp; CG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: Ways of Working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6119"/>
            <a:ext cx="10789920" cy="57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The CoS &amp; CG lead drives alignment and resolves executive differences; the team registers Board decisions, tracks progress and consolidates data and insights from Business Units.</a:t>
            </a:r>
            <a:endParaRPr sz="14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" y="1917450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820AD1"/>
                </a:solidFill>
                <a:latin typeface="Arial"/>
              </a:rPr>
              <a:t>ACCOUNTABILITY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" y="218071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CoS &amp; CG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411334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dirty="0">
                <a:solidFill>
                  <a:srgbClr val="3B2A54"/>
                </a:solidFill>
                <a:latin typeface="Arial"/>
              </a:rPr>
              <a:t>Fosters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alignment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with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executives before formal decisions. Takes unresolved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trade-offs to the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CFO, always with a recommendation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031110"/>
            <a:ext cx="333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>
                <a:solidFill>
                  <a:srgbClr val="820AD1"/>
                </a:solidFill>
                <a:latin typeface="Arial"/>
              </a:rPr>
              <a:t>Core team</a:t>
            </a:r>
            <a:endParaRPr sz="14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" y="3266892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b="0">
                <a:solidFill>
                  <a:srgbClr val="3B2A54"/>
                </a:solidFill>
                <a:latin typeface="Arial"/>
              </a:rPr>
              <a:t>Runs the calendar. Prepares briefs and tracks actions. Leverages AI Agents for efficiency. Liaises with Country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/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BU teams.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648" y="388150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Decision rights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096620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Executives </a:t>
            </a:r>
            <a:r>
              <a:rPr sz="1150" b="0">
                <a:solidFill>
                  <a:srgbClr val="3B2A54"/>
                </a:solidFill>
                <a:latin typeface="Arial"/>
              </a:rPr>
              <a:t>own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content</a:t>
            </a:r>
            <a:r>
              <a:rPr sz="11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</a:t>
            </a:r>
            <a:r>
              <a:rPr sz="1150" b="0">
                <a:solidFill>
                  <a:srgbClr val="3B2A54"/>
                </a:solidFill>
                <a:latin typeface="Arial"/>
              </a:rPr>
              <a:t>Chair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approves the agenda</a:t>
            </a:r>
            <a:r>
              <a:rPr sz="11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</a:t>
            </a:r>
            <a:r>
              <a:rPr sz="1150" b="0">
                <a:solidFill>
                  <a:srgbClr val="3B2A54"/>
                </a:solidFill>
                <a:latin typeface="Arial"/>
              </a:rPr>
              <a:t>Secretary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manages </a:t>
            </a:r>
            <a:r>
              <a:rPr sz="1150" b="0">
                <a:solidFill>
                  <a:srgbClr val="3B2A54"/>
                </a:solidFill>
                <a:latin typeface="Arial"/>
              </a:rPr>
              <a:t>formal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governance</a:t>
            </a:r>
            <a:r>
              <a:rPr sz="1150" b="0">
                <a:solidFill>
                  <a:srgbClr val="3B2A54"/>
                </a:solidFill>
                <a:latin typeface="Arial"/>
              </a:rPr>
              <a:t>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and </a:t>
            </a:r>
            <a:r>
              <a:rPr sz="1150" b="0">
                <a:solidFill>
                  <a:srgbClr val="3B2A54"/>
                </a:solidFill>
                <a:latin typeface="Arial"/>
              </a:rPr>
              <a:t>minutes.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 The CoS &amp; CG team reports.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33672" y="1917450"/>
            <a:ext cx="7196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000" b="1">
                <a:solidFill>
                  <a:srgbClr val="820AD1"/>
                </a:solidFill>
                <a:latin typeface="Arial"/>
              </a:rPr>
              <a:t>WORKING </a:t>
            </a:r>
            <a:r>
              <a:rPr sz="1000" b="1">
                <a:solidFill>
                  <a:srgbClr val="820AD1"/>
                </a:solidFill>
                <a:latin typeface="Arial"/>
              </a:rPr>
              <a:t>CADENCE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95659"/>
              </p:ext>
            </p:extLst>
          </p:nvPr>
        </p:nvGraphicFramePr>
        <p:xfrm>
          <a:off x="4325112" y="2180718"/>
          <a:ext cx="7013448" cy="253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Purpose / deliverable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Weekly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Alignment on strategic topics, Finance management agenda, </a:t>
                      </a: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MTeam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/ Board priorities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3B2A54"/>
                          </a:solidFill>
                          <a:latin typeface="Arial"/>
                        </a:rPr>
                        <a:t>Monthly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 + GMs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Discuss topics, pending points and decisions needed for the next two Board meetings.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3B2A54"/>
                          </a:solidFill>
                          <a:latin typeface="Arial"/>
                        </a:rPr>
                        <a:t>Before Board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team + Finance teams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See proposed prep schedule: T−28 scope, T−16 resolve differences, T−10 final inputs, T−7 publish.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3B2A54"/>
                          </a:solidFill>
                          <a:latin typeface="Arial"/>
                        </a:rPr>
                        <a:t>After Board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Within 5 working days, confirm actions and dates, and provide progress reports on strategic items.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11"/>
          <p:cNvSpPr/>
          <p:nvPr/>
        </p:nvSpPr>
        <p:spPr>
          <a:xfrm>
            <a:off x="612648" y="507492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250726"/>
            <a:ext cx="1042416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Each meeting has an executive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sponsor, 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an agenda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a meeting cadence and decision tracking.</a:t>
            </a:r>
          </a:p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Action items have an owner and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due date.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 The team flags delays weekly; material issues get escalated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to the CFO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.</a:t>
            </a:r>
            <a:endParaRPr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" y="6355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850" b="0">
                <a:solidFill>
                  <a:srgbClr val="6B5B82"/>
                </a:solidFill>
                <a:latin typeface="Arial"/>
              </a:rPr>
              <a:t>Proposed operating model</a:t>
            </a:r>
            <a:r>
              <a:rPr sz="850" b="0">
                <a:solidFill>
                  <a:srgbClr val="6B5B82"/>
                </a:solidFill>
                <a:latin typeface="Arial"/>
              </a:rPr>
              <a:t>. Advisory basis: McKinsey (2023) and DirectorPrep (2024).</a:t>
            </a:r>
            <a:r>
              <a:rPr lang="en-US" sz="850" b="0">
                <a:solidFill>
                  <a:srgbClr val="6B5B82"/>
                </a:solidFill>
                <a:latin typeface="Arial"/>
              </a:rPr>
              <a:t> T = Board meeting date.</a:t>
            </a:r>
            <a:endParaRPr sz="850" b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04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Board Prep Target: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Every quarter the book goes out 7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d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before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28722"/>
            <a:ext cx="10789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11052C"/>
                </a:solidFill>
                <a:latin typeface="Arial"/>
              </a:rPr>
              <a:t>Hypotheses on w</a:t>
            </a:r>
            <a:r>
              <a:rPr sz="1200" b="1" dirty="0">
                <a:solidFill>
                  <a:srgbClr val="11052C"/>
                </a:solidFill>
                <a:latin typeface="Arial"/>
              </a:rPr>
              <a:t>hy the book is late: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no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central ownership, </a:t>
            </a:r>
            <a:r>
              <a:rPr lang="en-US" sz="1200" dirty="0">
                <a:solidFill>
                  <a:srgbClr val="11052C"/>
                </a:solidFill>
                <a:latin typeface="Arial"/>
              </a:rPr>
              <a:t>no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locked outline, no standard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formats and templates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, and units building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misaligned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decks.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T-28 TO T-21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Outline locked</a:t>
            </a:r>
          </a:p>
          <a:p>
            <a:pPr algn="l">
              <a:spcAft>
                <a:spcPts val="400"/>
              </a:spcAft>
            </a:pPr>
            <a:r>
              <a:rPr lang="en-US" sz="1100" b="0">
                <a:solidFill>
                  <a:srgbClr val="3B2A54"/>
                </a:solidFill>
                <a:latin typeface="Arial"/>
              </a:rPr>
              <a:t>We issue the locked outline and standard data tables, so units stop building rival decks.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655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T-20 TO T-14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Executive lock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B2A54"/>
                </a:solidFill>
                <a:latin typeface="Arial"/>
              </a:rPr>
              <a:t>One-to-ones at T-21. The options memo settles the capital priorities and the 70/30 core / new-bets split with the CEO and CFO at T-16.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T-13 TO T-7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One pen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B2A54"/>
                </a:solidFill>
                <a:latin typeface="Arial"/>
              </a:rPr>
              <a:t>Inputs freeze at T-10.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Committee chairs are </a:t>
            </a:r>
            <a:r>
              <a:rPr sz="1100" b="0">
                <a:solidFill>
                  <a:srgbClr val="3B2A54"/>
                </a:solidFill>
                <a:latin typeface="Arial"/>
              </a:rPr>
              <a:t>briefed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at </a:t>
            </a:r>
            <a:r>
              <a:rPr sz="1100" b="0">
                <a:solidFill>
                  <a:srgbClr val="3B2A54"/>
                </a:solidFill>
                <a:latin typeface="Arial"/>
              </a:rPr>
              <a:t>T-9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. The book is on the portal at</a:t>
            </a:r>
            <a:r>
              <a:rPr sz="1100" b="0">
                <a:solidFill>
                  <a:srgbClr val="3B2A54"/>
                </a:solidFill>
                <a:latin typeface="Arial"/>
              </a:rPr>
              <a:t> T-7.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19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T-6 TO T-0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Decisions, not read-outs</a:t>
            </a:r>
          </a:p>
          <a:p>
            <a:pPr algn="l">
              <a:spcAft>
                <a:spcPts val="400"/>
              </a:spcAft>
            </a:pPr>
            <a:r>
              <a:rPr lang="en-US" sz="1100" b="0">
                <a:solidFill>
                  <a:srgbClr val="3B2A54"/>
                </a:solidFill>
                <a:latin typeface="Arial"/>
              </a:rPr>
              <a:t>Directors' questions are answered in writing </a:t>
            </a:r>
            <a:r>
              <a:rPr sz="1100" b="0">
                <a:solidFill>
                  <a:srgbClr val="3B2A54"/>
                </a:solidFill>
                <a:latin typeface="Arial"/>
              </a:rPr>
              <a:t>by T-3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, so the meeting goes to the capital plan</a:t>
            </a:r>
            <a:r>
              <a:rPr sz="1100" b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556756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79194"/>
            <a:ext cx="104241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1052C"/>
                </a:solidFill>
                <a:latin typeface="Arial"/>
              </a:rPr>
              <a:t>Two items cannot slip: </a:t>
            </a:r>
            <a:r>
              <a:rPr sz="1400" b="0">
                <a:solidFill>
                  <a:srgbClr val="11052C"/>
                </a:solidFill>
                <a:latin typeface="Arial"/>
              </a:rPr>
              <a:t>the capital plan, because this is the last Board before Investor Day on 8 Dec, and the statutory items for new entities: open an entity only when a license or tax substance requires it; officers and signing follow the stage (backup B).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4498588"/>
            <a:ext cx="3300984" cy="10233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Still no agreement at the lock</a:t>
            </a: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Dissenting 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positions go in the memo; the CEO decides; the dissent is recorded, so the Board sees one recommendation.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4498588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1052C"/>
                </a:solidFill>
                <a:latin typeface="Arial"/>
              </a:rPr>
              <a:t>Materials are still late at T-10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B2A54"/>
                </a:solidFill>
                <a:latin typeface="Arial"/>
              </a:rPr>
              <a:t>The locked outline decides: anything outside it goes to the appendix or the next meeting.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640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46136" y="4498588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1052C"/>
                </a:solidFill>
                <a:latin typeface="Arial"/>
              </a:rPr>
              <a:t>The book holds non-public Q3 results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B2A54"/>
                </a:solidFill>
                <a:latin typeface="Arial"/>
              </a:rPr>
              <a:t>Portal only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; IR sets what directors may discuss</a:t>
            </a:r>
            <a:r>
              <a:rPr sz="10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The review agent's drafts run on Nu-approved </a:t>
            </a:r>
            <a:r>
              <a:rPr sz="1050" b="0">
                <a:solidFill>
                  <a:srgbClr val="3B2A54"/>
                </a:solidFill>
                <a:latin typeface="Arial"/>
              </a:rPr>
              <a:t>tools, 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and a named owner signs each answer</a:t>
            </a:r>
            <a:r>
              <a:rPr sz="1050" b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89762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Board assumed on Tue 17 Nov, four weeks from today. Q3'26 results are due 12 Nov; Investor Day is 8 Dec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39" y="63225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9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Managing different viewpoints and friction at the executive level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1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Talk privately first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, always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C-level access comes with earning trust and a seat at the table. Understanding the GMs’ priorities is key to drive acceptance as an advisor; the Business mus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t see this role as an enabler and advisor, not a blocker.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558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655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2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Move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beyond facts and numbers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From "I need $25M" to "what would prove this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justifies the ask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?"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- t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he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governance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sets the bar, and this team gains buy-in working as a facilitator to navigate the requirements for a path to approval.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90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08776" y="1270035"/>
            <a:ext cx="2340863" cy="2793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3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People, people, people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Establishing access with teams, not just leaders, is a proven path to (a) acquire “finger on the pulse” insights,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 and (b) show executives that this is a generalist team that can navigate a multitude of topics engaging the SMEs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422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1976" y="1270035"/>
            <a:ext cx="2340863" cy="276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4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Build with, not for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Making GMs and teams feel part of the solution is a virtuous cycle to secure alignment and increase synergy - REAL synergy that comes from a well functioning, high-performance executive team focused on shared goals.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" y="4526279"/>
            <a:ext cx="10789920" cy="1458575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4668900"/>
            <a:ext cx="1042416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rial"/>
              </a:rPr>
              <a:t>Why it can work without line authority: the CoS &amp; CG can play a crucial role in selling the value of the governance and why it makes our decision-making process better. GMs don’t need to agree on everything all the time, but the rules are public on day one, the tough conversations are private, and the sign-off is joint even upon disagreement – “dissent but commit” is a solid outcome.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16935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Fair process: Kim and Mauborgne, "Fair Process: Managing in the Knowledge Economy", Harvard Business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10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052C"/>
                </a:solidFill>
                <a:latin typeface="Arial"/>
              </a:rPr>
              <a:t>The HQ is a governance project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as much as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a real-estate deal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4131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616962"/>
            <a:ext cx="4992624" cy="19312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THE ASSESSMENT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What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needs to be assessed before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a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site is defined and a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lease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/ purchase can happen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A regional hub and campus, negotiated across Legal, Tax, Compliance, People and Workplace,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exists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in more than one jurisdictio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n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with no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clear owner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over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all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of them.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This is an enterprise initiative that requires significant cross-functional work, with proper cadence and discipline to run it.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3931403"/>
            <a:ext cx="5212080" cy="227411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4200275"/>
            <a:ext cx="4992624" cy="1736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WHAT IS NEGOTIATED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Different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kinds of agreement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Local regulatory agreements: the incentive or grant, any tax ruling, registrations and permits, work permits (Legal, Tax, Compliance, People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Government Engagement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Campus infrastructure agreements: lease or build-to-suit, fit-out, utilities, land and zoning (Workplace, Legal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Tax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38020"/>
            <a:ext cx="5440680" cy="48981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08776" y="1500753"/>
            <a:ext cx="5221224" cy="4624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50" b="1" dirty="0">
                <a:solidFill>
                  <a:srgbClr val="820AD1"/>
                </a:solidFill>
                <a:latin typeface="Arial"/>
              </a:rPr>
              <a:t>PRINCIPLES ON CHOOSING A </a:t>
            </a:r>
            <a:r>
              <a:rPr sz="1050" b="1" dirty="0">
                <a:solidFill>
                  <a:srgbClr val="820AD1"/>
                </a:solidFill>
                <a:latin typeface="Arial"/>
              </a:rPr>
              <a:t>SITE</a:t>
            </a:r>
          </a:p>
          <a:p>
            <a:pPr algn="l">
              <a:spcAft>
                <a:spcPts val="1200"/>
              </a:spcAft>
            </a:pPr>
            <a:r>
              <a:rPr b="1" dirty="0">
                <a:solidFill>
                  <a:srgbClr val="11052C"/>
                </a:solidFill>
                <a:latin typeface="Arial"/>
              </a:rPr>
              <a:t>Four hard tests, then five criteria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1.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Regulatory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Nu has the required licenses for what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the hub's activities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require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(Compliance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Legal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2.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Tax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people and decisions there do not move Nu Holdings' tax residence or create a taxable presence (Tax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Finance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3.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Officers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Nu can field directors who pass fit-and-proper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requirements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 (Legal, People).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4.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Substance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real payroll and assets, so the incentive survives Pillar Two (Tax, People).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Then five weighted criteria: talent and wage cost; incentive net of clawback; campus cost and timing; modeled tax rate; political and reputational </a:t>
            </a:r>
            <a:r>
              <a:rPr sz="1400" b="0">
                <a:solidFill>
                  <a:srgbClr val="3B2A54"/>
                </a:solidFill>
                <a:latin typeface="Arial"/>
              </a:rPr>
              <a:t>risk (</a:t>
            </a:r>
            <a:r>
              <a:rPr lang="en-US" sz="1400" b="0">
                <a:solidFill>
                  <a:srgbClr val="3B2A54"/>
                </a:solidFill>
                <a:latin typeface="Arial"/>
              </a:rPr>
              <a:t>suggested </a:t>
            </a:r>
            <a:r>
              <a:rPr sz="1400" b="0">
                <a:solidFill>
                  <a:srgbClr val="3B2A54"/>
                </a:solidFill>
                <a:latin typeface="Arial"/>
              </a:rPr>
              <a:t>weights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in </a:t>
            </a:r>
            <a:r>
              <a:rPr sz="1400" b="0">
                <a:solidFill>
                  <a:srgbClr val="3B2A54"/>
                </a:solidFill>
                <a:latin typeface="Arial"/>
              </a:rPr>
              <a:t>backup </a:t>
            </a:r>
            <a:r>
              <a:rPr lang="en-US" sz="1400" b="0">
                <a:solidFill>
                  <a:srgbClr val="3B2A54"/>
                </a:solidFill>
                <a:latin typeface="Arial"/>
              </a:rPr>
              <a:t>F</a:t>
            </a:r>
            <a:r>
              <a:rPr sz="1400" b="0">
                <a:solidFill>
                  <a:srgbClr val="3B2A54"/>
                </a:solidFill>
                <a:latin typeface="Arial"/>
              </a:rPr>
              <a:t>).</a:t>
            </a:r>
            <a:endParaRPr sz="140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Propose to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start where Nu already has licensed substance and a local CFO (Brazil, Mexico, Colombia) or is building (the US). Two sites go to term sheet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then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 the CEO and CFO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prioritize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36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5B82"/>
                </a:solidFill>
                <a:latin typeface="Arial"/>
              </a:rPr>
              <a:t>Nu Holdings is Cayman-incorporated (Form 20-F). Nu is above the EUR 750M Pillar Two threshold; 15% minimum; the 2026 carve-out is 9.4% of payroll and 7.4% of tangible assets (OECD GloBE, Art. 5.3 and 9.2). Brazil applies a domestic minimum top-up tax from 2025. Jurisdiction open; no savings figure until a site is chosen.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SMEs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own the judgment, </a:t>
            </a:r>
            <a:r>
              <a:rPr lang="en-US" sz="2400" b="1" dirty="0" err="1">
                <a:solidFill>
                  <a:srgbClr val="11052C"/>
                </a:solidFill>
                <a:latin typeface="Arial"/>
              </a:rPr>
              <a:t>CoS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&amp; CG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own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the process, the CFO owns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ultimate recommendations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709928"/>
            <a:ext cx="5084064" cy="2870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050" b="1" dirty="0">
                <a:solidFill>
                  <a:srgbClr val="820AD1"/>
                </a:solidFill>
                <a:latin typeface="Arial"/>
              </a:rPr>
              <a:t>STATUTORY </a:t>
            </a:r>
            <a:r>
              <a:rPr lang="en-US" sz="1050" b="1" dirty="0">
                <a:solidFill>
                  <a:srgbClr val="820AD1"/>
                </a:solidFill>
                <a:latin typeface="Arial"/>
              </a:rPr>
              <a:t>OFFICERS</a:t>
            </a:r>
            <a:endParaRPr sz="10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b="1" dirty="0">
                <a:solidFill>
                  <a:srgbClr val="11052C"/>
                </a:solidFill>
                <a:latin typeface="Arial"/>
              </a:rPr>
              <a:t>Authority and safeguards</a:t>
            </a:r>
            <a:endParaRPr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Gate decisions are taken at the monthly SteerCo, chaired by the CFO.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Signing: central until gate 3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then delegated limits.</a:t>
            </a: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Officers: qualified appointees, with D&amp;O cover before activation.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Legal confirms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personal liability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Regulatory filings start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at gate 1.</a:t>
            </a: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Regulated entities need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a capital plan and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Board oversight.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9048" y="16002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08776" y="1709928"/>
            <a:ext cx="5084064" cy="3008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50" b="1" dirty="0">
                <a:solidFill>
                  <a:srgbClr val="820AD1"/>
                </a:solidFill>
                <a:latin typeface="Arial"/>
              </a:rPr>
              <a:t>CROSS-FUNCTIONAL LEADERSHIP</a:t>
            </a:r>
            <a:endParaRPr sz="10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b="1" dirty="0">
                <a:solidFill>
                  <a:srgbClr val="11052C"/>
                </a:solidFill>
                <a:latin typeface="Arial"/>
              </a:rPr>
              <a:t>Accountability and escalation</a:t>
            </a:r>
            <a:endParaRPr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lang="en-US" sz="1400" b="0" dirty="0" err="1">
                <a:solidFill>
                  <a:srgbClr val="3B2A54"/>
                </a:solidFill>
                <a:latin typeface="Arial"/>
              </a:rPr>
              <a:t>CoS &amp; CG leads cadence and delivery; functions own the technical advice.</a:t>
            </a:r>
            <a:endParaRPr lang="en-US" sz="140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CFO recommends, CEO selects the site; board appoints officers.</a:t>
            </a: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Weekly functional leads meeting with one decision log; monthly SteerCo.</a:t>
            </a:r>
          </a:p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When functions disagree, both views go in the log and reach the CFO within 48 hours with a recommendation; Legal and Compliance keep legality vetoes.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111496"/>
            <a:ext cx="3300984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Tax residence </a:t>
            </a:r>
            <a:r>
              <a:rPr lang="en-US" sz="1200" b="1" dirty="0">
                <a:solidFill>
                  <a:srgbClr val="11052C"/>
                </a:solidFill>
                <a:latin typeface="Arial"/>
              </a:rPr>
              <a:t>planning changes</a:t>
            </a:r>
            <a:endParaRPr sz="12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Opinion at gate 1; meeting patterns unchanged; no early signing (Tax).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34256" y="5111496"/>
            <a:ext cx="330098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Officer approval runs late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Files at gate 1; no activation before approval; the lease long-stop moves with it (Legal, People).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640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46136" y="5111496"/>
            <a:ext cx="3300984" cy="10233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Dependence on </a:t>
            </a:r>
            <a:r>
              <a:rPr lang="en-US" sz="1200" b="1" dirty="0">
                <a:solidFill>
                  <a:srgbClr val="11052C"/>
                </a:solidFill>
                <a:latin typeface="Arial"/>
              </a:rPr>
              <a:t>the </a:t>
            </a:r>
            <a:r>
              <a:rPr lang="en-US" sz="1200" b="1" dirty="0" err="1">
                <a:solidFill>
                  <a:srgbClr val="11052C"/>
                </a:solidFill>
                <a:latin typeface="Arial"/>
              </a:rPr>
              <a:t>CoS</a:t>
            </a:r>
            <a:endParaRPr sz="12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A named deputy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 is the de facto #2 in command of the project;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 the 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data, documents and 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decision log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 exist in cloud shared environments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" y="6263640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Signing limits and the delegation model are proposals. If the hub sits inside an existing licensed entity, gate 3 shrinks to a powers-of-attorney update (backup B). Full HQ risk register and site scorecard: backup 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F</a:t>
            </a:r>
            <a:r>
              <a:rPr sz="900" b="0">
                <a:solidFill>
                  <a:srgbClr val="6B5B82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12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Proposal: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Four decision gates in 120 days; nothing signed between them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294443"/>
              </p:ext>
            </p:extLst>
          </p:nvPr>
        </p:nvGraphicFramePr>
        <p:xfrm>
          <a:off x="612648" y="1240012"/>
          <a:ext cx="10789920" cy="3304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5284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we negotiate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Exit test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Walk-away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3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1, D+30: can we?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Tax and residence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Tax, with Compliance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Nothing yet: internal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Tax-residence and taxable-presence opinion for both sites; modeled tax rate holds under Pillar Two; Compliance confirms permission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Any site where residence or a taxable presence moves, whatever the incentive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24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2, D+60: what may we offer?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Regulatory and grant terms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Legal, with Tax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I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ncentive agreement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with prospects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; commitments only inside the published plan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Signed term sheet: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negotiate 12-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24 months' grace; one site dropped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by elimination criteria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 cliff-edge clawback; a headcount commitment above plan; terms that bind other markets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24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3, D+90: who may bind Nu?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Officers and signing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 and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Nothing external: Nu's own governance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Officers named from licensed executives; fit-and-proper files in (started at gate 1); signing matrix and powers of attorney approved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Any appointment without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Compliance/Legal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cover or regulator approval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3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4, D+120: do we commit?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Lease and campus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Workplace, with Legal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or build-to-suit, fit-out, utilities, infrastructure contribution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inside the FY27 plan, cost phased, a break option matched to the grant's grace, a long-stop date tied to gate 2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No break option, or cost committed before the incentive is signed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681728"/>
            <a:ext cx="10789920" cy="10972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95528" y="4956269"/>
            <a:ext cx="104241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</a:rPr>
              <a:t>CoS &amp; CG acts as the PMO / project lead to gather inputs from involved stakeholders, establish progress tracking, provide assessments and recommendations, and support MTeam decision-making discussions.</a:t>
            </a:r>
            <a:endParaRPr sz="16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13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4  //  LEADERSHIP STYLE AND OPERATING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Leadership approach</a:t>
            </a:r>
            <a:r>
              <a:rPr sz="2400" b="1">
                <a:solidFill>
                  <a:srgbClr val="11052C"/>
                </a:solidFill>
                <a:latin typeface="Arial"/>
              </a:rPr>
              <a:t>: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trust</a:t>
            </a:r>
            <a:r>
              <a:rPr sz="2400" b="1">
                <a:solidFill>
                  <a:srgbClr val="11052C"/>
                </a:solidFill>
                <a:latin typeface="Arial"/>
              </a:rPr>
              <a:t>,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accountability </a:t>
            </a:r>
            <a:r>
              <a:rPr sz="2400" b="1">
                <a:solidFill>
                  <a:srgbClr val="11052C"/>
                </a:solidFill>
                <a:latin typeface="Arial"/>
              </a:rPr>
              <a:t>and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follow-through</a:t>
            </a:r>
            <a:endParaRPr sz="2400" b="1">
              <a:solidFill>
                <a:srgbClr val="11052C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617220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0">
                <a:solidFill>
                  <a:srgbClr val="6B5B82"/>
                </a:solidFill>
                <a:latin typeface="Arial"/>
              </a:rPr>
              <a:t>Proposed approach. Fair process: Kim and Mauborgne (HBR).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14</a:t>
            </a:r>
          </a:p>
        </p:txBody>
      </p:sp>
      <p:sp>
        <p:nvSpPr>
          <p:cNvPr id="104" name="Rounded Rectangle 3"/>
          <p:cNvSpPr/>
          <p:nvPr/>
        </p:nvSpPr>
        <p:spPr>
          <a:xfrm>
            <a:off x="6126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4"/>
          <p:cNvSpPr txBox="1"/>
          <p:nvPr/>
        </p:nvSpPr>
        <p:spPr>
          <a:xfrm>
            <a:off x="7223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TRUST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Business partnership</a:t>
            </a: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Understand GM priorities through private conversations. Work with Country and BU teams, engage their experts and develop recommendations together.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33558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6"/>
          <p:cNvSpPr txBox="1"/>
          <p:nvPr/>
        </p:nvSpPr>
        <p:spPr>
          <a:xfrm>
            <a:off x="34655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ALIGNMENT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Clear recommendations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B2A54"/>
                </a:solidFill>
                <a:latin typeface="Arial"/>
              </a:rPr>
              <a:t>Make criteria explicit before decisions. Resolve differences privately. Bring unresolved trade-offs to the CFO with a recommendation and a record of dissent.</a:t>
            </a:r>
          </a:p>
        </p:txBody>
      </p:sp>
      <p:sp>
        <p:nvSpPr>
          <p:cNvPr id="108" name="Rounded Rectangle 7"/>
          <p:cNvSpPr/>
          <p:nvPr/>
        </p:nvSpPr>
        <p:spPr>
          <a:xfrm>
            <a:off x="60990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8"/>
          <p:cNvSpPr txBox="1"/>
          <p:nvPr/>
        </p:nvSpPr>
        <p:spPr>
          <a:xfrm>
            <a:off x="6208776" y="1270035"/>
            <a:ext cx="2340863" cy="2793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EXECUTION</a:t>
            </a:r>
          </a:p>
          <a:p>
            <a:pPr algn="l">
              <a:spcAft>
                <a:spcPts val="600"/>
              </a:spcAft>
            </a:pPr>
            <a:r>
              <a:rPr lang="en-US" sz="1600" b="1">
                <a:solidFill>
                  <a:srgbClr val="11052C"/>
                </a:solidFill>
                <a:latin typeface="Arial"/>
              </a:rPr>
              <a:t>Visible accountability</a:t>
            </a:r>
            <a:endParaRPr sz="1600" b="1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The lead aligns executives. The team runs the calendar, prepares briefs and tracks actions. Every commitment has an owner and date. AI supports analysis, people validate it.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0" name="Rounded Rectangle 9"/>
          <p:cNvSpPr/>
          <p:nvPr/>
        </p:nvSpPr>
        <p:spPr>
          <a:xfrm>
            <a:off x="88422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0"/>
          <p:cNvSpPr txBox="1"/>
          <p:nvPr/>
        </p:nvSpPr>
        <p:spPr>
          <a:xfrm>
            <a:off x="8951976" y="1270035"/>
            <a:ext cx="2340863" cy="276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LEARNING</a:t>
            </a:r>
          </a:p>
          <a:p>
            <a:pPr algn="l">
              <a:spcAft>
                <a:spcPts val="600"/>
              </a:spcAft>
            </a:pPr>
            <a:r>
              <a:rPr lang="en-US" sz="1600" b="1">
                <a:solidFill>
                  <a:srgbClr val="11052C"/>
                </a:solidFill>
                <a:latin typeface="Arial"/>
              </a:rPr>
              <a:t>Regular course correction</a:t>
            </a:r>
            <a:endParaRPr sz="1600" b="1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Start with a clear proposal and review date. Use quarterly reviews to assess results and change what is not working. Seek GM feedback twice a year.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2" name="Rounded Rectangle 11"/>
          <p:cNvSpPr/>
          <p:nvPr/>
        </p:nvSpPr>
        <p:spPr>
          <a:xfrm>
            <a:off x="612648" y="4526279"/>
            <a:ext cx="10789920" cy="1458575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2"/>
          <p:cNvSpPr txBox="1"/>
          <p:nvPr/>
        </p:nvSpPr>
        <p:spPr>
          <a:xfrm>
            <a:off x="795528" y="4668900"/>
            <a:ext cx="1042416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Working discipline: weekly CFO alignment, monthly GM discussions and Board preparation against agreed deadlines.</a:t>
            </a:r>
          </a:p>
          <a:p>
            <a:r>
              <a:rPr sz="1600" b="1">
                <a:solidFill>
                  <a:srgbClr val="FFFFFF"/>
                </a:solidFill>
                <a:latin typeface="Arial"/>
              </a:rPr>
              <a:t>Track actions after each Board. Escalate material issues promptly. Keep local decision rights and specialist governance intact.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4  //  LEADERSHIP STYLE AND OPERATING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Working with the markets: who owns what, and how we learn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94170"/>
              </p:ext>
            </p:extLst>
          </p:nvPr>
        </p:nvGraphicFramePr>
        <p:xfrm>
          <a:off x="612648" y="1600200"/>
          <a:ext cx="10789920" cy="2831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  <a:endParaRPr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 &amp; CG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owns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 &amp; CG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influence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s</a:t>
                      </a:r>
                      <a:endParaRPr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GMs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and 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Local/BU CFOs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own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Planning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One working model; alignment with Geographies and Functions; the investment business case requirements and template; a read of every first-release case before the lock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GM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/CFO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one-to-ones; 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Board prep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with the CEO and CFO;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IR and Investor day prep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P&amp;L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numbers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and drivers; rationale and data behind asks;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local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CFO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-level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decision rights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Board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The board prep timeline and schedule; the coordination with stakeholders; tracking topics and projects; reporting results and outcomes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MTeam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alignment; prioritization; business case for capital asks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narrative and positioning; supporting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Board/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IR calendar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with data; adhering to the timeline and schedule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HQ Project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The SteerCo cadence and materials; consolidation and driving the agenda with SMEs; the decision log and the site scorecard prioritization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Discussions and insights for executive assessment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; CFO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/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CEO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decision-making support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Technical judgment (Legal, Tax, Compliance); signing (licensed executives)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572000"/>
            <a:ext cx="10789920" cy="13258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89432" y="4791563"/>
            <a:ext cx="1042416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rial"/>
              </a:rPr>
              <a:t>Propose, implement, assess. </a:t>
            </a:r>
            <a:r>
              <a:rPr b="0" dirty="0">
                <a:solidFill>
                  <a:srgbClr val="FFFFFF"/>
                </a:solidFill>
                <a:latin typeface="Arial"/>
              </a:rPr>
              <a:t>Each quarter </a:t>
            </a:r>
            <a:r>
              <a:rPr lang="en-US" b="0" dirty="0" err="1">
                <a:solidFill>
                  <a:srgbClr val="FFFFFF"/>
                </a:solidFill>
                <a:latin typeface="Arial"/>
              </a:rPr>
              <a:t>CoS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 &amp; CG </a:t>
            </a:r>
            <a:r>
              <a:rPr b="0" dirty="0">
                <a:solidFill>
                  <a:srgbClr val="FFFFFF"/>
                </a:solidFill>
                <a:latin typeface="Arial"/>
              </a:rPr>
              <a:t>and the 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CFO </a:t>
            </a:r>
            <a:r>
              <a:rPr b="0" dirty="0">
                <a:solidFill>
                  <a:srgbClr val="FFFFFF"/>
                </a:solidFill>
                <a:latin typeface="Arial"/>
              </a:rPr>
              <a:t>review what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’s </a:t>
            </a:r>
            <a:r>
              <a:rPr b="0" dirty="0">
                <a:solidFill>
                  <a:srgbClr val="FFFFFF"/>
                </a:solidFill>
                <a:latin typeface="Arial"/>
              </a:rPr>
              <a:t>work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ing and what can be improved: </a:t>
            </a:r>
            <a:r>
              <a:rPr b="0" dirty="0">
                <a:solidFill>
                  <a:srgbClr val="FFFFFF"/>
                </a:solidFill>
                <a:latin typeface="Arial"/>
              </a:rPr>
              <a:t>kee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p</a:t>
            </a:r>
            <a:r>
              <a:rPr b="0" dirty="0">
                <a:solidFill>
                  <a:srgbClr val="FFFFFF"/>
                </a:solidFill>
                <a:latin typeface="Arial"/>
              </a:rPr>
              <a:t>, fix or drop. The function earns its place with the markets instead of ruling from HQ</a:t>
            </a:r>
            <a:r>
              <a:rPr lang="en-US" dirty="0">
                <a:solidFill>
                  <a:srgbClr val="FFFFFF"/>
                </a:solidFill>
                <a:latin typeface="Arial"/>
              </a:rPr>
              <a:t> and contributes to better alignment and discipline without compromising speed.</a:t>
            </a:r>
            <a:endParaRPr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996696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b="0" dirty="0">
                <a:solidFill>
                  <a:srgbClr val="3B2A54"/>
                </a:solidFill>
                <a:latin typeface="Arial"/>
              </a:rPr>
              <a:t>A  Key assumptions   |   B  Statutory entity model   |   C  Sources</a:t>
            </a:r>
          </a:p>
          <a:p>
            <a:pPr algn="ctr"/>
            <a:r>
              <a:rPr lang="en-US" sz="1400" b="0" dirty="0">
                <a:solidFill>
                  <a:srgbClr val="3B2A54"/>
                </a:solidFill>
                <a:latin typeface="Arial"/>
              </a:rPr>
              <a:t>D  Board Prep timeline   |   E  AI support   |   F  HQ site scorecard and risk register   |   G  How AI was used</a:t>
            </a:r>
          </a:p>
          <a:p>
            <a:pPr algn="ctr"/>
            <a:endParaRPr lang="en-US"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16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Key assumptions and the facts they are based on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43292"/>
              </p:ext>
            </p:extLst>
          </p:nvPr>
        </p:nvGraphicFramePr>
        <p:xfrm>
          <a:off x="612648" y="1280160"/>
          <a:ext cx="10469880" cy="4956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65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Nu Q2'26: 138.9M customers, monthly ARPAC $17.1, cost to serve $1.0, efficiency ratio 19.5%, ROE 33%, net income $1.06B.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Q2'26 release and 6-K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FY26 efficiency ratio near 20%; the US entry kept within about 100 bps of efficiency-ratio impact.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(management guidance)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Q2'26 call, 13 Aug 2026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$60M asks and $25M cap are the case's figures. $35M is about 15 bps of annualized revenue, about 1.1% of opex and about 0.2 points of efficiency ratio ($25M: about 0.15).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 + CALCULATION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brief; Q2'26 figures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MTeam dispute is about the growth-opex envelope (core vs new bets), not regulatory capital by entity.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Spend above $25M only from H1 profit above plan, inside the efficiency-ratio guide in force, NPL 90+ on plan; CFO decides, Risk can block, IR sets disclosure.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RULE (proposed)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B2A54"/>
                          </a:solidFill>
                          <a:latin typeface="Arial"/>
                        </a:rPr>
                        <a:t>To agree with the CFO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Board in 4 weeks (assumed Tue 17 Nov); Investor Day 8 Dec 2026; the Board approves the capital plan before the Investor Day story is set.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(dates) + 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brief; Nu IR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HQ jurisdiction open. Nu is above the EUR 750M Pillar Two threshold; 2026 carve-out 9.4% of payroll, 7.4% of tangible assets.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(rule) + ASSUMPTION (site)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OECD GloBE rules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Option scores and weights are our judgment; third-party benchmarks are context only.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Slide 5; backup C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FY27 envelope: first release 1 Jan 2027, second at Q1 close (decided on Q1 data), 2H checkpoint (up to $25M) and reserve ($10M) at H1 close. Hub of 4-6 people.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Calendar fiscal year; sizing is ours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hub can run Nu-approved AI tools inside Nu's environment; Security and Risk approve data access before the agents go live.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To confirm with Security and Risk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HQ jurisdiction open; two candidate sites go to term sheet; the site scorecard weights are our judgment (backup F).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A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Open an entity only when a license or tax substance requires it; officers and signing follow the 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Trigger for a local entity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Setup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Officers, signing and insurance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1. Market test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(new countries)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license needed and no taxable presence; served from an existing licensed entity or a partner bank (as the US is today, through Lead Bank, since 10 Sep 2026).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entity. Cross-border or partner model.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Central signing only. No local director. Prevents an accidental permanent establishment.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2. Licensed scale-up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(US charter, new verticals)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 regulator requires a local licensed entity (deposits, lending, custody), or substance rules require local payroll and assets.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Dedicated licensed entity with its own capital plan and headroom.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Fit-and-proper directors; two central officers plus one local leader; dual signature above a set limit; D&amp;O before activation.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3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3. Core hub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(Mexico, a bank since Aug 2026; Colombia; the HQ)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banking or fintech license in force; local CFO in place (already so in Mexico and Colombia).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licensed entity; regional campus where the HQ lands.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Audit and Risk Committee oversight; dual signature above limits set by category; director liability insurance; annual review of powers of attorney. If the HQ sits inside an existing licensed entity: a powers-of-attorney update only.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Sources: Nu announcements (US launch via Lead Bank, 10 Sep 2026; OCC conditional approval, 29 Jan 2026; Mexico bank authorization, 10 Jul 2026; local finance leadership per the CFO appointment release). Signing limits are proposals.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B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C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Every number is a sourced fact, a labeled assumption or context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57150"/>
              </p:ext>
            </p:extLst>
          </p:nvPr>
        </p:nvGraphicFramePr>
        <p:xfrm>
          <a:off x="612648" y="1325880"/>
          <a:ext cx="10972800" cy="3992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Source and 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Data point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Where it is used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Nu scale and efficiency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 release and 6-K; Form 20-F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138.9M customers; ARPAC $17.1; cost to serve $1.0 ($0.8 a year earlier); efficiency ratio 19.5% (17.6% in Q1; ~20% FY26 per the call); ROE 33%; net income $1.06B; opex $806.2M; net revenue ~$4.1B; low-and-grow underwriting.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5, 7; backup A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7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Corporate events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announcements; OCC; Nu IR  |  FACT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Mexico bank authorization 10 Jul 2026 (operating from 6 Aug), $4.2B plan to 2030; OCC conditional approval 29 Jan 2026 (capital within 12 months); US launch via Lead Bank 10 Sep 2026; buyback up to $1.0B (4 Jun 2026); CFO since 13 Jul 2026; Q3'26 results 12 Nov; Investor Day 8 Dec 2026.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9, 13; backup 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Cohorts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Q1'26 earnings presentation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$30.8 monthly ARPAC at 96 months since origination vs $15.9 total.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 7 (70/30 split)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HQ tax rules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OECD GloBE Model Rules; Form 20-F  |  FACT (rule)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EUR 750M threshold; 15% minimum; 2026 transitional carve-out 9.4% of payroll and 7.4% of tangible assets (Art. 5.3, 9.2); Nu Holdings is Cayman-incorporated.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 11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751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11052C"/>
                          </a:solidFill>
                          <a:latin typeface="Arial"/>
                        </a:rPr>
                        <a:t>Context only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B2A54"/>
                          </a:solidFill>
                          <a:latin typeface="Arial"/>
                        </a:rPr>
                        <a:t>Hackett, McKinsey, Gartner, HBR, NACD, Deloitte, Baker McKenzie; three-horizons framing (Baghai, Coley and White)  |  CONTEXT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B2A54"/>
                          </a:solidFill>
                          <a:latin typeface="Arial"/>
                        </a:rPr>
                        <a:t>Central hubs shorten planning cycles; active reallocators earn higher returns; fair process wins acceptance; Board books at T-7.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Footers and talk only</a:t>
                      </a:r>
                      <a:endParaRPr lang="en-US" sz="10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AI in operations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 release; Nu newsroom (Hyperplane, Jun 2024)  |  FACT. Gartner; PMI; Science; HBS/BCG  |  CONTEXT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AI agents handle more than 60% of support chats in Brazil; AI-first strategy. Studies and surveys on AI in project reporting, writing and finance (backup E).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2, 3, 8, 14; backup 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1052C"/>
                          </a:solidFill>
                          <a:latin typeface="Arial"/>
                        </a:rPr>
                        <a:t>Spend prioritization methodology</a:t>
                      </a:r>
                      <a:endParaRPr sz="100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00" b="0" kern="120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McKinsey, Deloitte</a:t>
                      </a:r>
                      <a:endParaRPr lang="en-US"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Studies support strategic initiative alignment, streamlined financial planning, compact schedules and regular in-year resource reallocation, with strategy-driven, granular allocation and clear senior decision rights.</a:t>
                      </a:r>
                      <a:endParaRPr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00" b="0" kern="1200" dirty="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Slide 6</a:t>
                      </a:r>
                      <a:endParaRPr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02169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03504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Research assisted by AI tools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, with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 every figure, calculation and recommendation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c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hecked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personally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C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D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One timeline: tenure days, Board countdown and HQ gates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71258"/>
              </p:ext>
            </p:extLst>
          </p:nvPr>
        </p:nvGraphicFramePr>
        <p:xfrm>
          <a:off x="612648" y="1371600"/>
          <a:ext cx="10972800" cy="4681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Tenure day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Board countdown / HQ gate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20 Oct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T-28  |  HQ D+0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outline out; HQ charter signed; tax gate launched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27 Oct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One-to-ones with each executive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Capital options lock with CEO, CFO and MTeam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78-81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T-10 to T-7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Inputs freeze; chairs briefed (T-9); book on portal (T-7)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88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17 Nov (assumed)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approves FY27 plan; first-release allocation published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Thu 19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D+30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1: tax and residence opinion; two sites to term sheet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Late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3B2A54"/>
                          </a:solidFill>
                          <a:latin typeface="Arial"/>
                        </a:rPr>
                        <a:t>Hub in place; market and vertical finance teams aligned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105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Dec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3B2A54"/>
                          </a:solidFill>
                          <a:latin typeface="Arial"/>
                        </a:rPr>
                        <a:t>Bi-weekly stand-ups running; business cases in review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Mid-Dec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2: grant terms (12-24 months' grace); one site dropped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133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Fri 1 Jan 2027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FY27 starts; $15M first release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150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Mid-Jan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D+90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3: officers and D&amp;O; 90-day report to the CFO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180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Mid-Feb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D+120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4: 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222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Wed 31 Mar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Q1 close; second release ($10M) decided on Q1 data in early April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D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E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Proposed AI support across the four deliverables</a:t>
            </a:r>
            <a:endParaRPr sz="2400" b="1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30327"/>
              </p:ext>
            </p:extLst>
          </p:nvPr>
        </p:nvGraphicFramePr>
        <p:xfrm>
          <a:off x="612648" y="1325880"/>
          <a:ext cx="10972800" cy="4233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US" sz="1150" b="1" kern="120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+mn-cs"/>
                        </a:rPr>
                        <a:t>Deliverable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PMO agent: coordination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Review agent: decision support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1  Planning &amp; spend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case submissions, funding gates and monthly spend. Prepare status for quarterly GM reviews.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cases against the scorecard and source data. Flag assumption gaps and spend variances for Finance review.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2  C-suite &amp; Board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Maintain the agenda and preparation tracker. Draft action updates for weekly CFO and monthly GM discussions.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papers against agreed decisions and source tables. Draft briefs and responses for executive sign-off before publication.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3  HQ project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workstreams, gate dependencies and decisions. Prepare weekly updates and monthly SteerCo packs.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gate packs for missing approvals, conflicting inputs and open risks. Route technical conclusions to the relevant SMEs.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4  Leadership &amp; team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commitments across Country and BU teams. Compile overdue actions and review feedback.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Consolidate lessons and draft improvement options. Named owners validate analysis and recommendations.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Human control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Owners confirm status. People approve changes to dates and decisions. CoS &amp; CG owns escalation to the CFO.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Use approved tools and source-linked inputs. Finance, executives and SMEs sign off. Agents never approve funding or commitments.</a:t>
                      </a:r>
                      <a:endParaRPr lang="en-US" sz="11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03504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0">
                <a:solidFill>
                  <a:srgbClr val="6B5B82"/>
                </a:solidFill>
                <a:latin typeface="Arial"/>
              </a:rPr>
              <a:t>Pilot measures: reporting hours saved, on-time papers and gate packs, errors caught before sign-off, and overdue actions. Establish baselines before setting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E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F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HQ site scorecard and risk register: hard tests first, then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052C"/>
                </a:solidFill>
                <a:latin typeface="Arial"/>
              </a:rPr>
              <a:t>Hard tests first, pass or fail: </a:t>
            </a:r>
            <a:r>
              <a:rPr sz="1100" b="0">
                <a:solidFill>
                  <a:srgbClr val="11052C"/>
                </a:solidFill>
                <a:latin typeface="Arial"/>
              </a:rPr>
              <a:t>license, tax residence and taxable presence, fit-and-proper officers, real payroll and assets. Only sites that pass are scored.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240280"/>
          <a:ext cx="5394960" cy="2350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Evidence and 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Talent pool and wage cost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Hiring data and wage benchmarks (People)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Incentive value net of clawback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Draft terms with the clawback modeled (Legal, Tax)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Campus cost, flexibility and timing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options, break clauses, fit-out time (Workplace)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Modeled tax rate under Pillar Two, including any domestic top-up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The gate 1 model (Tax)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Political and reputational risk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Local stakeholder map (Legal, Comms)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63040"/>
          <a:ext cx="5212080" cy="2830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Tax residence or a taxable presence moves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Opinion at gate 1; meeting patterns unchanged; no early signing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Grant clawback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Proportional scaling and 12-24 months' grace; walk away from cliff-edge terms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Officer approval runs late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Files at gate 1; no activation before approval; the lease long-stop moves with 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Legal,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2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Site politics and disclosure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 public contact before the scorecard; one spokesperson (Comms); IR decides what is disclosed and when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Comms, IR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Dependence on the CoS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 named deputy, the decision log, gate packs the CFO can decide on without the lead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CoS &amp; CG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Weights and mitigations are our proposals. No savings figure until a site is chosen.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F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G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052C"/>
                </a:solidFill>
                <a:latin typeface="Arial"/>
              </a:rPr>
              <a:t>How AI was used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-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an AI-supported case, not an AI-driven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709928"/>
            <a:ext cx="50840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WHAT AI SUPPORTED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Research, checking and tidying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Research on Nu's public data, filings and announcements, and on planning and governance practices.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Numbers: calculations re-run and cross-checked against the sources.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References and best practices: sources found, read and summarized.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Minor formatting of slides and tables.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Testing some of the assumptions and scenarios (for example the option-weight sensitivity).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8" y="1600200"/>
            <a:ext cx="530352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08776" y="1709928"/>
            <a:ext cx="5084064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WHAT WAS HUMAN-BUILT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The thinking, the writing and the calls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 ideas, recommendations and judgments, and all the writing.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 structure, the storyline and the framing of each deliverable.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 assumptions, their classification as fact or assumption, and the trade-offs taken.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 final review of every figure, reference and recommendation.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 decision to present this as an AI-supported case rather than let AI drive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846320"/>
            <a:ext cx="10789920" cy="1097280"/>
          </a:xfrm>
          <a:prstGeom prst="roundRect">
            <a:avLst>
              <a:gd name="adj" fmla="val 8000"/>
            </a:avLst>
          </a:prstGeom>
          <a:solidFill>
            <a:srgbClr val="F5F0FC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5025629"/>
            <a:ext cx="1042416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1052C"/>
                </a:solidFill>
                <a:latin typeface="Arial"/>
              </a:rPr>
              <a:t>Tools: </a:t>
            </a:r>
            <a:r>
              <a:rPr sz="1400" b="0">
                <a:solidFill>
                  <a:srgbClr val="11052C"/>
                </a:solidFill>
                <a:latin typeface="Arial"/>
              </a:rPr>
              <a:t>Claude, Gemini and Copilot were used, each for different aspects of the work; no single tool produced the case. </a:t>
            </a:r>
            <a:r>
              <a:rPr sz="1400" b="1">
                <a:solidFill>
                  <a:srgbClr val="11052C"/>
                </a:solidFill>
                <a:latin typeface="Arial"/>
              </a:rPr>
              <a:t>Looking ahead: </a:t>
            </a:r>
            <a:r>
              <a:rPr sz="1400" b="0">
                <a:solidFill>
                  <a:srgbClr val="11052C"/>
                </a:solidFill>
                <a:latin typeface="Arial"/>
              </a:rPr>
              <a:t>the AI agents proposed for the planning hub and the Board and HQ work (slide 3, backup </a:t>
            </a:r>
            <a:r>
              <a:rPr lang="en-US" sz="1400" b="0">
                <a:solidFill>
                  <a:srgbClr val="11052C"/>
                </a:solidFill>
                <a:latin typeface="Arial"/>
              </a:rPr>
              <a:t>E</a:t>
            </a:r>
            <a:r>
              <a:rPr sz="1400" b="0">
                <a:solidFill>
                  <a:srgbClr val="11052C"/>
                </a:solidFill>
                <a:latin typeface="Arial"/>
              </a:rPr>
              <a:t>) can be set up in any LLM Nubank enables, inside Nu's environment and on approved tools, with people owning every number and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053328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Every figure, calculation, reference and recommendation in this deck was reviewed and is owned by the author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/presenter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94F2C-0ABA-30C0-245C-D1141090238D}"/>
              </a:ext>
            </a:extLst>
          </p:cNvPr>
          <p:cNvSpPr txBox="1"/>
          <p:nvPr/>
        </p:nvSpPr>
        <p:spPr>
          <a:xfrm>
            <a:off x="11292840" y="6446520"/>
            <a:ext cx="731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G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8059</Words>
  <Application>Microsoft Office PowerPoint</Application>
  <PresentationFormat>Widescreen</PresentationFormat>
  <Paragraphs>720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Claudia B. M. Q.</cp:lastModifiedBy>
  <cp:revision>5</cp:revision>
  <dcterms:created xsi:type="dcterms:W3CDTF">2013-01-27T09:14:16Z</dcterms:created>
  <dcterms:modified xsi:type="dcterms:W3CDTF">2026-10-21T11:52:16Z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f89cb5-682d-4be4-b0e0-739c9b4a93d4_Enabled">
    <vt:lpwstr>true</vt:lpwstr>
  </property>
  <property fmtid="{D5CDD505-2E9C-101B-9397-08002B2CF9AE}" pid="3" name="MSIP_Label_a0f89cb5-682d-4be4-b0e0-739c9b4a93d4_SetDate">
    <vt:lpwstr>2026-10-20T19:34:08Z</vt:lpwstr>
  </property>
  <property fmtid="{D5CDD505-2E9C-101B-9397-08002B2CF9AE}" pid="4" name="MSIP_Label_a0f89cb5-682d-4be4-b0e0-739c9b4a93d4_Method">
    <vt:lpwstr>Standard</vt:lpwstr>
  </property>
  <property fmtid="{D5CDD505-2E9C-101B-9397-08002B2CF9AE}" pid="5" name="MSIP_Label_a0f89cb5-682d-4be4-b0e0-739c9b4a93d4_Name">
    <vt:lpwstr>Not Classified</vt:lpwstr>
  </property>
  <property fmtid="{D5CDD505-2E9C-101B-9397-08002B2CF9AE}" pid="6" name="MSIP_Label_a0f89cb5-682d-4be4-b0e0-739c9b4a93d4_SiteId">
    <vt:lpwstr>38305e12-e15d-4ee8-88b9-c4db1c477d76</vt:lpwstr>
  </property>
  <property fmtid="{D5CDD505-2E9C-101B-9397-08002B2CF9AE}" pid="7" name="MSIP_Label_a0f89cb5-682d-4be4-b0e0-739c9b4a93d4_ActionId">
    <vt:lpwstr>c227899a-4557-4060-b9e6-3adf680b6656</vt:lpwstr>
  </property>
  <property fmtid="{D5CDD505-2E9C-101B-9397-08002B2CF9AE}" pid="8" name="MSIP_Label_a0f89cb5-682d-4be4-b0e0-739c9b4a93d4_ContentBits">
    <vt:lpwstr>0</vt:lpwstr>
  </property>
  <property fmtid="{D5CDD505-2E9C-101B-9397-08002B2CF9AE}" pid="9" name="MSIP_Label_a0f89cb5-682d-4be4-b0e0-739c9b4a93d4_Tag">
    <vt:lpwstr>10, 3, 0, 1</vt:lpwstr>
  </property>
</Properties>
</file>