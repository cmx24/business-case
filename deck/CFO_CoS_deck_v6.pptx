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2"/>
    <ns0:sldId id="257" ns1:id="rId3"/>
    <ns0:sldId id="258" ns1:id="rId4"/>
    <ns0:sldId id="259" ns1:id="rId5"/>
    <ns0:sldId id="260" ns1:id="rId6"/>
    <ns0:sldId id="261" ns1:id="rId7"/>
    <ns0:sldId id="262" ns1:id="rId8"/>
    <ns0:sldId id="263" ns1:id="rId9"/>
    <ns0:sldId id="264" ns1:id="rId10"/>
    <ns0:sldId id="265" ns1:id="rId11"/>
    <ns0:sldId id="266" ns1:id="rId12"/>
    <ns0:sldId id="267" ns1:id="rId13"/>
    <ns0:sldId id="268" ns1:id="rId14"/>
    <ns0:sldId id="269" ns1:id="rId15"/>
    <ns0:sldId id="270" ns1:id="rId16"/>
    <ns0:sldId id="271" ns1:id="rId17"/>
    <ns0:sldId id="272" ns1:id="rId18"/>
    <ns0:sldId id="273" ns1:id="rId19"/>
    <ns0:sldId id="274" ns1:id="rId20"/>
    <ns0:sldId id="275" ns1:id="rId21"/>
    <ns0:sldId id="276" ns1:id="rId22"/>
    <ns0:sldId id="277" ns1:id="rId23"/>
    <ns0:sldId id="278" ns1:id="rId24"/>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Met on the shared platform</c:v>
                </c:pt>
                <c:pt idx="2">
                  <c:v>Back for a 60-day case</c:v>
                </c:pt>
                <c:pt idx="3">
                  <c:v>H2 reserve (not in plan)</c:v>
                </c:pt>
                <c:pt idx="4">
                  <c:v>Funded (two releases)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2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2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2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2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2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Met on the shared platform</c:v>
                </c:pt>
                <c:pt idx="2">
                  <c:v>Back for a 60-day case</c:v>
                </c:pt>
                <c:pt idx="3">
                  <c:v>H2 reserve (not in plan)</c:v>
                </c:pt>
                <c:pt idx="4">
                  <c:v>Funded (two releases)</c:v>
                </c:pt>
              </c:strCache>
            </c:strRef>
          </c:cat>
          <c:val>
            <c:numRef>
              <c:f>Sheet1!$C$2:$C$6</c:f>
              <c:numCache>
                <c:formatCode>General</c:formatCode>
                <c:ptCount val="5"/>
                <c:pt idx="0">
                  <c:v>60</c:v>
                </c:pt>
                <c:pt idx="1">
                  <c:v>8</c:v>
                </c:pt>
                <c:pt idx="2">
                  <c:v>12</c:v>
                </c:pt>
                <c:pt idx="3">
                  <c:v>15</c:v>
                </c:pt>
                <c:pt idx="4">
                  <c:v>25</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rgbClr val="11052C"/>
                </a:solidFill>
                <a:latin typeface="Arial"/>
              </a:defRPr>
            </a:pPr>
          </a:p>
        </c:txPr>
        <c:crossAx val="-2113994440"/>
        <c:crosses val="autoZero"/>
        <c:auto val="1"/>
        <c:lblAlgn val="ctr"/>
        <c:lblOffset val="100"/>
        <c:noMultiLvlLbl val="0"/>
      </c:catAx>
      <c:valAx>
        <c:axId val="-2113994440"/>
        <c:scaling>
          <c:max val="61.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the Board date is fixed, so it goes first; the budget sets the precedent; the HQ is paced by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each with a number. The reserve is stated up front, with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matters most: if the dispute is about capital by entity, slide 8 carries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$35M is small against Nu's scale; the precedent and the efficiency ratio are what matter. $25M is about 0.15 points of efficiency ratio.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and weights are judgment; option 3 stays first under every 10-point weight change (backup 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dollar of the $60M has a path; the reserve opens only on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hub of 4-6 people and three standing meetings, plus the HQ pod; the CFO decides.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by entity first; the 70/30 opex split is the second half of the same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moves every time; the GM keeps the goal and earns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calendar with owners. If materials are late, the locked outline decides what moves to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governance project before a real-estate project; no savings figure until gate 1 produces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each tied to a mechanism shown earlier.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stop rules, all visible at quarter close.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the 90-day measures and the stop rules.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TextBox 1"/>
          <p:cNvSpPr txBox="1"/>
          <p:nvPr/>
        </p:nvSpPr>
        <p:spPr>
          <a:xfrm>
            <a:off x="612648" y="685800"/>
            <a:ext cx="10972800" cy="274320"/>
          </a:xfrm>
          <a:prstGeom prst="rect">
            <a:avLst/>
          </a:prstGeom>
          <a:noFill/>
        </p:spPr>
        <p:txBody>
          <a:bodyPr wrap="square" anchor="t">
            <a:spAutoFit/>
          </a:bodyPr>
          <a:lstStyle/>
          <a:p>
            <a:pPr algn="l"/>
            <a:r>
              <a:rPr sz="1050" b="1">
                <a:solidFill>
                  <a:srgbClr val="C084FC"/>
                </a:solidFill>
                <a:latin typeface="Arial"/>
              </a:rPr>
              <a:t>NU HOLDINGS  //  OFFICE OF THE CFO AND CORPORATE GOVERNANCE</a:t>
            </a:r>
          </a:p>
        </p:txBody>
      </p:sp>
      <p:sp>
        <p:nvSpPr>
          <p:cNvPr id="3" name="TextBox 2"/>
          <p:cNvSpPr txBox="1"/>
          <p:nvPr/>
        </p:nvSpPr>
        <p:spPr>
          <a:xfrm>
            <a:off x="612648" y="1005840"/>
            <a:ext cx="10515600" cy="1188720"/>
          </a:xfrm>
          <a:prstGeom prst="rect">
            <a:avLst/>
          </a:prstGeom>
          <a:noFill/>
        </p:spPr>
        <p:txBody>
          <a:bodyPr wrap="square" anchor="t">
            <a:spAutoFit/>
          </a:bodyPr>
          <a:lstStyle/>
          <a:p>
            <a:pPr algn="l"/>
            <a:r>
              <a:rPr sz="3600" b="1">
                <a:solidFill>
                  <a:srgbClr val="FFFFFF"/>
                </a:solidFill>
                <a:latin typeface="Arial"/>
              </a:rPr>
              <a:t>Chief of Staff to the CFO: planning, the Board and the new HQ</a:t>
            </a:r>
          </a:p>
        </p:txBody>
      </p:sp>
      <p:sp>
        <p:nvSpPr>
          <p:cNvPr id="4" name="TextBox 3"/>
          <p:cNvSpPr txBox="1"/>
          <p:nvPr/>
        </p:nvSpPr>
        <p:spPr>
          <a:xfrm>
            <a:off x="612648" y="2240280"/>
            <a:ext cx="9601200" cy="685800"/>
          </a:xfrm>
          <a:prstGeom prst="rect">
            <a:avLst/>
          </a:prstGeom>
          <a:noFill/>
        </p:spPr>
        <p:txBody>
          <a:bodyPr wrap="square" anchor="t">
            <a:spAutoFit/>
          </a:bodyPr>
          <a:lstStyle/>
          <a:p>
            <a:pPr algn="l"/>
            <a:r>
              <a:rPr sz="1500" b="0">
                <a:solidFill>
                  <a:srgbClr val="E9D5FF"/>
                </a:solidFill>
                <a:latin typeface="Arial"/>
              </a:rPr>
              <a:t>Case presentation, 60 days into the role. Cassio Modelli, October 2026. Nu figures are public Q2'26 data; my assumptions are on slide 3.</a:t>
            </a:r>
          </a:p>
        </p:txBody>
      </p:sp>
      <p:sp>
        <p:nvSpPr>
          <p:cNvPr id="5" name="Rounded Rectangle 4"/>
          <p:cNvSpPr/>
          <p:nvPr/>
        </p:nvSpPr>
        <p:spPr>
          <a:xfrm>
            <a:off x="61264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PLANNING</a:t>
            </a:r>
          </a:p>
          <a:p>
            <a:pPr algn="l">
              <a:spcAft>
                <a:spcPts val="600"/>
              </a:spcAft>
            </a:pPr>
            <a:r>
              <a:rPr sz="1500" b="1">
                <a:solidFill>
                  <a:srgbClr val="FFFFFF"/>
                </a:solidFill>
                <a:latin typeface="Arial"/>
              </a:rPr>
              <a:t>$60M of asks, a $25M cap</a:t>
            </a:r>
          </a:p>
          <a:p>
            <a:pPr algn="l">
              <a:spcAft>
                <a:spcPts val="400"/>
              </a:spcAft>
            </a:pPr>
            <a:r>
              <a:rPr sz="1300" b="0">
                <a:solidFill>
                  <a:srgbClr val="E9D5FF"/>
                </a:solidFill>
                <a:latin typeface="Arial"/>
              </a:rPr>
              <a:t>Bring planning in-house and give every ask an answer.</a:t>
            </a:r>
          </a:p>
        </p:txBody>
      </p:sp>
      <p:sp>
        <p:nvSpPr>
          <p:cNvPr id="7" name="Rounded Rectangle 6"/>
          <p:cNvSpPr/>
          <p:nvPr/>
        </p:nvSpPr>
        <p:spPr>
          <a:xfrm>
            <a:off x="431596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2569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GOVERNANCE</a:t>
            </a:r>
          </a:p>
          <a:p>
            <a:pPr algn="l">
              <a:spcAft>
                <a:spcPts val="600"/>
              </a:spcAft>
            </a:pPr>
            <a:r>
              <a:rPr sz="1500" b="1">
                <a:solidFill>
                  <a:srgbClr val="FFFFFF"/>
                </a:solidFill>
                <a:latin typeface="Arial"/>
              </a:rPr>
              <a:t>A Board in four weeks</a:t>
            </a:r>
          </a:p>
          <a:p>
            <a:pPr algn="l">
              <a:spcAft>
                <a:spcPts val="400"/>
              </a:spcAft>
            </a:pPr>
            <a:r>
              <a:rPr sz="1300" b="0">
                <a:solidFill>
                  <a:srgbClr val="E9D5FF"/>
                </a:solidFill>
                <a:latin typeface="Arial"/>
              </a:rPr>
              <a:t>Two executives disagree on capital, and the Board book is late.</a:t>
            </a:r>
          </a:p>
        </p:txBody>
      </p:sp>
      <p:sp>
        <p:nvSpPr>
          <p:cNvPr id="9" name="Rounded Rectangle 8"/>
          <p:cNvSpPr/>
          <p:nvPr/>
        </p:nvSpPr>
        <p:spPr>
          <a:xfrm>
            <a:off x="801928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29015"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SPECIAL PROJECT</a:t>
            </a:r>
          </a:p>
          <a:p>
            <a:pPr algn="l">
              <a:spcAft>
                <a:spcPts val="600"/>
              </a:spcAft>
            </a:pPr>
            <a:r>
              <a:rPr sz="1500" b="1">
                <a:solidFill>
                  <a:srgbClr val="FFFFFF"/>
                </a:solidFill>
                <a:latin typeface="Arial"/>
              </a:rPr>
              <a:t>A new HQ</a:t>
            </a:r>
          </a:p>
          <a:p>
            <a:pPr algn="l">
              <a:spcAft>
                <a:spcPts val="400"/>
              </a:spcAft>
            </a:pPr>
            <a:r>
              <a:rPr sz="1300" b="0">
                <a:solidFill>
                  <a:srgbClr val="E9D5FF"/>
                </a:solidFill>
                <a:latin typeface="Arial"/>
              </a:rPr>
              <a:t>Legal, tax and campus terms across jurisdictions, with no line authority.</a:t>
            </a:r>
          </a:p>
        </p:txBody>
      </p:sp>
      <p:sp>
        <p:nvSpPr>
          <p:cNvPr id="11" name="Rounded Rectangle 10"/>
          <p:cNvSpPr/>
          <p:nvPr/>
        </p:nvSpPr>
        <p:spPr>
          <a:xfrm>
            <a:off x="612648" y="4983480"/>
            <a:ext cx="1088136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5074920"/>
            <a:ext cx="10515600" cy="722375"/>
          </a:xfrm>
          <a:prstGeom prst="rect">
            <a:avLst/>
          </a:prstGeom>
          <a:noFill/>
        </p:spPr>
        <p:txBody>
          <a:bodyPr wrap="square" anchor="ctr">
            <a:spAutoFit/>
          </a:bodyPr>
          <a:lstStyle/>
          <a:p>
            <a:pPr algn="l"/>
            <a:r>
              <a:rPr sz="1350" b="1">
                <a:solidFill>
                  <a:srgbClr val="11052C"/>
                </a:solidFill>
                <a:latin typeface="Arial"/>
              </a:rPr>
              <a:t>How I triaged them: </a:t>
            </a:r>
            <a:r>
              <a:rPr sz="1350" b="0">
                <a:solidFill>
                  <a:srgbClr val="11052C"/>
                </a:solidFill>
                <a:latin typeface="Arial"/>
              </a:rPr>
              <a:t>the Board date is fixed, so it goes first. The budget sets the precedent for every cycle after it. The HQ is chartered now and paced by gates.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THE ANSWER</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Three decisions today: the $25M plan, the Board calendar and the HQ charter</a:t>
            </a:r>
          </a:p>
        </p:txBody>
      </p:sp>
      <p:sp>
        <p:nvSpPr>
          <p:cNvPr id="4" name="Rounded Rectangle 3"/>
          <p:cNvSpPr/>
          <p:nvPr/>
        </p:nvSpPr>
        <p:spPr>
          <a:xfrm>
            <a:off x="6126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1  //  PLANNING</a:t>
            </a:r>
          </a:p>
          <a:p>
            <a:pPr algn="l">
              <a:spcAft>
                <a:spcPts val="600"/>
              </a:spcAft>
            </a:pPr>
            <a:r>
              <a:rPr sz="1500" b="1">
                <a:solidFill>
                  <a:srgbClr val="11052C"/>
                </a:solidFill>
                <a:latin typeface="Arial"/>
              </a:rPr>
              <a:t>$25M in two releases</a:t>
            </a:r>
          </a:p>
          <a:p>
            <a:pPr algn="l">
              <a:spcAft>
                <a:spcPts val="400"/>
              </a:spcAft>
            </a:pPr>
            <a:r>
              <a:rPr sz="1250" b="0">
                <a:solidFill>
                  <a:srgbClr val="3B2A54"/>
                </a:solidFill>
                <a:latin typeface="Arial"/>
              </a:rPr>
              <a:t>Every ask needs a business case. $15M on 1 January, $10M at Q1 close if the numbers hold. No flat cuts.</a:t>
            </a:r>
          </a:p>
        </p:txBody>
      </p:sp>
      <p:sp>
        <p:nvSpPr>
          <p:cNvPr id="6" name="Rounded Rectangle 5"/>
          <p:cNvSpPr/>
          <p:nvPr/>
        </p:nvSpPr>
        <p:spPr>
          <a:xfrm>
            <a:off x="33558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2  //  BOARD</a:t>
            </a:r>
          </a:p>
          <a:p>
            <a:pPr algn="l">
              <a:spcAft>
                <a:spcPts val="600"/>
              </a:spcAft>
            </a:pPr>
            <a:r>
              <a:rPr sz="1500" b="1">
                <a:solidFill>
                  <a:srgbClr val="11052C"/>
                </a:solidFill>
                <a:latin typeface="Arial"/>
              </a:rPr>
              <a:t>One capital ranking</a:t>
            </a:r>
          </a:p>
          <a:p>
            <a:pPr algn="l">
              <a:spcAft>
                <a:spcPts val="400"/>
              </a:spcAft>
            </a:pPr>
            <a:r>
              <a:rPr sz="1250" b="0">
                <a:solidFill>
                  <a:srgbClr val="3B2A54"/>
                </a:solidFill>
                <a:latin typeface="Arial"/>
              </a:rPr>
              <a:t>Both executives' positions go through the same test. The plan locks 16 days before the Board; the book ships 7 days before.</a:t>
            </a:r>
          </a:p>
        </p:txBody>
      </p:sp>
      <p:sp>
        <p:nvSpPr>
          <p:cNvPr id="8" name="Rounded Rectangle 7"/>
          <p:cNvSpPr/>
          <p:nvPr/>
        </p:nvSpPr>
        <p:spPr>
          <a:xfrm>
            <a:off x="60990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3  //  HQ</a:t>
            </a:r>
          </a:p>
          <a:p>
            <a:pPr algn="l">
              <a:spcAft>
                <a:spcPts val="600"/>
              </a:spcAft>
            </a:pPr>
            <a:r>
              <a:rPr sz="1500" b="1">
                <a:solidFill>
                  <a:srgbClr val="11052C"/>
                </a:solidFill>
                <a:latin typeface="Arial"/>
              </a:rPr>
              <a:t>Four gates in 120 days</a:t>
            </a:r>
          </a:p>
          <a:p>
            <a:pPr algn="l">
              <a:spcAft>
                <a:spcPts val="400"/>
              </a:spcAft>
            </a:pPr>
            <a:r>
              <a:rPr sz="1250" b="0">
                <a:solidFill>
                  <a:srgbClr val="3B2A54"/>
                </a:solidFill>
                <a:latin typeface="Arial"/>
              </a:rPr>
              <a:t>Tax, grant terms, officers and lease, each with an owner and an exit test.</a:t>
            </a:r>
          </a:p>
        </p:txBody>
      </p:sp>
      <p:sp>
        <p:nvSpPr>
          <p:cNvPr id="10" name="Rounded Rectangle 9"/>
          <p:cNvSpPr/>
          <p:nvPr/>
        </p:nvSpPr>
        <p:spPr>
          <a:xfrm>
            <a:off x="88422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4  //  LEADERSHIP</a:t>
            </a:r>
          </a:p>
          <a:p>
            <a:pPr algn="l">
              <a:spcAft>
                <a:spcPts val="600"/>
              </a:spcAft>
            </a:pPr>
            <a:r>
              <a:rPr sz="1500" b="1">
                <a:solidFill>
                  <a:srgbClr val="11052C"/>
                </a:solidFill>
                <a:latin typeface="Arial"/>
              </a:rPr>
              <a:t>Rigor inside the business</a:t>
            </a:r>
          </a:p>
          <a:p>
            <a:pPr algn="l">
              <a:spcAft>
                <a:spcPts val="400"/>
              </a:spcAft>
            </a:pPr>
            <a:r>
              <a:rPr sz="1250" b="0">
                <a:solidFill>
                  <a:srgbClr val="3B2A54"/>
                </a:solidFill>
                <a:latin typeface="Arial"/>
              </a:rPr>
              <a:t>I work in the numbers with the GMs. The CFO gets the trade-offs and makes the call.</a:t>
            </a:r>
          </a:p>
        </p:txBody>
      </p:sp>
      <p:sp>
        <p:nvSpPr>
          <p:cNvPr id="12" name="Rounded Rectangle 11"/>
          <p:cNvSpPr/>
          <p:nvPr/>
        </p:nvSpPr>
        <p:spPr>
          <a:xfrm>
            <a:off x="612648" y="4297680"/>
            <a:ext cx="10789920" cy="14173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389120"/>
            <a:ext cx="10424160" cy="1271016"/>
          </a:xfrm>
          <a:prstGeom prst="rect">
            <a:avLst/>
          </a:prstGeom>
          <a:noFill/>
        </p:spPr>
        <p:txBody>
          <a:bodyPr wrap="square" anchor="ctr">
            <a:spAutoFit/>
          </a:bodyPr>
          <a:lstStyle/>
          <a:p>
            <a:pPr algn="l"/>
            <a:r>
              <a:rPr sz="1500" b="1">
                <a:solidFill>
                  <a:srgbClr val="C084FC"/>
                </a:solidFill>
                <a:latin typeface="Arial"/>
              </a:rPr>
              <a:t>THE ASK  </a:t>
            </a:r>
          </a:p>
          <a:p>
            <a:pPr algn="l"/>
            <a:r>
              <a:rPr sz="1500" b="1">
                <a:solidFill>
                  <a:srgbClr val="FFFFFF"/>
                </a:solidFill>
                <a:latin typeface="Arial"/>
              </a:rPr>
              <a:t>Approve the $25M FY27 cap in two releases, the Board calendar and the HQ charter. Up to $15M more is held in reserve, outside the plan: the CFO decides, and Risk can block it. I report back in 90 days.</a:t>
            </a:r>
          </a:p>
        </p:txBody>
      </p:sp>
      <p:sp>
        <p:nvSpPr>
          <p:cNvPr id="14" name="TextBox 1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WHAT I KNOW AND WHAT I AM ASSUMING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What I know, and the assumptions that could break the plan</a:t>
            </a:r>
          </a:p>
        </p:txBody>
      </p:sp>
      <p:graphicFrame>
        <p:nvGraphicFramePr>
          <p:cNvPr id="4" name="Table 3"/>
          <p:cNvGraphicFramePr>
            <a:graphicFrameLocks noGrp="1"/>
          </p:cNvGraphicFramePr>
          <p:nvPr/>
        </p:nvGraphicFramePr>
        <p:xfrm>
          <a:off x="612648" y="1554480"/>
          <a:ext cx="10972800" cy="2633472"/>
        </p:xfrm>
        <a:graphic>
          <a:graphicData uri="http://schemas.openxmlformats.org/drawingml/2006/table">
            <a:tbl>
              <a:tblPr>
                <a:tableStyleId>{5C22544A-7EE6-4342-B048-85BDC9FD1C3A}</a:tableStyleId>
              </a:tblPr>
              <a:tblGrid>
                <a:gridCol w="502920"/>
                <a:gridCol w="6720840"/>
                <a:gridCol w="1783080"/>
                <a:gridCol w="1965960"/>
              </a:tblGrid>
              <a:tr h="274320">
                <a:tc>
                  <a:txBody>
                    <a:bodyPr wrap="square"/>
                    <a:lstStyle/>
                    <a:p>
                      <a:r>
                        <a:rPr sz="1100" b="1">
                          <a:solidFill>
                            <a:srgbClr val="FFFFFF"/>
                          </a:solidFill>
                          <a:latin typeface="Arial"/>
                        </a:rPr>
                        <a:t>#</a:t>
                      </a:r>
                    </a:p>
                  </a:txBody>
                  <a:tcPr marL="64008" marR="64008" marT="36576" marB="36576" anchor="ctr">
                    <a:solidFill>
                      <a:srgbClr val="820AD1"/>
                    </a:solidFill>
                  </a:tcPr>
                </a:tc>
                <a:tc>
                  <a:txBody>
                    <a:bodyPr wrap="square"/>
                    <a:lstStyle/>
                    <a:p>
                      <a:r>
                        <a:rPr sz="1100" b="1">
                          <a:solidFill>
                            <a:srgbClr val="FFFFFF"/>
                          </a:solidFill>
                          <a:latin typeface="Arial"/>
                        </a:rPr>
                        <a:t>Statement</a:t>
                      </a:r>
                    </a:p>
                  </a:txBody>
                  <a:tcPr marL="64008" marR="64008" marT="36576" marB="36576" anchor="ctr">
                    <a:solidFill>
                      <a:srgbClr val="820AD1"/>
                    </a:solidFill>
                  </a:tcPr>
                </a:tc>
                <a:tc>
                  <a:txBody>
                    <a:bodyPr wrap="square"/>
                    <a:lstStyle/>
                    <a:p>
                      <a:r>
                        <a:rPr sz="1100" b="1">
                          <a:solidFill>
                            <a:srgbClr val="FFFFFF"/>
                          </a:solidFill>
                          <a:latin typeface="Arial"/>
                        </a:rPr>
                        <a:t>Class</a:t>
                      </a:r>
                    </a:p>
                  </a:txBody>
                  <a:tcPr marL="64008" marR="64008" marT="36576" marB="36576" anchor="ctr">
                    <a:solidFill>
                      <a:srgbClr val="820AD1"/>
                    </a:solidFill>
                  </a:tcPr>
                </a:tc>
                <a:tc>
                  <a:txBody>
                    <a:bodyPr wrap="square"/>
                    <a:lstStyle/>
                    <a:p>
                      <a:r>
                        <a:rPr sz="1100" b="1">
                          <a:solidFill>
                            <a:srgbClr val="FFFFFF"/>
                          </a:solidFill>
                          <a:latin typeface="Arial"/>
                        </a:rPr>
                        <a:t>Basis</a:t>
                      </a:r>
                    </a:p>
                  </a:txBody>
                  <a:tcPr marL="64008" marR="64008" marT="36576" marB="36576" anchor="ctr">
                    <a:solidFill>
                      <a:srgbClr val="820AD1"/>
                    </a:solidFill>
                  </a:tcPr>
                </a:tc>
              </a:tr>
              <a:tr h="393192">
                <a:tc>
                  <a:txBody>
                    <a:bodyPr wrap="square"/>
                    <a:lstStyle/>
                    <a:p>
                      <a:r>
                        <a:rPr sz="1050" b="1">
                          <a:solidFill>
                            <a:srgbClr val="11052C"/>
                          </a:solidFill>
                          <a:latin typeface="Arial"/>
                        </a:rPr>
                        <a:t>A1</a:t>
                      </a:r>
                    </a:p>
                  </a:txBody>
                  <a:tcPr marL="64008" marR="64008" marT="36576" marB="36576" anchor="ctr">
                    <a:solidFill>
                      <a:srgbClr val="FFFFFF"/>
                    </a:solidFill>
                  </a:tcPr>
                </a:tc>
                <a:tc>
                  <a:txBody>
                    <a:bodyPr wrap="square"/>
                    <a:lstStyle/>
                    <a:p>
                      <a:r>
                        <a:rPr sz="10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1050" b="0">
                          <a:solidFill>
                            <a:srgbClr val="3B2A54"/>
                          </a:solidFill>
                          <a:latin typeface="Arial"/>
                        </a:rPr>
                        <a:t>FACT</a:t>
                      </a:r>
                    </a:p>
                  </a:txBody>
                  <a:tcPr marL="64008" marR="64008" marT="36576" marB="36576" anchor="ctr">
                    <a:solidFill>
                      <a:srgbClr val="FFFFFF"/>
                    </a:solidFill>
                  </a:tcPr>
                </a:tc>
                <a:tc>
                  <a:txBody>
                    <a:bodyPr wrap="square"/>
                    <a:lstStyle/>
                    <a:p>
                      <a:r>
                        <a:rPr sz="1050" b="0">
                          <a:solidFill>
                            <a:srgbClr val="3B2A54"/>
                          </a:solidFill>
                          <a:latin typeface="Arial"/>
                        </a:rPr>
                        <a:t>Q2'26 release and 6-K</a:t>
                      </a:r>
                    </a:p>
                  </a:txBody>
                  <a:tcPr marL="64008" marR="64008" marT="36576" marB="36576" anchor="ctr">
                    <a:solidFill>
                      <a:srgbClr val="FFFFFF"/>
                    </a:solidFill>
                  </a:tcPr>
                </a:tc>
              </a:tr>
              <a:tr h="393192">
                <a:tc>
                  <a:txBody>
                    <a:bodyPr wrap="square"/>
                    <a:lstStyle/>
                    <a:p>
                      <a:r>
                        <a:rPr sz="1050" b="1">
                          <a:solidFill>
                            <a:srgbClr val="11052C"/>
                          </a:solidFill>
                          <a:latin typeface="Arial"/>
                        </a:rPr>
                        <a:t>A2</a:t>
                      </a:r>
                    </a:p>
                  </a:txBody>
                  <a:tcPr marL="64008" marR="64008" marT="36576" marB="36576" anchor="ctr">
                    <a:solidFill>
                      <a:srgbClr val="F7F2FD"/>
                    </a:solidFill>
                  </a:tcPr>
                </a:tc>
                <a:tc>
                  <a:txBody>
                    <a:bodyPr wrap="square"/>
                    <a:lstStyle/>
                    <a:p>
                      <a:r>
                        <a:rPr sz="1050" b="0">
                          <a:solidFill>
                            <a:srgbClr val="3B2A54"/>
                          </a:solidFill>
                          <a:latin typeface="Arial"/>
                        </a:rPr>
                        <a:t>Management expects the FY26 efficiency ratio near 20% and will keep the US entry within about 100 bps of efficiency-ratio impact.</a:t>
                      </a:r>
                    </a:p>
                  </a:txBody>
                  <a:tcPr marL="64008" marR="64008" marT="36576" marB="36576" anchor="ctr">
                    <a:solidFill>
                      <a:srgbClr val="F7F2FD"/>
                    </a:solidFill>
                  </a:tcPr>
                </a:tc>
                <a:tc>
                  <a:txBody>
                    <a:bodyPr wrap="square"/>
                    <a:lstStyle/>
                    <a:p>
                      <a:r>
                        <a:rPr sz="1050" b="0">
                          <a:solidFill>
                            <a:srgbClr val="3B2A54"/>
                          </a:solidFill>
                          <a:latin typeface="Arial"/>
                        </a:rPr>
                        <a:t>FACT (management guidance)</a:t>
                      </a:r>
                    </a:p>
                  </a:txBody>
                  <a:tcPr marL="64008" marR="64008" marT="36576" marB="36576" anchor="ctr">
                    <a:solidFill>
                      <a:srgbClr val="F7F2FD"/>
                    </a:solidFill>
                  </a:tcPr>
                </a:tc>
                <a:tc>
                  <a:txBody>
                    <a:bodyPr wrap="square"/>
                    <a:lstStyle/>
                    <a:p>
                      <a:r>
                        <a:rPr sz="1050" b="0">
                          <a:solidFill>
                            <a:srgbClr val="3B2A54"/>
                          </a:solidFill>
                          <a:latin typeface="Arial"/>
                        </a:rPr>
                        <a:t>Q2'26 earnings call, 13 Aug 2026</a:t>
                      </a:r>
                    </a:p>
                  </a:txBody>
                  <a:tcPr marL="64008" marR="64008" marT="36576" marB="36576" anchor="ctr">
                    <a:solidFill>
                      <a:srgbClr val="F7F2FD"/>
                    </a:solidFill>
                  </a:tcPr>
                </a:tc>
              </a:tr>
              <a:tr h="393192">
                <a:tc>
                  <a:txBody>
                    <a:bodyPr wrap="square"/>
                    <a:lstStyle/>
                    <a:p>
                      <a:r>
                        <a:rPr sz="1050" b="1">
                          <a:solidFill>
                            <a:srgbClr val="11052C"/>
                          </a:solidFill>
                          <a:latin typeface="Arial"/>
                        </a:rPr>
                        <a:t>A4</a:t>
                      </a:r>
                    </a:p>
                  </a:txBody>
                  <a:tcPr marL="64008" marR="64008" marT="36576" marB="36576" anchor="ctr">
                    <a:solidFill>
                      <a:srgbClr val="FFFFFF"/>
                    </a:solidFill>
                  </a:tcPr>
                </a:tc>
                <a:tc>
                  <a:txBody>
                    <a:bodyPr wrap="square"/>
                    <a:lstStyle/>
                    <a:p>
                      <a:r>
                        <a:rPr sz="1050" b="0">
                          <a:solidFill>
                            <a:srgbClr val="3B2A54"/>
                          </a:solidFill>
                          <a:latin typeface="Arial"/>
                        </a:rPr>
                        <a:t>The two MTeam members disagree about the growth-opex envelope, core markets against new bets, not about regulatory capital by entity. If wrong, slide 8's capital ranking is the decision.</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Case brief is silent</a:t>
                      </a:r>
                    </a:p>
                  </a:txBody>
                  <a:tcPr marL="64008" marR="64008" marT="36576" marB="36576" anchor="ctr">
                    <a:solidFill>
                      <a:srgbClr val="FFFFFF"/>
                    </a:solidFill>
                  </a:tcPr>
                </a:tc>
              </a:tr>
              <a:tr h="393192">
                <a:tc>
                  <a:txBody>
                    <a:bodyPr wrap="square"/>
                    <a:lstStyle/>
                    <a:p>
                      <a:r>
                        <a:rPr sz="1050" b="1">
                          <a:solidFill>
                            <a:srgbClr val="11052C"/>
                          </a:solidFill>
                          <a:latin typeface="Arial"/>
                        </a:rPr>
                        <a:t>A5</a:t>
                      </a:r>
                    </a:p>
                  </a:txBody>
                  <a:tcPr marL="64008" marR="64008" marT="36576" marB="36576" anchor="ctr">
                    <a:solidFill>
                      <a:srgbClr val="F7F2FD"/>
                    </a:solidFill>
                  </a:tcPr>
                </a:tc>
                <a:tc>
                  <a:txBody>
                    <a:bodyPr wrap="square"/>
                    <a:lstStyle/>
                    <a:p>
                      <a:r>
                        <a:rPr sz="1050" b="0">
                          <a:solidFill>
                            <a:srgbClr val="3B2A54"/>
                          </a:solidFill>
                          <a:latin typeface="Arial"/>
                        </a:rPr>
                        <a:t>$8M of the asks can be met on the shared platform at near-zero marginal cost; what Engineering cannot confirm moves to the case track, never above the cap.</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My estimate</a:t>
                      </a:r>
                    </a:p>
                  </a:txBody>
                  <a:tcPr marL="64008" marR="64008" marT="36576" marB="36576" anchor="ctr">
                    <a:solidFill>
                      <a:srgbClr val="F7F2FD"/>
                    </a:solidFill>
                  </a:tcPr>
                </a:tc>
              </a:tr>
              <a:tr h="393192">
                <a:tc>
                  <a:txBody>
                    <a:bodyPr wrap="square"/>
                    <a:lstStyle/>
                    <a:p>
                      <a:r>
                        <a:rPr sz="1050" b="1">
                          <a:solidFill>
                            <a:srgbClr val="11052C"/>
                          </a:solidFill>
                          <a:latin typeface="Arial"/>
                        </a:rPr>
                        <a:t>A6</a:t>
                      </a:r>
                    </a:p>
                  </a:txBody>
                  <a:tcPr marL="64008" marR="64008" marT="36576" marB="36576" anchor="ctr">
                    <a:solidFill>
                      <a:srgbClr val="FFFFFF"/>
                    </a:solidFill>
                  </a:tcPr>
                </a:tc>
                <a:tc>
                  <a:txBody>
                    <a:bodyPr wrap="square"/>
                    <a:lstStyle/>
                    <a:p>
                      <a:r>
                        <a:rPr sz="1050" b="0">
                          <a:solidFill>
                            <a:srgbClr val="3B2A54"/>
                          </a:solidFill>
                          <a:latin typeface="Arial"/>
                        </a:rPr>
                        <a:t>Spend above $25M only from H1 profit above plan, inside the ~20% guide, with NPL 90+ on plan. The CFO decides; Risk can block; IR sets the disclosure.</a:t>
                      </a:r>
                    </a:p>
                  </a:txBody>
                  <a:tcPr marL="64008" marR="64008" marT="36576" marB="36576" anchor="ctr">
                    <a:solidFill>
                      <a:srgbClr val="FFFFFF"/>
                    </a:solidFill>
                  </a:tcPr>
                </a:tc>
                <a:tc>
                  <a:txBody>
                    <a:bodyPr wrap="square"/>
                    <a:lstStyle/>
                    <a:p>
                      <a:r>
                        <a:rPr sz="1050" b="0">
                          <a:solidFill>
                            <a:srgbClr val="3B2A54"/>
                          </a:solidFill>
                          <a:latin typeface="Arial"/>
                        </a:rPr>
                        <a:t>RULE (proposed)</a:t>
                      </a:r>
                    </a:p>
                  </a:txBody>
                  <a:tcPr marL="64008" marR="64008" marT="36576" marB="36576" anchor="ctr">
                    <a:solidFill>
                      <a:srgbClr val="FFFFFF"/>
                    </a:solidFill>
                  </a:tcPr>
                </a:tc>
                <a:tc>
                  <a:txBody>
                    <a:bodyPr wrap="square"/>
                    <a:lstStyle/>
                    <a:p>
                      <a:r>
                        <a:rPr sz="1050" b="0">
                          <a:solidFill>
                            <a:srgbClr val="3B2A54"/>
                          </a:solidFill>
                          <a:latin typeface="Arial"/>
                        </a:rPr>
                        <a:t>To agree with the CFO</a:t>
                      </a:r>
                    </a:p>
                  </a:txBody>
                  <a:tcPr marL="64008" marR="64008" marT="36576" marB="36576" anchor="ctr">
                    <a:solidFill>
                      <a:srgbClr val="FFFFFF"/>
                    </a:solidFill>
                  </a:tcPr>
                </a:tc>
              </a:tr>
              <a:tr h="393192">
                <a:tc>
                  <a:txBody>
                    <a:bodyPr wrap="square"/>
                    <a:lstStyle/>
                    <a:p>
                      <a:r>
                        <a:rPr sz="1050" b="1">
                          <a:solidFill>
                            <a:srgbClr val="11052C"/>
                          </a:solidFill>
                          <a:latin typeface="Arial"/>
                        </a:rPr>
                        <a:t>A10</a:t>
                      </a:r>
                    </a:p>
                  </a:txBody>
                  <a:tcPr marL="64008" marR="64008" marT="36576" marB="36576" anchor="ctr">
                    <a:solidFill>
                      <a:srgbClr val="F7F2FD"/>
                    </a:solidFill>
                  </a:tcPr>
                </a:tc>
                <a:tc>
                  <a:txBody>
                    <a:bodyPr wrap="square"/>
                    <a:lstStyle/>
                    <a:p>
                      <a:r>
                        <a:rPr sz="1050" b="0">
                          <a:solidFill>
                            <a:srgbClr val="3B2A54"/>
                          </a:solidFill>
                          <a:latin typeface="Arial"/>
                        </a:rPr>
                        <a:t>The cap is FY27's: first release on 1 Jan 2027, second at Q1 close (31 Mar), the reserve at H1 close. The hub needs 4-6 people.</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Calendar fiscal year; sizing is mine</a:t>
                      </a:r>
                    </a:p>
                  </a:txBody>
                  <a:tcPr marL="64008" marR="64008" marT="36576" marB="36576" anchor="ctr">
                    <a:solidFill>
                      <a:srgbClr val="F7F2FD"/>
                    </a:solidFill>
                  </a:tcPr>
                </a:tc>
              </a:tr>
            </a:tbl>
          </a:graphicData>
        </a:graphic>
      </p:graphicFrame>
      <p:sp>
        <p:nvSpPr>
          <p:cNvPr id="5" name="TextBox 4"/>
          <p:cNvSpPr txBox="1"/>
          <p:nvPr/>
        </p:nvSpPr>
        <p:spPr>
          <a:xfrm>
            <a:off x="612648" y="5806440"/>
            <a:ext cx="10515600" cy="548640"/>
          </a:xfrm>
          <a:prstGeom prst="rect">
            <a:avLst/>
          </a:prstGeom>
          <a:noFill/>
        </p:spPr>
        <p:txBody>
          <a:bodyPr wrap="square" anchor="t">
            <a:spAutoFit/>
          </a:bodyPr>
          <a:lstStyle/>
          <a:p>
            <a:pPr algn="l"/>
            <a:r>
              <a:rPr sz="900" b="0">
                <a:solidFill>
                  <a:srgbClr val="6B5B82"/>
                </a:solidFill>
                <a:latin typeface="Arial"/>
              </a:rPr>
              <a:t>Confirming now: the real MTeam positions; the Board and committee calendar; who owns the planning model; local-CFO decision rights in Mexico and Colombia; the HQ project's status; today's cycle time and forecast accuracy. Full list A1-A11: backup A.</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Underwrite budgets like credit lines: the precedent matters more than the $35M</a:t>
            </a:r>
          </a:p>
        </p:txBody>
      </p:sp>
      <p:sp>
        <p:nvSpPr>
          <p:cNvPr id="4" name="Rounded Rectangle 3"/>
          <p:cNvSpPr/>
          <p:nvPr/>
        </p:nvSpPr>
        <p:spPr>
          <a:xfrm>
            <a:off x="612648" y="1645920"/>
            <a:ext cx="3566160" cy="4343400"/>
          </a:xfrm>
          <a:prstGeom prst="roundRect">
            <a:avLst>
              <a:gd name="adj" fmla="val 5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828800"/>
            <a:ext cx="3337560" cy="274320"/>
          </a:xfrm>
          <a:prstGeom prst="rect">
            <a:avLst/>
          </a:prstGeom>
          <a:noFill/>
        </p:spPr>
        <p:txBody>
          <a:bodyPr wrap="square" anchor="t">
            <a:spAutoFit/>
          </a:bodyPr>
          <a:lstStyle/>
          <a:p>
            <a:pPr algn="ctr"/>
            <a:r>
              <a:rPr sz="1000" b="1">
                <a:solidFill>
                  <a:srgbClr val="C084FC"/>
                </a:solidFill>
                <a:latin typeface="Arial"/>
              </a:rPr>
              <a:t>THE GAP</a:t>
            </a:r>
          </a:p>
        </p:txBody>
      </p:sp>
      <p:sp>
        <p:nvSpPr>
          <p:cNvPr id="6" name="TextBox 5"/>
          <p:cNvSpPr txBox="1"/>
          <p:nvPr/>
        </p:nvSpPr>
        <p:spPr>
          <a:xfrm>
            <a:off x="731520" y="2148840"/>
            <a:ext cx="3337560" cy="1097280"/>
          </a:xfrm>
          <a:prstGeom prst="rect">
            <a:avLst/>
          </a:prstGeom>
          <a:noFill/>
        </p:spPr>
        <p:txBody>
          <a:bodyPr wrap="square" anchor="t">
            <a:spAutoFit/>
          </a:bodyPr>
          <a:lstStyle/>
          <a:p>
            <a:pPr algn="ctr"/>
            <a:r>
              <a:rPr sz="6600" b="1">
                <a:solidFill>
                  <a:srgbClr val="FFFFFF"/>
                </a:solidFill>
                <a:latin typeface="Arial"/>
              </a:rPr>
              <a:t>$35M</a:t>
            </a:r>
          </a:p>
        </p:txBody>
      </p:sp>
      <p:sp>
        <p:nvSpPr>
          <p:cNvPr id="7" name="TextBox 6"/>
          <p:cNvSpPr txBox="1"/>
          <p:nvPr/>
        </p:nvSpPr>
        <p:spPr>
          <a:xfrm>
            <a:off x="777240" y="3337560"/>
            <a:ext cx="3246120" cy="2514600"/>
          </a:xfrm>
          <a:prstGeom prst="rect">
            <a:avLst/>
          </a:prstGeom>
          <a:noFill/>
        </p:spPr>
        <p:txBody>
          <a:bodyPr wrap="square" anchor="t">
            <a:spAutoFit/>
          </a:bodyPr>
          <a:lstStyle/>
          <a:p>
            <a:pPr algn="ctr">
              <a:spcAft>
                <a:spcPts val="800"/>
              </a:spcAft>
            </a:pPr>
            <a:r>
              <a:rPr sz="1400" b="0">
                <a:solidFill>
                  <a:srgbClr val="E9D5FF"/>
                </a:solidFill>
                <a:latin typeface="Arial"/>
              </a:rPr>
              <a:t>$60M of asks against a $25M cap.</a:t>
            </a:r>
          </a:p>
          <a:p>
            <a:pPr algn="ctr">
              <a:spcAft>
                <a:spcPts val="400"/>
              </a:spcAft>
            </a:pPr>
            <a:r>
              <a:rPr sz="1400" b="0">
                <a:solidFill>
                  <a:srgbClr val="E9D5FF"/>
                </a:solidFill>
                <a:latin typeface="Arial"/>
              </a:rPr>
              <a:t>About 15 bps of annualized revenue.</a:t>
            </a:r>
          </a:p>
          <a:p>
            <a:pPr algn="ctr">
              <a:spcAft>
                <a:spcPts val="400"/>
              </a:spcAft>
            </a:pPr>
            <a:r>
              <a:rPr sz="1400" b="0">
                <a:solidFill>
                  <a:srgbClr val="E9D5FF"/>
                </a:solidFill>
                <a:latin typeface="Arial"/>
              </a:rPr>
              <a:t>About 1.1% of annual opex.</a:t>
            </a:r>
          </a:p>
          <a:p>
            <a:pPr algn="ctr">
              <a:spcAft>
                <a:spcPts val="400"/>
              </a:spcAft>
            </a:pPr>
            <a:r>
              <a:rPr sz="1400" b="0">
                <a:solidFill>
                  <a:srgbClr val="E9D5FF"/>
                </a:solidFill>
                <a:latin typeface="Arial"/>
              </a:rPr>
              <a:t>About 0.2 points of efficiency ratio.</a:t>
            </a:r>
          </a:p>
        </p:txBody>
      </p:sp>
      <p:sp>
        <p:nvSpPr>
          <p:cNvPr id="8" name="TextBox 7"/>
          <p:cNvSpPr txBox="1"/>
          <p:nvPr/>
        </p:nvSpPr>
        <p:spPr>
          <a:xfrm>
            <a:off x="4389120" y="1645920"/>
            <a:ext cx="7132320" cy="1097280"/>
          </a:xfrm>
          <a:prstGeom prst="rect">
            <a:avLst/>
          </a:prstGeom>
          <a:noFill/>
        </p:spPr>
        <p:txBody>
          <a:bodyPr wrap="square" anchor="t">
            <a:spAutoFit/>
          </a:bodyPr>
          <a:lstStyle/>
          <a:p>
            <a:pPr algn="l">
              <a:spcAft>
                <a:spcPts val="300"/>
              </a:spcAft>
            </a:pPr>
            <a:r>
              <a:rPr sz="1400" b="1">
                <a:solidFill>
                  <a:srgbClr val="820AD1"/>
                </a:solidFill>
                <a:latin typeface="Arial"/>
              </a:rPr>
              <a:t>The constraint is the efficiency ratio</a:t>
            </a:r>
          </a:p>
          <a:p>
            <a:pPr algn="l"/>
            <a:r>
              <a:rPr sz="1250" b="0">
                <a:solidFill>
                  <a:srgbClr val="3B2A54"/>
                </a:solidFill>
                <a:latin typeface="Arial"/>
              </a:rPr>
              <a:t>19.5% in Q2'26, up from 17.6% in Q1, with real-estate and marketing timing and international expansion named. Management expects about 20% for FY26.</a:t>
            </a:r>
          </a:p>
        </p:txBody>
      </p:sp>
      <p:sp>
        <p:nvSpPr>
          <p:cNvPr id="9" name="TextBox 8"/>
          <p:cNvSpPr txBox="1"/>
          <p:nvPr/>
        </p:nvSpPr>
        <p:spPr>
          <a:xfrm>
            <a:off x="4389120" y="2743200"/>
            <a:ext cx="7132320" cy="1097280"/>
          </a:xfrm>
          <a:prstGeom prst="rect">
            <a:avLst/>
          </a:prstGeom>
          <a:noFill/>
        </p:spPr>
        <p:txBody>
          <a:bodyPr wrap="square" anchor="t">
            <a:spAutoFit/>
          </a:bodyPr>
          <a:lstStyle/>
          <a:p>
            <a:pPr algn="l">
              <a:spcAft>
                <a:spcPts val="300"/>
              </a:spcAft>
            </a:pPr>
            <a:r>
              <a:rPr sz="1400" b="1">
                <a:solidFill>
                  <a:srgbClr val="820AD1"/>
                </a:solidFill>
                <a:latin typeface="Arial"/>
              </a:rPr>
              <a:t>Cost to serve has room if central costs stay lean</a:t>
            </a:r>
          </a:p>
          <a:p>
            <a:pPr algn="l"/>
            <a:r>
              <a:rPr sz="1250" b="0">
                <a:solidFill>
                  <a:srgbClr val="3B2A54"/>
                </a:solidFill>
                <a:latin typeface="Arial"/>
              </a:rPr>
              <a:t>$1.0 a month per active customer, up from $0.8 a year earlier, against $17.1 of ARPAC.</a:t>
            </a:r>
          </a:p>
        </p:txBody>
      </p:sp>
      <p:sp>
        <p:nvSpPr>
          <p:cNvPr id="10" name="TextBox 9"/>
          <p:cNvSpPr txBox="1"/>
          <p:nvPr/>
        </p:nvSpPr>
        <p:spPr>
          <a:xfrm>
            <a:off x="4389120" y="3840480"/>
            <a:ext cx="7132320" cy="1097280"/>
          </a:xfrm>
          <a:prstGeom prst="rect">
            <a:avLst/>
          </a:prstGeom>
          <a:noFill/>
        </p:spPr>
        <p:txBody>
          <a:bodyPr wrap="square" anchor="t">
            <a:spAutoFit/>
          </a:bodyPr>
          <a:lstStyle/>
          <a:p>
            <a:pPr algn="l">
              <a:spcAft>
                <a:spcPts val="300"/>
              </a:spcAft>
            </a:pPr>
            <a:r>
              <a:rPr sz="1400" b="1">
                <a:solidFill>
                  <a:srgbClr val="820AD1"/>
                </a:solidFill>
                <a:latin typeface="Arial"/>
              </a:rPr>
              <a:t>Budgets should work like Nu's credit</a:t>
            </a:r>
          </a:p>
          <a:p>
            <a:pPr algn="l"/>
            <a:r>
              <a:rPr sz="1250" b="0">
                <a:solidFill>
                  <a:srgbClr val="3B2A54"/>
                </a:solidFill>
                <a:latin typeface="Arial"/>
              </a:rPr>
              <a:t>Nu's 20-F describes low-and-grow: small limits, raised on behavior. Budgets get the same test-and-learn: start small, grow when four indicators hold: activation, 30-day retention, CAC and unit cost against plan.</a:t>
            </a:r>
          </a:p>
        </p:txBody>
      </p:sp>
      <p:sp>
        <p:nvSpPr>
          <p:cNvPr id="11" name="TextBox 10"/>
          <p:cNvSpPr txBox="1"/>
          <p:nvPr/>
        </p:nvSpPr>
        <p:spPr>
          <a:xfrm>
            <a:off x="4389120" y="4937760"/>
            <a:ext cx="7132320" cy="1097280"/>
          </a:xfrm>
          <a:prstGeom prst="rect">
            <a:avLst/>
          </a:prstGeom>
          <a:noFill/>
        </p:spPr>
        <p:txBody>
          <a:bodyPr wrap="square" anchor="t">
            <a:spAutoFit/>
          </a:bodyPr>
          <a:lstStyle/>
          <a:p>
            <a:pPr algn="l">
              <a:spcAft>
                <a:spcPts val="300"/>
              </a:spcAft>
            </a:pPr>
            <a:r>
              <a:rPr sz="1400" b="1">
                <a:solidFill>
                  <a:srgbClr val="820AD1"/>
                </a:solidFill>
                <a:latin typeface="Arial"/>
              </a:rPr>
              <a:t>This cycle sets the habit</a:t>
            </a:r>
          </a:p>
          <a:p>
            <a:pPr algn="l"/>
            <a:r>
              <a:rPr sz="1250" b="0">
                <a:solidFill>
                  <a:srgbClr val="3B2A54"/>
                </a:solidFill>
                <a:latin typeface="Arial"/>
              </a:rPr>
              <a:t>It is the first cycle planned centrally. It decides whether GMs bring real cases next year or pad their asks. That is smart efficiency, run by owners.</a:t>
            </a:r>
          </a:p>
        </p:txBody>
      </p:sp>
      <p:sp>
        <p:nvSpPr>
          <p:cNvPr id="12" name="TextBox 11"/>
          <p:cNvSpPr txBox="1"/>
          <p:nvPr/>
        </p:nvSpPr>
        <p:spPr>
          <a:xfrm>
            <a:off x="612648" y="6291072"/>
            <a:ext cx="10515600" cy="384048"/>
          </a:xfrm>
          <a:prstGeom prst="rect">
            <a:avLst/>
          </a:prstGeom>
          <a:noFill/>
        </p:spPr>
        <p:txBody>
          <a:bodyPr wrap="square" anchor="t">
            <a:spAutoFit/>
          </a:bodyPr>
          <a:lstStyle/>
          <a:p>
            <a:pPr algn="l"/>
            <a:r>
              <a:rPr sz="900" b="0">
                <a:solidFill>
                  <a:srgbClr val="6B5B82"/>
                </a:solidFill>
                <a:latin typeface="Arial"/>
              </a:rPr>
              <a:t>Sources: Nu Q2'26 release and 6-K (opex $806.2M; net revenue ~$4.1B), Q2'26 call, Form 20-F. Calculations: revenue ~$23.5B annualized managerial; opex ~$3.2B annualized; efficiency ratio on Nu's denominator (NII plus fees).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Staged release beats flat cuts and core-first</a:t>
            </a:r>
          </a:p>
        </p:txBody>
      </p:sp>
      <p:graphicFrame>
        <p:nvGraphicFramePr>
          <p:cNvPr id="4" name="Table 3"/>
          <p:cNvGraphicFramePr>
            <a:graphicFrameLocks noGrp="1"/>
          </p:cNvGraphicFramePr>
          <p:nvPr/>
        </p:nvGraphicFramePr>
        <p:xfrm>
          <a:off x="612648" y="1691640"/>
          <a:ext cx="10789920" cy="2267712"/>
        </p:xfrm>
        <a:graphic>
          <a:graphicData uri="http://schemas.openxmlformats.org/drawingml/2006/table">
            <a:tbl>
              <a:tblPr>
                <a:tableStyleId>{5C22544A-7EE6-4342-B048-85BDC9FD1C3A}</a:tableStyleId>
              </a:tblPr>
              <a:tblGrid>
                <a:gridCol w="3657600"/>
                <a:gridCol w="1280160"/>
                <a:gridCol w="1234440"/>
                <a:gridCol w="1234440"/>
                <a:gridCol w="1097280"/>
                <a:gridCol w="1051560"/>
                <a:gridCol w="1234440"/>
              </a:tblGrid>
              <a:tr h="566928">
                <a:tc>
                  <a:txBody>
                    <a:bodyPr wrap="square"/>
                    <a:lstStyle/>
                    <a:p>
                      <a:r>
                        <a:rPr sz="1150" b="1">
                          <a:solidFill>
                            <a:srgbClr val="FFFFFF"/>
                          </a:solidFill>
                          <a:latin typeface="Arial"/>
                        </a:rPr>
                        <a:t>Approach</a:t>
                      </a:r>
                    </a:p>
                  </a:txBody>
                  <a:tcPr marL="64008" marR="64008" marT="36576" marB="36576" anchor="ctr">
                    <a:solidFill>
                      <a:srgbClr val="820AD1"/>
                    </a:solidFill>
                  </a:tcPr>
                </a:tc>
                <a:tc>
                  <a:txBody>
                    <a:bodyPr wrap="square"/>
                    <a:lstStyle/>
                    <a:p>
                      <a:r>
                        <a:rPr sz="1150" b="1">
                          <a:solidFill>
                            <a:srgbClr val="FFFFFF"/>
                          </a:solidFill>
                          <a:latin typeface="Arial"/>
                        </a:rPr>
                        <a:t>Meets $25M cap (30%)</a:t>
                      </a:r>
                    </a:p>
                  </a:txBody>
                  <a:tcPr marL="64008" marR="64008" marT="36576" marB="36576" anchor="ctr">
                    <a:solidFill>
                      <a:srgbClr val="820AD1"/>
                    </a:solidFill>
                  </a:tcPr>
                </a:tc>
                <a:tc>
                  <a:txBody>
                    <a:bodyPr wrap="square"/>
                    <a:lstStyle/>
                    <a:p>
                      <a:r>
                        <a:rPr sz="1150" b="1">
                          <a:solidFill>
                            <a:srgbClr val="FFFFFF"/>
                          </a:solidFill>
                          <a:latin typeface="Arial"/>
                        </a:rPr>
                        <a:t>Growth return (25%)</a:t>
                      </a:r>
                    </a:p>
                  </a:txBody>
                  <a:tcPr marL="64008" marR="64008" marT="36576" marB="36576" anchor="ctr">
                    <a:solidFill>
                      <a:srgbClr val="820AD1"/>
                    </a:solidFill>
                  </a:tcPr>
                </a:tc>
                <a:tc>
                  <a:txBody>
                    <a:bodyPr wrap="square"/>
                    <a:lstStyle/>
                    <a:p>
                      <a:r>
                        <a:rPr sz="1150" b="1">
                          <a:solidFill>
                            <a:srgbClr val="FFFFFF"/>
                          </a:solidFill>
                          <a:latin typeface="Arial"/>
                        </a:rPr>
                        <a:t>GM ownership (20%)</a:t>
                      </a:r>
                    </a:p>
                  </a:txBody>
                  <a:tcPr marL="64008" marR="64008" marT="36576" marB="36576" anchor="ctr">
                    <a:solidFill>
                      <a:srgbClr val="820AD1"/>
                    </a:solidFill>
                  </a:tcPr>
                </a:tc>
                <a:tc>
                  <a:txBody>
                    <a:bodyPr wrap="square"/>
                    <a:lstStyle/>
                    <a:p>
                      <a:r>
                        <a:rPr sz="1150" b="1">
                          <a:solidFill>
                            <a:srgbClr val="FFFFFF"/>
                          </a:solidFill>
                          <a:latin typeface="Arial"/>
                        </a:rPr>
                        <a:t>Agility (15%)</a:t>
                      </a:r>
                    </a:p>
                  </a:txBody>
                  <a:tcPr marL="64008" marR="64008" marT="36576" marB="36576" anchor="ctr">
                    <a:solidFill>
                      <a:srgbClr val="820AD1"/>
                    </a:solidFill>
                  </a:tcPr>
                </a:tc>
                <a:tc>
                  <a:txBody>
                    <a:bodyPr wrap="square"/>
                    <a:lstStyle/>
                    <a:p>
                      <a:r>
                        <a:rPr sz="1150" b="1">
                          <a:solidFill>
                            <a:srgbClr val="FFFFFF"/>
                          </a:solidFill>
                          <a:latin typeface="Arial"/>
                        </a:rPr>
                        <a:t>Speed (10%)</a:t>
                      </a:r>
                    </a:p>
                  </a:txBody>
                  <a:tcPr marL="64008" marR="64008" marT="36576" marB="36576" anchor="ctr">
                    <a:solidFill>
                      <a:srgbClr val="820AD1"/>
                    </a:solidFill>
                  </a:tcPr>
                </a:tc>
                <a:tc>
                  <a:txBody>
                    <a:bodyPr wrap="square"/>
                    <a:lstStyle/>
                    <a:p>
                      <a:r>
                        <a:rPr sz="1150" b="1">
                          <a:solidFill>
                            <a:srgbClr val="FFFFFF"/>
                          </a:solidFill>
                          <a:latin typeface="Arial"/>
                        </a:rPr>
                        <a:t>Weighted score</a:t>
                      </a:r>
                    </a:p>
                  </a:txBody>
                  <a:tcPr marL="64008" marR="64008" marT="36576" marB="36576" anchor="ctr">
                    <a:solidFill>
                      <a:srgbClr val="820AD1"/>
                    </a:solidFill>
                  </a:tcPr>
                </a:tc>
              </a:tr>
              <a:tr h="566928">
                <a:tc>
                  <a:txBody>
                    <a:bodyPr wrap="square"/>
                    <a:lstStyle/>
                    <a:p>
                      <a:r>
                        <a:rPr sz="1300" b="1">
                          <a:solidFill>
                            <a:srgbClr val="11052C"/>
                          </a:solidFill>
                          <a:latin typeface="Arial"/>
                        </a:rPr>
                        <a:t>1. Equal cut</a:t>
                      </a:r>
                      <a:r>
                        <a:rPr sz="1300" b="0">
                          <a:solidFill>
                            <a:srgbClr val="11052C"/>
                          </a:solidFill>
                          <a:latin typeface="Arial"/>
                        </a:rPr>
                        <a:t> (every unit gets 42% of its ask)</a:t>
                      </a:r>
                    </a:p>
                  </a:txBody>
                  <a:tcPr marL="64008" marR="64008" marT="36576" marB="36576" anchor="ctr">
                    <a:solidFill>
                      <a:srgbClr val="FFFFFF"/>
                    </a:solidFill>
                  </a:tcPr>
                </a:tc>
                <a:tc>
                  <a:txBody>
                    <a:bodyPr wrap="square"/>
                    <a:lstStyle/>
                    <a:p>
                      <a:r>
                        <a:rPr sz="1300" b="0">
                          <a:solidFill>
                            <a:srgbClr val="3B2A54"/>
                          </a:solidFill>
                          <a:latin typeface="Arial"/>
                        </a:rPr>
                        <a:t>90</a:t>
                      </a:r>
                    </a:p>
                  </a:txBody>
                  <a:tcPr marL="64008" marR="64008" marT="36576" marB="36576" anchor="ctr">
                    <a:solidFill>
                      <a:srgbClr val="FFFFFF"/>
                    </a:solidFill>
                  </a:tcPr>
                </a:tc>
                <a:tc>
                  <a:txBody>
                    <a:bodyPr wrap="square"/>
                    <a:lstStyle/>
                    <a:p>
                      <a:r>
                        <a:rPr sz="1300" b="0">
                          <a:solidFill>
                            <a:srgbClr val="3B2A54"/>
                          </a:solidFill>
                          <a:latin typeface="Arial"/>
                        </a:rPr>
                        <a:t>40</a:t>
                      </a:r>
                    </a:p>
                  </a:txBody>
                  <a:tcPr marL="64008" marR="64008" marT="36576" marB="36576" anchor="ctr">
                    <a:solidFill>
                      <a:srgbClr val="FFFFFF"/>
                    </a:solidFill>
                  </a:tcPr>
                </a:tc>
                <a:tc>
                  <a:txBody>
                    <a:bodyPr wrap="square"/>
                    <a:lstStyle/>
                    <a:p>
                      <a:r>
                        <a:rPr sz="1300" b="0">
                          <a:solidFill>
                            <a:srgbClr val="3B2A54"/>
                          </a:solidFill>
                          <a:latin typeface="Arial"/>
                        </a:rPr>
                        <a:t>30</a:t>
                      </a:r>
                    </a:p>
                  </a:txBody>
                  <a:tcPr marL="64008" marR="64008" marT="36576" marB="36576" anchor="ctr">
                    <a:solidFill>
                      <a:srgbClr val="FFFFFF"/>
                    </a:solidFill>
                  </a:tcPr>
                </a:tc>
                <a:tc>
                  <a:txBody>
                    <a:bodyPr wrap="square"/>
                    <a:lstStyle/>
                    <a:p>
                      <a:r>
                        <a:rPr sz="1300" b="0">
                          <a:solidFill>
                            <a:srgbClr val="3B2A54"/>
                          </a:solidFill>
                          <a:latin typeface="Arial"/>
                        </a:rPr>
                        <a:t>35</a:t>
                      </a:r>
                    </a:p>
                  </a:txBody>
                  <a:tcPr marL="64008" marR="64008" marT="36576" marB="36576" anchor="ctr">
                    <a:solidFill>
                      <a:srgbClr val="FFFFFF"/>
                    </a:solidFill>
                  </a:tcPr>
                </a:tc>
                <a:tc>
                  <a:txBody>
                    <a:bodyPr wrap="square"/>
                    <a:lstStyle/>
                    <a:p>
                      <a:r>
                        <a:rPr sz="1300" b="0">
                          <a:solidFill>
                            <a:srgbClr val="3B2A54"/>
                          </a:solidFill>
                          <a:latin typeface="Arial"/>
                        </a:rPr>
                        <a:t>95</a:t>
                      </a:r>
                    </a:p>
                  </a:txBody>
                  <a:tcPr marL="64008" marR="64008" marT="36576" marB="36576" anchor="ctr">
                    <a:solidFill>
                      <a:srgbClr val="FFFFFF"/>
                    </a:solidFill>
                  </a:tcPr>
                </a:tc>
                <a:tc>
                  <a:txBody>
                    <a:bodyPr wrap="square"/>
                    <a:lstStyle/>
                    <a:p>
                      <a:r>
                        <a:rPr sz="1300" b="0">
                          <a:solidFill>
                            <a:srgbClr val="3B2A54"/>
                          </a:solidFill>
                          <a:latin typeface="Arial"/>
                        </a:rPr>
                        <a:t>57.8</a:t>
                      </a:r>
                    </a:p>
                  </a:txBody>
                  <a:tcPr marL="64008" marR="64008" marT="36576" marB="36576" anchor="ctr">
                    <a:solidFill>
                      <a:srgbClr val="FFFFFF"/>
                    </a:solidFill>
                  </a:tcPr>
                </a:tc>
              </a:tr>
              <a:tr h="566928">
                <a:tc>
                  <a:txBody>
                    <a:bodyPr wrap="square"/>
                    <a:lstStyle/>
                    <a:p>
                      <a:r>
                        <a:rPr sz="1300" b="1">
                          <a:solidFill>
                            <a:srgbClr val="11052C"/>
                          </a:solidFill>
                          <a:latin typeface="Arial"/>
                        </a:rPr>
                        <a:t>2. Core markets first</a:t>
                      </a:r>
                      <a:r>
                        <a:rPr sz="1300" b="0">
                          <a:solidFill>
                            <a:srgbClr val="11052C"/>
                          </a:solidFill>
                          <a:latin typeface="Arial"/>
                        </a:rPr>
                        <a:t> (pause new bets)</a:t>
                      </a:r>
                    </a:p>
                  </a:txBody>
                  <a:tcPr marL="64008" marR="64008" marT="36576" marB="36576" anchor="ctr">
                    <a:solidFill>
                      <a:srgbClr val="F7F2FD"/>
                    </a:solidFill>
                  </a:tcPr>
                </a:tc>
                <a:tc>
                  <a:txBody>
                    <a:bodyPr wrap="square"/>
                    <a:lstStyle/>
                    <a:p>
                      <a:r>
                        <a:rPr sz="1300" b="0">
                          <a:solidFill>
                            <a:srgbClr val="3B2A54"/>
                          </a:solidFill>
                          <a:latin typeface="Arial"/>
                        </a:rPr>
                        <a:t>95</a:t>
                      </a:r>
                    </a:p>
                  </a:txBody>
                  <a:tcPr marL="64008" marR="64008" marT="36576" marB="36576" anchor="ctr">
                    <a:solidFill>
                      <a:srgbClr val="F7F2FD"/>
                    </a:solidFill>
                  </a:tcPr>
                </a:tc>
                <a:tc>
                  <a:txBody>
                    <a:bodyPr wrap="square"/>
                    <a:lstStyle/>
                    <a:p>
                      <a:r>
                        <a:rPr sz="1300" b="0">
                          <a:solidFill>
                            <a:srgbClr val="3B2A54"/>
                          </a:solidFill>
                          <a:latin typeface="Arial"/>
                        </a:rPr>
                        <a:t>55</a:t>
                      </a:r>
                    </a:p>
                  </a:txBody>
                  <a:tcPr marL="64008" marR="64008" marT="36576" marB="36576" anchor="ctr">
                    <a:solidFill>
                      <a:srgbClr val="F7F2FD"/>
                    </a:solidFill>
                  </a:tcPr>
                </a:tc>
                <a:tc>
                  <a:txBody>
                    <a:bodyPr wrap="square"/>
                    <a:lstStyle/>
                    <a:p>
                      <a:r>
                        <a:rPr sz="1300" b="0">
                          <a:solidFill>
                            <a:srgbClr val="3B2A54"/>
                          </a:solidFill>
                          <a:latin typeface="Arial"/>
                        </a:rPr>
                        <a:t>45</a:t>
                      </a:r>
                    </a:p>
                  </a:txBody>
                  <a:tcPr marL="64008" marR="64008" marT="36576" marB="36576" anchor="ctr">
                    <a:solidFill>
                      <a:srgbClr val="F7F2FD"/>
                    </a:solidFill>
                  </a:tcPr>
                </a:tc>
                <a:tc>
                  <a:txBody>
                    <a:bodyPr wrap="square"/>
                    <a:lstStyle/>
                    <a:p>
                      <a:r>
                        <a:rPr sz="1300" b="0">
                          <a:solidFill>
                            <a:srgbClr val="3B2A54"/>
                          </a:solidFill>
                          <a:latin typeface="Arial"/>
                        </a:rPr>
                        <a:t>30</a:t>
                      </a:r>
                    </a:p>
                  </a:txBody>
                  <a:tcPr marL="64008" marR="64008" marT="36576" marB="36576" anchor="ctr">
                    <a:solidFill>
                      <a:srgbClr val="F7F2FD"/>
                    </a:solidFill>
                  </a:tcPr>
                </a:tc>
                <a:tc>
                  <a:txBody>
                    <a:bodyPr wrap="square"/>
                    <a:lstStyle/>
                    <a:p>
                      <a:r>
                        <a:rPr sz="1300" b="0">
                          <a:solidFill>
                            <a:srgbClr val="3B2A54"/>
                          </a:solidFill>
                          <a:latin typeface="Arial"/>
                        </a:rPr>
                        <a:t>80</a:t>
                      </a:r>
                    </a:p>
                  </a:txBody>
                  <a:tcPr marL="64008" marR="64008" marT="36576" marB="36576" anchor="ctr">
                    <a:solidFill>
                      <a:srgbClr val="F7F2FD"/>
                    </a:solidFill>
                  </a:tcPr>
                </a:tc>
                <a:tc>
                  <a:txBody>
                    <a:bodyPr wrap="square"/>
                    <a:lstStyle/>
                    <a:p>
                      <a:r>
                        <a:rPr sz="1300" b="0">
                          <a:solidFill>
                            <a:srgbClr val="3B2A54"/>
                          </a:solidFill>
                          <a:latin typeface="Arial"/>
                        </a:rPr>
                        <a:t>63.8</a:t>
                      </a:r>
                    </a:p>
                  </a:txBody>
                  <a:tcPr marL="64008" marR="64008" marT="36576" marB="36576" anchor="ctr">
                    <a:solidFill>
                      <a:srgbClr val="F7F2FD"/>
                    </a:solidFill>
                  </a:tcPr>
                </a:tc>
              </a:tr>
              <a:tr h="566928">
                <a:tc>
                  <a:txBody>
                    <a:bodyPr wrap="square"/>
                    <a:lstStyle/>
                    <a:p>
                      <a:r>
                        <a:rPr sz="1300" b="1">
                          <a:solidFill>
                            <a:srgbClr val="11052C"/>
                          </a:solidFill>
                          <a:latin typeface="Arial"/>
                        </a:rPr>
                        <a:t>3. Business-case readiness and staged release</a:t>
                      </a:r>
                      <a:r>
                        <a:rPr sz="1300" b="0">
                          <a:solidFill>
                            <a:srgbClr val="11052C"/>
                          </a:solidFill>
                          <a:latin typeface="Arial"/>
                        </a:rPr>
                        <a:t> (recommended)</a:t>
                      </a:r>
                    </a:p>
                  </a:txBody>
                  <a:tcPr marL="64008" marR="64008" marT="36576" marB="36576" anchor="ctr">
                    <a:solidFill>
                      <a:srgbClr val="E9D5FF"/>
                    </a:solidFill>
                  </a:tcPr>
                </a:tc>
                <a:tc>
                  <a:txBody>
                    <a:bodyPr wrap="square"/>
                    <a:lstStyle/>
                    <a:p>
                      <a:r>
                        <a:rPr sz="1300" b="0">
                          <a:solidFill>
                            <a:srgbClr val="3B2A54"/>
                          </a:solidFill>
                          <a:latin typeface="Arial"/>
                        </a:rPr>
                        <a:t>100</a:t>
                      </a:r>
                    </a:p>
                  </a:txBody>
                  <a:tcPr marL="64008" marR="64008" marT="36576" marB="36576" anchor="ctr">
                    <a:solidFill>
                      <a:srgbClr val="E9D5FF"/>
                    </a:solidFill>
                  </a:tcPr>
                </a:tc>
                <a:tc>
                  <a:txBody>
                    <a:bodyPr wrap="square"/>
                    <a:lstStyle/>
                    <a:p>
                      <a:r>
                        <a:rPr sz="1300" b="0">
                          <a:solidFill>
                            <a:srgbClr val="3B2A54"/>
                          </a:solidFill>
                          <a:latin typeface="Arial"/>
                        </a:rPr>
                        <a:t>95</a:t>
                      </a:r>
                    </a:p>
                  </a:txBody>
                  <a:tcPr marL="64008" marR="64008" marT="36576" marB="36576" anchor="ctr">
                    <a:solidFill>
                      <a:srgbClr val="E9D5FF"/>
                    </a:solidFill>
                  </a:tcPr>
                </a:tc>
                <a:tc>
                  <a:txBody>
                    <a:bodyPr wrap="square"/>
                    <a:lstStyle/>
                    <a:p>
                      <a:r>
                        <a:rPr sz="1300" b="0">
                          <a:solidFill>
                            <a:srgbClr val="3B2A54"/>
                          </a:solidFill>
                          <a:latin typeface="Arial"/>
                        </a:rPr>
                        <a:t>85</a:t>
                      </a:r>
                    </a:p>
                  </a:txBody>
                  <a:tcPr marL="64008" marR="64008" marT="36576" marB="36576" anchor="ctr">
                    <a:solidFill>
                      <a:srgbClr val="E9D5FF"/>
                    </a:solidFill>
                  </a:tcPr>
                </a:tc>
                <a:tc>
                  <a:txBody>
                    <a:bodyPr wrap="square"/>
                    <a:lstStyle/>
                    <a:p>
                      <a:r>
                        <a:rPr sz="1300" b="0">
                          <a:solidFill>
                            <a:srgbClr val="3B2A54"/>
                          </a:solidFill>
                          <a:latin typeface="Arial"/>
                        </a:rPr>
                        <a:t>90</a:t>
                      </a:r>
                    </a:p>
                  </a:txBody>
                  <a:tcPr marL="64008" marR="64008" marT="36576" marB="36576" anchor="ctr">
                    <a:solidFill>
                      <a:srgbClr val="E9D5FF"/>
                    </a:solidFill>
                  </a:tcPr>
                </a:tc>
                <a:tc>
                  <a:txBody>
                    <a:bodyPr wrap="square"/>
                    <a:lstStyle/>
                    <a:p>
                      <a:r>
                        <a:rPr sz="1300" b="0">
                          <a:solidFill>
                            <a:srgbClr val="3B2A54"/>
                          </a:solidFill>
                          <a:latin typeface="Arial"/>
                        </a:rPr>
                        <a:t>75</a:t>
                      </a:r>
                    </a:p>
                  </a:txBody>
                  <a:tcPr marL="64008" marR="64008" marT="36576" marB="36576" anchor="ctr">
                    <a:solidFill>
                      <a:srgbClr val="E9D5FF"/>
                    </a:solidFill>
                  </a:tcPr>
                </a:tc>
                <a:tc>
                  <a:txBody>
                    <a:bodyPr wrap="square"/>
                    <a:lstStyle/>
                    <a:p>
                      <a:r>
                        <a:rPr sz="1300" b="1">
                          <a:solidFill>
                            <a:srgbClr val="3B2A54"/>
                          </a:solidFill>
                          <a:latin typeface="Arial"/>
                        </a:rPr>
                        <a:t>91.8</a:t>
                      </a:r>
                    </a:p>
                  </a:txBody>
                  <a:tcPr marL="64008" marR="64008" marT="36576" marB="36576" anchor="ctr">
                    <a:solidFill>
                      <a:srgbClr val="E9D5FF"/>
                    </a:solidFill>
                  </a:tcPr>
                </a:tc>
              </a:tr>
            </a:tbl>
          </a:graphicData>
        </a:graphic>
      </p:graphicFrame>
      <p:sp>
        <p:nvSpPr>
          <p:cNvPr id="5" name="Rounded Rectangle 4"/>
          <p:cNvSpPr/>
          <p:nvPr/>
        </p:nvSpPr>
        <p:spPr>
          <a:xfrm>
            <a:off x="612648" y="4279392"/>
            <a:ext cx="10789920" cy="105156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370831"/>
            <a:ext cx="10424160" cy="905255"/>
          </a:xfrm>
          <a:prstGeom prst="rect">
            <a:avLst/>
          </a:prstGeom>
          <a:noFill/>
        </p:spPr>
        <p:txBody>
          <a:bodyPr wrap="square" anchor="ctr">
            <a:spAutoFit/>
          </a:bodyPr>
          <a:lstStyle/>
          <a:p>
            <a:pPr algn="l"/>
            <a:r>
              <a:rPr sz="1300" b="0">
                <a:solidFill>
                  <a:srgbClr val="11052C"/>
                </a:solidFill>
                <a:latin typeface="Arial"/>
              </a:rPr>
              <a:t>Flat cuts win only on speed, and they teach GMs to pad next year's ask. Core-first is honest but gives new bets nothing to earn. Scores and weights are my judgment (A9); option 3 stays first if any weight moves 10 points (backup C).</a:t>
            </a:r>
          </a:p>
        </p:txBody>
      </p:sp>
      <p:sp>
        <p:nvSpPr>
          <p:cNvPr id="7" name="TextBox 6"/>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dollar of the $60M gets an answer: $25M funded in two releases, $15M held in reserve</a:t>
            </a:r>
          </a:p>
        </p:txBody>
      </p:sp>
      <p:graphicFrame>
        <p:nvGraphicFramePr>
          <p:cNvPr id="4" name="Chart 3"/>
          <p:cNvGraphicFramePr>
            <a:graphicFrameLocks noGrp="1"/>
          </p:cNvGraphicFramePr>
          <p:nvPr/>
        </p:nvGraphicFramePr>
        <p:xfrm>
          <a:off x="457200" y="1600200"/>
          <a:ext cx="603504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675120" y="1645920"/>
            <a:ext cx="475488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784848" y="1755648"/>
            <a:ext cx="4535424" cy="1005840"/>
          </a:xfrm>
          <a:prstGeom prst="rect">
            <a:avLst/>
          </a:prstGeom>
          <a:noFill/>
        </p:spPr>
        <p:txBody>
          <a:bodyPr wrap="square" anchor="t">
            <a:spAutoFit/>
          </a:bodyPr>
          <a:lstStyle/>
          <a:p>
            <a:pPr algn="l">
              <a:spcAft>
                <a:spcPts val="300"/>
              </a:spcAft>
            </a:pPr>
            <a:r>
              <a:rPr sz="950" b="1">
                <a:solidFill>
                  <a:srgbClr val="820AD1"/>
                </a:solidFill>
                <a:latin typeface="Arial"/>
              </a:rPr>
              <a:t>FIRST RELEASE, 1 JAN 2027</a:t>
            </a:r>
          </a:p>
          <a:p>
            <a:pPr algn="l">
              <a:spcAft>
                <a:spcPts val="600"/>
              </a:spcAft>
            </a:pPr>
            <a:r>
              <a:rPr sz="1600" b="1">
                <a:solidFill>
                  <a:srgbClr val="11052C"/>
                </a:solidFill>
                <a:latin typeface="Arial"/>
              </a:rPr>
              <a:t>$15M</a:t>
            </a:r>
          </a:p>
          <a:p>
            <a:pPr algn="l">
              <a:spcAft>
                <a:spcPts val="400"/>
              </a:spcAft>
            </a:pPr>
            <a:r>
              <a:rPr sz="1200" b="0">
                <a:solidFill>
                  <a:srgbClr val="3B2A54"/>
                </a:solidFill>
                <a:latin typeface="Arial"/>
              </a:rPr>
              <a:t>$10.5M to core markets (70%) and $4.5M to new bets (30%), for cases already vetted.</a:t>
            </a:r>
          </a:p>
        </p:txBody>
      </p:sp>
      <p:sp>
        <p:nvSpPr>
          <p:cNvPr id="7" name="Rounded Rectangle 6"/>
          <p:cNvSpPr/>
          <p:nvPr/>
        </p:nvSpPr>
        <p:spPr>
          <a:xfrm>
            <a:off x="6675120" y="2944368"/>
            <a:ext cx="475488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84848" y="3054096"/>
            <a:ext cx="4535424" cy="1005840"/>
          </a:xfrm>
          <a:prstGeom prst="rect">
            <a:avLst/>
          </a:prstGeom>
          <a:noFill/>
        </p:spPr>
        <p:txBody>
          <a:bodyPr wrap="square" anchor="t">
            <a:spAutoFit/>
          </a:bodyPr>
          <a:lstStyle/>
          <a:p>
            <a:pPr algn="l">
              <a:spcAft>
                <a:spcPts val="300"/>
              </a:spcAft>
            </a:pPr>
            <a:r>
              <a:rPr sz="950" b="1">
                <a:solidFill>
                  <a:srgbClr val="820AD1"/>
                </a:solidFill>
                <a:latin typeface="Arial"/>
              </a:rPr>
              <a:t>SECOND RELEASE, 31 MAR (Q1 CLOSE)</a:t>
            </a:r>
          </a:p>
          <a:p>
            <a:pPr algn="l">
              <a:spcAft>
                <a:spcPts val="600"/>
              </a:spcAft>
            </a:pPr>
            <a:r>
              <a:rPr sz="1600" b="1">
                <a:solidFill>
                  <a:srgbClr val="11052C"/>
                </a:solidFill>
                <a:latin typeface="Arial"/>
              </a:rPr>
              <a:t>$10M</a:t>
            </a:r>
          </a:p>
          <a:p>
            <a:pPr algn="l">
              <a:spcAft>
                <a:spcPts val="400"/>
              </a:spcAft>
            </a:pPr>
            <a:r>
              <a:rPr sz="1200" b="0">
                <a:solidFill>
                  <a:srgbClr val="3B2A54"/>
                </a:solidFill>
                <a:latin typeface="Arial"/>
              </a:rPr>
              <a:t>To units whose Q1 indicators hold. Completes the $25M.</a:t>
            </a:r>
          </a:p>
        </p:txBody>
      </p:sp>
      <p:sp>
        <p:nvSpPr>
          <p:cNvPr id="9" name="Rounded Rectangle 8"/>
          <p:cNvSpPr/>
          <p:nvPr/>
        </p:nvSpPr>
        <p:spPr>
          <a:xfrm>
            <a:off x="6675120" y="4242816"/>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4352544"/>
            <a:ext cx="4535424" cy="1234440"/>
          </a:xfrm>
          <a:prstGeom prst="rect">
            <a:avLst/>
          </a:prstGeom>
          <a:noFill/>
        </p:spPr>
        <p:txBody>
          <a:bodyPr wrap="square" anchor="t">
            <a:spAutoFit/>
          </a:bodyPr>
          <a:lstStyle/>
          <a:p>
            <a:pPr algn="l">
              <a:spcAft>
                <a:spcPts val="300"/>
              </a:spcAft>
            </a:pPr>
            <a:r>
              <a:rPr sz="950" b="1">
                <a:solidFill>
                  <a:srgbClr val="D97706"/>
                </a:solidFill>
                <a:latin typeface="Arial"/>
              </a:rPr>
              <a:t>H2 RESERVE, NOT IN PLAN</a:t>
            </a:r>
          </a:p>
          <a:p>
            <a:pPr algn="l">
              <a:spcAft>
                <a:spcPts val="600"/>
              </a:spcAft>
            </a:pPr>
            <a:r>
              <a:rPr sz="1600" b="1">
                <a:solidFill>
                  <a:srgbClr val="11052C"/>
                </a:solidFill>
                <a:latin typeface="Arial"/>
              </a:rPr>
              <a:t>Up to $15M</a:t>
            </a:r>
          </a:p>
          <a:p>
            <a:pPr algn="l">
              <a:spcAft>
                <a:spcPts val="400"/>
              </a:spcAft>
            </a:pPr>
            <a:r>
              <a:rPr sz="1200" b="0">
                <a:solidFill>
                  <a:srgbClr val="3B2A54"/>
                </a:solidFill>
                <a:latin typeface="Arial"/>
              </a:rPr>
              <a:t>Only from H1 profit above plan, inside the ~20% guide, with NPL 90+ on plan. The CFO decides; Risk can block; IR sets the disclosure.</a:t>
            </a:r>
          </a:p>
        </p:txBody>
      </p:sp>
      <p:sp>
        <p:nvSpPr>
          <p:cNvPr id="11" name="TextBox 10"/>
          <p:cNvSpPr txBox="1"/>
          <p:nvPr/>
        </p:nvSpPr>
        <p:spPr>
          <a:xfrm>
            <a:off x="612648" y="5989320"/>
            <a:ext cx="10515600" cy="548640"/>
          </a:xfrm>
          <a:prstGeom prst="rect">
            <a:avLst/>
          </a:prstGeom>
          <a:noFill/>
        </p:spPr>
        <p:txBody>
          <a:bodyPr wrap="square" anchor="t">
            <a:spAutoFit/>
          </a:bodyPr>
          <a:lstStyle/>
          <a:p>
            <a:pPr algn="l"/>
            <a:r>
              <a:rPr sz="900" b="0">
                <a:solidFill>
                  <a:srgbClr val="6B5B82"/>
                </a:solidFill>
                <a:latin typeface="Arial"/>
              </a:rPr>
              <a:t>$8M of country asks reuse the shared code base at near-zero marginal cost (A5); anything Engineering cannot confirm moves to the case track, and the cap does not grow. $12M enters a 60-day business-case track with my team.</a:t>
            </a:r>
          </a:p>
        </p:txBody>
      </p:sp>
      <p:sp>
        <p:nvSpPr>
          <p:cNvPr id="12" name="TextBox 1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 lean hub and a short meeting cadence bring planning in-house</a:t>
            </a:r>
          </a:p>
        </p:txBody>
      </p:sp>
      <p:sp>
        <p:nvSpPr>
          <p:cNvPr id="4" name="Rounded Rectangle 3"/>
          <p:cNvSpPr/>
          <p:nvPr/>
        </p:nvSpPr>
        <p:spPr>
          <a:xfrm>
            <a:off x="612648" y="1645920"/>
            <a:ext cx="4206240" cy="4206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3986783" cy="4023359"/>
          </a:xfrm>
          <a:prstGeom prst="rect">
            <a:avLst/>
          </a:prstGeom>
          <a:noFill/>
        </p:spPr>
        <p:txBody>
          <a:bodyPr wrap="square" anchor="t">
            <a:spAutoFit/>
          </a:bodyPr>
          <a:lstStyle/>
          <a:p>
            <a:pPr algn="l">
              <a:spcAft>
                <a:spcPts val="300"/>
              </a:spcAft>
            </a:pPr>
            <a:r>
              <a:rPr sz="950" b="1">
                <a:solidFill>
                  <a:srgbClr val="820AD1"/>
                </a:solidFill>
                <a:latin typeface="Arial"/>
              </a:rPr>
              <a:t>THE HUB</a:t>
            </a:r>
          </a:p>
          <a:p>
            <a:pPr algn="l">
              <a:spcAft>
                <a:spcPts val="600"/>
              </a:spcAft>
            </a:pPr>
            <a:r>
              <a:rPr sz="1500" b="1">
                <a:solidFill>
                  <a:srgbClr val="11052C"/>
                </a:solidFill>
                <a:latin typeface="Arial"/>
              </a:rPr>
              <a:t>A planning hub of 4-6 people (A10)</a:t>
            </a:r>
          </a:p>
          <a:p>
            <a:pPr algn="l">
              <a:spcAft>
                <a:spcPts val="400"/>
              </a:spcAft>
            </a:pPr>
            <a:r>
              <a:rPr sz="1200" b="0">
                <a:solidFill>
                  <a:srgbClr val="3B2A54"/>
                </a:solidFill>
                <a:latin typeface="Arial"/>
              </a:rPr>
              <a:t>Owns the single planning model and reads Nu's data platform directly.</a:t>
            </a:r>
          </a:p>
          <a:p>
            <a:pPr algn="l">
              <a:spcAft>
                <a:spcPts val="400"/>
              </a:spcAft>
            </a:pPr>
            <a:r>
              <a:rPr sz="1200" b="0">
                <a:solidFill>
                  <a:srgbClr val="3B2A54"/>
                </a:solidFill>
                <a:latin typeface="Arial"/>
              </a:rPr>
              <a:t>Its KPIs: cycle time under 40 days, forecast accuracy, and 100% of spend with an approved case.</a:t>
            </a:r>
          </a:p>
          <a:p>
            <a:pPr algn="l">
              <a:spcAft>
                <a:spcPts val="400"/>
              </a:spcAft>
            </a:pPr>
            <a:r>
              <a:rPr sz="1200" b="0">
                <a:solidFill>
                  <a:srgbClr val="3B2A54"/>
                </a:solidFill>
                <a:latin typeface="Arial"/>
              </a:rPr>
              <a:t>Finance partners sit in each market and vertical: solid line to the hub, dotted line to the GM, in place by late November.</a:t>
            </a:r>
          </a:p>
          <a:p>
            <a:pPr algn="l">
              <a:spcAft>
                <a:spcPts val="400"/>
              </a:spcAft>
            </a:pPr>
            <a:r>
              <a:rPr sz="1200" b="0">
                <a:solidFill>
                  <a:srgbClr val="3B2A54"/>
                </a:solidFill>
                <a:latin typeface="Arial"/>
              </a:rPr>
              <a:t>Two AI agents do the consolidation: a PMO agent reads status where the work happens (no status templates), and a review agent checks every case against the template and the data (backup H).</a:t>
            </a:r>
          </a:p>
          <a:p>
            <a:pPr algn="l">
              <a:spcAft>
                <a:spcPts val="400"/>
              </a:spcAft>
            </a:pPr>
            <a:r>
              <a:rPr sz="1200" b="0">
                <a:solidFill>
                  <a:srgbClr val="3B2A54"/>
                </a:solidFill>
                <a:latin typeface="Arial"/>
              </a:rPr>
              <a:t>I hire for two skills: modeling and plain-English writing, and I keep the review of the model myself.</a:t>
            </a:r>
          </a:p>
        </p:txBody>
      </p:sp>
      <p:graphicFrame>
        <p:nvGraphicFramePr>
          <p:cNvPr id="6" name="Table 5"/>
          <p:cNvGraphicFramePr>
            <a:graphicFrameLocks noGrp="1"/>
          </p:cNvGraphicFramePr>
          <p:nvPr/>
        </p:nvGraphicFramePr>
        <p:xfrm>
          <a:off x="5029200" y="1645920"/>
          <a:ext cx="6400800" cy="2560320"/>
        </p:xfrm>
        <a:graphic>
          <a:graphicData uri="http://schemas.openxmlformats.org/drawingml/2006/table">
            <a:tbl>
              <a:tblPr>
                <a:tableStyleId>{5C22544A-7EE6-4342-B048-85BDC9FD1C3A}</a:tableStyleId>
              </a:tblPr>
              <a:tblGrid>
                <a:gridCol w="1965960"/>
                <a:gridCol w="2011680"/>
                <a:gridCol w="2423160"/>
              </a:tblGrid>
              <a:tr h="640080">
                <a:tc>
                  <a:txBody>
                    <a:bodyPr wrap="square"/>
                    <a:lstStyle/>
                    <a:p>
                      <a:r>
                        <a:rPr sz="1150" b="1">
                          <a:solidFill>
                            <a:srgbClr val="FFFFFF"/>
                          </a:solidFill>
                          <a:latin typeface="Arial"/>
                        </a:rPr>
                        <a:t>Meeting</a:t>
                      </a:r>
                    </a:p>
                  </a:txBody>
                  <a:tcPr marL="64008" marR="64008" marT="36576" marB="36576" anchor="ctr">
                    <a:solidFill>
                      <a:srgbClr val="820AD1"/>
                    </a:solidFill>
                  </a:tcPr>
                </a:tc>
                <a:tc>
                  <a:txBody>
                    <a:bodyPr wrap="square"/>
                    <a:lstStyle/>
                    <a:p>
                      <a:r>
                        <a:rPr sz="1150" b="1">
                          <a:solidFill>
                            <a:srgbClr val="FFFFFF"/>
                          </a:solidFill>
                          <a:latin typeface="Arial"/>
                        </a:rPr>
                        <a:t>Who runs it</a:t>
                      </a:r>
                    </a:p>
                  </a:txBody>
                  <a:tcPr marL="64008" marR="64008" marT="36576" marB="36576" anchor="ctr">
                    <a:solidFill>
                      <a:srgbClr val="820AD1"/>
                    </a:solidFill>
                  </a:tcPr>
                </a:tc>
                <a:tc>
                  <a:txBody>
                    <a:bodyPr wrap="square"/>
                    <a:lstStyle/>
                    <a:p>
                      <a:r>
                        <a:rPr sz="1150" b="1">
                          <a:solidFill>
                            <a:srgbClr val="FFFFFF"/>
                          </a:solidFill>
                          <a:latin typeface="Arial"/>
                        </a:rPr>
                        <a:t>Output</a:t>
                      </a:r>
                    </a:p>
                  </a:txBody>
                  <a:tcPr marL="64008" marR="64008" marT="36576" marB="36576" anchor="ctr">
                    <a:solidFill>
                      <a:srgbClr val="820AD1"/>
                    </a:solidFill>
                  </a:tcPr>
                </a:tc>
              </a:tr>
              <a:tr h="640080">
                <a:tc>
                  <a:txBody>
                    <a:bodyPr wrap="square"/>
                    <a:lstStyle/>
                    <a:p>
                      <a:r>
                        <a:rPr sz="1200" b="1">
                          <a:solidFill>
                            <a:srgbClr val="11052C"/>
                          </a:solidFill>
                          <a:latin typeface="Arial"/>
                        </a:rPr>
                        <a:t>Squad clinics</a:t>
                      </a:r>
                      <a:r>
                        <a:rPr sz="1200" b="0">
                          <a:solidFill>
                            <a:srgbClr val="11052C"/>
                          </a:solidFill>
                          <a:latin typeface="Arial"/>
                        </a:rPr>
                        <a:t>, weekly</a:t>
                      </a:r>
                    </a:p>
                  </a:txBody>
                  <a:tcPr marL="64008" marR="64008" marT="36576" marB="36576" anchor="ctr">
                    <a:solidFill>
                      <a:srgbClr val="FFFFFF"/>
                    </a:solidFill>
                  </a:tcPr>
                </a:tc>
                <a:tc>
                  <a:txBody>
                    <a:bodyPr wrap="square"/>
                    <a:lstStyle/>
                    <a:p>
                      <a:r>
                        <a:rPr sz="1200" b="0">
                          <a:solidFill>
                            <a:srgbClr val="3B2A54"/>
                          </a:solidFill>
                          <a:latin typeface="Arial"/>
                        </a:rPr>
                        <a:t>Finance partner, with the GM</a:t>
                      </a:r>
                    </a:p>
                  </a:txBody>
                  <a:tcPr marL="64008" marR="64008" marT="36576" marB="36576" anchor="ctr">
                    <a:solidFill>
                      <a:srgbClr val="FFFFFF"/>
                    </a:solidFill>
                  </a:tcPr>
                </a:tc>
                <a:tc>
                  <a:txBody>
                    <a:bodyPr wrap="square"/>
                    <a:lstStyle/>
                    <a:p>
                      <a:r>
                        <a:rPr sz="1200" b="0">
                          <a:solidFill>
                            <a:srgbClr val="3B2A54"/>
                          </a:solidFill>
                          <a:latin typeface="Arial"/>
                        </a:rPr>
                        <a:t>A business case in the standard template, co-signed by the GM</a:t>
                      </a:r>
                    </a:p>
                  </a:txBody>
                  <a:tcPr marL="64008" marR="64008" marT="36576" marB="36576" anchor="ctr">
                    <a:solidFill>
                      <a:srgbClr val="FFFFFF"/>
                    </a:solidFill>
                  </a:tcPr>
                </a:tc>
              </a:tr>
              <a:tr h="640080">
                <a:tc>
                  <a:txBody>
                    <a:bodyPr wrap="square"/>
                    <a:lstStyle/>
                    <a:p>
                      <a:r>
                        <a:rPr sz="1200" b="1">
                          <a:solidFill>
                            <a:srgbClr val="11052C"/>
                          </a:solidFill>
                          <a:latin typeface="Arial"/>
                        </a:rPr>
                        <a:t>GM one-to-ones</a:t>
                      </a:r>
                      <a:r>
                        <a:rPr sz="1200" b="0">
                          <a:solidFill>
                            <a:srgbClr val="11052C"/>
                          </a:solidFill>
                          <a:latin typeface="Arial"/>
                        </a:rPr>
                        <a:t>, every two weeks</a:t>
                      </a:r>
                    </a:p>
                  </a:txBody>
                  <a:tcPr marL="64008" marR="64008" marT="36576" marB="36576" anchor="ctr">
                    <a:solidFill>
                      <a:srgbClr val="F7F2FD"/>
                    </a:solidFill>
                  </a:tcPr>
                </a:tc>
                <a:tc>
                  <a:txBody>
                    <a:bodyPr wrap="square"/>
                    <a:lstStyle/>
                    <a:p>
                      <a:r>
                        <a:rPr sz="1200" b="0">
                          <a:solidFill>
                            <a:srgbClr val="3B2A54"/>
                          </a:solidFill>
                          <a:latin typeface="Arial"/>
                        </a:rPr>
                        <a:t>Me</a:t>
                      </a:r>
                    </a:p>
                  </a:txBody>
                  <a:tcPr marL="64008" marR="64008" marT="36576" marB="36576" anchor="ctr">
                    <a:solidFill>
                      <a:srgbClr val="F7F2FD"/>
                    </a:solidFill>
                  </a:tcPr>
                </a:tc>
                <a:tc>
                  <a:txBody>
                    <a:bodyPr wrap="square"/>
                    <a:lstStyle/>
                    <a:p>
                      <a:r>
                        <a:rPr sz="1200" b="0">
                          <a:solidFill>
                            <a:srgbClr val="3B2A54"/>
                          </a:solidFill>
                          <a:latin typeface="Arial"/>
                        </a:rPr>
                        <a:t>No surprises at the lock; every ask has a path to yes</a:t>
                      </a:r>
                    </a:p>
                  </a:txBody>
                  <a:tcPr marL="64008" marR="64008" marT="36576" marB="36576" anchor="ctr">
                    <a:solidFill>
                      <a:srgbClr val="F7F2FD"/>
                    </a:solidFill>
                  </a:tcPr>
                </a:tc>
              </a:tr>
              <a:tr h="640080">
                <a:tc>
                  <a:txBody>
                    <a:bodyPr wrap="square"/>
                    <a:lstStyle/>
                    <a:p>
                      <a:r>
                        <a:rPr sz="1200" b="1">
                          <a:solidFill>
                            <a:srgbClr val="11052C"/>
                          </a:solidFill>
                          <a:latin typeface="Arial"/>
                        </a:rPr>
                        <a:t>Release review</a:t>
                      </a:r>
                      <a:r>
                        <a:rPr sz="1200" b="0">
                          <a:solidFill>
                            <a:srgbClr val="11052C"/>
                          </a:solidFill>
                          <a:latin typeface="Arial"/>
                        </a:rPr>
                        <a:t>, quarterly</a:t>
                      </a:r>
                    </a:p>
                  </a:txBody>
                  <a:tcPr marL="64008" marR="64008" marT="36576" marB="36576" anchor="ctr">
                    <a:solidFill>
                      <a:srgbClr val="FFFFFF"/>
                    </a:solidFill>
                  </a:tcPr>
                </a:tc>
                <a:tc>
                  <a:txBody>
                    <a:bodyPr wrap="square"/>
                    <a:lstStyle/>
                    <a:p>
                      <a:r>
                        <a:rPr sz="1200" b="0">
                          <a:solidFill>
                            <a:srgbClr val="3B2A54"/>
                          </a:solidFill>
                          <a:latin typeface="Arial"/>
                        </a:rPr>
                        <a:t>CFO decides, on my recommendation</a:t>
                      </a:r>
                    </a:p>
                  </a:txBody>
                  <a:tcPr marL="64008" marR="64008" marT="36576" marB="36576" anchor="ctr">
                    <a:solidFill>
                      <a:srgbClr val="FFFFFF"/>
                    </a:solidFill>
                  </a:tcPr>
                </a:tc>
                <a:tc>
                  <a:txBody>
                    <a:bodyPr wrap="square"/>
                    <a:lstStyle/>
                    <a:p>
                      <a:r>
                        <a:rPr sz="1200" b="0">
                          <a:solidFill>
                            <a:srgbClr val="3B2A54"/>
                          </a:solidFill>
                          <a:latin typeface="Arial"/>
                        </a:rPr>
                        <a:t>Release memo to the GMs the same day</a:t>
                      </a:r>
                    </a:p>
                  </a:txBody>
                  <a:tcPr marL="64008" marR="64008" marT="36576" marB="36576" anchor="ctr">
                    <a:solidFill>
                      <a:srgbClr val="FFFFFF"/>
                    </a:solidFill>
                  </a:tcPr>
                </a:tc>
              </a:tr>
            </a:tbl>
          </a:graphicData>
        </a:graphic>
      </p:graphicFrame>
      <p:sp>
        <p:nvSpPr>
          <p:cNvPr id="7" name="Rounded Rectangle 6"/>
          <p:cNvSpPr/>
          <p:nvPr/>
        </p:nvSpPr>
        <p:spPr>
          <a:xfrm>
            <a:off x="5029200" y="4434840"/>
            <a:ext cx="6400800" cy="141732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12080" y="4526279"/>
            <a:ext cx="6035040" cy="1271016"/>
          </a:xfrm>
          <a:prstGeom prst="rect">
            <a:avLst/>
          </a:prstGeom>
          <a:noFill/>
        </p:spPr>
        <p:txBody>
          <a:bodyPr wrap="square" anchor="ctr">
            <a:spAutoFit/>
          </a:bodyPr>
          <a:lstStyle/>
          <a:p>
            <a:pPr algn="l"/>
            <a:r>
              <a:rPr sz="1250" b="0">
                <a:solidFill>
                  <a:srgbClr val="11052C"/>
                </a:solidFill>
                <a:latin typeface="Arial"/>
              </a:rPr>
              <a:t>Roles are explicit: finance partners recommend, GMs give input, I assemble the pack, the CFO decides, the hub runs it. The fourth standing meeting is the HQ pod (slide 11).</a:t>
            </a:r>
          </a:p>
        </p:txBody>
      </p:sp>
      <p:sp>
        <p:nvSpPr>
          <p:cNvPr id="9" name="TextBox 8"/>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capital dispute gets one ranking: return on the equity each use needs</a:t>
            </a:r>
          </a:p>
        </p:txBody>
      </p:sp>
      <p:sp>
        <p:nvSpPr>
          <p:cNvPr id="4" name="Rounded Rectangle 3"/>
          <p:cNvSpPr/>
          <p:nvPr/>
        </p:nvSpPr>
        <p:spPr>
          <a:xfrm>
            <a:off x="6126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WHAT IS ON THE TABLE</a:t>
            </a:r>
          </a:p>
          <a:p>
            <a:pPr algn="l">
              <a:spcAft>
                <a:spcPts val="600"/>
              </a:spcAft>
            </a:pPr>
            <a:r>
              <a:rPr sz="1500" b="1">
                <a:solidFill>
                  <a:srgbClr val="11052C"/>
                </a:solidFill>
                <a:latin typeface="Arial"/>
              </a:rPr>
              <a:t>Four uses of equity</a:t>
            </a:r>
          </a:p>
          <a:p>
            <a:pPr algn="l">
              <a:spcAft>
                <a:spcPts val="400"/>
              </a:spcAft>
            </a:pPr>
            <a:r>
              <a:rPr sz="1150" b="0">
                <a:solidFill>
                  <a:srgbClr val="3B2A54"/>
                </a:solidFill>
                <a:latin typeface="Arial"/>
              </a:rPr>
              <a:t>Brazil deepening.</a:t>
            </a:r>
          </a:p>
          <a:p>
            <a:pPr algn="l">
              <a:spcAft>
                <a:spcPts val="400"/>
              </a:spcAft>
            </a:pPr>
            <a:r>
              <a:rPr sz="1150" b="0">
                <a:solidFill>
                  <a:srgbClr val="3B2A54"/>
                </a:solidFill>
                <a:latin typeface="Arial"/>
              </a:rPr>
              <a:t>Nu Mexico: bank authorized 10 Jul 2026, operating since 6 Aug; $4.2B planned to 2030.</a:t>
            </a:r>
          </a:p>
          <a:p>
            <a:pPr algn="l">
              <a:spcAft>
                <a:spcPts val="400"/>
              </a:spcAft>
            </a:pPr>
            <a:r>
              <a:rPr sz="1150" b="0">
                <a:solidFill>
                  <a:srgbClr val="3B2A54"/>
                </a:solidFill>
                <a:latin typeface="Arial"/>
              </a:rPr>
              <a:t>US charter: OCC conditional approval 29 Jan 2026; capital in by about 29 Jan 2027.</a:t>
            </a:r>
          </a:p>
          <a:p>
            <a:pPr algn="l">
              <a:spcAft>
                <a:spcPts val="400"/>
              </a:spcAft>
            </a:pPr>
            <a:r>
              <a:rPr sz="1150" b="0">
                <a:solidFill>
                  <a:srgbClr val="3B2A54"/>
                </a:solidFill>
                <a:latin typeface="Arial"/>
              </a:rPr>
              <a:t>Buyback of up to $1.0B, announced Jun 2026.</a:t>
            </a:r>
          </a:p>
        </p:txBody>
      </p:sp>
      <p:sp>
        <p:nvSpPr>
          <p:cNvPr id="6" name="Rounded Rectangle 5"/>
          <p:cNvSpPr/>
          <p:nvPr/>
        </p:nvSpPr>
        <p:spPr>
          <a:xfrm>
            <a:off x="42702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THE TEST</a:t>
            </a:r>
          </a:p>
          <a:p>
            <a:pPr algn="l">
              <a:spcAft>
                <a:spcPts val="600"/>
              </a:spcAft>
            </a:pPr>
            <a:r>
              <a:rPr sz="1500" b="1">
                <a:solidFill>
                  <a:srgbClr val="11052C"/>
                </a:solidFill>
                <a:latin typeface="Arial"/>
              </a:rPr>
              <a:t>Return on allocated capital</a:t>
            </a:r>
          </a:p>
          <a:p>
            <a:pPr algn="l">
              <a:spcAft>
                <a:spcPts val="400"/>
              </a:spcAft>
            </a:pPr>
            <a:r>
              <a:rPr sz="1150" b="0">
                <a:solidFill>
                  <a:srgbClr val="3B2A54"/>
                </a:solidFill>
                <a:latin typeface="Arial"/>
              </a:rPr>
              <a:t>After-tax return on the extra equity each use needs, against that market's cost of equity, with headroom by entity in a downside case.</a:t>
            </a:r>
          </a:p>
          <a:p>
            <a:pPr algn="l">
              <a:spcAft>
                <a:spcPts val="400"/>
              </a:spcAft>
            </a:pPr>
            <a:r>
              <a:rPr sz="1150" b="0">
                <a:solidFill>
                  <a:srgbClr val="3B2A54"/>
                </a:solidFill>
                <a:latin typeface="Arial"/>
              </a:rPr>
              <a:t>Beating the cost of equity creates value even if it dilutes the 33% group ROE. The buyback is the bar.</a:t>
            </a:r>
          </a:p>
        </p:txBody>
      </p:sp>
      <p:sp>
        <p:nvSpPr>
          <p:cNvPr id="8" name="Rounded Rectangle 7"/>
          <p:cNvSpPr/>
          <p:nvPr/>
        </p:nvSpPr>
        <p:spPr>
          <a:xfrm>
            <a:off x="79278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WHO DECIDES, BY WHEN</a:t>
            </a:r>
          </a:p>
          <a:p>
            <a:pPr algn="l">
              <a:spcAft>
                <a:spcPts val="600"/>
              </a:spcAft>
            </a:pPr>
            <a:r>
              <a:rPr sz="1500" b="1">
                <a:solidFill>
                  <a:srgbClr val="11052C"/>
                </a:solidFill>
                <a:latin typeface="Arial"/>
              </a:rPr>
              <a:t>Before Investor Day</a:t>
            </a:r>
          </a:p>
          <a:p>
            <a:pPr algn="l">
              <a:spcAft>
                <a:spcPts val="400"/>
              </a:spcAft>
            </a:pPr>
            <a:r>
              <a:rPr sz="1150" b="0">
                <a:solidFill>
                  <a:srgbClr val="3B2A54"/>
                </a:solidFill>
                <a:latin typeface="Arial"/>
              </a:rPr>
              <a:t>The CFO recommends, the CEO decides, the Board approves at this meeting, the last before Investor Day on 8 Dec.</a:t>
            </a:r>
          </a:p>
          <a:p>
            <a:pPr algn="l">
              <a:spcAft>
                <a:spcPts val="400"/>
              </a:spcAft>
            </a:pPr>
            <a:r>
              <a:rPr sz="1150" b="0">
                <a:solidFill>
                  <a:srgbClr val="3B2A54"/>
                </a:solidFill>
                <a:latin typeface="Arial"/>
              </a:rPr>
              <a:t>One page per use: return, capital, headroom, risk. Cost of equity comes from Treasury.</a:t>
            </a:r>
          </a:p>
        </p:txBody>
      </p:sp>
      <p:sp>
        <p:nvSpPr>
          <p:cNvPr id="10" name="Rounded Rectangle 9"/>
          <p:cNvSpPr/>
          <p:nvPr/>
        </p:nvSpPr>
        <p:spPr>
          <a:xfrm>
            <a:off x="612648" y="4846320"/>
            <a:ext cx="10789920" cy="11887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937759"/>
            <a:ext cx="10424160" cy="1042416"/>
          </a:xfrm>
          <a:prstGeom prst="rect">
            <a:avLst/>
          </a:prstGeom>
          <a:noFill/>
        </p:spPr>
        <p:txBody>
          <a:bodyPr wrap="square" anchor="ctr">
            <a:spAutoFit/>
          </a:bodyPr>
          <a:lstStyle/>
          <a:p>
            <a:pPr algn="l"/>
            <a:r>
              <a:rPr sz="1250" b="1">
                <a:solidFill>
                  <a:srgbClr val="FFFFFF"/>
                </a:solidFill>
                <a:latin typeface="Arial"/>
              </a:rPr>
              <a:t>Where the two executives meet on opex: </a:t>
            </a:r>
            <a:r>
              <a:rPr sz="1250" b="0">
                <a:solidFill>
                  <a:srgbClr val="FFFFFF"/>
                </a:solidFill>
                <a:latin typeface="Arial"/>
              </a:rPr>
              <a:t>mature cohorts earn about $31 a month at eight years against $17.1 for the group, so core markets take 70% of the first release. New bets take 30% and are judged on activation, retention and unit cost, not first-quarter profit. If the dispute is about equity, the ranking above decides it (A4).</a:t>
            </a:r>
          </a:p>
        </p:txBody>
      </p:sp>
      <p:sp>
        <p:nvSpPr>
          <p:cNvPr id="12" name="TextBox 11"/>
          <p:cNvSpPr txBox="1"/>
          <p:nvPr/>
        </p:nvSpPr>
        <p:spPr>
          <a:xfrm>
            <a:off x="612648" y="6172200"/>
            <a:ext cx="10515600" cy="411480"/>
          </a:xfrm>
          <a:prstGeom prst="rect">
            <a:avLst/>
          </a:prstGeom>
          <a:noFill/>
        </p:spPr>
        <p:txBody>
          <a:bodyPr wrap="square" anchor="t">
            <a:spAutoFit/>
          </a:bodyPr>
          <a:lstStyle/>
          <a:p>
            <a:pPr algn="l"/>
            <a:r>
              <a:rPr sz="900" b="0">
                <a:solidFill>
                  <a:srgbClr val="6B5B82"/>
                </a:solidFill>
                <a:latin typeface="Arial"/>
              </a:rPr>
              <a:t>Sources: Nu Q2'26 release (ROE 33%, ARPAC $17.1); Q1'26 cohort slide ($30.8 at 96 months vs $15.9 total); Nu announcements (Mexico 10 Jul and 6 Aug 2026; OCC 29 Jan 2026; buyback 4 Jun 2026); Nu IR (Investor Day 8 Dec 2026).</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When a senior GM pushes back: four moves, in the same order every time</a:t>
            </a:r>
          </a:p>
        </p:txBody>
      </p:sp>
      <p:sp>
        <p:nvSpPr>
          <p:cNvPr id="4" name="Rounded Rectangle 3"/>
          <p:cNvSpPr/>
          <p:nvPr/>
        </p:nvSpPr>
        <p:spPr>
          <a:xfrm>
            <a:off x="612648" y="1645920"/>
            <a:ext cx="2560320" cy="2834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2651760"/>
          </a:xfrm>
          <a:prstGeom prst="rect">
            <a:avLst/>
          </a:prstGeom>
          <a:noFill/>
        </p:spPr>
        <p:txBody>
          <a:bodyPr wrap="square" anchor="t">
            <a:spAutoFit/>
          </a:bodyPr>
          <a:lstStyle/>
          <a:p>
            <a:pPr algn="l">
              <a:spcAft>
                <a:spcPts val="300"/>
              </a:spcAft>
            </a:pPr>
            <a:r>
              <a:rPr sz="950" b="1">
                <a:solidFill>
                  <a:srgbClr val="820AD1"/>
                </a:solidFill>
                <a:latin typeface="Arial"/>
              </a:rPr>
              <a:t>STEP 1</a:t>
            </a:r>
          </a:p>
          <a:p>
            <a:pPr algn="l">
              <a:spcAft>
                <a:spcPts val="600"/>
              </a:spcAft>
            </a:pPr>
            <a:r>
              <a:rPr sz="1500" b="1">
                <a:solidFill>
                  <a:srgbClr val="11052C"/>
                </a:solidFill>
                <a:latin typeface="Arial"/>
              </a:rPr>
              <a:t>Talk privately first</a:t>
            </a:r>
          </a:p>
          <a:p>
            <a:pPr algn="l">
              <a:spcAft>
                <a:spcPts val="400"/>
              </a:spcAft>
            </a:pPr>
            <a:r>
              <a:rPr sz="1250" b="0">
                <a:solidFill>
                  <a:srgbClr val="3B2A54"/>
                </a:solidFill>
                <a:latin typeface="Arial"/>
              </a:rPr>
              <a:t>I confirm the strategic goal before any budget line comes up. Nobody is corrected in front of the CFO.</a:t>
            </a:r>
          </a:p>
        </p:txBody>
      </p:sp>
      <p:sp>
        <p:nvSpPr>
          <p:cNvPr id="6" name="Rounded Rectangle 5"/>
          <p:cNvSpPr/>
          <p:nvPr/>
        </p:nvSpPr>
        <p:spPr>
          <a:xfrm>
            <a:off x="3355848" y="1645920"/>
            <a:ext cx="2560320" cy="2834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2651760"/>
          </a:xfrm>
          <a:prstGeom prst="rect">
            <a:avLst/>
          </a:prstGeom>
          <a:noFill/>
        </p:spPr>
        <p:txBody>
          <a:bodyPr wrap="square" anchor="t">
            <a:spAutoFit/>
          </a:bodyPr>
          <a:lstStyle/>
          <a:p>
            <a:pPr algn="l">
              <a:spcAft>
                <a:spcPts val="300"/>
              </a:spcAft>
            </a:pPr>
            <a:r>
              <a:rPr sz="950" b="1">
                <a:solidFill>
                  <a:srgbClr val="820AD1"/>
                </a:solidFill>
                <a:latin typeface="Arial"/>
              </a:rPr>
              <a:t>STEP 2</a:t>
            </a:r>
          </a:p>
          <a:p>
            <a:pPr algn="l">
              <a:spcAft>
                <a:spcPts val="600"/>
              </a:spcAft>
            </a:pPr>
            <a:r>
              <a:rPr sz="1500" b="1">
                <a:solidFill>
                  <a:srgbClr val="11052C"/>
                </a:solidFill>
                <a:latin typeface="Arial"/>
              </a:rPr>
              <a:t>Move to the evidence</a:t>
            </a:r>
          </a:p>
          <a:p>
            <a:pPr algn="l">
              <a:spcAft>
                <a:spcPts val="400"/>
              </a:spcAft>
            </a:pPr>
            <a:r>
              <a:rPr sz="1250" b="0">
                <a:solidFill>
                  <a:srgbClr val="3B2A54"/>
                </a:solidFill>
                <a:latin typeface="Arial"/>
              </a:rPr>
              <a:t>From "I need $25M" to "what would prove this works?" The published rule does the arguing, not me.</a:t>
            </a:r>
          </a:p>
        </p:txBody>
      </p:sp>
      <p:sp>
        <p:nvSpPr>
          <p:cNvPr id="8" name="Rounded Rectangle 7"/>
          <p:cNvSpPr/>
          <p:nvPr/>
        </p:nvSpPr>
        <p:spPr>
          <a:xfrm>
            <a:off x="6099048" y="1645920"/>
            <a:ext cx="2560320" cy="2834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2651760"/>
          </a:xfrm>
          <a:prstGeom prst="rect">
            <a:avLst/>
          </a:prstGeom>
          <a:noFill/>
        </p:spPr>
        <p:txBody>
          <a:bodyPr wrap="square" anchor="t">
            <a:spAutoFit/>
          </a:bodyPr>
          <a:lstStyle/>
          <a:p>
            <a:pPr algn="l">
              <a:spcAft>
                <a:spcPts val="300"/>
              </a:spcAft>
            </a:pPr>
            <a:r>
              <a:rPr sz="950" b="1">
                <a:solidFill>
                  <a:srgbClr val="820AD1"/>
                </a:solidFill>
                <a:latin typeface="Arial"/>
              </a:rPr>
              <a:t>STEP 3</a:t>
            </a:r>
          </a:p>
          <a:p>
            <a:pPr algn="l">
              <a:spcAft>
                <a:spcPts val="600"/>
              </a:spcAft>
            </a:pPr>
            <a:r>
              <a:rPr sz="1500" b="1">
                <a:solidFill>
                  <a:srgbClr val="11052C"/>
                </a:solidFill>
                <a:latin typeface="Arial"/>
              </a:rPr>
              <a:t>Offer a conditional yes</a:t>
            </a:r>
          </a:p>
          <a:p>
            <a:pPr algn="l">
              <a:spcAft>
                <a:spcPts val="400"/>
              </a:spcAft>
            </a:pPr>
            <a:r>
              <a:rPr sz="1250" b="0">
                <a:solidFill>
                  <a:srgbClr val="3B2A54"/>
                </a:solidFill>
                <a:latin typeface="Arial"/>
              </a:rPr>
              <a:t>A funded start, the $4.5M for new bets in the first release, and a reserved claim on the second release once the indicators hold.</a:t>
            </a:r>
          </a:p>
        </p:txBody>
      </p:sp>
      <p:sp>
        <p:nvSpPr>
          <p:cNvPr id="10" name="Rounded Rectangle 9"/>
          <p:cNvSpPr/>
          <p:nvPr/>
        </p:nvSpPr>
        <p:spPr>
          <a:xfrm>
            <a:off x="8842248" y="1645920"/>
            <a:ext cx="2560320" cy="2834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2651760"/>
          </a:xfrm>
          <a:prstGeom prst="rect">
            <a:avLst/>
          </a:prstGeom>
          <a:noFill/>
        </p:spPr>
        <p:txBody>
          <a:bodyPr wrap="square" anchor="t">
            <a:spAutoFit/>
          </a:bodyPr>
          <a:lstStyle/>
          <a:p>
            <a:pPr algn="l">
              <a:spcAft>
                <a:spcPts val="300"/>
              </a:spcAft>
            </a:pPr>
            <a:r>
              <a:rPr sz="950" b="1">
                <a:solidFill>
                  <a:srgbClr val="820AD1"/>
                </a:solidFill>
                <a:latin typeface="Arial"/>
              </a:rPr>
              <a:t>STEP 4</a:t>
            </a:r>
          </a:p>
          <a:p>
            <a:pPr algn="l">
              <a:spcAft>
                <a:spcPts val="600"/>
              </a:spcAft>
            </a:pPr>
            <a:r>
              <a:rPr sz="1500" b="1">
                <a:solidFill>
                  <a:srgbClr val="11052C"/>
                </a:solidFill>
                <a:latin typeface="Arial"/>
              </a:rPr>
              <a:t>Present together</a:t>
            </a:r>
          </a:p>
          <a:p>
            <a:pPr algn="l">
              <a:spcAft>
                <a:spcPts val="400"/>
              </a:spcAft>
            </a:pPr>
            <a:r>
              <a:rPr sz="1250" b="0">
                <a:solidFill>
                  <a:srgbClr val="3B2A54"/>
                </a:solidFill>
                <a:latin typeface="Arial"/>
              </a:rPr>
              <a:t>The GM and I present the plan together at the lock. The CEO's office is briefed in advance and sees the same rule.</a:t>
            </a:r>
          </a:p>
        </p:txBody>
      </p:sp>
      <p:sp>
        <p:nvSpPr>
          <p:cNvPr id="12" name="Rounded Rectangle 11"/>
          <p:cNvSpPr/>
          <p:nvPr/>
        </p:nvSpPr>
        <p:spPr>
          <a:xfrm>
            <a:off x="612648" y="4709160"/>
            <a:ext cx="10789920" cy="105156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800600"/>
            <a:ext cx="10424160" cy="905255"/>
          </a:xfrm>
          <a:prstGeom prst="rect">
            <a:avLst/>
          </a:prstGeom>
          <a:noFill/>
        </p:spPr>
        <p:txBody>
          <a:bodyPr wrap="square" anchor="ctr">
            <a:spAutoFit/>
          </a:bodyPr>
          <a:lstStyle/>
          <a:p>
            <a:pPr algn="l"/>
            <a:r>
              <a:rPr sz="1300" b="1">
                <a:solidFill>
                  <a:srgbClr val="FFFFFF"/>
                </a:solidFill>
                <a:latin typeface="Arial"/>
              </a:rPr>
              <a:t>Why it works without line authority: </a:t>
            </a:r>
            <a:r>
              <a:rPr sz="1300" b="0">
                <a:solidFill>
                  <a:srgbClr val="FFFFFF"/>
                </a:solidFill>
                <a:latin typeface="Arial"/>
              </a:rPr>
              <a:t>people accept a decision they argued against when the criteria were public before it was made. The rule is public on day one, the conversation is private, and the sign-off is joint.</a:t>
            </a:r>
          </a:p>
        </p:txBody>
      </p:sp>
      <p:sp>
        <p:nvSpPr>
          <p:cNvPr id="14" name="TextBox 13"/>
          <p:cNvSpPr txBox="1"/>
          <p:nvPr/>
        </p:nvSpPr>
        <p:spPr>
          <a:xfrm>
            <a:off x="612648" y="5943600"/>
            <a:ext cx="10515600" cy="320040"/>
          </a:xfrm>
          <a:prstGeom prst="rect">
            <a:avLst/>
          </a:prstGeom>
          <a:noFill/>
        </p:spPr>
        <p:txBody>
          <a:bodyPr wrap="square" anchor="t">
            <a:spAutoFit/>
          </a:bodyPr>
          <a:lstStyle/>
          <a:p>
            <a:pPr algn="l"/>
            <a:r>
              <a:rPr sz="900" b="0">
                <a:solidFill>
                  <a:srgbClr val="6B5B82"/>
                </a:solidFill>
                <a:latin typeface="Arial"/>
              </a:rPr>
              <a:t>Fair process: Kim and Mauborgne, "Fair Process: Managing in the Knowledge Economy", Harvard Business Review.</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Board book goes out 7 days before the meeting, after a lock at 16 days</a:t>
            </a:r>
          </a:p>
        </p:txBody>
      </p:sp>
      <p:sp>
        <p:nvSpPr>
          <p:cNvPr id="4" name="Rounded Rectangle 3"/>
          <p:cNvSpPr/>
          <p:nvPr/>
        </p:nvSpPr>
        <p:spPr>
          <a:xfrm>
            <a:off x="612648" y="1645920"/>
            <a:ext cx="25603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1920239"/>
          </a:xfrm>
          <a:prstGeom prst="rect">
            <a:avLst/>
          </a:prstGeom>
          <a:noFill/>
        </p:spPr>
        <p:txBody>
          <a:bodyPr wrap="square" anchor="t">
            <a:spAutoFit/>
          </a:bodyPr>
          <a:lstStyle/>
          <a:p>
            <a:pPr algn="l">
              <a:spcAft>
                <a:spcPts val="300"/>
              </a:spcAft>
            </a:pPr>
            <a:r>
              <a:rPr sz="950" b="1">
                <a:solidFill>
                  <a:srgbClr val="820AD1"/>
                </a:solidFill>
                <a:latin typeface="Arial"/>
              </a:rPr>
              <a:t>T-28 TO T-21</a:t>
            </a:r>
          </a:p>
          <a:p>
            <a:pPr algn="l">
              <a:spcAft>
                <a:spcPts val="600"/>
              </a:spcAft>
            </a:pPr>
            <a:r>
              <a:rPr sz="1500" b="1">
                <a:solidFill>
                  <a:srgbClr val="11052C"/>
                </a:solidFill>
                <a:latin typeface="Arial"/>
              </a:rPr>
              <a:t>Outline locked</a:t>
            </a:r>
          </a:p>
          <a:p>
            <a:pPr algn="l">
              <a:spcAft>
                <a:spcPts val="400"/>
              </a:spcAft>
            </a:pPr>
            <a:r>
              <a:rPr sz="1200" b="0">
                <a:solidFill>
                  <a:srgbClr val="3B2A54"/>
                </a:solidFill>
                <a:latin typeface="Arial"/>
              </a:rPr>
              <a:t>Today I issue the locked outline and standard data tables with the Corporate Secretary, so units stop building rival decks.</a:t>
            </a:r>
          </a:p>
        </p:txBody>
      </p:sp>
      <p:sp>
        <p:nvSpPr>
          <p:cNvPr id="6" name="Rounded Rectangle 5"/>
          <p:cNvSpPr/>
          <p:nvPr/>
        </p:nvSpPr>
        <p:spPr>
          <a:xfrm>
            <a:off x="3355848" y="1645920"/>
            <a:ext cx="25603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1920239"/>
          </a:xfrm>
          <a:prstGeom prst="rect">
            <a:avLst/>
          </a:prstGeom>
          <a:noFill/>
        </p:spPr>
        <p:txBody>
          <a:bodyPr wrap="square" anchor="t">
            <a:spAutoFit/>
          </a:bodyPr>
          <a:lstStyle/>
          <a:p>
            <a:pPr algn="l">
              <a:spcAft>
                <a:spcPts val="300"/>
              </a:spcAft>
            </a:pPr>
            <a:r>
              <a:rPr sz="950" b="1">
                <a:solidFill>
                  <a:srgbClr val="820AD1"/>
                </a:solidFill>
                <a:latin typeface="Arial"/>
              </a:rPr>
              <a:t>T-20 TO T-14</a:t>
            </a:r>
          </a:p>
          <a:p>
            <a:pPr algn="l">
              <a:spcAft>
                <a:spcPts val="600"/>
              </a:spcAft>
            </a:pPr>
            <a:r>
              <a:rPr sz="1500" b="1">
                <a:solidFill>
                  <a:srgbClr val="11052C"/>
                </a:solidFill>
                <a:latin typeface="Arial"/>
              </a:rPr>
              <a:t>Executive lock</a:t>
            </a:r>
          </a:p>
          <a:p>
            <a:pPr algn="l">
              <a:spcAft>
                <a:spcPts val="400"/>
              </a:spcAft>
            </a:pPr>
            <a:r>
              <a:rPr sz="1200" b="0">
                <a:solidFill>
                  <a:srgbClr val="3B2A54"/>
                </a:solidFill>
                <a:latin typeface="Arial"/>
              </a:rPr>
              <a:t>One-to-ones at T-21. The capital options memo settles the ranking and the 70/30 opex split with the CEO and CFO at T-16.</a:t>
            </a:r>
          </a:p>
        </p:txBody>
      </p:sp>
      <p:sp>
        <p:nvSpPr>
          <p:cNvPr id="8" name="Rounded Rectangle 7"/>
          <p:cNvSpPr/>
          <p:nvPr/>
        </p:nvSpPr>
        <p:spPr>
          <a:xfrm>
            <a:off x="6099048" y="1645920"/>
            <a:ext cx="25603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1920239"/>
          </a:xfrm>
          <a:prstGeom prst="rect">
            <a:avLst/>
          </a:prstGeom>
          <a:noFill/>
        </p:spPr>
        <p:txBody>
          <a:bodyPr wrap="square" anchor="t">
            <a:spAutoFit/>
          </a:bodyPr>
          <a:lstStyle/>
          <a:p>
            <a:pPr algn="l">
              <a:spcAft>
                <a:spcPts val="300"/>
              </a:spcAft>
            </a:pPr>
            <a:r>
              <a:rPr sz="950" b="1">
                <a:solidFill>
                  <a:srgbClr val="820AD1"/>
                </a:solidFill>
                <a:latin typeface="Arial"/>
              </a:rPr>
              <a:t>T-13 TO T-7</a:t>
            </a:r>
          </a:p>
          <a:p>
            <a:pPr algn="l">
              <a:spcAft>
                <a:spcPts val="600"/>
              </a:spcAft>
            </a:pPr>
            <a:r>
              <a:rPr sz="1500" b="1">
                <a:solidFill>
                  <a:srgbClr val="11052C"/>
                </a:solidFill>
                <a:latin typeface="Arial"/>
              </a:rPr>
              <a:t>One pen</a:t>
            </a:r>
          </a:p>
          <a:p>
            <a:pPr algn="l">
              <a:spcAft>
                <a:spcPts val="400"/>
              </a:spcAft>
            </a:pPr>
            <a:r>
              <a:rPr sz="1200" b="0">
                <a:solidFill>
                  <a:srgbClr val="3B2A54"/>
                </a:solidFill>
                <a:latin typeface="Arial"/>
              </a:rPr>
              <a:t>Inputs freeze at T-10. Committee chairs are briefed at T-9. The book is on the portal at T-7.</a:t>
            </a:r>
          </a:p>
        </p:txBody>
      </p:sp>
      <p:sp>
        <p:nvSpPr>
          <p:cNvPr id="10" name="Rounded Rectangle 9"/>
          <p:cNvSpPr/>
          <p:nvPr/>
        </p:nvSpPr>
        <p:spPr>
          <a:xfrm>
            <a:off x="8842248" y="1645920"/>
            <a:ext cx="25603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1920239"/>
          </a:xfrm>
          <a:prstGeom prst="rect">
            <a:avLst/>
          </a:prstGeom>
          <a:noFill/>
        </p:spPr>
        <p:txBody>
          <a:bodyPr wrap="square" anchor="t">
            <a:spAutoFit/>
          </a:bodyPr>
          <a:lstStyle/>
          <a:p>
            <a:pPr algn="l">
              <a:spcAft>
                <a:spcPts val="300"/>
              </a:spcAft>
            </a:pPr>
            <a:r>
              <a:rPr sz="950" b="1">
                <a:solidFill>
                  <a:srgbClr val="820AD1"/>
                </a:solidFill>
                <a:latin typeface="Arial"/>
              </a:rPr>
              <a:t>T-6 TO T-0</a:t>
            </a:r>
          </a:p>
          <a:p>
            <a:pPr algn="l">
              <a:spcAft>
                <a:spcPts val="600"/>
              </a:spcAft>
            </a:pPr>
            <a:r>
              <a:rPr sz="1500" b="1">
                <a:solidFill>
                  <a:srgbClr val="11052C"/>
                </a:solidFill>
                <a:latin typeface="Arial"/>
              </a:rPr>
              <a:t>Decisions, not read-outs</a:t>
            </a:r>
          </a:p>
          <a:p>
            <a:pPr algn="l">
              <a:spcAft>
                <a:spcPts val="400"/>
              </a:spcAft>
            </a:pPr>
            <a:r>
              <a:rPr sz="1200" b="0">
                <a:solidFill>
                  <a:srgbClr val="3B2A54"/>
                </a:solidFill>
                <a:latin typeface="Arial"/>
              </a:rPr>
              <a:t>Directors' data questions are answered in writing by T-3, so the meeting is spent on the capital plan.</a:t>
            </a:r>
          </a:p>
        </p:txBody>
      </p:sp>
      <p:sp>
        <p:nvSpPr>
          <p:cNvPr id="12" name="Rounded Rectangle 11"/>
          <p:cNvSpPr/>
          <p:nvPr/>
        </p:nvSpPr>
        <p:spPr>
          <a:xfrm>
            <a:off x="612648" y="3931920"/>
            <a:ext cx="10789920" cy="100584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023359"/>
            <a:ext cx="10424160" cy="859536"/>
          </a:xfrm>
          <a:prstGeom prst="rect">
            <a:avLst/>
          </a:prstGeom>
          <a:noFill/>
        </p:spPr>
        <p:txBody>
          <a:bodyPr wrap="square" anchor="ctr">
            <a:spAutoFit/>
          </a:bodyPr>
          <a:lstStyle/>
          <a:p>
            <a:pPr algn="l"/>
            <a:r>
              <a:rPr sz="1250" b="1">
                <a:solidFill>
                  <a:srgbClr val="11052C"/>
                </a:solidFill>
                <a:latin typeface="Arial"/>
              </a:rPr>
              <a:t>Two items cannot slip: </a:t>
            </a:r>
            <a:r>
              <a:rPr sz="1250" b="0">
                <a:solidFill>
                  <a:srgbClr val="11052C"/>
                </a:solidFill>
                <a:latin typeface="Arial"/>
              </a:rPr>
              <a:t>the capital plan, because this is the last Board before Investor Day on 8 Dec, and the statutory items for new entities. The rule for those: open an entity only when a license or tax substance requires it; officers and signing follow the stage (backup B).</a:t>
            </a:r>
          </a:p>
        </p:txBody>
      </p:sp>
      <p:sp>
        <p:nvSpPr>
          <p:cNvPr id="14" name="Rounded Rectangle 13"/>
          <p:cNvSpPr/>
          <p:nvPr/>
        </p:nvSpPr>
        <p:spPr>
          <a:xfrm>
            <a:off x="612648" y="5074920"/>
            <a:ext cx="10789920" cy="82296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5528" y="5166359"/>
            <a:ext cx="10424160" cy="676656"/>
          </a:xfrm>
          <a:prstGeom prst="rect">
            <a:avLst/>
          </a:prstGeom>
          <a:noFill/>
        </p:spPr>
        <p:txBody>
          <a:bodyPr wrap="square" anchor="ctr">
            <a:spAutoFit/>
          </a:bodyPr>
          <a:lstStyle/>
          <a:p>
            <a:pPr algn="l"/>
            <a:r>
              <a:rPr sz="1200" b="1">
                <a:solidFill>
                  <a:srgbClr val="FFFFFF"/>
                </a:solidFill>
                <a:latin typeface="Arial"/>
              </a:rPr>
              <a:t>Where AI takes the grunt work: </a:t>
            </a:r>
            <a:r>
              <a:rPr sz="1200" b="0">
                <a:solidFill>
                  <a:srgbClr val="FFFFFF"/>
                </a:solidFill>
                <a:latin typeface="Arial"/>
              </a:rPr>
              <a:t>the review agent drafts the book from the locked data tables and drafts answers to directors' questions, every figure linked to its source. A named owner signs each answer. Nu-approved tools only: the book holds non-public results.</a:t>
            </a:r>
          </a:p>
        </p:txBody>
      </p:sp>
      <p:sp>
        <p:nvSpPr>
          <p:cNvPr id="16" name="TextBox 15"/>
          <p:cNvSpPr txBox="1"/>
          <p:nvPr/>
        </p:nvSpPr>
        <p:spPr>
          <a:xfrm>
            <a:off x="612648" y="5989320"/>
            <a:ext cx="10515600" cy="320040"/>
          </a:xfrm>
          <a:prstGeom prst="rect">
            <a:avLst/>
          </a:prstGeom>
          <a:noFill/>
        </p:spPr>
        <p:txBody>
          <a:bodyPr wrap="square" anchor="t">
            <a:spAutoFit/>
          </a:bodyPr>
          <a:lstStyle/>
          <a:p>
            <a:pPr algn="l"/>
            <a:r>
              <a:rPr sz="900" b="0">
                <a:solidFill>
                  <a:srgbClr val="6B5B82"/>
                </a:solidFill>
                <a:latin typeface="Arial"/>
              </a:rPr>
              <a:t>Board assumed on Tue 17 Nov, four weeks from today (A7). Q3'26 results are due 12 Nov.</a:t>
            </a:r>
          </a:p>
        </p:txBody>
      </p:sp>
      <p:sp>
        <p:nvSpPr>
          <p:cNvPr id="17" name="TextBox 16"/>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HQ charter: four gates in 120 days, each with an owner and an exit test</a:t>
            </a:r>
          </a:p>
        </p:txBody>
      </p:sp>
      <p:sp>
        <p:nvSpPr>
          <p:cNvPr id="4" name="Rounded Rectangle 3"/>
          <p:cNvSpPr/>
          <p:nvPr/>
        </p:nvSpPr>
        <p:spPr>
          <a:xfrm>
            <a:off x="612648" y="1645920"/>
            <a:ext cx="2560320" cy="30175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2834639"/>
          </a:xfrm>
          <a:prstGeom prst="rect">
            <a:avLst/>
          </a:prstGeom>
          <a:noFill/>
        </p:spPr>
        <p:txBody>
          <a:bodyPr wrap="square" anchor="t">
            <a:spAutoFit/>
          </a:bodyPr>
          <a:lstStyle/>
          <a:p>
            <a:pPr algn="l">
              <a:spcAft>
                <a:spcPts val="300"/>
              </a:spcAft>
            </a:pPr>
            <a:r>
              <a:rPr sz="950" b="1">
                <a:solidFill>
                  <a:srgbClr val="820AD1"/>
                </a:solidFill>
                <a:latin typeface="Arial"/>
              </a:rPr>
              <a:t>GATE 1  //  D+30  //  TAX</a:t>
            </a:r>
          </a:p>
          <a:p>
            <a:pPr algn="l">
              <a:spcAft>
                <a:spcPts val="600"/>
              </a:spcAft>
            </a:pPr>
            <a:r>
              <a:rPr sz="1450" b="1">
                <a:solidFill>
                  <a:srgbClr val="11052C"/>
                </a:solidFill>
                <a:latin typeface="Arial"/>
              </a:rPr>
              <a:t>Tax substance</a:t>
            </a:r>
          </a:p>
          <a:p>
            <a:pPr algn="l">
              <a:spcAft>
                <a:spcPts val="400"/>
              </a:spcAft>
            </a:pPr>
            <a:r>
              <a:rPr sz="1150" b="0">
                <a:solidFill>
                  <a:srgbClr val="3B2A54"/>
                </a:solidFill>
                <a:latin typeface="Arial"/>
              </a:rPr>
              <a:t>Nu is above the EUR 750M Pillar Two threshold. In 2026 only 9.4% of payroll and 7.4% of tangible assets come out of the 15% top-up base, so incentives need real people and assets. Exit: the modeled tax rate holds.</a:t>
            </a:r>
          </a:p>
        </p:txBody>
      </p:sp>
      <p:sp>
        <p:nvSpPr>
          <p:cNvPr id="6" name="Rounded Rectangle 5"/>
          <p:cNvSpPr/>
          <p:nvPr/>
        </p:nvSpPr>
        <p:spPr>
          <a:xfrm>
            <a:off x="3355848" y="1645920"/>
            <a:ext cx="2560320" cy="30175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2834639"/>
          </a:xfrm>
          <a:prstGeom prst="rect">
            <a:avLst/>
          </a:prstGeom>
          <a:noFill/>
        </p:spPr>
        <p:txBody>
          <a:bodyPr wrap="square" anchor="t">
            <a:spAutoFit/>
          </a:bodyPr>
          <a:lstStyle/>
          <a:p>
            <a:pPr algn="l">
              <a:spcAft>
                <a:spcPts val="300"/>
              </a:spcAft>
            </a:pPr>
            <a:r>
              <a:rPr sz="950" b="1">
                <a:solidFill>
                  <a:srgbClr val="820AD1"/>
                </a:solidFill>
                <a:latin typeface="Arial"/>
              </a:rPr>
              <a:t>GATE 2  //  D+60  //  LEGAL</a:t>
            </a:r>
          </a:p>
          <a:p>
            <a:pPr algn="l">
              <a:spcAft>
                <a:spcPts val="600"/>
              </a:spcAft>
            </a:pPr>
            <a:r>
              <a:rPr sz="1450" b="1">
                <a:solidFill>
                  <a:srgbClr val="11052C"/>
                </a:solidFill>
                <a:latin typeface="Arial"/>
              </a:rPr>
              <a:t>Grant terms</a:t>
            </a:r>
          </a:p>
          <a:p>
            <a:pPr algn="l">
              <a:spcAft>
                <a:spcPts val="400"/>
              </a:spcAft>
            </a:pPr>
            <a:r>
              <a:rPr sz="1150" b="0">
                <a:solidFill>
                  <a:srgbClr val="3B2A54"/>
                </a:solidFill>
                <a:latin typeface="Arial"/>
              </a:rPr>
              <a:t>The grant scales with headcount: 85% of headcount keeps 85% of the grant, with 24 months' grace. Exit: no cliff-edge clawback in the signed term sheet.</a:t>
            </a:r>
          </a:p>
        </p:txBody>
      </p:sp>
      <p:sp>
        <p:nvSpPr>
          <p:cNvPr id="8" name="Rounded Rectangle 7"/>
          <p:cNvSpPr/>
          <p:nvPr/>
        </p:nvSpPr>
        <p:spPr>
          <a:xfrm>
            <a:off x="6099048" y="1645920"/>
            <a:ext cx="2560320" cy="30175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2834639"/>
          </a:xfrm>
          <a:prstGeom prst="rect">
            <a:avLst/>
          </a:prstGeom>
          <a:noFill/>
        </p:spPr>
        <p:txBody>
          <a:bodyPr wrap="square" anchor="t">
            <a:spAutoFit/>
          </a:bodyPr>
          <a:lstStyle/>
          <a:p>
            <a:pPr algn="l">
              <a:spcAft>
                <a:spcPts val="300"/>
              </a:spcAft>
            </a:pPr>
            <a:r>
              <a:rPr sz="950" b="1">
                <a:solidFill>
                  <a:srgbClr val="820AD1"/>
                </a:solidFill>
                <a:latin typeface="Arial"/>
              </a:rPr>
              <a:t>GATE 3  //  D+90  //  LEGAL AND PEOPLE</a:t>
            </a:r>
          </a:p>
          <a:p>
            <a:pPr algn="l">
              <a:spcAft>
                <a:spcPts val="600"/>
              </a:spcAft>
            </a:pPr>
            <a:r>
              <a:rPr sz="1450" b="1">
                <a:solidFill>
                  <a:srgbClr val="11052C"/>
                </a:solidFill>
                <a:latin typeface="Arial"/>
              </a:rPr>
              <a:t>Officers</a:t>
            </a:r>
          </a:p>
          <a:p>
            <a:pPr algn="l">
              <a:spcAft>
                <a:spcPts val="400"/>
              </a:spcAft>
            </a:pPr>
            <a:r>
              <a:rPr sz="1150" b="0">
                <a:solidFill>
                  <a:srgbClr val="3B2A54"/>
                </a:solidFill>
                <a:latin typeface="Arial"/>
              </a:rPr>
              <a:t>Directors who pass the regulator's fit-and-proper test, dual signature above set limits, D&amp;O in place before activation. No commercial signing before then.</a:t>
            </a:r>
          </a:p>
        </p:txBody>
      </p:sp>
      <p:sp>
        <p:nvSpPr>
          <p:cNvPr id="10" name="Rounded Rectangle 9"/>
          <p:cNvSpPr/>
          <p:nvPr/>
        </p:nvSpPr>
        <p:spPr>
          <a:xfrm>
            <a:off x="8842248" y="1645920"/>
            <a:ext cx="2560320" cy="30175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2834639"/>
          </a:xfrm>
          <a:prstGeom prst="rect">
            <a:avLst/>
          </a:prstGeom>
          <a:noFill/>
        </p:spPr>
        <p:txBody>
          <a:bodyPr wrap="square" anchor="t">
            <a:spAutoFit/>
          </a:bodyPr>
          <a:lstStyle/>
          <a:p>
            <a:pPr algn="l">
              <a:spcAft>
                <a:spcPts val="300"/>
              </a:spcAft>
            </a:pPr>
            <a:r>
              <a:rPr sz="950" b="1">
                <a:solidFill>
                  <a:srgbClr val="820AD1"/>
                </a:solidFill>
                <a:latin typeface="Arial"/>
              </a:rPr>
              <a:t>GATE 4  //  D+120  //  WORKPLACE</a:t>
            </a:r>
          </a:p>
          <a:p>
            <a:pPr algn="l">
              <a:spcAft>
                <a:spcPts val="600"/>
              </a:spcAft>
            </a:pPr>
            <a:r>
              <a:rPr sz="1450" b="1">
                <a:solidFill>
                  <a:srgbClr val="11052C"/>
                </a:solidFill>
                <a:latin typeface="Arial"/>
              </a:rPr>
              <a:t>Lease</a:t>
            </a:r>
          </a:p>
          <a:p>
            <a:pPr algn="l">
              <a:spcAft>
                <a:spcPts val="400"/>
              </a:spcAft>
            </a:pPr>
            <a:r>
              <a:rPr sz="1150" b="0">
                <a:solidFill>
                  <a:srgbClr val="3B2A54"/>
                </a:solidFill>
                <a:latin typeface="Arial"/>
              </a:rPr>
              <a:t>Phase the cost: Q2'26 showed how real-estate timing moves the efficiency ratio. Exit: lease terms inside the plan.</a:t>
            </a:r>
          </a:p>
        </p:txBody>
      </p:sp>
      <p:sp>
        <p:nvSpPr>
          <p:cNvPr id="12" name="Rounded Rectangle 11"/>
          <p:cNvSpPr/>
          <p:nvPr/>
        </p:nvSpPr>
        <p:spPr>
          <a:xfrm>
            <a:off x="612648" y="4846320"/>
            <a:ext cx="10789920" cy="105156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937759"/>
            <a:ext cx="10424160" cy="905255"/>
          </a:xfrm>
          <a:prstGeom prst="rect">
            <a:avLst/>
          </a:prstGeom>
          <a:noFill/>
        </p:spPr>
        <p:txBody>
          <a:bodyPr wrap="square" anchor="ctr">
            <a:spAutoFit/>
          </a:bodyPr>
          <a:lstStyle/>
          <a:p>
            <a:pPr algn="l"/>
            <a:r>
              <a:rPr sz="1250" b="1">
                <a:solidFill>
                  <a:srgbClr val="FFFFFF"/>
                </a:solidFill>
                <a:latin typeface="Arial"/>
              </a:rPr>
              <a:t>How I run it without line authority: </a:t>
            </a:r>
            <a:r>
              <a:rPr sz="1250" b="0">
                <a:solidFill>
                  <a:srgbClr val="FFFFFF"/>
                </a:solidFill>
                <a:latin typeface="Arial"/>
              </a:rPr>
              <a:t>one weekly 45-minute pod (Legal, Tax, People, Workplace), one decision log kept current by the PMO agent, escalation to the CFO within 48 hours. Risks I track: tax residence, clawback, officer liability, site politics, and dependence on me, covered by a named deputy in the pod.</a:t>
            </a:r>
          </a:p>
        </p:txBody>
      </p:sp>
      <p:sp>
        <p:nvSpPr>
          <p:cNvPr id="14" name="TextBox 13"/>
          <p:cNvSpPr txBox="1"/>
          <p:nvPr/>
        </p:nvSpPr>
        <p:spPr>
          <a:xfrm>
            <a:off x="612648" y="6035040"/>
            <a:ext cx="10515600" cy="365760"/>
          </a:xfrm>
          <a:prstGeom prst="rect">
            <a:avLst/>
          </a:prstGeom>
          <a:noFill/>
        </p:spPr>
        <p:txBody>
          <a:bodyPr wrap="square" anchor="t">
            <a:spAutoFit/>
          </a:bodyPr>
          <a:lstStyle/>
          <a:p>
            <a:pPr algn="l"/>
            <a:r>
              <a:rPr sz="900" b="0">
                <a:solidFill>
                  <a:srgbClr val="6B5B82"/>
                </a:solidFill>
                <a:latin typeface="Arial"/>
              </a:rPr>
              <a:t>Jurisdiction open (A8). No savings figure until a site is chosen. Sources: OECD GloBE Model Rules, Art. 5.3 and the Art. 9.2 transitional rates; Nu Q2'26 release.</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How I balance strategic influence with hands-on rigor</a:t>
            </a:r>
          </a:p>
        </p:txBody>
      </p:sp>
      <p:sp>
        <p:nvSpPr>
          <p:cNvPr id="4" name="Rounded Rectangle 3"/>
          <p:cNvSpPr/>
          <p:nvPr/>
        </p:nvSpPr>
        <p:spPr>
          <a:xfrm>
            <a:off x="6126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1</a:t>
            </a:r>
          </a:p>
          <a:p>
            <a:pPr algn="l">
              <a:spcAft>
                <a:spcPts val="600"/>
              </a:spcAft>
            </a:pPr>
            <a:r>
              <a:rPr sz="1500" b="1">
                <a:solidFill>
                  <a:srgbClr val="11052C"/>
                </a:solidFill>
                <a:latin typeface="Arial"/>
              </a:rPr>
              <a:t>Publish the rule, then negotiate</a:t>
            </a:r>
          </a:p>
          <a:p>
            <a:pPr algn="l">
              <a:spcAft>
                <a:spcPts val="400"/>
              </a:spcAft>
            </a:pPr>
            <a:r>
              <a:rPr sz="1250" b="0">
                <a:solidFill>
                  <a:srgbClr val="3B2A54"/>
                </a:solidFill>
                <a:latin typeface="Arial"/>
              </a:rPr>
              <a:t>People accept outcomes they argued against when the criteria were public first.</a:t>
            </a:r>
          </a:p>
          <a:p>
            <a:pPr algn="l">
              <a:spcAft>
                <a:spcPts val="400"/>
              </a:spcAft>
            </a:pPr>
            <a:r>
              <a:rPr sz="1250" b="0">
                <a:solidFill>
                  <a:srgbClr val="3B2A54"/>
                </a:solidFill>
                <a:latin typeface="Arial"/>
              </a:rPr>
              <a:t>I publish the scoring on day one and do not change it mid-cycle. Every GM sees the same four indicators.</a:t>
            </a:r>
          </a:p>
        </p:txBody>
      </p:sp>
      <p:sp>
        <p:nvSpPr>
          <p:cNvPr id="6" name="Rounded Rectangle 5"/>
          <p:cNvSpPr/>
          <p:nvPr/>
        </p:nvSpPr>
        <p:spPr>
          <a:xfrm>
            <a:off x="42702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2</a:t>
            </a:r>
          </a:p>
          <a:p>
            <a:pPr algn="l">
              <a:spcAft>
                <a:spcPts val="600"/>
              </a:spcAft>
            </a:pPr>
            <a:r>
              <a:rPr sz="1500" b="1">
                <a:solidFill>
                  <a:srgbClr val="11052C"/>
                </a:solidFill>
                <a:latin typeface="Arial"/>
              </a:rPr>
              <a:t>Fix the numbers in private</a:t>
            </a:r>
          </a:p>
          <a:p>
            <a:pPr algn="l">
              <a:spcAft>
                <a:spcPts val="400"/>
              </a:spcAft>
            </a:pPr>
            <a:r>
              <a:rPr sz="1250" b="0">
                <a:solidFill>
                  <a:srgbClr val="3B2A54"/>
                </a:solidFill>
                <a:latin typeface="Arial"/>
              </a:rPr>
              <a:t>Model gaps are closed one to one before anything reaches the CFO or the Board.</a:t>
            </a:r>
          </a:p>
          <a:p>
            <a:pPr algn="l">
              <a:spcAft>
                <a:spcPts val="400"/>
              </a:spcAft>
            </a:pPr>
            <a:r>
              <a:rPr sz="1250" b="0">
                <a:solidFill>
                  <a:srgbClr val="3B2A54"/>
                </a:solidFill>
                <a:latin typeface="Arial"/>
              </a:rPr>
              <a:t>Senior people trust you when you never surprise them in a room.</a:t>
            </a:r>
          </a:p>
        </p:txBody>
      </p:sp>
      <p:sp>
        <p:nvSpPr>
          <p:cNvPr id="8" name="Rounded Rectangle 7"/>
          <p:cNvSpPr/>
          <p:nvPr/>
        </p:nvSpPr>
        <p:spPr>
          <a:xfrm>
            <a:off x="79278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3</a:t>
            </a:r>
          </a:p>
          <a:p>
            <a:pPr algn="l">
              <a:spcAft>
                <a:spcPts val="600"/>
              </a:spcAft>
            </a:pPr>
            <a:r>
              <a:rPr sz="1500" b="1">
                <a:solidFill>
                  <a:srgbClr val="11052C"/>
                </a:solidFill>
                <a:latin typeface="Arial"/>
              </a:rPr>
              <a:t>Own the model and the clauses</a:t>
            </a:r>
          </a:p>
          <a:p>
            <a:pPr algn="l">
              <a:spcAft>
                <a:spcPts val="400"/>
              </a:spcAft>
            </a:pPr>
            <a:r>
              <a:rPr sz="1250" b="0">
                <a:solidFill>
                  <a:srgbClr val="3B2A54"/>
                </a:solidFill>
                <a:latin typeface="Arial"/>
              </a:rPr>
              <a:t>I build the model and read the clauses myself. AI does the first pass; I still do the last.</a:t>
            </a:r>
          </a:p>
          <a:p>
            <a:pPr algn="l">
              <a:spcAft>
                <a:spcPts val="400"/>
              </a:spcAft>
            </a:pPr>
            <a:r>
              <a:rPr sz="1250" b="0">
                <a:solidFill>
                  <a:srgbClr val="3B2A54"/>
                </a:solidFill>
                <a:latin typeface="Arial"/>
              </a:rPr>
              <a:t>Influence at this level is earned by being right on the detail.</a:t>
            </a:r>
          </a:p>
        </p:txBody>
      </p:sp>
      <p:sp>
        <p:nvSpPr>
          <p:cNvPr id="10" name="Rounded Rectangle 9"/>
          <p:cNvSpPr/>
          <p:nvPr/>
        </p:nvSpPr>
        <p:spPr>
          <a:xfrm>
            <a:off x="612648" y="4389120"/>
            <a:ext cx="10789920" cy="14173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480559"/>
            <a:ext cx="10424160" cy="1271016"/>
          </a:xfrm>
          <a:prstGeom prst="rect">
            <a:avLst/>
          </a:prstGeom>
          <a:noFill/>
        </p:spPr>
        <p:txBody>
          <a:bodyPr wrap="square" anchor="ctr">
            <a:spAutoFit/>
          </a:bodyPr>
          <a:lstStyle/>
          <a:p>
            <a:pPr algn="l"/>
            <a:r>
              <a:rPr sz="1300" b="1">
                <a:solidFill>
                  <a:srgbClr val="FFFFFF"/>
                </a:solidFill>
                <a:latin typeface="Arial"/>
              </a:rPr>
              <a:t>Where I push back on the CFO: </a:t>
            </a:r>
            <a:r>
              <a:rPr sz="1300" b="0">
                <a:solidFill>
                  <a:srgbClr val="FFFFFF"/>
                </a:solidFill>
                <a:latin typeface="Arial"/>
              </a:rPr>
              <a:t>when a decision skips the published rule. </a:t>
            </a:r>
          </a:p>
          <a:p>
            <a:pPr algn="l"/>
            <a:r>
              <a:rPr sz="1300" b="1">
                <a:solidFill>
                  <a:srgbClr val="FFFFFF"/>
                </a:solidFill>
                <a:latin typeface="Arial"/>
              </a:rPr>
              <a:t>What I leave alone for 90 days: </a:t>
            </a:r>
            <a:r>
              <a:rPr sz="1300" b="0">
                <a:solidFill>
                  <a:srgbClr val="FFFFFF"/>
                </a:solidFill>
                <a:latin typeface="Arial"/>
              </a:rPr>
              <a:t>local-CFO decision rights in Mexico and Colombia, credit-model governance, and the IR calendar.</a:t>
            </a:r>
          </a:p>
        </p:txBody>
      </p:sp>
      <p:sp>
        <p:nvSpPr>
          <p:cNvPr id="12" name="TextBox 11"/>
          <p:cNvSpPr txBox="1"/>
          <p:nvPr/>
        </p:nvSpPr>
        <p:spPr>
          <a:xfrm>
            <a:off x="612648" y="5989320"/>
            <a:ext cx="10515600" cy="320040"/>
          </a:xfrm>
          <a:prstGeom prst="rect">
            <a:avLst/>
          </a:prstGeom>
          <a:noFill/>
        </p:spPr>
        <p:txBody>
          <a:bodyPr wrap="square" anchor="t">
            <a:spAutoFit/>
          </a:bodyPr>
          <a:lstStyle/>
          <a:p>
            <a:pPr algn="l"/>
            <a:r>
              <a:rPr sz="900" b="0">
                <a:solidFill>
                  <a:srgbClr val="6B5B82"/>
                </a:solidFill>
                <a:latin typeface="Arial"/>
              </a:rPr>
              <a:t>Fair process: Kim and Mauborgne (HBR). Examples from my own record follow in the talk.</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RISKS AND STOP RULES</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downside is handled by rules: miss Q1 and the second release waits</a:t>
            </a:r>
          </a:p>
        </p:txBody>
      </p:sp>
      <p:graphicFrame>
        <p:nvGraphicFramePr>
          <p:cNvPr id="4" name="Table 3"/>
          <p:cNvGraphicFramePr>
            <a:graphicFrameLocks noGrp="1"/>
          </p:cNvGraphicFramePr>
          <p:nvPr/>
        </p:nvGraphicFramePr>
        <p:xfrm>
          <a:off x="612648" y="1600200"/>
          <a:ext cx="10789920" cy="3090672"/>
        </p:xfrm>
        <a:graphic>
          <a:graphicData uri="http://schemas.openxmlformats.org/drawingml/2006/table">
            <a:tbl>
              <a:tblPr>
                <a:tableStyleId>{5C22544A-7EE6-4342-B048-85BDC9FD1C3A}</a:tableStyleId>
              </a:tblPr>
              <a:tblGrid>
                <a:gridCol w="2194560"/>
                <a:gridCol w="2834640"/>
                <a:gridCol w="2926080"/>
                <a:gridCol w="2834640"/>
              </a:tblGrid>
              <a:tr h="50292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Market slows</a:t>
                      </a:r>
                    </a:p>
                  </a:txBody>
                  <a:tcPr marL="64008" marR="64008" marT="36576" marB="36576" anchor="ctr">
                    <a:solidFill>
                      <a:srgbClr val="820AD1"/>
                    </a:solidFill>
                  </a:tcPr>
                </a:tc>
                <a:tc>
                  <a:txBody>
                    <a:bodyPr wrap="square"/>
                    <a:lstStyle/>
                    <a:p>
                      <a:r>
                        <a:rPr sz="1150" b="1">
                          <a:solidFill>
                            <a:srgbClr val="FFFFFF"/>
                          </a:solidFill>
                          <a:latin typeface="Arial"/>
                        </a:rPr>
                        <a:t>Base plan</a:t>
                      </a:r>
                    </a:p>
                  </a:txBody>
                  <a:tcPr marL="64008" marR="64008" marT="36576" marB="36576" anchor="ctr">
                    <a:solidFill>
                      <a:srgbClr val="820AD1"/>
                    </a:solidFill>
                  </a:tcPr>
                </a:tc>
                <a:tc>
                  <a:txBody>
                    <a:bodyPr wrap="square"/>
                    <a:lstStyle/>
                    <a:p>
                      <a:r>
                        <a:rPr sz="1150" b="1">
                          <a:solidFill>
                            <a:srgbClr val="FFFFFF"/>
                          </a:solidFill>
                          <a:latin typeface="Arial"/>
                        </a:rPr>
                        <a:t>H1 beats plan</a:t>
                      </a:r>
                    </a:p>
                  </a:txBody>
                  <a:tcPr marL="64008" marR="64008" marT="36576" marB="36576" anchor="ctr">
                    <a:solidFill>
                      <a:srgbClr val="820AD1"/>
                    </a:solidFill>
                  </a:tcPr>
                </a:tc>
              </a:tr>
              <a:tr h="502920">
                <a:tc>
                  <a:txBody>
                    <a:bodyPr wrap="square"/>
                    <a:lstStyle/>
                    <a:p>
                      <a:r>
                        <a:rPr sz="1100" b="1">
                          <a:solidFill>
                            <a:srgbClr val="11052C"/>
                          </a:solidFill>
                          <a:latin typeface="Arial"/>
                        </a:rPr>
                        <a:t>Funded spend vs the $25M cap</a:t>
                      </a:r>
                    </a:p>
                  </a:txBody>
                  <a:tcPr marL="64008" marR="64008" marT="36576" marB="36576" anchor="ctr">
                    <a:solidFill>
                      <a:srgbClr val="FFFFFF"/>
                    </a:solidFill>
                  </a:tcPr>
                </a:tc>
                <a:tc>
                  <a:txBody>
                    <a:bodyPr wrap="square"/>
                    <a:lstStyle/>
                    <a:p>
                      <a:r>
                        <a:rPr sz="1100" b="0">
                          <a:solidFill>
                            <a:srgbClr val="3B2A54"/>
                          </a:solidFill>
                          <a:latin typeface="Arial"/>
                        </a:rPr>
                        <a:t>$15.0M (second release held at Q1 close)</a:t>
                      </a:r>
                    </a:p>
                  </a:txBody>
                  <a:tcPr marL="64008" marR="64008" marT="36576" marB="36576" anchor="ctr">
                    <a:solidFill>
                      <a:srgbClr val="FFFFFF"/>
                    </a:solidFill>
                  </a:tcPr>
                </a:tc>
                <a:tc>
                  <a:txBody>
                    <a:bodyPr wrap="square"/>
                    <a:lstStyle/>
                    <a:p>
                      <a:r>
                        <a:rPr sz="1100" b="0">
                          <a:solidFill>
                            <a:srgbClr val="3B2A54"/>
                          </a:solidFill>
                          <a:latin typeface="Arial"/>
                        </a:rPr>
                        <a:t>$25.0M ($15M + $10M)</a:t>
                      </a:r>
                    </a:p>
                  </a:txBody>
                  <a:tcPr marL="64008" marR="64008" marT="36576" marB="36576" anchor="ctr">
                    <a:solidFill>
                      <a:srgbClr val="FFFFFF"/>
                    </a:solidFill>
                  </a:tcPr>
                </a:tc>
                <a:tc>
                  <a:txBody>
                    <a:bodyPr wrap="square"/>
                    <a:lstStyle/>
                    <a:p>
                      <a:r>
                        <a:rPr sz="1100" b="0">
                          <a:solidFill>
                            <a:srgbClr val="3B2A54"/>
                          </a:solidFill>
                          <a:latin typeface="Arial"/>
                        </a:rPr>
                        <a:t>$25.0M</a:t>
                      </a:r>
                    </a:p>
                  </a:txBody>
                  <a:tcPr marL="64008" marR="64008" marT="36576" marB="36576" anchor="ctr">
                    <a:solidFill>
                      <a:srgbClr val="FFFFFF"/>
                    </a:solidFill>
                  </a:tcPr>
                </a:tc>
              </a:tr>
              <a:tr h="502920">
                <a:tc>
                  <a:txBody>
                    <a:bodyPr wrap="square"/>
                    <a:lstStyle/>
                    <a:p>
                      <a:r>
                        <a:rPr sz="1100" b="1">
                          <a:solidFill>
                            <a:srgbClr val="11052C"/>
                          </a:solidFill>
                          <a:latin typeface="Arial"/>
                        </a:rPr>
                        <a:t>H2 reserve</a:t>
                      </a:r>
                    </a:p>
                  </a:txBody>
                  <a:tcPr marL="64008" marR="64008" marT="36576" marB="36576" anchor="ctr">
                    <a:solidFill>
                      <a:srgbClr val="F7F2FD"/>
                    </a:solidFill>
                  </a:tcPr>
                </a:tc>
                <a:tc>
                  <a:txBody>
                    <a:bodyPr wrap="square"/>
                    <a:lstStyle/>
                    <a:p>
                      <a:r>
                        <a:rPr sz="1100" b="0">
                          <a:solidFill>
                            <a:srgbClr val="3B2A54"/>
                          </a:solidFill>
                          <a:latin typeface="Arial"/>
                        </a:rPr>
                        <a:t>$0</a:t>
                      </a:r>
                    </a:p>
                  </a:txBody>
                  <a:tcPr marL="64008" marR="64008" marT="36576" marB="36576" anchor="ctr">
                    <a:solidFill>
                      <a:srgbClr val="F7F2FD"/>
                    </a:solidFill>
                  </a:tcPr>
                </a:tc>
                <a:tc>
                  <a:txBody>
                    <a:bodyPr wrap="square"/>
                    <a:lstStyle/>
                    <a:p>
                      <a:r>
                        <a:rPr sz="1100" b="0">
                          <a:solidFill>
                            <a:srgbClr val="3B2A54"/>
                          </a:solidFill>
                          <a:latin typeface="Arial"/>
                        </a:rPr>
                        <a:t>$0 (not assumed)</a:t>
                      </a:r>
                    </a:p>
                  </a:txBody>
                  <a:tcPr marL="64008" marR="64008" marT="36576" marB="36576" anchor="ctr">
                    <a:solidFill>
                      <a:srgbClr val="F7F2FD"/>
                    </a:solidFill>
                  </a:tcPr>
                </a:tc>
                <a:tc>
                  <a:txBody>
                    <a:bodyPr wrap="square"/>
                    <a:lstStyle/>
                    <a:p>
                      <a:r>
                        <a:rPr sz="1100" b="0">
                          <a:solidFill>
                            <a:srgbClr val="3B2A54"/>
                          </a:solidFill>
                          <a:latin typeface="Arial"/>
                        </a:rPr>
                        <a:t>Up to $15.0M from H1 profit above plan, inside the ~20% FY26 guide</a:t>
                      </a:r>
                    </a:p>
                  </a:txBody>
                  <a:tcPr marL="64008" marR="64008" marT="36576" marB="36576" anchor="ctr">
                    <a:solidFill>
                      <a:srgbClr val="F7F2FD"/>
                    </a:solidFill>
                  </a:tcPr>
                </a:tc>
              </a:tr>
              <a:tr h="576072">
                <a:tc>
                  <a:txBody>
                    <a:bodyPr wrap="square"/>
                    <a:lstStyle/>
                    <a:p>
                      <a:r>
                        <a:rPr sz="1100" b="1">
                          <a:solidFill>
                            <a:srgbClr val="11052C"/>
                          </a:solidFill>
                          <a:latin typeface="Arial"/>
                        </a:rPr>
                        <a:t>Stop rules</a:t>
                      </a:r>
                    </a:p>
                  </a:txBody>
                  <a:tcPr marL="64008" marR="64008" marT="36576" marB="36576" anchor="ctr">
                    <a:solidFill>
                      <a:srgbClr val="FFFFFF"/>
                    </a:solidFill>
                  </a:tcPr>
                </a:tc>
                <a:tc>
                  <a:txBody>
                    <a:bodyPr wrap="square"/>
                    <a:lstStyle/>
                    <a:p>
                      <a:r>
                        <a:rPr sz="1100" b="0">
                          <a:solidFill>
                            <a:srgbClr val="3B2A54"/>
                          </a:solidFill>
                          <a:latin typeface="Arial"/>
                        </a:rPr>
                        <a:t>A unit below plan on two of four indicators: its second-release share is held</a:t>
                      </a:r>
                    </a:p>
                  </a:txBody>
                  <a:tcPr marL="64008" marR="64008" marT="36576" marB="36576" anchor="ctr">
                    <a:solidFill>
                      <a:srgbClr val="FFFFFF"/>
                    </a:solidFill>
                  </a:tcPr>
                </a:tc>
                <a:tc>
                  <a:txBody>
                    <a:bodyPr wrap="square"/>
                    <a:lstStyle/>
                    <a:p>
                      <a:r>
                        <a:rPr sz="1100" b="0">
                          <a:solidFill>
                            <a:srgbClr val="3B2A54"/>
                          </a:solidFill>
                          <a:latin typeface="Arial"/>
                        </a:rPr>
                        <a:t>Efficiency ratio above the FY26 guide at Q1 close: the second release is held for every unit</a:t>
                      </a:r>
                    </a:p>
                  </a:txBody>
                  <a:tcPr marL="64008" marR="64008" marT="36576" marB="36576" anchor="ctr">
                    <a:solidFill>
                      <a:srgbClr val="FFFFFF"/>
                    </a:solidFill>
                  </a:tcPr>
                </a:tc>
                <a:tc>
                  <a:txBody>
                    <a:bodyPr wrap="square"/>
                    <a:lstStyle/>
                    <a:p>
                      <a:r>
                        <a:rPr sz="1100" b="0">
                          <a:solidFill>
                            <a:srgbClr val="3B2A54"/>
                          </a:solidFill>
                          <a:latin typeface="Arial"/>
                        </a:rPr>
                        <a:t>Credit cost or NPL 90+ above plan: the reserve stays shut; Risk can block it</a:t>
                      </a:r>
                    </a:p>
                  </a:txBody>
                  <a:tcPr marL="64008" marR="64008" marT="36576" marB="36576" anchor="ctr">
                    <a:solidFill>
                      <a:srgbClr val="FFFFFF"/>
                    </a:solidFill>
                  </a:tcPr>
                </a:tc>
              </a:tr>
              <a:tr h="502920">
                <a:tc>
                  <a:txBody>
                    <a:bodyPr wrap="square"/>
                    <a:lstStyle/>
                    <a:p>
                      <a:r>
                        <a:rPr sz="1100" b="1">
                          <a:solidFill>
                            <a:srgbClr val="11052C"/>
                          </a:solidFill>
                          <a:latin typeface="Arial"/>
                        </a:rPr>
                        <a:t>Top risks and owners</a:t>
                      </a:r>
                    </a:p>
                  </a:txBody>
                  <a:tcPr marL="64008" marR="64008" marT="36576" marB="36576" anchor="ctr">
                    <a:solidFill>
                      <a:srgbClr val="F7F2FD"/>
                    </a:solidFill>
                  </a:tcPr>
                </a:tc>
                <a:tc>
                  <a:txBody>
                    <a:bodyPr wrap="square"/>
                    <a:lstStyle/>
                    <a:p>
                      <a:r>
                        <a:rPr sz="1100" b="0">
                          <a:solidFill>
                            <a:srgbClr val="3B2A54"/>
                          </a:solidFill>
                          <a:latin typeface="Arial"/>
                        </a:rPr>
                        <a:t>GMs game the indicators: finance partners own the read-out</a:t>
                      </a:r>
                    </a:p>
                  </a:txBody>
                  <a:tcPr marL="64008" marR="64008" marT="36576" marB="36576" anchor="ctr">
                    <a:solidFill>
                      <a:srgbClr val="F7F2FD"/>
                    </a:solidFill>
                  </a:tcPr>
                </a:tc>
                <a:tc>
                  <a:txBody>
                    <a:bodyPr wrap="square"/>
                    <a:lstStyle/>
                    <a:p>
                      <a:r>
                        <a:rPr sz="1100" b="0">
                          <a:solidFill>
                            <a:srgbClr val="3B2A54"/>
                          </a:solidFill>
                          <a:latin typeface="Arial"/>
                        </a:rPr>
                        <a:t>Board book slips: the outline locked today decides what goes to the appendix</a:t>
                      </a:r>
                    </a:p>
                  </a:txBody>
                  <a:tcPr marL="64008" marR="64008" marT="36576" marB="36576" anchor="ctr">
                    <a:solidFill>
                      <a:srgbClr val="F7F2FD"/>
                    </a:solidFill>
                  </a:tcPr>
                </a:tc>
                <a:tc>
                  <a:txBody>
                    <a:bodyPr wrap="square"/>
                    <a:lstStyle/>
                    <a:p>
                      <a:r>
                        <a:rPr sz="1100" b="0">
                          <a:solidFill>
                            <a:srgbClr val="3B2A54"/>
                          </a:solidFill>
                          <a:latin typeface="Arial"/>
                        </a:rPr>
                        <a:t>HQ: tax residence, clawback, officer liability, site politics, key-person risk</a:t>
                      </a:r>
                    </a:p>
                  </a:txBody>
                  <a:tcPr marL="64008" marR="64008" marT="36576" marB="36576" anchor="ctr">
                    <a:solidFill>
                      <a:srgbClr val="F7F2FD"/>
                    </a:solidFill>
                  </a:tcPr>
                </a:tc>
              </a:tr>
              <a:tr h="502920">
                <a:tc>
                  <a:txBody>
                    <a:bodyPr wrap="square"/>
                    <a:lstStyle/>
                    <a:p>
                      <a:r>
                        <a:rPr sz="1100" b="1">
                          <a:solidFill>
                            <a:srgbClr val="11052C"/>
                          </a:solidFill>
                          <a:latin typeface="Arial"/>
                        </a:rPr>
                        <a:t>What I report in 90 days</a:t>
                      </a:r>
                    </a:p>
                  </a:txBody>
                  <a:tcPr marL="64008" marR="64008" marT="36576" marB="36576" anchor="ctr">
                    <a:solidFill>
                      <a:srgbClr val="FFFFFF"/>
                    </a:solidFill>
                  </a:tcPr>
                </a:tc>
                <a:tc>
                  <a:txBody>
                    <a:bodyPr wrap="square"/>
                    <a:lstStyle/>
                    <a:p>
                      <a:r>
                        <a:rPr sz="1100" b="0">
                          <a:solidFill>
                            <a:srgbClr val="3B2A54"/>
                          </a:solidFill>
                          <a:latin typeface="Arial"/>
                        </a:rPr>
                        <a:t>First monthly indicator read-outs per unit</a:t>
                      </a:r>
                    </a:p>
                  </a:txBody>
                  <a:tcPr marL="64008" marR="64008" marT="36576" marB="36576" anchor="ctr">
                    <a:solidFill>
                      <a:srgbClr val="FFFFFF"/>
                    </a:solidFill>
                  </a:tcPr>
                </a:tc>
                <a:tc>
                  <a:txBody>
                    <a:bodyPr wrap="square"/>
                    <a:lstStyle/>
                    <a:p>
                      <a:r>
                        <a:rPr sz="1100" b="0">
                          <a:solidFill>
                            <a:srgbClr val="3B2A54"/>
                          </a:solidFill>
                          <a:latin typeface="Arial"/>
                        </a:rPr>
                        <a:t>Board delivered; capital plan approved; cycle-time and forecast baselines</a:t>
                      </a:r>
                    </a:p>
                  </a:txBody>
                  <a:tcPr marL="64008" marR="64008" marT="36576" marB="36576" anchor="ctr">
                    <a:solidFill>
                      <a:srgbClr val="FFFFFF"/>
                    </a:solidFill>
                  </a:tcPr>
                </a:tc>
                <a:tc>
                  <a:txBody>
                    <a:bodyPr wrap="square"/>
                    <a:lstStyle/>
                    <a:p>
                      <a:r>
                        <a:rPr sz="1100" b="0">
                          <a:solidFill>
                            <a:srgbClr val="3B2A54"/>
                          </a:solidFill>
                          <a:latin typeface="Arial"/>
                        </a:rPr>
                        <a:t>HQ gates 1 and 2 cleared; gate 3 pack ready</a:t>
                      </a:r>
                    </a:p>
                  </a:txBody>
                  <a:tcPr marL="64008" marR="64008" marT="36576" marB="36576" anchor="ctr">
                    <a:solidFill>
                      <a:srgbClr val="FFFFFF"/>
                    </a:solidFill>
                  </a:tcPr>
                </a:tc>
              </a:tr>
            </a:tbl>
          </a:graphicData>
        </a:graphic>
      </p:graphicFrame>
      <p:sp>
        <p:nvSpPr>
          <p:cNvPr id="5" name="TextBox 4"/>
          <p:cNvSpPr txBox="1"/>
          <p:nvPr/>
        </p:nvSpPr>
        <p:spPr>
          <a:xfrm>
            <a:off x="612648" y="5897880"/>
            <a:ext cx="10515600" cy="411480"/>
          </a:xfrm>
          <a:prstGeom prst="rect">
            <a:avLst/>
          </a:prstGeom>
          <a:noFill/>
        </p:spPr>
        <p:txBody>
          <a:bodyPr wrap="square" anchor="t">
            <a:spAutoFit/>
          </a:bodyPr>
          <a:lstStyle/>
          <a:p>
            <a:pPr algn="l"/>
            <a:r>
              <a:rPr sz="900" b="0">
                <a:solidFill>
                  <a:srgbClr val="6B5B82"/>
                </a:solidFill>
                <a:latin typeface="Arial"/>
              </a:rPr>
              <a:t>Margins are protected without a mid-year freeze. No value figures are claimed beyond the spend lines; before HQ gate 1 they would be guesses.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NEXT 90 DAYS AND THE ASK</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Next 90 days: Board by 17 Nov, hub by late November, first release on 1 January</a:t>
            </a:r>
          </a:p>
        </p:txBody>
      </p:sp>
      <p:sp>
        <p:nvSpPr>
          <p:cNvPr id="4" name="Rounded Rectangle 3"/>
          <p:cNvSpPr/>
          <p:nvPr/>
        </p:nvSpPr>
        <p:spPr>
          <a:xfrm>
            <a:off x="612648" y="1600200"/>
            <a:ext cx="34747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2148839"/>
          </a:xfrm>
          <a:prstGeom prst="rect">
            <a:avLst/>
          </a:prstGeom>
          <a:noFill/>
        </p:spPr>
        <p:txBody>
          <a:bodyPr wrap="square" anchor="t">
            <a:spAutoFit/>
          </a:bodyPr>
          <a:lstStyle/>
          <a:p>
            <a:pPr algn="l">
              <a:spcAft>
                <a:spcPts val="300"/>
              </a:spcAft>
            </a:pPr>
            <a:r>
              <a:rPr sz="950" b="1">
                <a:solidFill>
                  <a:srgbClr val="820AD1"/>
                </a:solidFill>
                <a:latin typeface="Arial"/>
              </a:rPr>
              <a:t>NOW TO THE BOARD</a:t>
            </a:r>
          </a:p>
          <a:p>
            <a:pPr algn="l">
              <a:spcAft>
                <a:spcPts val="600"/>
              </a:spcAft>
            </a:pPr>
            <a:r>
              <a:rPr sz="1500" b="1">
                <a:solidFill>
                  <a:srgbClr val="11052C"/>
                </a:solidFill>
                <a:latin typeface="Arial"/>
              </a:rPr>
              <a:t>20 Oct to 17 Nov</a:t>
            </a:r>
          </a:p>
          <a:p>
            <a:pPr algn="l">
              <a:spcAft>
                <a:spcPts val="400"/>
              </a:spcAft>
            </a:pPr>
            <a:r>
              <a:rPr sz="1200" b="0">
                <a:solidFill>
                  <a:srgbClr val="3B2A54"/>
                </a:solidFill>
                <a:latin typeface="Arial"/>
              </a:rPr>
              <a:t>Today: Board outline out, HQ charter signed, tax gate launched.</a:t>
            </a:r>
          </a:p>
          <a:p>
            <a:pPr algn="l">
              <a:spcAft>
                <a:spcPts val="400"/>
              </a:spcAft>
            </a:pPr>
            <a:r>
              <a:rPr sz="1200" b="0">
                <a:solidFill>
                  <a:srgbClr val="3B2A54"/>
                </a:solidFill>
                <a:latin typeface="Arial"/>
              </a:rPr>
              <a:t>Early Nov (T-16): capital options lock with the CEO, CFO and MTeam.</a:t>
            </a:r>
          </a:p>
          <a:p>
            <a:pPr algn="l">
              <a:spcAft>
                <a:spcPts val="400"/>
              </a:spcAft>
            </a:pPr>
            <a:r>
              <a:rPr sz="1200" b="0">
                <a:solidFill>
                  <a:srgbClr val="3B2A54"/>
                </a:solidFill>
                <a:latin typeface="Arial"/>
              </a:rPr>
              <a:t>17 Nov: Board approves the FY27 plan; first-release allocation published.</a:t>
            </a:r>
          </a:p>
        </p:txBody>
      </p:sp>
      <p:sp>
        <p:nvSpPr>
          <p:cNvPr id="6" name="Rounded Rectangle 5"/>
          <p:cNvSpPr/>
          <p:nvPr/>
        </p:nvSpPr>
        <p:spPr>
          <a:xfrm>
            <a:off x="4270248" y="1600200"/>
            <a:ext cx="34747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2148839"/>
          </a:xfrm>
          <a:prstGeom prst="rect">
            <a:avLst/>
          </a:prstGeom>
          <a:noFill/>
        </p:spPr>
        <p:txBody>
          <a:bodyPr wrap="square" anchor="t">
            <a:spAutoFit/>
          </a:bodyPr>
          <a:lstStyle/>
          <a:p>
            <a:pPr algn="l">
              <a:spcAft>
                <a:spcPts val="300"/>
              </a:spcAft>
            </a:pPr>
            <a:r>
              <a:rPr sz="950" b="1">
                <a:solidFill>
                  <a:srgbClr val="820AD1"/>
                </a:solidFill>
                <a:latin typeface="Arial"/>
              </a:rPr>
              <a:t>BOARD TO YEAR-END</a:t>
            </a:r>
          </a:p>
          <a:p>
            <a:pPr algn="l">
              <a:spcAft>
                <a:spcPts val="600"/>
              </a:spcAft>
            </a:pPr>
            <a:r>
              <a:rPr sz="1500" b="1">
                <a:solidFill>
                  <a:srgbClr val="11052C"/>
                </a:solidFill>
                <a:latin typeface="Arial"/>
              </a:rPr>
              <a:t>Build the hub</a:t>
            </a:r>
          </a:p>
          <a:p>
            <a:pPr algn="l">
              <a:spcAft>
                <a:spcPts val="400"/>
              </a:spcAft>
            </a:pPr>
            <a:r>
              <a:rPr sz="1200" b="0">
                <a:solidFill>
                  <a:srgbClr val="3B2A54"/>
                </a:solidFill>
                <a:latin typeface="Arial"/>
              </a:rPr>
              <a:t>Late Nov: hub in place, partners embedded; PMO agent live, status templates retired.</a:t>
            </a:r>
          </a:p>
          <a:p>
            <a:pPr algn="l">
              <a:spcAft>
                <a:spcPts val="400"/>
              </a:spcAft>
            </a:pPr>
            <a:r>
              <a:rPr sz="1200" b="0">
                <a:solidFill>
                  <a:srgbClr val="3B2A54"/>
                </a:solidFill>
                <a:latin typeface="Arial"/>
              </a:rPr>
              <a:t>Early Dec: squad clinics running; $12M case track under way.</a:t>
            </a:r>
          </a:p>
          <a:p>
            <a:pPr algn="l">
              <a:spcAft>
                <a:spcPts val="400"/>
              </a:spcAft>
            </a:pPr>
            <a:r>
              <a:rPr sz="1200" b="0">
                <a:solidFill>
                  <a:srgbClr val="3B2A54"/>
                </a:solidFill>
                <a:latin typeface="Arial"/>
              </a:rPr>
              <a:t>Mid-Dec (D+60): HQ grant terms agreed.</a:t>
            </a:r>
          </a:p>
        </p:txBody>
      </p:sp>
      <p:sp>
        <p:nvSpPr>
          <p:cNvPr id="8" name="Rounded Rectangle 7"/>
          <p:cNvSpPr/>
          <p:nvPr/>
        </p:nvSpPr>
        <p:spPr>
          <a:xfrm>
            <a:off x="7927848" y="1600200"/>
            <a:ext cx="34747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2148839"/>
          </a:xfrm>
          <a:prstGeom prst="rect">
            <a:avLst/>
          </a:prstGeom>
          <a:noFill/>
        </p:spPr>
        <p:txBody>
          <a:bodyPr wrap="square" anchor="t">
            <a:spAutoFit/>
          </a:bodyPr>
          <a:lstStyle/>
          <a:p>
            <a:pPr algn="l">
              <a:spcAft>
                <a:spcPts val="300"/>
              </a:spcAft>
            </a:pPr>
            <a:r>
              <a:rPr sz="950" b="1">
                <a:solidFill>
                  <a:srgbClr val="820AD1"/>
                </a:solidFill>
                <a:latin typeface="Arial"/>
              </a:rPr>
              <a:t>JANUARY TO MARCH</a:t>
            </a:r>
          </a:p>
          <a:p>
            <a:pPr algn="l">
              <a:spcAft>
                <a:spcPts val="600"/>
              </a:spcAft>
            </a:pPr>
            <a:r>
              <a:rPr sz="1500" b="1">
                <a:solidFill>
                  <a:srgbClr val="11052C"/>
                </a:solidFill>
                <a:latin typeface="Arial"/>
              </a:rPr>
              <a:t>Open FY27</a:t>
            </a:r>
          </a:p>
          <a:p>
            <a:pPr algn="l">
              <a:spcAft>
                <a:spcPts val="400"/>
              </a:spcAft>
            </a:pPr>
            <a:r>
              <a:rPr sz="1200" b="0">
                <a:solidFill>
                  <a:srgbClr val="3B2A54"/>
                </a:solidFill>
                <a:latin typeface="Arial"/>
              </a:rPr>
              <a:t>1 Jan: FY27 starts; $15M first release.</a:t>
            </a:r>
          </a:p>
          <a:p>
            <a:pPr algn="l">
              <a:spcAft>
                <a:spcPts val="400"/>
              </a:spcAft>
            </a:pPr>
            <a:r>
              <a:rPr sz="1200" b="0">
                <a:solidFill>
                  <a:srgbClr val="3B2A54"/>
                </a:solidFill>
                <a:latin typeface="Arial"/>
              </a:rPr>
              <a:t>Mid-Jan (D+90): HQ officers in place; my 90-day report to the CFO.</a:t>
            </a:r>
          </a:p>
          <a:p>
            <a:pPr algn="l">
              <a:spcAft>
                <a:spcPts val="400"/>
              </a:spcAft>
            </a:pPr>
            <a:r>
              <a:rPr sz="1200" b="0">
                <a:solidFill>
                  <a:srgbClr val="3B2A54"/>
                </a:solidFill>
                <a:latin typeface="Arial"/>
              </a:rPr>
              <a:t>Mid-Feb: lease (D+120). 31 Mar: second release decided.</a:t>
            </a:r>
          </a:p>
        </p:txBody>
      </p:sp>
      <p:sp>
        <p:nvSpPr>
          <p:cNvPr id="10" name="Rounded Rectangle 9"/>
          <p:cNvSpPr/>
          <p:nvPr/>
        </p:nvSpPr>
        <p:spPr>
          <a:xfrm>
            <a:off x="612648" y="4114800"/>
            <a:ext cx="10789920" cy="182880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206240"/>
            <a:ext cx="10424160" cy="1682496"/>
          </a:xfrm>
          <a:prstGeom prst="rect">
            <a:avLst/>
          </a:prstGeom>
          <a:noFill/>
        </p:spPr>
        <p:txBody>
          <a:bodyPr wrap="square" anchor="ctr">
            <a:spAutoFit/>
          </a:bodyPr>
          <a:lstStyle/>
          <a:p>
            <a:pPr algn="l"/>
            <a:r>
              <a:rPr sz="1400" b="1">
                <a:solidFill>
                  <a:srgbClr val="C084FC"/>
                </a:solidFill>
                <a:latin typeface="Arial"/>
              </a:rPr>
              <a:t>THE ASK  </a:t>
            </a:r>
          </a:p>
          <a:p>
            <a:pPr algn="l"/>
            <a:r>
              <a:rPr sz="1400" b="1">
                <a:solidFill>
                  <a:srgbClr val="FFFFFF"/>
                </a:solidFill>
                <a:latin typeface="Arial"/>
              </a:rPr>
              <a:t>Approve the $25M FY27 cap in two releases, the Board calendar and the HQ charter.</a:t>
            </a:r>
          </a:p>
          <a:p>
            <a:pPr algn="l"/>
            <a:r>
              <a:rPr sz="1400" b="0">
                <a:solidFill>
                  <a:srgbClr val="FFFFFF"/>
                </a:solidFill>
                <a:latin typeface="Arial"/>
              </a:rPr>
              <a:t>In 90 days (mid-January): every first-release dollar has an approved case; the Board book went out 7 days early; HQ gates 1 and 2 are cleared. I stop if two of four indicators fall below plan, or the efficiency ratio runs above the FY26 guide.</a:t>
            </a:r>
          </a:p>
        </p:txBody>
      </p:sp>
      <p:sp>
        <p:nvSpPr>
          <p:cNvPr id="12" name="TextBox 1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2377440"/>
            <a:ext cx="10972800" cy="914400"/>
          </a:xfrm>
          <a:prstGeom prst="rect">
            <a:avLst/>
          </a:prstGeom>
          <a:noFill/>
        </p:spPr>
        <p:txBody>
          <a:bodyPr wrap="square" anchor="t">
            <a:spAutoFit/>
          </a:bodyPr>
          <a:lstStyle/>
          <a:p>
            <a:pPr algn="ctr"/>
            <a:r>
              <a:rPr sz="4000" b="1">
                <a:solidFill>
                  <a:srgbClr val="11052C"/>
                </a:solidFill>
                <a:latin typeface="Arial"/>
              </a:rPr>
              <a:t>Backup</a:t>
            </a:r>
          </a:p>
        </p:txBody>
      </p:sp>
      <p:sp>
        <p:nvSpPr>
          <p:cNvPr id="3" name="TextBox 2"/>
          <p:cNvSpPr txBox="1"/>
          <p:nvPr/>
        </p:nvSpPr>
        <p:spPr>
          <a:xfrm>
            <a:off x="1097280" y="3383280"/>
            <a:ext cx="9966960" cy="1463040"/>
          </a:xfrm>
          <a:prstGeom prst="rect">
            <a:avLst/>
          </a:prstGeom>
          <a:noFill/>
        </p:spPr>
        <p:txBody>
          <a:bodyPr wrap="square" anchor="t">
            <a:spAutoFit/>
          </a:bodyPr>
          <a:lstStyle/>
          <a:p>
            <a:pPr algn="ctr"/>
            <a:r>
              <a:rPr sz="1400" b="0">
                <a:solidFill>
                  <a:srgbClr val="3B2A54"/>
                </a:solidFill>
                <a:latin typeface="Arial"/>
              </a:rPr>
              <a:t>A  Full assumptions (A1-A11)   |   B  Statutory entity model   |   C  Option sensitivity</a:t>
            </a:r>
          </a:p>
          <a:p>
            <a:pPr algn="ctr"/>
            <a:r>
              <a:rPr sz="1400" b="0">
                <a:solidFill>
                  <a:srgbClr val="3B2A54"/>
                </a:solidFill>
                <a:latin typeface="Arial"/>
              </a:rPr>
              <a:t>D  Sources   |   E  Full-year split by horizon   |   F  Day-by-day timeline   |   G  Stakeholder map</a:t>
            </a:r>
          </a:p>
          <a:p>
            <a:pPr algn="ctr"/>
            <a:r>
              <a:rPr sz="1400" b="0">
                <a:solidFill>
                  <a:srgbClr val="3B2A54"/>
                </a:solidFill>
                <a:latin typeface="Arial"/>
              </a:rPr>
              <a:t>H  Two AI agents in the operating model</a:t>
            </a:r>
          </a:p>
        </p:txBody>
      </p:sp>
      <p:sp>
        <p:nvSpPr>
          <p:cNvPr id="4" name="TextBox 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A</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All assumptions, with the facts they rest on</a:t>
            </a:r>
          </a:p>
        </p:txBody>
      </p:sp>
      <p:graphicFrame>
        <p:nvGraphicFramePr>
          <p:cNvPr id="4" name="Table 3"/>
          <p:cNvGraphicFramePr>
            <a:graphicFrameLocks noGrp="1"/>
          </p:cNvGraphicFramePr>
          <p:nvPr/>
        </p:nvGraphicFramePr>
        <p:xfrm>
          <a:off x="612648" y="1325880"/>
          <a:ext cx="10972800" cy="4334255"/>
        </p:xfrm>
        <a:graphic>
          <a:graphicData uri="http://schemas.openxmlformats.org/drawingml/2006/table">
            <a:tbl>
              <a:tblPr>
                <a:tableStyleId>{5C22544A-7EE6-4342-B048-85BDC9FD1C3A}</a:tableStyleId>
              </a:tblPr>
              <a:tblGrid>
                <a:gridCol w="502920"/>
                <a:gridCol w="6720840"/>
                <a:gridCol w="1828800"/>
                <a:gridCol w="1920240"/>
              </a:tblGrid>
              <a:tr h="310896">
                <a:tc>
                  <a:txBody>
                    <a:bodyPr wrap="square"/>
                    <a:lstStyle/>
                    <a:p>
                      <a:r>
                        <a:rPr sz="1050" b="1">
                          <a:solidFill>
                            <a:srgbClr val="FFFFFF"/>
                          </a:solidFill>
                          <a:latin typeface="Arial"/>
                        </a:rPr>
                        <a:t>#</a:t>
                      </a:r>
                    </a:p>
                  </a:txBody>
                  <a:tcPr marL="64008" marR="64008" marT="36576" marB="36576" anchor="ctr">
                    <a:solidFill>
                      <a:srgbClr val="820AD1"/>
                    </a:solidFill>
                  </a:tcPr>
                </a:tc>
                <a:tc>
                  <a:txBody>
                    <a:bodyPr wrap="square"/>
                    <a:lstStyle/>
                    <a:p>
                      <a:r>
                        <a:rPr sz="1050" b="1">
                          <a:solidFill>
                            <a:srgbClr val="FFFFFF"/>
                          </a:solidFill>
                          <a:latin typeface="Arial"/>
                        </a:rPr>
                        <a:t>Statement</a:t>
                      </a:r>
                    </a:p>
                  </a:txBody>
                  <a:tcPr marL="64008" marR="64008" marT="36576" marB="36576" anchor="ctr">
                    <a:solidFill>
                      <a:srgbClr val="820AD1"/>
                    </a:solidFill>
                  </a:tcPr>
                </a:tc>
                <a:tc>
                  <a:txBody>
                    <a:bodyPr wrap="square"/>
                    <a:lstStyle/>
                    <a:p>
                      <a:r>
                        <a:rPr sz="1050" b="1">
                          <a:solidFill>
                            <a:srgbClr val="FFFFFF"/>
                          </a:solidFill>
                          <a:latin typeface="Arial"/>
                        </a:rPr>
                        <a:t>Class</a:t>
                      </a:r>
                    </a:p>
                  </a:txBody>
                  <a:tcPr marL="64008" marR="64008" marT="36576" marB="36576" anchor="ctr">
                    <a:solidFill>
                      <a:srgbClr val="820AD1"/>
                    </a:solidFill>
                  </a:tcPr>
                </a:tc>
                <a:tc>
                  <a:txBody>
                    <a:bodyPr wrap="square"/>
                    <a:lstStyle/>
                    <a:p>
                      <a:r>
                        <a:rPr sz="1050" b="1">
                          <a:solidFill>
                            <a:srgbClr val="FFFFFF"/>
                          </a:solidFill>
                          <a:latin typeface="Arial"/>
                        </a:rPr>
                        <a:t>Basis</a:t>
                      </a:r>
                    </a:p>
                  </a:txBody>
                  <a:tcPr marL="64008" marR="64008" marT="36576" marB="36576" anchor="ctr">
                    <a:solidFill>
                      <a:srgbClr val="820AD1"/>
                    </a:solidFill>
                  </a:tcPr>
                </a:tc>
              </a:tr>
              <a:tr h="377952">
                <a:tc>
                  <a:txBody>
                    <a:bodyPr wrap="square"/>
                    <a:lstStyle/>
                    <a:p>
                      <a:r>
                        <a:rPr sz="1000" b="1">
                          <a:solidFill>
                            <a:srgbClr val="11052C"/>
                          </a:solidFill>
                          <a:latin typeface="Arial"/>
                        </a:rPr>
                        <a:t>A1</a:t>
                      </a:r>
                    </a:p>
                  </a:txBody>
                  <a:tcPr marL="64008" marR="64008" marT="36576" marB="36576" anchor="ctr">
                    <a:solidFill>
                      <a:srgbClr val="FFFFFF"/>
                    </a:solidFill>
                  </a:tcPr>
                </a:tc>
                <a:tc>
                  <a:txBody>
                    <a:bodyPr wrap="square"/>
                    <a:lstStyle/>
                    <a:p>
                      <a:r>
                        <a:rPr sz="100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1000" b="0">
                          <a:solidFill>
                            <a:srgbClr val="3B2A54"/>
                          </a:solidFill>
                          <a:latin typeface="Arial"/>
                        </a:rPr>
                        <a:t>FACT</a:t>
                      </a:r>
                    </a:p>
                  </a:txBody>
                  <a:tcPr marL="64008" marR="64008" marT="36576" marB="36576" anchor="ctr">
                    <a:solidFill>
                      <a:srgbClr val="FFFFFF"/>
                    </a:solidFill>
                  </a:tcPr>
                </a:tc>
                <a:tc>
                  <a:txBody>
                    <a:bodyPr wrap="square"/>
                    <a:lstStyle/>
                    <a:p>
                      <a:r>
                        <a:rPr sz="1000" b="0">
                          <a:solidFill>
                            <a:srgbClr val="3B2A54"/>
                          </a:solidFill>
                          <a:latin typeface="Arial"/>
                        </a:rPr>
                        <a:t>Q2'26 release and 6-K</a:t>
                      </a:r>
                    </a:p>
                  </a:txBody>
                  <a:tcPr marL="64008" marR="64008" marT="36576" marB="36576" anchor="ctr">
                    <a:solidFill>
                      <a:srgbClr val="FFFFFF"/>
                    </a:solidFill>
                  </a:tcPr>
                </a:tc>
              </a:tr>
              <a:tr h="377952">
                <a:tc>
                  <a:txBody>
                    <a:bodyPr wrap="square"/>
                    <a:lstStyle/>
                    <a:p>
                      <a:r>
                        <a:rPr sz="1000" b="1">
                          <a:solidFill>
                            <a:srgbClr val="11052C"/>
                          </a:solidFill>
                          <a:latin typeface="Arial"/>
                        </a:rPr>
                        <a:t>A2</a:t>
                      </a:r>
                    </a:p>
                  </a:txBody>
                  <a:tcPr marL="64008" marR="64008" marT="36576" marB="36576" anchor="ctr">
                    <a:solidFill>
                      <a:srgbClr val="F7F2FD"/>
                    </a:solidFill>
                  </a:tcPr>
                </a:tc>
                <a:tc>
                  <a:txBody>
                    <a:bodyPr wrap="square"/>
                    <a:lstStyle/>
                    <a:p>
                      <a:r>
                        <a:rPr sz="1000" b="0">
                          <a:solidFill>
                            <a:srgbClr val="3B2A54"/>
                          </a:solidFill>
                          <a:latin typeface="Arial"/>
                        </a:rPr>
                        <a:t>FY26 efficiency ratio near 20%; the US entry kept within about 100 bps of efficiency-ratio impact.</a:t>
                      </a:r>
                    </a:p>
                  </a:txBody>
                  <a:tcPr marL="64008" marR="64008" marT="36576" marB="36576" anchor="ctr">
                    <a:solidFill>
                      <a:srgbClr val="F7F2FD"/>
                    </a:solidFill>
                  </a:tcPr>
                </a:tc>
                <a:tc>
                  <a:txBody>
                    <a:bodyPr wrap="square"/>
                    <a:lstStyle/>
                    <a:p>
                      <a:r>
                        <a:rPr sz="1000" b="0">
                          <a:solidFill>
                            <a:srgbClr val="3B2A54"/>
                          </a:solidFill>
                          <a:latin typeface="Arial"/>
                        </a:rPr>
                        <a:t>FACT (management guidance)</a:t>
                      </a:r>
                    </a:p>
                  </a:txBody>
                  <a:tcPr marL="64008" marR="64008" marT="36576" marB="36576" anchor="ctr">
                    <a:solidFill>
                      <a:srgbClr val="F7F2FD"/>
                    </a:solidFill>
                  </a:tcPr>
                </a:tc>
                <a:tc>
                  <a:txBody>
                    <a:bodyPr wrap="square"/>
                    <a:lstStyle/>
                    <a:p>
                      <a:r>
                        <a:rPr sz="1000" b="0">
                          <a:solidFill>
                            <a:srgbClr val="3B2A54"/>
                          </a:solidFill>
                          <a:latin typeface="Arial"/>
                        </a:rPr>
                        <a:t>Q2'26 call, 13 Aug 2026</a:t>
                      </a:r>
                    </a:p>
                  </a:txBody>
                  <a:tcPr marL="64008" marR="64008" marT="36576" marB="36576" anchor="ctr">
                    <a:solidFill>
                      <a:srgbClr val="F7F2FD"/>
                    </a:solidFill>
                  </a:tcPr>
                </a:tc>
              </a:tr>
              <a:tr h="377952">
                <a:tc>
                  <a:txBody>
                    <a:bodyPr wrap="square"/>
                    <a:lstStyle/>
                    <a:p>
                      <a:r>
                        <a:rPr sz="1000" b="1">
                          <a:solidFill>
                            <a:srgbClr val="11052C"/>
                          </a:solidFill>
                          <a:latin typeface="Arial"/>
                        </a:rPr>
                        <a:t>A3</a:t>
                      </a:r>
                    </a:p>
                  </a:txBody>
                  <a:tcPr marL="64008" marR="64008" marT="36576" marB="36576" anchor="ctr">
                    <a:solidFill>
                      <a:srgbClr val="FFFFFF"/>
                    </a:solidFill>
                  </a:tcPr>
                </a:tc>
                <a:tc>
                  <a:txBody>
                    <a:bodyPr wrap="square"/>
                    <a:lstStyle/>
                    <a:p>
                      <a:r>
                        <a:rPr sz="1000" b="0">
                          <a:solidFill>
                            <a:srgbClr val="3B2A54"/>
                          </a:solidFill>
                          <a:latin typeface="Arial"/>
                        </a:rPr>
                        <a:t>The $60M asks and $25M cap are the case's figures. $35M is about 15 bps of annualized revenue, about 1.1% of opex and about 0.2 points of efficiency ratio ($25M: about 0.15).</a:t>
                      </a:r>
                    </a:p>
                  </a:txBody>
                  <a:tcPr marL="64008" marR="64008" marT="36576" marB="36576" anchor="ctr">
                    <a:solidFill>
                      <a:srgbClr val="FFFFFF"/>
                    </a:solidFill>
                  </a:tcPr>
                </a:tc>
                <a:tc>
                  <a:txBody>
                    <a:bodyPr wrap="square"/>
                    <a:lstStyle/>
                    <a:p>
                      <a:r>
                        <a:rPr sz="1000" b="0">
                          <a:solidFill>
                            <a:srgbClr val="3B2A54"/>
                          </a:solidFill>
                          <a:latin typeface="Arial"/>
                        </a:rPr>
                        <a:t>ASSUMPTION + CALCULATION</a:t>
                      </a:r>
                    </a:p>
                  </a:txBody>
                  <a:tcPr marL="64008" marR="64008" marT="36576" marB="36576" anchor="ctr">
                    <a:solidFill>
                      <a:srgbClr val="FFFFFF"/>
                    </a:solidFill>
                  </a:tcPr>
                </a:tc>
                <a:tc>
                  <a:txBody>
                    <a:bodyPr wrap="square"/>
                    <a:lstStyle/>
                    <a:p>
                      <a:r>
                        <a:rPr sz="1000" b="0">
                          <a:solidFill>
                            <a:srgbClr val="3B2A54"/>
                          </a:solidFill>
                          <a:latin typeface="Arial"/>
                        </a:rPr>
                        <a:t>Case brief; Q2'26 figures</a:t>
                      </a:r>
                    </a:p>
                  </a:txBody>
                  <a:tcPr marL="64008" marR="64008" marT="36576" marB="36576" anchor="ctr">
                    <a:solidFill>
                      <a:srgbClr val="FFFFFF"/>
                    </a:solidFill>
                  </a:tcPr>
                </a:tc>
              </a:tr>
              <a:tr h="310896">
                <a:tc>
                  <a:txBody>
                    <a:bodyPr wrap="square"/>
                    <a:lstStyle/>
                    <a:p>
                      <a:r>
                        <a:rPr sz="1000" b="1">
                          <a:solidFill>
                            <a:srgbClr val="11052C"/>
                          </a:solidFill>
                          <a:latin typeface="Arial"/>
                        </a:rPr>
                        <a:t>A4</a:t>
                      </a:r>
                    </a:p>
                  </a:txBody>
                  <a:tcPr marL="64008" marR="64008" marT="36576" marB="36576" anchor="ctr">
                    <a:solidFill>
                      <a:srgbClr val="F7F2FD"/>
                    </a:solidFill>
                  </a:tcPr>
                </a:tc>
                <a:tc>
                  <a:txBody>
                    <a:bodyPr wrap="square"/>
                    <a:lstStyle/>
                    <a:p>
                      <a:r>
                        <a:rPr sz="1000" b="0">
                          <a:solidFill>
                            <a:srgbClr val="3B2A54"/>
                          </a:solidFill>
                          <a:latin typeface="Arial"/>
                        </a:rPr>
                        <a:t>The MTeam dispute is about the growth-opex envelope (core vs new bets), not regulatory capital by entity.</a:t>
                      </a:r>
                    </a:p>
                  </a:txBody>
                  <a:tcPr marL="64008" marR="64008" marT="36576" marB="36576" anchor="ctr">
                    <a:solidFill>
                      <a:srgbClr val="F7F2FD"/>
                    </a:solidFill>
                  </a:tcPr>
                </a:tc>
                <a:tc>
                  <a:txBody>
                    <a:bodyPr wrap="square"/>
                    <a:lstStyle/>
                    <a:p>
                      <a:r>
                        <a:rPr sz="1000" b="0">
                          <a:solidFill>
                            <a:srgbClr val="3B2A54"/>
                          </a:solidFill>
                          <a:latin typeface="Arial"/>
                        </a:rPr>
                        <a:t>ASSUMPTION</a:t>
                      </a:r>
                    </a:p>
                  </a:txBody>
                  <a:tcPr marL="64008" marR="64008" marT="36576" marB="36576" anchor="ctr">
                    <a:solidFill>
                      <a:srgbClr val="F7F2FD"/>
                    </a:solidFill>
                  </a:tcPr>
                </a:tc>
                <a:tc>
                  <a:txBody>
                    <a:bodyPr wrap="square"/>
                    <a:lstStyle/>
                    <a:p>
                      <a:r>
                        <a:rPr sz="1000" b="0">
                          <a:solidFill>
                            <a:srgbClr val="3B2A54"/>
                          </a:solidFill>
                          <a:latin typeface="Arial"/>
                        </a:rPr>
                        <a:t>Case brief is silent</a:t>
                      </a:r>
                    </a:p>
                  </a:txBody>
                  <a:tcPr marL="64008" marR="64008" marT="36576" marB="36576" anchor="ctr">
                    <a:solidFill>
                      <a:srgbClr val="F7F2FD"/>
                    </a:solidFill>
                  </a:tcPr>
                </a:tc>
              </a:tr>
              <a:tr h="377952">
                <a:tc>
                  <a:txBody>
                    <a:bodyPr wrap="square"/>
                    <a:lstStyle/>
                    <a:p>
                      <a:r>
                        <a:rPr sz="1000" b="1">
                          <a:solidFill>
                            <a:srgbClr val="11052C"/>
                          </a:solidFill>
                          <a:latin typeface="Arial"/>
                        </a:rPr>
                        <a:t>A5</a:t>
                      </a:r>
                    </a:p>
                  </a:txBody>
                  <a:tcPr marL="64008" marR="64008" marT="36576" marB="36576" anchor="ctr">
                    <a:solidFill>
                      <a:srgbClr val="FFFFFF"/>
                    </a:solidFill>
                  </a:tcPr>
                </a:tc>
                <a:tc>
                  <a:txBody>
                    <a:bodyPr wrap="square"/>
                    <a:lstStyle/>
                    <a:p>
                      <a:r>
                        <a:rPr sz="1000" b="0">
                          <a:solidFill>
                            <a:srgbClr val="3B2A54"/>
                          </a:solidFill>
                          <a:latin typeface="Arial"/>
                        </a:rPr>
                        <a:t>$8M met on the shared platform at near-zero marginal cost; unconfirmed scope moves to the case track; $12M needs a case, ready in 60 days.</a:t>
                      </a:r>
                    </a:p>
                  </a:txBody>
                  <a:tcPr marL="64008" marR="64008" marT="36576" marB="36576" anchor="ctr">
                    <a:solidFill>
                      <a:srgbClr val="FFFFFF"/>
                    </a:solidFill>
                  </a:tcPr>
                </a:tc>
                <a:tc>
                  <a:txBody>
                    <a:bodyPr wrap="square"/>
                    <a:lstStyle/>
                    <a:p>
                      <a:r>
                        <a:rPr sz="1000" b="0">
                          <a:solidFill>
                            <a:srgbClr val="3B2A54"/>
                          </a:solidFill>
                          <a:latin typeface="Arial"/>
                        </a:rPr>
                        <a:t>ASSUMPTION</a:t>
                      </a:r>
                    </a:p>
                  </a:txBody>
                  <a:tcPr marL="64008" marR="64008" marT="36576" marB="36576" anchor="ctr">
                    <a:solidFill>
                      <a:srgbClr val="FFFFFF"/>
                    </a:solidFill>
                  </a:tcPr>
                </a:tc>
                <a:tc>
                  <a:txBody>
                    <a:bodyPr wrap="square"/>
                    <a:lstStyle/>
                    <a:p>
                      <a:r>
                        <a:rPr sz="1000" b="0">
                          <a:solidFill>
                            <a:srgbClr val="3B2A54"/>
                          </a:solidFill>
                          <a:latin typeface="Arial"/>
                        </a:rPr>
                        <a:t>My estimate; Engineering confirms</a:t>
                      </a:r>
                    </a:p>
                  </a:txBody>
                  <a:tcPr marL="64008" marR="64008" marT="36576" marB="36576" anchor="ctr">
                    <a:solidFill>
                      <a:srgbClr val="FFFFFF"/>
                    </a:solidFill>
                  </a:tcPr>
                </a:tc>
              </a:tr>
              <a:tr h="377952">
                <a:tc>
                  <a:txBody>
                    <a:bodyPr wrap="square"/>
                    <a:lstStyle/>
                    <a:p>
                      <a:r>
                        <a:rPr sz="1000" b="1">
                          <a:solidFill>
                            <a:srgbClr val="11052C"/>
                          </a:solidFill>
                          <a:latin typeface="Arial"/>
                        </a:rPr>
                        <a:t>A6</a:t>
                      </a:r>
                    </a:p>
                  </a:txBody>
                  <a:tcPr marL="64008" marR="64008" marT="36576" marB="36576" anchor="ctr">
                    <a:solidFill>
                      <a:srgbClr val="F7F2FD"/>
                    </a:solidFill>
                  </a:tcPr>
                </a:tc>
                <a:tc>
                  <a:txBody>
                    <a:bodyPr wrap="square"/>
                    <a:lstStyle/>
                    <a:p>
                      <a:r>
                        <a:rPr sz="1000" b="0">
                          <a:solidFill>
                            <a:srgbClr val="3B2A54"/>
                          </a:solidFill>
                          <a:latin typeface="Arial"/>
                        </a:rPr>
                        <a:t>Spend above $25M only from H1 profit above plan, inside the ~20% guide, NPL 90+ on plan; CFO decides, Risk can block, IR sets disclosure.</a:t>
                      </a:r>
                    </a:p>
                  </a:txBody>
                  <a:tcPr marL="64008" marR="64008" marT="36576" marB="36576" anchor="ctr">
                    <a:solidFill>
                      <a:srgbClr val="F7F2FD"/>
                    </a:solidFill>
                  </a:tcPr>
                </a:tc>
                <a:tc>
                  <a:txBody>
                    <a:bodyPr wrap="square"/>
                    <a:lstStyle/>
                    <a:p>
                      <a:r>
                        <a:rPr sz="1000" b="0">
                          <a:solidFill>
                            <a:srgbClr val="3B2A54"/>
                          </a:solidFill>
                          <a:latin typeface="Arial"/>
                        </a:rPr>
                        <a:t>RULE (proposed)</a:t>
                      </a:r>
                    </a:p>
                  </a:txBody>
                  <a:tcPr marL="64008" marR="64008" marT="36576" marB="36576" anchor="ctr">
                    <a:solidFill>
                      <a:srgbClr val="F7F2FD"/>
                    </a:solidFill>
                  </a:tcPr>
                </a:tc>
                <a:tc>
                  <a:txBody>
                    <a:bodyPr wrap="square"/>
                    <a:lstStyle/>
                    <a:p>
                      <a:r>
                        <a:rPr sz="1000" b="0">
                          <a:solidFill>
                            <a:srgbClr val="3B2A54"/>
                          </a:solidFill>
                          <a:latin typeface="Arial"/>
                        </a:rPr>
                        <a:t>To agree with the CFO</a:t>
                      </a:r>
                    </a:p>
                  </a:txBody>
                  <a:tcPr marL="64008" marR="64008" marT="36576" marB="36576" anchor="ctr">
                    <a:solidFill>
                      <a:srgbClr val="F7F2FD"/>
                    </a:solidFill>
                  </a:tcPr>
                </a:tc>
              </a:tr>
              <a:tr h="377952">
                <a:tc>
                  <a:txBody>
                    <a:bodyPr wrap="square"/>
                    <a:lstStyle/>
                    <a:p>
                      <a:r>
                        <a:rPr sz="1000" b="1">
                          <a:solidFill>
                            <a:srgbClr val="11052C"/>
                          </a:solidFill>
                          <a:latin typeface="Arial"/>
                        </a:rPr>
                        <a:t>A7</a:t>
                      </a:r>
                    </a:p>
                  </a:txBody>
                  <a:tcPr marL="64008" marR="64008" marT="36576" marB="36576" anchor="ctr">
                    <a:solidFill>
                      <a:srgbClr val="FFFFFF"/>
                    </a:solidFill>
                  </a:tcPr>
                </a:tc>
                <a:tc>
                  <a:txBody>
                    <a:bodyPr wrap="square"/>
                    <a:lstStyle/>
                    <a:p>
                      <a:r>
                        <a:rPr sz="1000" b="0">
                          <a:solidFill>
                            <a:srgbClr val="3B2A54"/>
                          </a:solidFill>
                          <a:latin typeface="Arial"/>
                        </a:rPr>
                        <a:t>Board in 4 weeks (assumed Tue 17 Nov); Investor Day 8 Dec 2026; the Board approves the capital plan before the Investor Day story is set.</a:t>
                      </a:r>
                    </a:p>
                  </a:txBody>
                  <a:tcPr marL="64008" marR="64008" marT="36576" marB="36576" anchor="ctr">
                    <a:solidFill>
                      <a:srgbClr val="FFFFFF"/>
                    </a:solidFill>
                  </a:tcPr>
                </a:tc>
                <a:tc>
                  <a:txBody>
                    <a:bodyPr wrap="square"/>
                    <a:lstStyle/>
                    <a:p>
                      <a:r>
                        <a:rPr sz="1000" b="0">
                          <a:solidFill>
                            <a:srgbClr val="3B2A54"/>
                          </a:solidFill>
                          <a:latin typeface="Arial"/>
                        </a:rPr>
                        <a:t>FACT (dates) + ASSUMPTION</a:t>
                      </a:r>
                    </a:p>
                  </a:txBody>
                  <a:tcPr marL="64008" marR="64008" marT="36576" marB="36576" anchor="ctr">
                    <a:solidFill>
                      <a:srgbClr val="FFFFFF"/>
                    </a:solidFill>
                  </a:tcPr>
                </a:tc>
                <a:tc>
                  <a:txBody>
                    <a:bodyPr wrap="square"/>
                    <a:lstStyle/>
                    <a:p>
                      <a:r>
                        <a:rPr sz="1000" b="0">
                          <a:solidFill>
                            <a:srgbClr val="3B2A54"/>
                          </a:solidFill>
                          <a:latin typeface="Arial"/>
                        </a:rPr>
                        <a:t>Case brief; Nu IR</a:t>
                      </a:r>
                    </a:p>
                  </a:txBody>
                  <a:tcPr marL="64008" marR="64008" marT="36576" marB="36576" anchor="ctr">
                    <a:solidFill>
                      <a:srgbClr val="FFFFFF"/>
                    </a:solidFill>
                  </a:tcPr>
                </a:tc>
              </a:tr>
              <a:tr h="377952">
                <a:tc>
                  <a:txBody>
                    <a:bodyPr wrap="square"/>
                    <a:lstStyle/>
                    <a:p>
                      <a:r>
                        <a:rPr sz="1000" b="1">
                          <a:solidFill>
                            <a:srgbClr val="11052C"/>
                          </a:solidFill>
                          <a:latin typeface="Arial"/>
                        </a:rPr>
                        <a:t>A8</a:t>
                      </a:r>
                    </a:p>
                  </a:txBody>
                  <a:tcPr marL="64008" marR="64008" marT="36576" marB="36576" anchor="ctr">
                    <a:solidFill>
                      <a:srgbClr val="F7F2FD"/>
                    </a:solidFill>
                  </a:tcPr>
                </a:tc>
                <a:tc>
                  <a:txBody>
                    <a:bodyPr wrap="square"/>
                    <a:lstStyle/>
                    <a:p>
                      <a:r>
                        <a:rPr sz="1000" b="0">
                          <a:solidFill>
                            <a:srgbClr val="3B2A54"/>
                          </a:solidFill>
                          <a:latin typeface="Arial"/>
                        </a:rPr>
                        <a:t>HQ jurisdiction open. Nu is above the EUR 750M Pillar Two threshold; 2026 carve-out 9.4% of payroll, 7.4% of tangible assets.</a:t>
                      </a:r>
                    </a:p>
                  </a:txBody>
                  <a:tcPr marL="64008" marR="64008" marT="36576" marB="36576" anchor="ctr">
                    <a:solidFill>
                      <a:srgbClr val="F7F2FD"/>
                    </a:solidFill>
                  </a:tcPr>
                </a:tc>
                <a:tc>
                  <a:txBody>
                    <a:bodyPr wrap="square"/>
                    <a:lstStyle/>
                    <a:p>
                      <a:r>
                        <a:rPr sz="1000" b="0">
                          <a:solidFill>
                            <a:srgbClr val="3B2A54"/>
                          </a:solidFill>
                          <a:latin typeface="Arial"/>
                        </a:rPr>
                        <a:t>FACT (rule) + ASSUMPTION (site)</a:t>
                      </a:r>
                    </a:p>
                  </a:txBody>
                  <a:tcPr marL="64008" marR="64008" marT="36576" marB="36576" anchor="ctr">
                    <a:solidFill>
                      <a:srgbClr val="F7F2FD"/>
                    </a:solidFill>
                  </a:tcPr>
                </a:tc>
                <a:tc>
                  <a:txBody>
                    <a:bodyPr wrap="square"/>
                    <a:lstStyle/>
                    <a:p>
                      <a:r>
                        <a:rPr sz="1000" b="0">
                          <a:solidFill>
                            <a:srgbClr val="3B2A54"/>
                          </a:solidFill>
                          <a:latin typeface="Arial"/>
                        </a:rPr>
                        <a:t>OECD GloBE rules</a:t>
                      </a:r>
                    </a:p>
                  </a:txBody>
                  <a:tcPr marL="64008" marR="64008" marT="36576" marB="36576" anchor="ctr">
                    <a:solidFill>
                      <a:srgbClr val="F7F2FD"/>
                    </a:solidFill>
                  </a:tcPr>
                </a:tc>
              </a:tr>
              <a:tr h="310896">
                <a:tc>
                  <a:txBody>
                    <a:bodyPr wrap="square"/>
                    <a:lstStyle/>
                    <a:p>
                      <a:r>
                        <a:rPr sz="1000" b="1">
                          <a:solidFill>
                            <a:srgbClr val="11052C"/>
                          </a:solidFill>
                          <a:latin typeface="Arial"/>
                        </a:rPr>
                        <a:t>A9</a:t>
                      </a:r>
                    </a:p>
                  </a:txBody>
                  <a:tcPr marL="64008" marR="64008" marT="36576" marB="36576" anchor="ctr">
                    <a:solidFill>
                      <a:srgbClr val="FFFFFF"/>
                    </a:solidFill>
                  </a:tcPr>
                </a:tc>
                <a:tc>
                  <a:txBody>
                    <a:bodyPr wrap="square"/>
                    <a:lstStyle/>
                    <a:p>
                      <a:r>
                        <a:rPr sz="1000" b="0">
                          <a:solidFill>
                            <a:srgbClr val="3B2A54"/>
                          </a:solidFill>
                          <a:latin typeface="Arial"/>
                        </a:rPr>
                        <a:t>Option scores and weights are my judgment; third-party benchmarks are context only.</a:t>
                      </a:r>
                    </a:p>
                  </a:txBody>
                  <a:tcPr marL="64008" marR="64008" marT="36576" marB="36576" anchor="ctr">
                    <a:solidFill>
                      <a:srgbClr val="FFFFFF"/>
                    </a:solidFill>
                  </a:tcPr>
                </a:tc>
                <a:tc>
                  <a:txBody>
                    <a:bodyPr wrap="square"/>
                    <a:lstStyle/>
                    <a:p>
                      <a:r>
                        <a:rPr sz="1000" b="0">
                          <a:solidFill>
                            <a:srgbClr val="3B2A54"/>
                          </a:solidFill>
                          <a:latin typeface="Arial"/>
                        </a:rPr>
                        <a:t>ASSUMPTION</a:t>
                      </a:r>
                    </a:p>
                  </a:txBody>
                  <a:tcPr marL="64008" marR="64008" marT="36576" marB="36576" anchor="ctr">
                    <a:solidFill>
                      <a:srgbClr val="FFFFFF"/>
                    </a:solidFill>
                  </a:tcPr>
                </a:tc>
                <a:tc>
                  <a:txBody>
                    <a:bodyPr wrap="square"/>
                    <a:lstStyle/>
                    <a:p>
                      <a:r>
                        <a:rPr sz="1000" b="0">
                          <a:solidFill>
                            <a:srgbClr val="3B2A54"/>
                          </a:solidFill>
                          <a:latin typeface="Arial"/>
                        </a:rPr>
                        <a:t>Slide 5; backup D</a:t>
                      </a:r>
                    </a:p>
                  </a:txBody>
                  <a:tcPr marL="64008" marR="64008" marT="36576" marB="36576" anchor="ctr">
                    <a:solidFill>
                      <a:srgbClr val="FFFFFF"/>
                    </a:solidFill>
                  </a:tcPr>
                </a:tc>
              </a:tr>
              <a:tr h="377952">
                <a:tc>
                  <a:txBody>
                    <a:bodyPr wrap="square"/>
                    <a:lstStyle/>
                    <a:p>
                      <a:r>
                        <a:rPr sz="1000" b="1">
                          <a:solidFill>
                            <a:srgbClr val="11052C"/>
                          </a:solidFill>
                          <a:latin typeface="Arial"/>
                        </a:rPr>
                        <a:t>A10</a:t>
                      </a:r>
                    </a:p>
                  </a:txBody>
                  <a:tcPr marL="64008" marR="64008" marT="36576" marB="36576" anchor="ctr">
                    <a:solidFill>
                      <a:srgbClr val="F7F2FD"/>
                    </a:solidFill>
                  </a:tcPr>
                </a:tc>
                <a:tc>
                  <a:txBody>
                    <a:bodyPr wrap="square"/>
                    <a:lstStyle/>
                    <a:p>
                      <a:r>
                        <a:rPr sz="1000" b="0">
                          <a:solidFill>
                            <a:srgbClr val="3B2A54"/>
                          </a:solidFill>
                          <a:latin typeface="Arial"/>
                        </a:rPr>
                        <a:t>FY27 envelope: first release 1 Jan 2027, second at Q1 close (31 Mar), reserve at H1 close. Hub of 4-6 people.</a:t>
                      </a:r>
                    </a:p>
                  </a:txBody>
                  <a:tcPr marL="64008" marR="64008" marT="36576" marB="36576" anchor="ctr">
                    <a:solidFill>
                      <a:srgbClr val="F7F2FD"/>
                    </a:solidFill>
                  </a:tcPr>
                </a:tc>
                <a:tc>
                  <a:txBody>
                    <a:bodyPr wrap="square"/>
                    <a:lstStyle/>
                    <a:p>
                      <a:r>
                        <a:rPr sz="1000" b="0">
                          <a:solidFill>
                            <a:srgbClr val="3B2A54"/>
                          </a:solidFill>
                          <a:latin typeface="Arial"/>
                        </a:rPr>
                        <a:t>ASSUMPTION</a:t>
                      </a:r>
                    </a:p>
                  </a:txBody>
                  <a:tcPr marL="64008" marR="64008" marT="36576" marB="36576" anchor="ctr">
                    <a:solidFill>
                      <a:srgbClr val="F7F2FD"/>
                    </a:solidFill>
                  </a:tcPr>
                </a:tc>
                <a:tc>
                  <a:txBody>
                    <a:bodyPr wrap="square"/>
                    <a:lstStyle/>
                    <a:p>
                      <a:r>
                        <a:rPr sz="1000" b="0">
                          <a:solidFill>
                            <a:srgbClr val="3B2A54"/>
                          </a:solidFill>
                          <a:latin typeface="Arial"/>
                        </a:rPr>
                        <a:t>Calendar fiscal year; sizing is mine</a:t>
                      </a:r>
                    </a:p>
                  </a:txBody>
                  <a:tcPr marL="64008" marR="64008" marT="36576" marB="36576" anchor="ctr">
                    <a:solidFill>
                      <a:srgbClr val="F7F2FD"/>
                    </a:solidFill>
                  </a:tcPr>
                </a:tc>
              </a:tr>
              <a:tr h="377952">
                <a:tc>
                  <a:txBody>
                    <a:bodyPr wrap="square"/>
                    <a:lstStyle/>
                    <a:p>
                      <a:r>
                        <a:rPr sz="1000" b="1">
                          <a:solidFill>
                            <a:srgbClr val="11052C"/>
                          </a:solidFill>
                          <a:latin typeface="Arial"/>
                        </a:rPr>
                        <a:t>A11</a:t>
                      </a:r>
                    </a:p>
                  </a:txBody>
                  <a:tcPr marL="64008" marR="64008" marT="36576" marB="36576" anchor="ctr">
                    <a:solidFill>
                      <a:srgbClr val="FFFFFF"/>
                    </a:solidFill>
                  </a:tcPr>
                </a:tc>
                <a:tc>
                  <a:txBody>
                    <a:bodyPr wrap="square"/>
                    <a:lstStyle/>
                    <a:p>
                      <a:r>
                        <a:rPr sz="1000" b="0">
                          <a:solidFill>
                            <a:srgbClr val="3B2A54"/>
                          </a:solidFill>
                          <a:latin typeface="Arial"/>
                        </a:rPr>
                        <a:t>The hub can run Nu-approved AI tools inside Nu's environment; Security and Risk approve data access before the agents go live.</a:t>
                      </a:r>
                    </a:p>
                  </a:txBody>
                  <a:tcPr marL="64008" marR="64008" marT="36576" marB="36576" anchor="ctr">
                    <a:solidFill>
                      <a:srgbClr val="FFFFFF"/>
                    </a:solidFill>
                  </a:tcPr>
                </a:tc>
                <a:tc>
                  <a:txBody>
                    <a:bodyPr wrap="square"/>
                    <a:lstStyle/>
                    <a:p>
                      <a:r>
                        <a:rPr sz="1000" b="0">
                          <a:solidFill>
                            <a:srgbClr val="3B2A54"/>
                          </a:solidFill>
                          <a:latin typeface="Arial"/>
                        </a:rPr>
                        <a:t>ASSUMPTION</a:t>
                      </a:r>
                    </a:p>
                  </a:txBody>
                  <a:tcPr marL="64008" marR="64008" marT="36576" marB="36576" anchor="ctr">
                    <a:solidFill>
                      <a:srgbClr val="FFFFFF"/>
                    </a:solidFill>
                  </a:tcPr>
                </a:tc>
                <a:tc>
                  <a:txBody>
                    <a:bodyPr wrap="square"/>
                    <a:lstStyle/>
                    <a:p>
                      <a:r>
                        <a:rPr sz="1000" b="0">
                          <a:solidFill>
                            <a:srgbClr val="3B2A54"/>
                          </a:solidFill>
                          <a:latin typeface="Arial"/>
                        </a:rPr>
                        <a:t>To confirm with Security and Risk</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B</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Open an entity only when a license or tax substance requires it; officers and signing follow the stage</a:t>
            </a:r>
          </a:p>
        </p:txBody>
      </p:sp>
      <p:graphicFrame>
        <p:nvGraphicFramePr>
          <p:cNvPr id="4" name="Table 3"/>
          <p:cNvGraphicFramePr>
            <a:graphicFrameLocks noGrp="1"/>
          </p:cNvGraphicFramePr>
          <p:nvPr/>
        </p:nvGraphicFramePr>
        <p:xfrm>
          <a:off x="612648" y="1600200"/>
          <a:ext cx="10972800" cy="2353056"/>
        </p:xfrm>
        <a:graphic>
          <a:graphicData uri="http://schemas.openxmlformats.org/drawingml/2006/table">
            <a:tbl>
              <a:tblPr>
                <a:tableStyleId>{5C22544A-7EE6-4342-B048-85BDC9FD1C3A}</a:tableStyleId>
              </a:tblPr>
              <a:tblGrid>
                <a:gridCol w="1828800"/>
                <a:gridCol w="3474720"/>
                <a:gridCol w="2194560"/>
                <a:gridCol w="3474720"/>
              </a:tblGrid>
              <a:tr h="457200">
                <a:tc>
                  <a:txBody>
                    <a:bodyPr wrap="square"/>
                    <a:lstStyle/>
                    <a:p>
                      <a:r>
                        <a:rPr sz="1100" b="1">
                          <a:solidFill>
                            <a:srgbClr val="FFFFFF"/>
                          </a:solidFill>
                          <a:latin typeface="Arial"/>
                        </a:rPr>
                        <a:t>Stage</a:t>
                      </a:r>
                    </a:p>
                  </a:txBody>
                  <a:tcPr marL="64008" marR="64008" marT="36576" marB="36576" anchor="ctr">
                    <a:solidFill>
                      <a:srgbClr val="820AD1"/>
                    </a:solidFill>
                  </a:tcPr>
                </a:tc>
                <a:tc>
                  <a:txBody>
                    <a:bodyPr wrap="square"/>
                    <a:lstStyle/>
                    <a:p>
                      <a:r>
                        <a:rPr sz="1100" b="1">
                          <a:solidFill>
                            <a:srgbClr val="FFFFFF"/>
                          </a:solidFill>
                          <a:latin typeface="Arial"/>
                        </a:rPr>
                        <a:t>Trigger for a local entity</a:t>
                      </a:r>
                    </a:p>
                  </a:txBody>
                  <a:tcPr marL="64008" marR="64008" marT="36576" marB="36576" anchor="ctr">
                    <a:solidFill>
                      <a:srgbClr val="820AD1"/>
                    </a:solidFill>
                  </a:tcPr>
                </a:tc>
                <a:tc>
                  <a:txBody>
                    <a:bodyPr wrap="square"/>
                    <a:lstStyle/>
                    <a:p>
                      <a:r>
                        <a:rPr sz="1100" b="1">
                          <a:solidFill>
                            <a:srgbClr val="FFFFFF"/>
                          </a:solidFill>
                          <a:latin typeface="Arial"/>
                        </a:rPr>
                        <a:t>Setup</a:t>
                      </a:r>
                    </a:p>
                  </a:txBody>
                  <a:tcPr marL="64008" marR="64008" marT="36576" marB="36576" anchor="ctr">
                    <a:solidFill>
                      <a:srgbClr val="820AD1"/>
                    </a:solidFill>
                  </a:tcPr>
                </a:tc>
                <a:tc>
                  <a:txBody>
                    <a:bodyPr wrap="square"/>
                    <a:lstStyle/>
                    <a:p>
                      <a:r>
                        <a:rPr sz="1100" b="1">
                          <a:solidFill>
                            <a:srgbClr val="FFFFFF"/>
                          </a:solidFill>
                          <a:latin typeface="Arial"/>
                        </a:rPr>
                        <a:t>Officers, signing and insurance</a:t>
                      </a:r>
                    </a:p>
                  </a:txBody>
                  <a:tcPr marL="64008" marR="64008" marT="36576" marB="36576" anchor="ctr">
                    <a:solidFill>
                      <a:srgbClr val="820AD1"/>
                    </a:solidFill>
                  </a:tcPr>
                </a:tc>
              </a:tr>
              <a:tr h="743711">
                <a:tc>
                  <a:txBody>
                    <a:bodyPr wrap="square"/>
                    <a:lstStyle/>
                    <a:p>
                      <a:r>
                        <a:rPr sz="1100" b="1">
                          <a:solidFill>
                            <a:srgbClr val="11052C"/>
                          </a:solidFill>
                          <a:latin typeface="Arial"/>
                        </a:rPr>
                        <a:t>1. Market test</a:t>
                      </a:r>
                      <a:r>
                        <a:rPr sz="1100" b="0">
                          <a:solidFill>
                            <a:srgbClr val="11052C"/>
                          </a:solidFill>
                          <a:latin typeface="Arial"/>
                        </a:rPr>
                        <a:t> (new countries)</a:t>
                      </a:r>
                    </a:p>
                  </a:txBody>
                  <a:tcPr marL="64008" marR="64008" marT="36576" marB="36576" anchor="ctr">
                    <a:solidFill>
                      <a:srgbClr val="FFFFFF"/>
                    </a:solidFill>
                  </a:tcPr>
                </a:tc>
                <a:tc>
                  <a:txBody>
                    <a:bodyPr wrap="square"/>
                    <a:lstStyle/>
                    <a:p>
                      <a:r>
                        <a:rPr sz="1100" b="0">
                          <a:solidFill>
                            <a:srgbClr val="3B2A54"/>
                          </a:solidFill>
                          <a:latin typeface="Arial"/>
                        </a:rPr>
                        <a:t>No local license needed and no taxable presence; served from an existing licensed entity or a partner bank (as the US is today, through Lead Bank, since 10 Sep 2026).</a:t>
                      </a:r>
                    </a:p>
                  </a:txBody>
                  <a:tcPr marL="64008" marR="64008" marT="36576" marB="36576" anchor="ctr">
                    <a:solidFill>
                      <a:srgbClr val="FFFFFF"/>
                    </a:solidFill>
                  </a:tcPr>
                </a:tc>
                <a:tc>
                  <a:txBody>
                    <a:bodyPr wrap="square"/>
                    <a:lstStyle/>
                    <a:p>
                      <a:r>
                        <a:rPr sz="1100" b="0">
                          <a:solidFill>
                            <a:srgbClr val="3B2A54"/>
                          </a:solidFill>
                          <a:latin typeface="Arial"/>
                        </a:rPr>
                        <a:t>No local entity. Cross-border or partner model.</a:t>
                      </a:r>
                    </a:p>
                  </a:txBody>
                  <a:tcPr marL="64008" marR="64008" marT="36576" marB="36576" anchor="ctr">
                    <a:solidFill>
                      <a:srgbClr val="FFFFFF"/>
                    </a:solidFill>
                  </a:tcPr>
                </a:tc>
                <a:tc>
                  <a:txBody>
                    <a:bodyPr wrap="square"/>
                    <a:lstStyle/>
                    <a:p>
                      <a:r>
                        <a:rPr sz="1100" b="0">
                          <a:solidFill>
                            <a:srgbClr val="3B2A54"/>
                          </a:solidFill>
                          <a:latin typeface="Arial"/>
                        </a:rPr>
                        <a:t>Central signing only. No local director. Prevents an accidental permanent establishment.</a:t>
                      </a:r>
                    </a:p>
                  </a:txBody>
                  <a:tcPr marL="64008" marR="64008" marT="36576" marB="36576" anchor="ctr">
                    <a:solidFill>
                      <a:srgbClr val="FFFFFF"/>
                    </a:solidFill>
                  </a:tcPr>
                </a:tc>
              </a:tr>
              <a:tr h="576072">
                <a:tc>
                  <a:txBody>
                    <a:bodyPr wrap="square"/>
                    <a:lstStyle/>
                    <a:p>
                      <a:r>
                        <a:rPr sz="1100" b="1">
                          <a:solidFill>
                            <a:srgbClr val="11052C"/>
                          </a:solidFill>
                          <a:latin typeface="Arial"/>
                        </a:rPr>
                        <a:t>2. Licensed scale-up</a:t>
                      </a:r>
                      <a:r>
                        <a:rPr sz="1100" b="0">
                          <a:solidFill>
                            <a:srgbClr val="11052C"/>
                          </a:solidFill>
                          <a:latin typeface="Arial"/>
                        </a:rPr>
                        <a:t> (US charter, new verticals)</a:t>
                      </a:r>
                    </a:p>
                  </a:txBody>
                  <a:tcPr marL="64008" marR="64008" marT="36576" marB="36576" anchor="ctr">
                    <a:solidFill>
                      <a:srgbClr val="F7F2FD"/>
                    </a:solidFill>
                  </a:tcPr>
                </a:tc>
                <a:tc>
                  <a:txBody>
                    <a:bodyPr wrap="square"/>
                    <a:lstStyle/>
                    <a:p>
                      <a:r>
                        <a:rPr sz="1100" b="0">
                          <a:solidFill>
                            <a:srgbClr val="3B2A54"/>
                          </a:solidFill>
                          <a:latin typeface="Arial"/>
                        </a:rPr>
                        <a:t>A regulator requires a local licensed entity (deposits, lending, custody), or substance rules require local payroll and assets.</a:t>
                      </a:r>
                    </a:p>
                  </a:txBody>
                  <a:tcPr marL="64008" marR="64008" marT="36576" marB="36576" anchor="ctr">
                    <a:solidFill>
                      <a:srgbClr val="F7F2FD"/>
                    </a:solidFill>
                  </a:tcPr>
                </a:tc>
                <a:tc>
                  <a:txBody>
                    <a:bodyPr wrap="square"/>
                    <a:lstStyle/>
                    <a:p>
                      <a:r>
                        <a:rPr sz="1100" b="0">
                          <a:solidFill>
                            <a:srgbClr val="3B2A54"/>
                          </a:solidFill>
                          <a:latin typeface="Arial"/>
                        </a:rPr>
                        <a:t>Dedicated licensed entity with its own capital plan and headroom.</a:t>
                      </a:r>
                    </a:p>
                  </a:txBody>
                  <a:tcPr marL="64008" marR="64008" marT="36576" marB="36576" anchor="ctr">
                    <a:solidFill>
                      <a:srgbClr val="F7F2FD"/>
                    </a:solidFill>
                  </a:tcPr>
                </a:tc>
                <a:tc>
                  <a:txBody>
                    <a:bodyPr wrap="square"/>
                    <a:lstStyle/>
                    <a:p>
                      <a:r>
                        <a:rPr sz="1100" b="0">
                          <a:solidFill>
                            <a:srgbClr val="3B2A54"/>
                          </a:solidFill>
                          <a:latin typeface="Arial"/>
                        </a:rPr>
                        <a:t>Fit-and-proper directors; two central officers plus one local leader; dual signature above a set limit; D&amp;O before activation.</a:t>
                      </a:r>
                    </a:p>
                  </a:txBody>
                  <a:tcPr marL="64008" marR="64008" marT="36576" marB="36576" anchor="ctr">
                    <a:solidFill>
                      <a:srgbClr val="F7F2FD"/>
                    </a:solidFill>
                  </a:tcPr>
                </a:tc>
              </a:tr>
              <a:tr h="576072">
                <a:tc>
                  <a:txBody>
                    <a:bodyPr wrap="square"/>
                    <a:lstStyle/>
                    <a:p>
                      <a:r>
                        <a:rPr sz="1100" b="1">
                          <a:solidFill>
                            <a:srgbClr val="11052C"/>
                          </a:solidFill>
                          <a:latin typeface="Arial"/>
                        </a:rPr>
                        <a:t>3. Core hub</a:t>
                      </a:r>
                      <a:r>
                        <a:rPr sz="1100" b="0">
                          <a:solidFill>
                            <a:srgbClr val="11052C"/>
                          </a:solidFill>
                          <a:latin typeface="Arial"/>
                        </a:rPr>
                        <a:t> (Mexico, a bank since Aug 2026; Colombia; the HQ)</a:t>
                      </a:r>
                    </a:p>
                  </a:txBody>
                  <a:tcPr marL="64008" marR="64008" marT="36576" marB="36576" anchor="ctr">
                    <a:solidFill>
                      <a:srgbClr val="FFFFFF"/>
                    </a:solidFill>
                  </a:tcPr>
                </a:tc>
                <a:tc>
                  <a:txBody>
                    <a:bodyPr wrap="square"/>
                    <a:lstStyle/>
                    <a:p>
                      <a:r>
                        <a:rPr sz="1100" b="0">
                          <a:solidFill>
                            <a:srgbClr val="3B2A54"/>
                          </a:solidFill>
                          <a:latin typeface="Arial"/>
                        </a:rPr>
                        <a:t>Full banking or fintech license in force; local CFO in place (already so in Mexico and Colombia).</a:t>
                      </a:r>
                    </a:p>
                  </a:txBody>
                  <a:tcPr marL="64008" marR="64008" marT="36576" marB="36576" anchor="ctr">
                    <a:solidFill>
                      <a:srgbClr val="FFFFFF"/>
                    </a:solidFill>
                  </a:tcPr>
                </a:tc>
                <a:tc>
                  <a:txBody>
                    <a:bodyPr wrap="square"/>
                    <a:lstStyle/>
                    <a:p>
                      <a:r>
                        <a:rPr sz="1100" b="0">
                          <a:solidFill>
                            <a:srgbClr val="3B2A54"/>
                          </a:solidFill>
                          <a:latin typeface="Arial"/>
                        </a:rPr>
                        <a:t>Full licensed entity; regional campus where the HQ lands.</a:t>
                      </a:r>
                    </a:p>
                  </a:txBody>
                  <a:tcPr marL="64008" marR="64008" marT="36576" marB="36576" anchor="ctr">
                    <a:solidFill>
                      <a:srgbClr val="FFFFFF"/>
                    </a:solidFill>
                  </a:tcPr>
                </a:tc>
                <a:tc>
                  <a:txBody>
                    <a:bodyPr wrap="square"/>
                    <a:lstStyle/>
                    <a:p>
                      <a:r>
                        <a:rPr sz="1100" b="0">
                          <a:solidFill>
                            <a:srgbClr val="3B2A54"/>
                          </a:solidFill>
                          <a:latin typeface="Arial"/>
                        </a:rPr>
                        <a:t>Audit and Risk Committee oversight; dual signature above limits set by category; director liability insurance; annual review of powers of attorney.</a:t>
                      </a:r>
                    </a:p>
                  </a:txBody>
                  <a:tcPr marL="64008" marR="64008" marT="36576" marB="36576" anchor="ctr">
                    <a:solidFill>
                      <a:srgbClr val="FFFFFF"/>
                    </a:solidFill>
                  </a:tcPr>
                </a:tc>
              </a:tr>
            </a:tbl>
          </a:graphicData>
        </a:graphic>
      </p:graphicFrame>
      <p:sp>
        <p:nvSpPr>
          <p:cNvPr id="5" name="TextBox 4"/>
          <p:cNvSpPr txBox="1"/>
          <p:nvPr/>
        </p:nvSpPr>
        <p:spPr>
          <a:xfrm>
            <a:off x="612648" y="5760720"/>
            <a:ext cx="10515600" cy="457200"/>
          </a:xfrm>
          <a:prstGeom prst="rect">
            <a:avLst/>
          </a:prstGeom>
          <a:noFill/>
        </p:spPr>
        <p:txBody>
          <a:bodyPr wrap="square" anchor="t">
            <a:spAutoFit/>
          </a:bodyPr>
          <a:lstStyle/>
          <a:p>
            <a:pPr algn="l"/>
            <a:r>
              <a:rPr sz="900" b="0">
                <a:solidFill>
                  <a:srgbClr val="6B5B82"/>
                </a:solidFill>
                <a:latin typeface="Arial"/>
              </a:rPr>
              <a:t>Sources: Nu announcements (US launch via Lead Bank, 10 Sep 2026; OCC conditional approval, 29 Jan 2026; Mexico bank authorization, 10 Jul 2026; local finance leadership per the CFO appointment release). Signing limits are proposals.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C</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Option 3 stays first under every 10-point change to a single weight</a:t>
            </a:r>
          </a:p>
        </p:txBody>
      </p:sp>
      <p:graphicFrame>
        <p:nvGraphicFramePr>
          <p:cNvPr id="4" name="Table 3"/>
          <p:cNvGraphicFramePr>
            <a:graphicFrameLocks noGrp="1"/>
          </p:cNvGraphicFramePr>
          <p:nvPr/>
        </p:nvGraphicFramePr>
        <p:xfrm>
          <a:off x="612648" y="1325880"/>
          <a:ext cx="9509760" cy="4169663"/>
        </p:xfrm>
        <a:graphic>
          <a:graphicData uri="http://schemas.openxmlformats.org/drawingml/2006/table">
            <a:tbl>
              <a:tblPr>
                <a:tableStyleId>{5C22544A-7EE6-4342-B048-85BDC9FD1C3A}</a:tableStyleId>
              </a:tblPr>
              <a:tblGrid>
                <a:gridCol w="3108960"/>
                <a:gridCol w="1554480"/>
                <a:gridCol w="1554480"/>
                <a:gridCol w="1554480"/>
                <a:gridCol w="1737360"/>
              </a:tblGrid>
              <a:tr h="347472">
                <a:tc>
                  <a:txBody>
                    <a:bodyPr wrap="square"/>
                    <a:lstStyle/>
                    <a:p>
                      <a:r>
                        <a:rPr sz="1050" b="1">
                          <a:solidFill>
                            <a:srgbClr val="FFFFFF"/>
                          </a:solidFill>
                          <a:latin typeface="Arial"/>
                        </a:rPr>
                        <a:t>Weight changed</a:t>
                      </a:r>
                    </a:p>
                  </a:txBody>
                  <a:tcPr marL="64008" marR="64008" marT="36576" marB="36576" anchor="ctr">
                    <a:solidFill>
                      <a:srgbClr val="820AD1"/>
                    </a:solidFill>
                  </a:tcPr>
                </a:tc>
                <a:tc>
                  <a:txBody>
                    <a:bodyPr wrap="square"/>
                    <a:lstStyle/>
                    <a:p>
                      <a:r>
                        <a:rPr sz="1050" b="1">
                          <a:solidFill>
                            <a:srgbClr val="FFFFFF"/>
                          </a:solidFill>
                          <a:latin typeface="Arial"/>
                        </a:rPr>
                        <a:t>Option 1</a:t>
                      </a:r>
                    </a:p>
                  </a:txBody>
                  <a:tcPr marL="64008" marR="64008" marT="36576" marB="36576" anchor="ctr">
                    <a:solidFill>
                      <a:srgbClr val="820AD1"/>
                    </a:solidFill>
                  </a:tcPr>
                </a:tc>
                <a:tc>
                  <a:txBody>
                    <a:bodyPr wrap="square"/>
                    <a:lstStyle/>
                    <a:p>
                      <a:r>
                        <a:rPr sz="1050" b="1">
                          <a:solidFill>
                            <a:srgbClr val="FFFFFF"/>
                          </a:solidFill>
                          <a:latin typeface="Arial"/>
                        </a:rPr>
                        <a:t>Option 2</a:t>
                      </a:r>
                    </a:p>
                  </a:txBody>
                  <a:tcPr marL="64008" marR="64008" marT="36576" marB="36576" anchor="ctr">
                    <a:solidFill>
                      <a:srgbClr val="820AD1"/>
                    </a:solidFill>
                  </a:tcPr>
                </a:tc>
                <a:tc>
                  <a:txBody>
                    <a:bodyPr wrap="square"/>
                    <a:lstStyle/>
                    <a:p>
                      <a:r>
                        <a:rPr sz="1050" b="1">
                          <a:solidFill>
                            <a:srgbClr val="FFFFFF"/>
                          </a:solidFill>
                          <a:latin typeface="Arial"/>
                        </a:rPr>
                        <a:t>Option 3</a:t>
                      </a:r>
                    </a:p>
                  </a:txBody>
                  <a:tcPr marL="64008" marR="64008" marT="36576" marB="36576" anchor="ctr">
                    <a:solidFill>
                      <a:srgbClr val="820AD1"/>
                    </a:solidFill>
                  </a:tcPr>
                </a:tc>
                <a:tc>
                  <a:txBody>
                    <a:bodyPr wrap="square"/>
                    <a:lstStyle/>
                    <a:p>
                      <a:r>
                        <a:rPr sz="1050" b="1">
                          <a:solidFill>
                            <a:srgbClr val="FFFFFF"/>
                          </a:solidFill>
                          <a:latin typeface="Arial"/>
                        </a:rPr>
                        <a:t>Order</a:t>
                      </a:r>
                    </a:p>
                  </a:txBody>
                  <a:tcPr marL="64008" marR="64008" marT="36576" marB="36576" anchor="ctr">
                    <a:solidFill>
                      <a:srgbClr val="820AD1"/>
                    </a:solidFill>
                  </a:tcPr>
                </a:tc>
              </a:tr>
              <a:tr h="347472">
                <a:tc>
                  <a:txBody>
                    <a:bodyPr wrap="square"/>
                    <a:lstStyle/>
                    <a:p>
                      <a:r>
                        <a:rPr sz="1050" b="1">
                          <a:solidFill>
                            <a:srgbClr val="11052C"/>
                          </a:solidFill>
                          <a:latin typeface="Arial"/>
                        </a:rPr>
                        <a:t>Base weights</a:t>
                      </a:r>
                    </a:p>
                  </a:txBody>
                  <a:tcPr marL="64008" marR="64008" marT="36576" marB="36576" anchor="ctr">
                    <a:solidFill>
                      <a:srgbClr val="FFFFFF"/>
                    </a:solidFill>
                  </a:tcPr>
                </a:tc>
                <a:tc>
                  <a:txBody>
                    <a:bodyPr wrap="square"/>
                    <a:lstStyle/>
                    <a:p>
                      <a:r>
                        <a:rPr sz="1050" b="0">
                          <a:solidFill>
                            <a:srgbClr val="3B2A54"/>
                          </a:solidFill>
                          <a:latin typeface="Arial"/>
                        </a:rPr>
                        <a:t>57.8</a:t>
                      </a:r>
                    </a:p>
                  </a:txBody>
                  <a:tcPr marL="64008" marR="64008" marT="36576" marB="36576" anchor="ctr">
                    <a:solidFill>
                      <a:srgbClr val="FFFFFF"/>
                    </a:solidFill>
                  </a:tcPr>
                </a:tc>
                <a:tc>
                  <a:txBody>
                    <a:bodyPr wrap="square"/>
                    <a:lstStyle/>
                    <a:p>
                      <a:r>
                        <a:rPr sz="1050" b="0">
                          <a:solidFill>
                            <a:srgbClr val="3B2A54"/>
                          </a:solidFill>
                          <a:latin typeface="Arial"/>
                        </a:rPr>
                        <a:t>63.8</a:t>
                      </a:r>
                    </a:p>
                  </a:txBody>
                  <a:tcPr marL="64008" marR="64008" marT="36576" marB="36576" anchor="ctr">
                    <a:solidFill>
                      <a:srgbClr val="FFFFFF"/>
                    </a:solidFill>
                  </a:tcPr>
                </a:tc>
                <a:tc>
                  <a:txBody>
                    <a:bodyPr wrap="square"/>
                    <a:lstStyle/>
                    <a:p>
                      <a:r>
                        <a:rPr sz="1050" b="0">
                          <a:solidFill>
                            <a:srgbClr val="3B2A54"/>
                          </a:solidFill>
                          <a:latin typeface="Arial"/>
                        </a:rPr>
                        <a:t>91.8</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7F2FD"/>
                    </a:solidFill>
                  </a:tcPr>
                </a:tc>
                <a:tc>
                  <a:txBody>
                    <a:bodyPr wrap="square"/>
                    <a:lstStyle/>
                    <a:p>
                      <a:r>
                        <a:rPr sz="1050" b="0">
                          <a:solidFill>
                            <a:srgbClr val="3B2A54"/>
                          </a:solidFill>
                          <a:latin typeface="Arial"/>
                        </a:rPr>
                        <a:t>62.4</a:t>
                      </a:r>
                    </a:p>
                  </a:txBody>
                  <a:tcPr marL="64008" marR="64008" marT="36576" marB="36576" anchor="ctr">
                    <a:solidFill>
                      <a:srgbClr val="F7F2FD"/>
                    </a:solidFill>
                  </a:tcPr>
                </a:tc>
                <a:tc>
                  <a:txBody>
                    <a:bodyPr wrap="square"/>
                    <a:lstStyle/>
                    <a:p>
                      <a:r>
                        <a:rPr sz="1050" b="0">
                          <a:solidFill>
                            <a:srgbClr val="3B2A54"/>
                          </a:solidFill>
                          <a:latin typeface="Arial"/>
                        </a:rPr>
                        <a:t>68.2</a:t>
                      </a:r>
                    </a:p>
                  </a:txBody>
                  <a:tcPr marL="64008" marR="64008" marT="36576" marB="36576" anchor="ctr">
                    <a:solidFill>
                      <a:srgbClr val="F7F2FD"/>
                    </a:solidFill>
                  </a:tcPr>
                </a:tc>
                <a:tc>
                  <a:txBody>
                    <a:bodyPr wrap="square"/>
                    <a:lstStyle/>
                    <a:p>
                      <a:r>
                        <a:rPr sz="1050" b="0">
                          <a:solidFill>
                            <a:srgbClr val="3B2A54"/>
                          </a:solidFill>
                          <a:latin typeface="Arial"/>
                        </a:rPr>
                        <a:t>92.9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FFFFF"/>
                    </a:solidFill>
                  </a:tcPr>
                </a:tc>
                <a:tc>
                  <a:txBody>
                    <a:bodyPr wrap="square"/>
                    <a:lstStyle/>
                    <a:p>
                      <a:r>
                        <a:rPr sz="1050" b="0">
                          <a:solidFill>
                            <a:srgbClr val="3B2A54"/>
                          </a:solidFill>
                          <a:latin typeface="Arial"/>
                        </a:rPr>
                        <a:t>53.1</a:t>
                      </a:r>
                    </a:p>
                  </a:txBody>
                  <a:tcPr marL="64008" marR="64008" marT="36576" marB="36576" anchor="ctr">
                    <a:solidFill>
                      <a:srgbClr val="FFFFFF"/>
                    </a:solidFill>
                  </a:tcPr>
                </a:tc>
                <a:tc>
                  <a:txBody>
                    <a:bodyPr wrap="square"/>
                    <a:lstStyle/>
                    <a:p>
                      <a:r>
                        <a:rPr sz="1050" b="0">
                          <a:solidFill>
                            <a:srgbClr val="3B2A54"/>
                          </a:solidFill>
                          <a:latin typeface="Arial"/>
                        </a:rPr>
                        <a:t>59.3</a:t>
                      </a:r>
                    </a:p>
                  </a:txBody>
                  <a:tcPr marL="64008" marR="64008" marT="36576" marB="36576" anchor="ctr">
                    <a:solidFill>
                      <a:srgbClr val="FFFFFF"/>
                    </a:solidFill>
                  </a:tcPr>
                </a:tc>
                <a:tc>
                  <a:txBody>
                    <a:bodyPr wrap="square"/>
                    <a:lstStyle/>
                    <a:p>
                      <a:r>
                        <a:rPr sz="1050" b="0">
                          <a:solidFill>
                            <a:srgbClr val="3B2A54"/>
                          </a:solidFill>
                          <a:latin typeface="Arial"/>
                        </a:rPr>
                        <a:t>90.6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7F2FD"/>
                    </a:solidFill>
                  </a:tcPr>
                </a:tc>
                <a:tc>
                  <a:txBody>
                    <a:bodyPr wrap="square"/>
                    <a:lstStyle/>
                    <a:p>
                      <a:r>
                        <a:rPr sz="1050" b="0">
                          <a:solidFill>
                            <a:srgbClr val="3B2A54"/>
                          </a:solidFill>
                          <a:latin typeface="Arial"/>
                        </a:rPr>
                        <a:t>55.4</a:t>
                      </a:r>
                    </a:p>
                  </a:txBody>
                  <a:tcPr marL="64008" marR="64008" marT="36576" marB="36576" anchor="ctr">
                    <a:solidFill>
                      <a:srgbClr val="F7F2FD"/>
                    </a:solidFill>
                  </a:tcPr>
                </a:tc>
                <a:tc>
                  <a:txBody>
                    <a:bodyPr wrap="square"/>
                    <a:lstStyle/>
                    <a:p>
                      <a:r>
                        <a:rPr sz="1050" b="0">
                          <a:solidFill>
                            <a:srgbClr val="3B2A54"/>
                          </a:solidFill>
                          <a:latin typeface="Arial"/>
                        </a:rPr>
                        <a:t>62.6</a:t>
                      </a:r>
                    </a:p>
                  </a:txBody>
                  <a:tcPr marL="64008" marR="64008" marT="36576" marB="36576" anchor="ctr">
                    <a:solidFill>
                      <a:srgbClr val="F7F2FD"/>
                    </a:solidFill>
                  </a:tcPr>
                </a:tc>
                <a:tc>
                  <a:txBody>
                    <a:bodyPr wrap="square"/>
                    <a:lstStyle/>
                    <a:p>
                      <a:r>
                        <a:rPr sz="1050" b="0">
                          <a:solidFill>
                            <a:srgbClr val="3B2A54"/>
                          </a:solidFill>
                          <a:latin typeface="Arial"/>
                        </a:rPr>
                        <a:t>92.2</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FFFFF"/>
                    </a:solidFill>
                  </a:tcPr>
                </a:tc>
                <a:tc>
                  <a:txBody>
                    <a:bodyPr wrap="square"/>
                    <a:lstStyle/>
                    <a:p>
                      <a:r>
                        <a:rPr sz="1050" b="0">
                          <a:solidFill>
                            <a:srgbClr val="3B2A54"/>
                          </a:solidFill>
                          <a:latin typeface="Arial"/>
                        </a:rPr>
                        <a:t>60.1</a:t>
                      </a:r>
                    </a:p>
                  </a:txBody>
                  <a:tcPr marL="64008" marR="64008" marT="36576" marB="36576" anchor="ctr">
                    <a:solidFill>
                      <a:srgbClr val="FFFFFF"/>
                    </a:solidFill>
                  </a:tcPr>
                </a:tc>
                <a:tc>
                  <a:txBody>
                    <a:bodyPr wrap="square"/>
                    <a:lstStyle/>
                    <a:p>
                      <a:r>
                        <a:rPr sz="1050" b="0">
                          <a:solidFill>
                            <a:srgbClr val="3B2A54"/>
                          </a:solidFill>
                          <a:latin typeface="Arial"/>
                        </a:rPr>
                        <a:t>64.9</a:t>
                      </a:r>
                    </a:p>
                  </a:txBody>
                  <a:tcPr marL="64008" marR="64008" marT="36576" marB="36576" anchor="ctr">
                    <a:solidFill>
                      <a:srgbClr val="FFFFFF"/>
                    </a:solidFill>
                  </a:tcPr>
                </a:tc>
                <a:tc>
                  <a:txBody>
                    <a:bodyPr wrap="square"/>
                    <a:lstStyle/>
                    <a:p>
                      <a:r>
                        <a:rPr sz="1050" b="0">
                          <a:solidFill>
                            <a:srgbClr val="3B2A54"/>
                          </a:solidFill>
                          <a:latin typeface="Arial"/>
                        </a:rPr>
                        <a:t>91.3</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7F2FD"/>
                    </a:solidFill>
                  </a:tcPr>
                </a:tc>
                <a:tc>
                  <a:txBody>
                    <a:bodyPr wrap="square"/>
                    <a:lstStyle/>
                    <a:p>
                      <a:r>
                        <a:rPr sz="1050" b="0">
                          <a:solidFill>
                            <a:srgbClr val="3B2A54"/>
                          </a:solidFill>
                          <a:latin typeface="Arial"/>
                        </a:rPr>
                        <a:t>54.3</a:t>
                      </a:r>
                    </a:p>
                  </a:txBody>
                  <a:tcPr marL="64008" marR="64008" marT="36576" marB="36576" anchor="ctr">
                    <a:solidFill>
                      <a:srgbClr val="F7F2FD"/>
                    </a:solidFill>
                  </a:tcPr>
                </a:tc>
                <a:tc>
                  <a:txBody>
                    <a:bodyPr wrap="square"/>
                    <a:lstStyle/>
                    <a:p>
                      <a:r>
                        <a:rPr sz="1050" b="0">
                          <a:solidFill>
                            <a:srgbClr val="3B2A54"/>
                          </a:solidFill>
                          <a:latin typeface="Arial"/>
                        </a:rPr>
                        <a:t>61.4</a:t>
                      </a:r>
                    </a:p>
                  </a:txBody>
                  <a:tcPr marL="64008" marR="64008" marT="36576" marB="36576" anchor="ctr">
                    <a:solidFill>
                      <a:srgbClr val="F7F2FD"/>
                    </a:solidFill>
                  </a:tcPr>
                </a:tc>
                <a:tc>
                  <a:txBody>
                    <a:bodyPr wrap="square"/>
                    <a:lstStyle/>
                    <a:p>
                      <a:r>
                        <a:rPr sz="1050" b="0">
                          <a:solidFill>
                            <a:srgbClr val="3B2A54"/>
                          </a:solidFill>
                          <a:latin typeface="Arial"/>
                        </a:rPr>
                        <a:t>90.9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FFFFF"/>
                    </a:solidFill>
                  </a:tcPr>
                </a:tc>
                <a:tc>
                  <a:txBody>
                    <a:bodyPr wrap="square"/>
                    <a:lstStyle/>
                    <a:p>
                      <a:r>
                        <a:rPr sz="1050" b="0">
                          <a:solidFill>
                            <a:srgbClr val="3B2A54"/>
                          </a:solidFill>
                          <a:latin typeface="Arial"/>
                        </a:rPr>
                        <a:t>61.2</a:t>
                      </a:r>
                    </a:p>
                  </a:txBody>
                  <a:tcPr marL="64008" marR="64008" marT="36576" marB="36576" anchor="ctr">
                    <a:solidFill>
                      <a:srgbClr val="FFFFFF"/>
                    </a:solidFill>
                  </a:tcPr>
                </a:tc>
                <a:tc>
                  <a:txBody>
                    <a:bodyPr wrap="square"/>
                    <a:lstStyle/>
                    <a:p>
                      <a:r>
                        <a:rPr sz="1050" b="0">
                          <a:solidFill>
                            <a:srgbClr val="3B2A54"/>
                          </a:solidFill>
                          <a:latin typeface="Arial"/>
                        </a:rPr>
                        <a:t>66.1</a:t>
                      </a:r>
                    </a:p>
                  </a:txBody>
                  <a:tcPr marL="64008" marR="64008" marT="36576" marB="36576" anchor="ctr">
                    <a:solidFill>
                      <a:srgbClr val="FFFFFF"/>
                    </a:solidFill>
                  </a:tcPr>
                </a:tc>
                <a:tc>
                  <a:txBody>
                    <a:bodyPr wrap="square"/>
                    <a:lstStyle/>
                    <a:p>
                      <a:r>
                        <a:rPr sz="1050" b="0">
                          <a:solidFill>
                            <a:srgbClr val="3B2A54"/>
                          </a:solidFill>
                          <a:latin typeface="Arial"/>
                        </a:rPr>
                        <a:t>92.6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7F2FD"/>
                    </a:solidFill>
                  </a:tcPr>
                </a:tc>
                <a:tc>
                  <a:txBody>
                    <a:bodyPr wrap="square"/>
                    <a:lstStyle/>
                    <a:p>
                      <a:r>
                        <a:rPr sz="1050" b="0">
                          <a:solidFill>
                            <a:srgbClr val="3B2A54"/>
                          </a:solidFill>
                          <a:latin typeface="Arial"/>
                        </a:rPr>
                        <a:t>55.1</a:t>
                      </a:r>
                    </a:p>
                  </a:txBody>
                  <a:tcPr marL="64008" marR="64008" marT="36576" marB="36576" anchor="ctr">
                    <a:solidFill>
                      <a:srgbClr val="F7F2FD"/>
                    </a:solidFill>
                  </a:tcPr>
                </a:tc>
                <a:tc>
                  <a:txBody>
                    <a:bodyPr wrap="square"/>
                    <a:lstStyle/>
                    <a:p>
                      <a:r>
                        <a:rPr sz="1050" b="0">
                          <a:solidFill>
                            <a:srgbClr val="3B2A54"/>
                          </a:solidFill>
                          <a:latin typeface="Arial"/>
                        </a:rPr>
                        <a:t>59.8</a:t>
                      </a:r>
                    </a:p>
                  </a:txBody>
                  <a:tcPr marL="64008" marR="64008" marT="36576" marB="36576" anchor="ctr">
                    <a:solidFill>
                      <a:srgbClr val="F7F2FD"/>
                    </a:solidFill>
                  </a:tcPr>
                </a:tc>
                <a:tc>
                  <a:txBody>
                    <a:bodyPr wrap="square"/>
                    <a:lstStyle/>
                    <a:p>
                      <a:r>
                        <a:rPr sz="1050" b="0">
                          <a:solidFill>
                            <a:srgbClr val="3B2A54"/>
                          </a:solidFill>
                          <a:latin typeface="Arial"/>
                        </a:rPr>
                        <a:t>91.5</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FFFFF"/>
                    </a:solidFill>
                  </a:tcPr>
                </a:tc>
                <a:tc>
                  <a:txBody>
                    <a:bodyPr wrap="square"/>
                    <a:lstStyle/>
                    <a:p>
                      <a:r>
                        <a:rPr sz="1050" b="0">
                          <a:solidFill>
                            <a:srgbClr val="3B2A54"/>
                          </a:solidFill>
                          <a:latin typeface="Arial"/>
                        </a:rPr>
                        <a:t>60.4</a:t>
                      </a:r>
                    </a:p>
                  </a:txBody>
                  <a:tcPr marL="64008" marR="64008" marT="36576" marB="36576" anchor="ctr">
                    <a:solidFill>
                      <a:srgbClr val="FFFFFF"/>
                    </a:solidFill>
                  </a:tcPr>
                </a:tc>
                <a:tc>
                  <a:txBody>
                    <a:bodyPr wrap="square"/>
                    <a:lstStyle/>
                    <a:p>
                      <a:r>
                        <a:rPr sz="1050" b="0">
                          <a:solidFill>
                            <a:srgbClr val="3B2A54"/>
                          </a:solidFill>
                          <a:latin typeface="Arial"/>
                        </a:rPr>
                        <a:t>67.7</a:t>
                      </a:r>
                    </a:p>
                  </a:txBody>
                  <a:tcPr marL="64008" marR="64008" marT="36576" marB="36576" anchor="ctr">
                    <a:solidFill>
                      <a:srgbClr val="FFFFFF"/>
                    </a:solidFill>
                  </a:tcPr>
                </a:tc>
                <a:tc>
                  <a:txBody>
                    <a:bodyPr wrap="square"/>
                    <a:lstStyle/>
                    <a:p>
                      <a:r>
                        <a:rPr sz="1050" b="0">
                          <a:solidFill>
                            <a:srgbClr val="3B2A54"/>
                          </a:solidFill>
                          <a:latin typeface="Arial"/>
                        </a:rPr>
                        <a:t>92.0</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Speed +10 pts</a:t>
                      </a:r>
                    </a:p>
                  </a:txBody>
                  <a:tcPr marL="64008" marR="64008" marT="36576" marB="36576" anchor="ctr">
                    <a:solidFill>
                      <a:srgbClr val="F7F2FD"/>
                    </a:solidFill>
                  </a:tcPr>
                </a:tc>
                <a:tc>
                  <a:txBody>
                    <a:bodyPr wrap="square"/>
                    <a:lstStyle/>
                    <a:p>
                      <a:r>
                        <a:rPr sz="1050" b="0">
                          <a:solidFill>
                            <a:srgbClr val="3B2A54"/>
                          </a:solidFill>
                          <a:latin typeface="Arial"/>
                        </a:rPr>
                        <a:t>61.9</a:t>
                      </a:r>
                    </a:p>
                  </a:txBody>
                  <a:tcPr marL="64008" marR="64008" marT="36576" marB="36576" anchor="ctr">
                    <a:solidFill>
                      <a:srgbClr val="F7F2FD"/>
                    </a:solidFill>
                  </a:tcPr>
                </a:tc>
                <a:tc>
                  <a:txBody>
                    <a:bodyPr wrap="square"/>
                    <a:lstStyle/>
                    <a:p>
                      <a:r>
                        <a:rPr sz="1050" b="0">
                          <a:solidFill>
                            <a:srgbClr val="3B2A54"/>
                          </a:solidFill>
                          <a:latin typeface="Arial"/>
                        </a:rPr>
                        <a:t>65.6</a:t>
                      </a:r>
                    </a:p>
                  </a:txBody>
                  <a:tcPr marL="64008" marR="64008" marT="36576" marB="36576" anchor="ctr">
                    <a:solidFill>
                      <a:srgbClr val="F7F2FD"/>
                    </a:solidFill>
                  </a:tcPr>
                </a:tc>
                <a:tc>
                  <a:txBody>
                    <a:bodyPr wrap="square"/>
                    <a:lstStyle/>
                    <a:p>
                      <a:r>
                        <a:rPr sz="1050" b="0">
                          <a:solidFill>
                            <a:srgbClr val="3B2A54"/>
                          </a:solidFill>
                          <a:latin typeface="Arial"/>
                        </a:rPr>
                        <a:t>89.9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Speed -10 pts</a:t>
                      </a:r>
                    </a:p>
                  </a:txBody>
                  <a:tcPr marL="64008" marR="64008" marT="36576" marB="36576" anchor="ctr">
                    <a:solidFill>
                      <a:srgbClr val="FFFFFF"/>
                    </a:solidFill>
                  </a:tcPr>
                </a:tc>
                <a:tc>
                  <a:txBody>
                    <a:bodyPr wrap="square"/>
                    <a:lstStyle/>
                    <a:p>
                      <a:r>
                        <a:rPr sz="1050" b="0">
                          <a:solidFill>
                            <a:srgbClr val="3B2A54"/>
                          </a:solidFill>
                          <a:latin typeface="Arial"/>
                        </a:rPr>
                        <a:t>53.6</a:t>
                      </a:r>
                    </a:p>
                  </a:txBody>
                  <a:tcPr marL="64008" marR="64008" marT="36576" marB="36576" anchor="ctr">
                    <a:solidFill>
                      <a:srgbClr val="FFFFFF"/>
                    </a:solidFill>
                  </a:tcPr>
                </a:tc>
                <a:tc>
                  <a:txBody>
                    <a:bodyPr wrap="square"/>
                    <a:lstStyle/>
                    <a:p>
                      <a:r>
                        <a:rPr sz="1050" b="0">
                          <a:solidFill>
                            <a:srgbClr val="3B2A54"/>
                          </a:solidFill>
                          <a:latin typeface="Arial"/>
                        </a:rPr>
                        <a:t>61.9</a:t>
                      </a:r>
                    </a:p>
                  </a:txBody>
                  <a:tcPr marL="64008" marR="64008" marT="36576" marB="36576" anchor="ctr">
                    <a:solidFill>
                      <a:srgbClr val="FFFFFF"/>
                    </a:solidFill>
                  </a:tcPr>
                </a:tc>
                <a:tc>
                  <a:txBody>
                    <a:bodyPr wrap="square"/>
                    <a:lstStyle/>
                    <a:p>
                      <a:r>
                        <a:rPr sz="1050" b="0">
                          <a:solidFill>
                            <a:srgbClr val="3B2A54"/>
                          </a:solidFill>
                          <a:latin typeface="Arial"/>
                        </a:rPr>
                        <a:t>93.6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bl>
          </a:graphicData>
        </a:graphic>
      </p:graphicFrame>
      <p:sp>
        <p:nvSpPr>
          <p:cNvPr id="5" name="TextBox 4"/>
          <p:cNvSpPr txBox="1"/>
          <p:nvPr/>
        </p:nvSpPr>
        <p:spPr>
          <a:xfrm>
            <a:off x="612648" y="6217920"/>
            <a:ext cx="10515600" cy="411480"/>
          </a:xfrm>
          <a:prstGeom prst="rect">
            <a:avLst/>
          </a:prstGeom>
          <a:noFill/>
        </p:spPr>
        <p:txBody>
          <a:bodyPr wrap="square" anchor="t">
            <a:spAutoFit/>
          </a:bodyPr>
          <a:lstStyle/>
          <a:p>
            <a:pPr algn="l"/>
            <a:r>
              <a:rPr sz="900" b="0">
                <a:solidFill>
                  <a:srgbClr val="6B5B82"/>
                </a:solidFill>
                <a:latin typeface="Arial"/>
              </a:rPr>
              <a:t>Base weights: cap 30%, growth return 25%, GM ownership 20%, agility 15%, speed 10%. The changed weight moves 10 points; the others are rebalanced pro rata. Smallest gap between options 3 and 2: 24.2 points. Scores are judgment (A9).</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number is a sourced fact, a labeled assumption or context</a:t>
            </a:r>
          </a:p>
        </p:txBody>
      </p:sp>
      <p:graphicFrame>
        <p:nvGraphicFramePr>
          <p:cNvPr id="4" name="Table 3"/>
          <p:cNvGraphicFramePr>
            <a:graphicFrameLocks noGrp="1"/>
          </p:cNvGraphicFramePr>
          <p:nvPr/>
        </p:nvGraphicFramePr>
        <p:xfrm>
          <a:off x="612648" y="1325880"/>
          <a:ext cx="10972800" cy="3462528"/>
        </p:xfrm>
        <a:graphic>
          <a:graphicData uri="http://schemas.openxmlformats.org/drawingml/2006/table">
            <a:tbl>
              <a:tblPr>
                <a:tableStyleId>{5C22544A-7EE6-4342-B048-85BDC9FD1C3A}</a:tableStyleId>
              </a:tblPr>
              <a:tblGrid>
                <a:gridCol w="1828800"/>
                <a:gridCol w="2651760"/>
                <a:gridCol w="4663440"/>
                <a:gridCol w="1828800"/>
              </a:tblGrid>
              <a:tr h="329184">
                <a:tc>
                  <a:txBody>
                    <a:bodyPr wrap="square"/>
                    <a:lstStyle/>
                    <a:p>
                      <a:r>
                        <a:rPr sz="1050" b="1">
                          <a:solidFill>
                            <a:srgbClr val="FFFFFF"/>
                          </a:solidFill>
                          <a:latin typeface="Arial"/>
                        </a:rPr>
                        <a:t>Topic</a:t>
                      </a:r>
                    </a:p>
                  </a:txBody>
                  <a:tcPr marL="64008" marR="64008" marT="36576" marB="36576" anchor="ctr">
                    <a:solidFill>
                      <a:srgbClr val="820AD1"/>
                    </a:solidFill>
                  </a:tcPr>
                </a:tc>
                <a:tc>
                  <a:txBody>
                    <a:bodyPr wrap="square"/>
                    <a:lstStyle/>
                    <a:p>
                      <a:r>
                        <a:rPr sz="1050" b="1">
                          <a:solidFill>
                            <a:srgbClr val="FFFFFF"/>
                          </a:solidFill>
                          <a:latin typeface="Arial"/>
                        </a:rPr>
                        <a:t>Source and class</a:t>
                      </a:r>
                    </a:p>
                  </a:txBody>
                  <a:tcPr marL="64008" marR="64008" marT="36576" marB="36576" anchor="ctr">
                    <a:solidFill>
                      <a:srgbClr val="820AD1"/>
                    </a:solidFill>
                  </a:tcPr>
                </a:tc>
                <a:tc>
                  <a:txBody>
                    <a:bodyPr wrap="square"/>
                    <a:lstStyle/>
                    <a:p>
                      <a:r>
                        <a:rPr sz="1050" b="1">
                          <a:solidFill>
                            <a:srgbClr val="FFFFFF"/>
                          </a:solidFill>
                          <a:latin typeface="Arial"/>
                        </a:rPr>
                        <a:t>Data point</a:t>
                      </a:r>
                    </a:p>
                  </a:txBody>
                  <a:tcPr marL="64008" marR="64008" marT="36576" marB="36576" anchor="ctr">
                    <a:solidFill>
                      <a:srgbClr val="820AD1"/>
                    </a:solidFill>
                  </a:tcPr>
                </a:tc>
                <a:tc>
                  <a:txBody>
                    <a:bodyPr wrap="square"/>
                    <a:lstStyle/>
                    <a:p>
                      <a:r>
                        <a:rPr sz="1050" b="1">
                          <a:solidFill>
                            <a:srgbClr val="FFFFFF"/>
                          </a:solidFill>
                          <a:latin typeface="Arial"/>
                        </a:rPr>
                        <a:t>Where it is used</a:t>
                      </a:r>
                    </a:p>
                  </a:txBody>
                  <a:tcPr marL="64008" marR="64008" marT="36576" marB="36576" anchor="ctr">
                    <a:solidFill>
                      <a:srgbClr val="820AD1"/>
                    </a:solidFill>
                  </a:tcPr>
                </a:tc>
              </a:tr>
              <a:tr h="530352">
                <a:tc>
                  <a:txBody>
                    <a:bodyPr wrap="square"/>
                    <a:lstStyle/>
                    <a:p>
                      <a:r>
                        <a:rPr sz="1000" b="1">
                          <a:solidFill>
                            <a:srgbClr val="11052C"/>
                          </a:solidFill>
                          <a:latin typeface="Arial"/>
                        </a:rPr>
                        <a:t>Nu scale and efficiency</a:t>
                      </a:r>
                    </a:p>
                  </a:txBody>
                  <a:tcPr marL="64008" marR="64008" marT="36576" marB="36576" anchor="ctr">
                    <a:solidFill>
                      <a:srgbClr val="FFFFFF"/>
                    </a:solidFill>
                  </a:tcPr>
                </a:tc>
                <a:tc>
                  <a:txBody>
                    <a:bodyPr wrap="square"/>
                    <a:lstStyle/>
                    <a:p>
                      <a:r>
                        <a:rPr sz="1000" b="0">
                          <a:solidFill>
                            <a:srgbClr val="3B2A54"/>
                          </a:solidFill>
                          <a:latin typeface="Arial"/>
                        </a:rPr>
                        <a:t>Nu Q2'26 release and 6-K; Form 20-F  |  FACT</a:t>
                      </a:r>
                    </a:p>
                  </a:txBody>
                  <a:tcPr marL="64008" marR="64008" marT="36576" marB="36576" anchor="ctr">
                    <a:solidFill>
                      <a:srgbClr val="FFFFFF"/>
                    </a:solidFill>
                  </a:tcPr>
                </a:tc>
                <a:tc>
                  <a:txBody>
                    <a:bodyPr wrap="square"/>
                    <a:lstStyle/>
                    <a:p>
                      <a:r>
                        <a:rPr sz="1000" b="0">
                          <a:solidFill>
                            <a:srgbClr val="3B2A54"/>
                          </a:solidFill>
                          <a:latin typeface="Arial"/>
                        </a:rPr>
                        <a:t>138.9M customers; ARPAC $17.1; cost to serve $1.0 ($0.8 a year earlier); efficiency ratio 19.5% (17.6% in Q1; ~20% FY26 per the call); ROE 33%; net income $1.06B; opex $806.2M; net revenue ~$4.1B; low-and-grow underwriting.</a:t>
                      </a:r>
                    </a:p>
                  </a:txBody>
                  <a:tcPr marL="64008" marR="64008" marT="36576" marB="36576" anchor="ctr">
                    <a:solidFill>
                      <a:srgbClr val="FFFFFF"/>
                    </a:solidFill>
                  </a:tcPr>
                </a:tc>
                <a:tc>
                  <a:txBody>
                    <a:bodyPr wrap="square"/>
                    <a:lstStyle/>
                    <a:p>
                      <a:r>
                        <a:rPr sz="1000" b="0">
                          <a:solidFill>
                            <a:srgbClr val="3B2A54"/>
                          </a:solidFill>
                          <a:latin typeface="Arial"/>
                        </a:rPr>
                        <a:t>Slides 3, 4, 6, 8, 13</a:t>
                      </a:r>
                    </a:p>
                  </a:txBody>
                  <a:tcPr marL="64008" marR="64008" marT="36576" marB="36576" anchor="ctr">
                    <a:solidFill>
                      <a:srgbClr val="FFFFFF"/>
                    </a:solidFill>
                  </a:tcPr>
                </a:tc>
              </a:tr>
              <a:tr h="682751">
                <a:tc>
                  <a:txBody>
                    <a:bodyPr wrap="square"/>
                    <a:lstStyle/>
                    <a:p>
                      <a:r>
                        <a:rPr sz="1000" b="1">
                          <a:solidFill>
                            <a:srgbClr val="11052C"/>
                          </a:solidFill>
                          <a:latin typeface="Arial"/>
                        </a:rPr>
                        <a:t>Corporate events</a:t>
                      </a:r>
                    </a:p>
                  </a:txBody>
                  <a:tcPr marL="64008" marR="64008" marT="36576" marB="36576" anchor="ctr">
                    <a:solidFill>
                      <a:srgbClr val="F7F2FD"/>
                    </a:solidFill>
                  </a:tcPr>
                </a:tc>
                <a:tc>
                  <a:txBody>
                    <a:bodyPr wrap="square"/>
                    <a:lstStyle/>
                    <a:p>
                      <a:r>
                        <a:rPr sz="1000" b="0">
                          <a:solidFill>
                            <a:srgbClr val="3B2A54"/>
                          </a:solidFill>
                          <a:latin typeface="Arial"/>
                        </a:rPr>
                        <a:t>Nu announcements; OCC; Nu IR  |  FACT</a:t>
                      </a:r>
                    </a:p>
                  </a:txBody>
                  <a:tcPr marL="64008" marR="64008" marT="36576" marB="36576" anchor="ctr">
                    <a:solidFill>
                      <a:srgbClr val="F7F2FD"/>
                    </a:solidFill>
                  </a:tcPr>
                </a:tc>
                <a:tc>
                  <a:txBody>
                    <a:bodyPr wrap="square"/>
                    <a:lstStyle/>
                    <a:p>
                      <a:r>
                        <a:rPr sz="1000" b="0">
                          <a:solidFill>
                            <a:srgbClr val="3B2A54"/>
                          </a:solidFill>
                          <a:latin typeface="Arial"/>
                        </a:rPr>
                        <a:t>Mexico bank authorization 10 Jul 2026 (operating from 6 Aug), $4.2B plan to 2030; OCC conditional approval 29 Jan 2026 (capital within 12 months); US launch via Lead Bank 10 Sep 2026; buyback up to $1.0B (4 Jun 2026); CFO since 13 Jul 2026; Q3'26 results 12 Nov; Investor Day 8 Dec 2026.</a:t>
                      </a:r>
                    </a:p>
                  </a:txBody>
                  <a:tcPr marL="64008" marR="64008" marT="36576" marB="36576" anchor="ctr">
                    <a:solidFill>
                      <a:srgbClr val="F7F2FD"/>
                    </a:solidFill>
                  </a:tcPr>
                </a:tc>
                <a:tc>
                  <a:txBody>
                    <a:bodyPr wrap="square"/>
                    <a:lstStyle/>
                    <a:p>
                      <a:r>
                        <a:rPr sz="1000" b="0">
                          <a:solidFill>
                            <a:srgbClr val="3B2A54"/>
                          </a:solidFill>
                          <a:latin typeface="Arial"/>
                        </a:rPr>
                        <a:t>Slides 8, 10, 14; backup B</a:t>
                      </a:r>
                    </a:p>
                  </a:txBody>
                  <a:tcPr marL="64008" marR="64008" marT="36576" marB="36576" anchor="ctr">
                    <a:solidFill>
                      <a:srgbClr val="F7F2FD"/>
                    </a:solidFill>
                  </a:tcPr>
                </a:tc>
              </a:tr>
              <a:tr h="329184">
                <a:tc>
                  <a:txBody>
                    <a:bodyPr wrap="square"/>
                    <a:lstStyle/>
                    <a:p>
                      <a:r>
                        <a:rPr sz="1000" b="1">
                          <a:solidFill>
                            <a:srgbClr val="11052C"/>
                          </a:solidFill>
                          <a:latin typeface="Arial"/>
                        </a:rPr>
                        <a:t>Cohorts</a:t>
                      </a:r>
                    </a:p>
                  </a:txBody>
                  <a:tcPr marL="64008" marR="64008" marT="36576" marB="36576" anchor="ctr">
                    <a:solidFill>
                      <a:srgbClr val="FFFFFF"/>
                    </a:solidFill>
                  </a:tcPr>
                </a:tc>
                <a:tc>
                  <a:txBody>
                    <a:bodyPr wrap="square"/>
                    <a:lstStyle/>
                    <a:p>
                      <a:r>
                        <a:rPr sz="1000" b="0">
                          <a:solidFill>
                            <a:srgbClr val="3B2A54"/>
                          </a:solidFill>
                          <a:latin typeface="Arial"/>
                        </a:rPr>
                        <a:t>Q1'26 earnings presentation  |  FACT</a:t>
                      </a:r>
                    </a:p>
                  </a:txBody>
                  <a:tcPr marL="64008" marR="64008" marT="36576" marB="36576" anchor="ctr">
                    <a:solidFill>
                      <a:srgbClr val="FFFFFF"/>
                    </a:solidFill>
                  </a:tcPr>
                </a:tc>
                <a:tc>
                  <a:txBody>
                    <a:bodyPr wrap="square"/>
                    <a:lstStyle/>
                    <a:p>
                      <a:r>
                        <a:rPr sz="1000" b="0">
                          <a:solidFill>
                            <a:srgbClr val="3B2A54"/>
                          </a:solidFill>
                          <a:latin typeface="Arial"/>
                        </a:rPr>
                        <a:t>$30.8 monthly ARPAC at 96 months since origination vs $15.9 total.</a:t>
                      </a:r>
                    </a:p>
                  </a:txBody>
                  <a:tcPr marL="64008" marR="64008" marT="36576" marB="36576" anchor="ctr">
                    <a:solidFill>
                      <a:srgbClr val="FFFFFF"/>
                    </a:solidFill>
                  </a:tcPr>
                </a:tc>
                <a:tc>
                  <a:txBody>
                    <a:bodyPr wrap="square"/>
                    <a:lstStyle/>
                    <a:p>
                      <a:r>
                        <a:rPr sz="1000" b="0">
                          <a:solidFill>
                            <a:srgbClr val="3B2A54"/>
                          </a:solidFill>
                          <a:latin typeface="Arial"/>
                        </a:rPr>
                        <a:t>Slide 8; backup E</a:t>
                      </a:r>
                    </a:p>
                  </a:txBody>
                  <a:tcPr marL="64008" marR="64008" marT="36576" marB="36576" anchor="ctr">
                    <a:solidFill>
                      <a:srgbClr val="FFFFFF"/>
                    </a:solidFill>
                  </a:tcPr>
                </a:tc>
              </a:tr>
              <a:tr h="377952">
                <a:tc>
                  <a:txBody>
                    <a:bodyPr wrap="square"/>
                    <a:lstStyle/>
                    <a:p>
                      <a:r>
                        <a:rPr sz="1000" b="1">
                          <a:solidFill>
                            <a:srgbClr val="11052C"/>
                          </a:solidFill>
                          <a:latin typeface="Arial"/>
                        </a:rPr>
                        <a:t>HQ tax rules</a:t>
                      </a:r>
                    </a:p>
                  </a:txBody>
                  <a:tcPr marL="64008" marR="64008" marT="36576" marB="36576" anchor="ctr">
                    <a:solidFill>
                      <a:srgbClr val="F7F2FD"/>
                    </a:solidFill>
                  </a:tcPr>
                </a:tc>
                <a:tc>
                  <a:txBody>
                    <a:bodyPr wrap="square"/>
                    <a:lstStyle/>
                    <a:p>
                      <a:r>
                        <a:rPr sz="1000" b="0">
                          <a:solidFill>
                            <a:srgbClr val="3B2A54"/>
                          </a:solidFill>
                          <a:latin typeface="Arial"/>
                        </a:rPr>
                        <a:t>OECD GloBE Model Rules  |  FACT (rule)</a:t>
                      </a:r>
                    </a:p>
                  </a:txBody>
                  <a:tcPr marL="64008" marR="64008" marT="36576" marB="36576" anchor="ctr">
                    <a:solidFill>
                      <a:srgbClr val="F7F2FD"/>
                    </a:solidFill>
                  </a:tcPr>
                </a:tc>
                <a:tc>
                  <a:txBody>
                    <a:bodyPr wrap="square"/>
                    <a:lstStyle/>
                    <a:p>
                      <a:r>
                        <a:rPr sz="1000" b="0">
                          <a:solidFill>
                            <a:srgbClr val="3B2A54"/>
                          </a:solidFill>
                          <a:latin typeface="Arial"/>
                        </a:rPr>
                        <a:t>EUR 750M threshold; 15% minimum; 2026 transitional carve-out 9.4% of payroll and 7.4% of tangible assets (Art. 5.3, 9.2).</a:t>
                      </a:r>
                    </a:p>
                  </a:txBody>
                  <a:tcPr marL="64008" marR="64008" marT="36576" marB="36576" anchor="ctr">
                    <a:solidFill>
                      <a:srgbClr val="F7F2FD"/>
                    </a:solidFill>
                  </a:tcPr>
                </a:tc>
                <a:tc>
                  <a:txBody>
                    <a:bodyPr wrap="square"/>
                    <a:lstStyle/>
                    <a:p>
                      <a:r>
                        <a:rPr sz="1000" b="0">
                          <a:solidFill>
                            <a:srgbClr val="3B2A54"/>
                          </a:solidFill>
                          <a:latin typeface="Arial"/>
                        </a:rPr>
                        <a:t>Slide 11</a:t>
                      </a:r>
                    </a:p>
                  </a:txBody>
                  <a:tcPr marL="64008" marR="64008" marT="36576" marB="36576" anchor="ctr">
                    <a:solidFill>
                      <a:srgbClr val="F7F2FD"/>
                    </a:solidFill>
                  </a:tcPr>
                </a:tc>
              </a:tr>
              <a:tr h="682751">
                <a:tc>
                  <a:txBody>
                    <a:bodyPr wrap="square"/>
                    <a:lstStyle/>
                    <a:p>
                      <a:r>
                        <a:rPr sz="1000" b="1">
                          <a:solidFill>
                            <a:srgbClr val="11052C"/>
                          </a:solidFill>
                          <a:latin typeface="Arial"/>
                        </a:rPr>
                        <a:t>Context only</a:t>
                      </a:r>
                    </a:p>
                  </a:txBody>
                  <a:tcPr marL="64008" marR="64008" marT="36576" marB="36576" anchor="ctr">
                    <a:solidFill>
                      <a:srgbClr val="FFFFFF"/>
                    </a:solidFill>
                  </a:tcPr>
                </a:tc>
                <a:tc>
                  <a:txBody>
                    <a:bodyPr wrap="square"/>
                    <a:lstStyle/>
                    <a:p>
                      <a:r>
                        <a:rPr sz="1000" b="0">
                          <a:solidFill>
                            <a:srgbClr val="3B2A54"/>
                          </a:solidFill>
                          <a:latin typeface="Arial"/>
                        </a:rPr>
                        <a:t>Hackett, McKinsey, Gartner, HBR, NACD, Deloitte, Baker McKenzie; three-horizons framing (Baghai, Coley and White)  |  CONTEXT</a:t>
                      </a:r>
                    </a:p>
                  </a:txBody>
                  <a:tcPr marL="64008" marR="64008" marT="36576" marB="36576" anchor="ctr">
                    <a:solidFill>
                      <a:srgbClr val="FFFFFF"/>
                    </a:solidFill>
                  </a:tcPr>
                </a:tc>
                <a:tc>
                  <a:txBody>
                    <a:bodyPr wrap="square"/>
                    <a:lstStyle/>
                    <a:p>
                      <a:r>
                        <a:rPr sz="1000" b="0">
                          <a:solidFill>
                            <a:srgbClr val="3B2A54"/>
                          </a:solidFill>
                          <a:latin typeface="Arial"/>
                        </a:rPr>
                        <a:t>Central hubs shorten planning cycles; active reallocators earn higher returns; fair process wins acceptance; Board books at T-7.</a:t>
                      </a:r>
                    </a:p>
                  </a:txBody>
                  <a:tcPr marL="64008" marR="64008" marT="36576" marB="36576" anchor="ctr">
                    <a:solidFill>
                      <a:srgbClr val="FFFFFF"/>
                    </a:solidFill>
                  </a:tcPr>
                </a:tc>
                <a:tc>
                  <a:txBody>
                    <a:bodyPr wrap="square"/>
                    <a:lstStyle/>
                    <a:p>
                      <a:r>
                        <a:rPr sz="1000" b="0">
                          <a:solidFill>
                            <a:srgbClr val="3B2A54"/>
                          </a:solidFill>
                          <a:latin typeface="Arial"/>
                        </a:rPr>
                        <a:t>Footers and talk only</a:t>
                      </a:r>
                    </a:p>
                  </a:txBody>
                  <a:tcPr marL="64008" marR="64008" marT="36576" marB="36576" anchor="ctr">
                    <a:solidFill>
                      <a:srgbClr val="FFFFFF"/>
                    </a:solidFill>
                  </a:tcPr>
                </a:tc>
              </a:tr>
              <a:tr h="530352">
                <a:tc>
                  <a:txBody>
                    <a:bodyPr wrap="square"/>
                    <a:lstStyle/>
                    <a:p>
                      <a:r>
                        <a:rPr sz="1000" b="1">
                          <a:solidFill>
                            <a:srgbClr val="11052C"/>
                          </a:solidFill>
                          <a:latin typeface="Arial"/>
                        </a:rPr>
                        <a:t>AI in operations</a:t>
                      </a:r>
                    </a:p>
                  </a:txBody>
                  <a:tcPr marL="64008" marR="64008" marT="36576" marB="36576" anchor="ctr">
                    <a:solidFill>
                      <a:srgbClr val="F7F2FD"/>
                    </a:solidFill>
                  </a:tcPr>
                </a:tc>
                <a:tc>
                  <a:txBody>
                    <a:bodyPr wrap="square"/>
                    <a:lstStyle/>
                    <a:p>
                      <a:r>
                        <a:rPr sz="1000" b="0">
                          <a:solidFill>
                            <a:srgbClr val="3B2A54"/>
                          </a:solidFill>
                          <a:latin typeface="Arial"/>
                        </a:rPr>
                        <a:t>Nu Q2'26 release; Nu newsroom (Hyperplane, Jun 2024)  |  FACT. Gartner; PMI; Science; HBS/BCG  |  CONTEXT</a:t>
                      </a:r>
                    </a:p>
                  </a:txBody>
                  <a:tcPr marL="64008" marR="64008" marT="36576" marB="36576" anchor="ctr">
                    <a:solidFill>
                      <a:srgbClr val="F7F2FD"/>
                    </a:solidFill>
                  </a:tcPr>
                </a:tc>
                <a:tc>
                  <a:txBody>
                    <a:bodyPr wrap="square"/>
                    <a:lstStyle/>
                    <a:p>
                      <a:r>
                        <a:rPr sz="1000" b="0">
                          <a:solidFill>
                            <a:srgbClr val="3B2A54"/>
                          </a:solidFill>
                          <a:latin typeface="Arial"/>
                        </a:rPr>
                        <a:t>AI agents handle more than 60% of support chats in Brazil; AI-first strategy. Studies and surveys on AI in project reporting, writing and finance (backup H).</a:t>
                      </a:r>
                    </a:p>
                  </a:txBody>
                  <a:tcPr marL="64008" marR="64008" marT="36576" marB="36576" anchor="ctr">
                    <a:solidFill>
                      <a:srgbClr val="F7F2FD"/>
                    </a:solidFill>
                  </a:tcPr>
                </a:tc>
                <a:tc>
                  <a:txBody>
                    <a:bodyPr wrap="square"/>
                    <a:lstStyle/>
                    <a:p>
                      <a:r>
                        <a:rPr sz="1000" b="0">
                          <a:solidFill>
                            <a:srgbClr val="3B2A54"/>
                          </a:solidFill>
                          <a:latin typeface="Arial"/>
                        </a:rPr>
                        <a:t>Slides 7, 10, 11, 12; backup H</a:t>
                      </a:r>
                    </a:p>
                  </a:txBody>
                  <a:tcPr marL="64008" marR="64008" marT="36576" marB="36576" anchor="ctr">
                    <a:solidFill>
                      <a:srgbClr val="F7F2FD"/>
                    </a:solidFill>
                  </a:tcPr>
                </a:tc>
              </a:tr>
            </a:tbl>
          </a:graphicData>
        </a:graphic>
      </p:graphicFrame>
      <p:sp>
        <p:nvSpPr>
          <p:cNvPr id="5" name="TextBox 4"/>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Research assisted by AI tools; every figure, calculation and recommendation was checked by me.</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E</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Full-year split: core markets protect the year, new bets earn the reserve</a:t>
            </a:r>
          </a:p>
        </p:txBody>
      </p:sp>
      <p:sp>
        <p:nvSpPr>
          <p:cNvPr id="4" name="Rounded Rectangle 3"/>
          <p:cNvSpPr/>
          <p:nvPr/>
        </p:nvSpPr>
        <p:spPr>
          <a:xfrm>
            <a:off x="612648"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CORE MARKETS  //  BRAZIL, MEXICO, COLOMBIA</a:t>
            </a:r>
          </a:p>
          <a:p>
            <a:pPr algn="l">
              <a:spcAft>
                <a:spcPts val="600"/>
              </a:spcAft>
            </a:pPr>
            <a:r>
              <a:rPr sz="1500" b="1">
                <a:solidFill>
                  <a:srgbClr val="11052C"/>
                </a:solidFill>
                <a:latin typeface="Arial"/>
              </a:rPr>
              <a:t>$16.5M in the cap, plus up to $5.0M from the reserve</a:t>
            </a:r>
          </a:p>
          <a:p>
            <a:pPr algn="l">
              <a:spcAft>
                <a:spcPts val="400"/>
              </a:spcAft>
            </a:pPr>
            <a:r>
              <a:rPr sz="1250" b="0">
                <a:solidFill>
                  <a:srgbClr val="3B2A54"/>
                </a:solidFill>
                <a:latin typeface="Arial"/>
              </a:rPr>
              <a:t>70% of the first release: $10.5M on 1 January.</a:t>
            </a:r>
          </a:p>
          <a:p>
            <a:pPr algn="l">
              <a:spcAft>
                <a:spcPts val="400"/>
              </a:spcAft>
            </a:pPr>
            <a:r>
              <a:rPr sz="1250" b="0">
                <a:solidFill>
                  <a:srgbClr val="3B2A54"/>
                </a:solidFill>
                <a:latin typeface="Arial"/>
              </a:rPr>
              <a:t>Mature cohorts reach about $31 of monthly ARPAC at eight years ($30.8 at 96 months, Q1'26) against $17.1 for the group, at 33% ROE.</a:t>
            </a:r>
          </a:p>
        </p:txBody>
      </p:sp>
      <p:sp>
        <p:nvSpPr>
          <p:cNvPr id="6" name="Rounded Rectangle 5"/>
          <p:cNvSpPr/>
          <p:nvPr/>
        </p:nvSpPr>
        <p:spPr>
          <a:xfrm>
            <a:off x="6126480"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36208"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NEW BETS  //  NEW VERTICALS AND MARKETS</a:t>
            </a:r>
          </a:p>
          <a:p>
            <a:pPr algn="l">
              <a:spcAft>
                <a:spcPts val="600"/>
              </a:spcAft>
            </a:pPr>
            <a:r>
              <a:rPr sz="1500" b="1">
                <a:solidFill>
                  <a:srgbClr val="11052C"/>
                </a:solidFill>
                <a:latin typeface="Arial"/>
              </a:rPr>
              <a:t>$8.5M in the cap, plus up to $10.0M from the reserve</a:t>
            </a:r>
          </a:p>
          <a:p>
            <a:pPr algn="l">
              <a:spcAft>
                <a:spcPts val="400"/>
              </a:spcAft>
            </a:pPr>
            <a:r>
              <a:rPr sz="1250" b="0">
                <a:solidFill>
                  <a:srgbClr val="3B2A54"/>
                </a:solidFill>
                <a:latin typeface="Arial"/>
              </a:rPr>
              <a:t>30% of the first release: $4.5M on 1 January.</a:t>
            </a:r>
          </a:p>
          <a:p>
            <a:pPr algn="l">
              <a:spcAft>
                <a:spcPts val="400"/>
              </a:spcAft>
            </a:pPr>
            <a:r>
              <a:rPr sz="1250" b="0">
                <a:solidFill>
                  <a:srgbClr val="3B2A54"/>
                </a:solidFill>
                <a:latin typeface="Arial"/>
              </a:rPr>
              <a:t>Judged on activation, retention and unit cost until a cohort can show payback. First claim on up to $14M across the second release and the reserve, if it opens.</a:t>
            </a:r>
          </a:p>
        </p:txBody>
      </p:sp>
      <p:sp>
        <p:nvSpPr>
          <p:cNvPr id="8" name="Rounded Rectangle 7"/>
          <p:cNvSpPr/>
          <p:nvPr/>
        </p:nvSpPr>
        <p:spPr>
          <a:xfrm>
            <a:off x="612648" y="4983480"/>
            <a:ext cx="10789920" cy="82296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5074920"/>
            <a:ext cx="10424160" cy="676656"/>
          </a:xfrm>
          <a:prstGeom prst="rect">
            <a:avLst/>
          </a:prstGeom>
          <a:noFill/>
        </p:spPr>
        <p:txBody>
          <a:bodyPr wrap="square" anchor="ctr">
            <a:spAutoFit/>
          </a:bodyPr>
          <a:lstStyle/>
          <a:p>
            <a:pPr algn="l"/>
            <a:r>
              <a:rPr sz="1300" b="0">
                <a:solidFill>
                  <a:srgbClr val="11052C"/>
                </a:solidFill>
                <a:latin typeface="Arial"/>
              </a:rPr>
              <a:t>A new bet judged on mature-market profit in its first quarter always loses. The horizon split is a frame, not evidence.</a:t>
            </a:r>
          </a:p>
        </p:txBody>
      </p:sp>
      <p:sp>
        <p:nvSpPr>
          <p:cNvPr id="10" name="TextBox 9"/>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F</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timeline: tenure days, Board countdown and HQ gates</a:t>
            </a:r>
          </a:p>
        </p:txBody>
      </p:sp>
      <p:graphicFrame>
        <p:nvGraphicFramePr>
          <p:cNvPr id="4" name="Table 3"/>
          <p:cNvGraphicFramePr>
            <a:graphicFrameLocks noGrp="1"/>
          </p:cNvGraphicFramePr>
          <p:nvPr/>
        </p:nvGraphicFramePr>
        <p:xfrm>
          <a:off x="612648" y="1371600"/>
          <a:ext cx="10972800" cy="4608576"/>
        </p:xfrm>
        <a:graphic>
          <a:graphicData uri="http://schemas.openxmlformats.org/drawingml/2006/table">
            <a:tbl>
              <a:tblPr>
                <a:tableStyleId>{5C22544A-7EE6-4342-B048-85BDC9FD1C3A}</a:tableStyleId>
              </a:tblPr>
              <a:tblGrid>
                <a:gridCol w="1371600"/>
                <a:gridCol w="2103120"/>
                <a:gridCol w="2468880"/>
                <a:gridCol w="5029200"/>
              </a:tblGrid>
              <a:tr h="329184">
                <a:tc>
                  <a:txBody>
                    <a:bodyPr wrap="square"/>
                    <a:lstStyle/>
                    <a:p>
                      <a:r>
                        <a:rPr sz="1050" b="1">
                          <a:solidFill>
                            <a:srgbClr val="FFFFFF"/>
                          </a:solidFill>
                          <a:latin typeface="Arial"/>
                        </a:rPr>
                        <a:t>Tenure day</a:t>
                      </a:r>
                    </a:p>
                  </a:txBody>
                  <a:tcPr marL="64008" marR="64008" marT="36576" marB="36576" anchor="ctr">
                    <a:solidFill>
                      <a:srgbClr val="820AD1"/>
                    </a:solidFill>
                  </a:tcPr>
                </a:tc>
                <a:tc>
                  <a:txBody>
                    <a:bodyPr wrap="square"/>
                    <a:lstStyle/>
                    <a:p>
                      <a:r>
                        <a:rPr sz="1050" b="1">
                          <a:solidFill>
                            <a:srgbClr val="FFFFFF"/>
                          </a:solidFill>
                          <a:latin typeface="Arial"/>
                        </a:rPr>
                        <a:t>Date</a:t>
                      </a:r>
                    </a:p>
                  </a:txBody>
                  <a:tcPr marL="64008" marR="64008" marT="36576" marB="36576" anchor="ctr">
                    <a:solidFill>
                      <a:srgbClr val="820AD1"/>
                    </a:solidFill>
                  </a:tcPr>
                </a:tc>
                <a:tc>
                  <a:txBody>
                    <a:bodyPr wrap="square"/>
                    <a:lstStyle/>
                    <a:p>
                      <a:r>
                        <a:rPr sz="1050" b="1">
                          <a:solidFill>
                            <a:srgbClr val="FFFFFF"/>
                          </a:solidFill>
                          <a:latin typeface="Arial"/>
                        </a:rPr>
                        <a:t>Board countdown / HQ gate</a:t>
                      </a:r>
                    </a:p>
                  </a:txBody>
                  <a:tcPr marL="64008" marR="64008" marT="36576" marB="36576" anchor="ctr">
                    <a:solidFill>
                      <a:srgbClr val="820AD1"/>
                    </a:solidFill>
                  </a:tcPr>
                </a:tc>
                <a:tc>
                  <a:txBody>
                    <a:bodyPr wrap="square"/>
                    <a:lstStyle/>
                    <a:p>
                      <a:r>
                        <a:rPr sz="1050" b="1">
                          <a:solidFill>
                            <a:srgbClr val="FFFFFF"/>
                          </a:solidFill>
                          <a:latin typeface="Arial"/>
                        </a:rPr>
                        <a:t>What happens</a:t>
                      </a:r>
                    </a:p>
                  </a:txBody>
                  <a:tcPr marL="64008" marR="64008" marT="36576" marB="36576" anchor="ctr">
                    <a:solidFill>
                      <a:srgbClr val="820AD1"/>
                    </a:solidFill>
                  </a:tcPr>
                </a:tc>
              </a:tr>
              <a:tr h="329184">
                <a:tc>
                  <a:txBody>
                    <a:bodyPr wrap="square"/>
                    <a:lstStyle/>
                    <a:p>
                      <a:r>
                        <a:rPr sz="1050" b="1">
                          <a:solidFill>
                            <a:srgbClr val="11052C"/>
                          </a:solidFill>
                          <a:latin typeface="Arial"/>
                        </a:rPr>
                        <a:t>Day 60</a:t>
                      </a:r>
                    </a:p>
                  </a:txBody>
                  <a:tcPr marL="64008" marR="64008" marT="36576" marB="36576" anchor="ctr">
                    <a:solidFill>
                      <a:srgbClr val="FFFFFF"/>
                    </a:solidFill>
                  </a:tcPr>
                </a:tc>
                <a:tc>
                  <a:txBody>
                    <a:bodyPr wrap="square"/>
                    <a:lstStyle/>
                    <a:p>
                      <a:r>
                        <a:rPr sz="1050" b="0">
                          <a:solidFill>
                            <a:srgbClr val="3B2A54"/>
                          </a:solidFill>
                          <a:latin typeface="Arial"/>
                        </a:rPr>
                        <a:t>Tue 20 Oct</a:t>
                      </a:r>
                    </a:p>
                  </a:txBody>
                  <a:tcPr marL="64008" marR="64008" marT="36576" marB="36576" anchor="ctr">
                    <a:solidFill>
                      <a:srgbClr val="FFFFFF"/>
                    </a:solidFill>
                  </a:tcPr>
                </a:tc>
                <a:tc>
                  <a:txBody>
                    <a:bodyPr wrap="square"/>
                    <a:lstStyle/>
                    <a:p>
                      <a:r>
                        <a:rPr sz="1050" b="0">
                          <a:solidFill>
                            <a:srgbClr val="3B2A54"/>
                          </a:solidFill>
                          <a:latin typeface="Arial"/>
                        </a:rPr>
                        <a:t>T-28  |  HQ D+0</a:t>
                      </a:r>
                    </a:p>
                  </a:txBody>
                  <a:tcPr marL="64008" marR="64008" marT="36576" marB="36576" anchor="ctr">
                    <a:solidFill>
                      <a:srgbClr val="FFFFFF"/>
                    </a:solidFill>
                  </a:tcPr>
                </a:tc>
                <a:tc>
                  <a:txBody>
                    <a:bodyPr wrap="square"/>
                    <a:lstStyle/>
                    <a:p>
                      <a:r>
                        <a:rPr sz="1050" b="0">
                          <a:solidFill>
                            <a:srgbClr val="3B2A54"/>
                          </a:solidFill>
                          <a:latin typeface="Arial"/>
                        </a:rPr>
                        <a:t>Board outline out; HQ charter signed; tax gate launched</a:t>
                      </a:r>
                    </a:p>
                  </a:txBody>
                  <a:tcPr marL="64008" marR="64008" marT="36576" marB="36576" anchor="ctr">
                    <a:solidFill>
                      <a:srgbClr val="FFFFFF"/>
                    </a:solidFill>
                  </a:tcPr>
                </a:tc>
              </a:tr>
              <a:tr h="329184">
                <a:tc>
                  <a:txBody>
                    <a:bodyPr wrap="square"/>
                    <a:lstStyle/>
                    <a:p>
                      <a:r>
                        <a:rPr sz="1050" b="1">
                          <a:solidFill>
                            <a:srgbClr val="11052C"/>
                          </a:solidFill>
                          <a:latin typeface="Arial"/>
                        </a:rPr>
                        <a:t>Day 67</a:t>
                      </a:r>
                    </a:p>
                  </a:txBody>
                  <a:tcPr marL="64008" marR="64008" marT="36576" marB="36576" anchor="ctr">
                    <a:solidFill>
                      <a:srgbClr val="F7F2FD"/>
                    </a:solidFill>
                  </a:tcPr>
                </a:tc>
                <a:tc>
                  <a:txBody>
                    <a:bodyPr wrap="square"/>
                    <a:lstStyle/>
                    <a:p>
                      <a:r>
                        <a:rPr sz="1050" b="0">
                          <a:solidFill>
                            <a:srgbClr val="3B2A54"/>
                          </a:solidFill>
                          <a:latin typeface="Arial"/>
                        </a:rPr>
                        <a:t>Tue 27 Oct</a:t>
                      </a:r>
                    </a:p>
                  </a:txBody>
                  <a:tcPr marL="64008" marR="64008" marT="36576" marB="36576" anchor="ctr">
                    <a:solidFill>
                      <a:srgbClr val="F7F2FD"/>
                    </a:solidFill>
                  </a:tcPr>
                </a:tc>
                <a:tc>
                  <a:txBody>
                    <a:bodyPr wrap="square"/>
                    <a:lstStyle/>
                    <a:p>
                      <a:r>
                        <a:rPr sz="1050" b="0">
                          <a:solidFill>
                            <a:srgbClr val="3B2A54"/>
                          </a:solidFill>
                          <a:latin typeface="Arial"/>
                        </a:rPr>
                        <a:t>T-21</a:t>
                      </a:r>
                    </a:p>
                  </a:txBody>
                  <a:tcPr marL="64008" marR="64008" marT="36576" marB="36576" anchor="ctr">
                    <a:solidFill>
                      <a:srgbClr val="F7F2FD"/>
                    </a:solidFill>
                  </a:tcPr>
                </a:tc>
                <a:tc>
                  <a:txBody>
                    <a:bodyPr wrap="square"/>
                    <a:lstStyle/>
                    <a:p>
                      <a:r>
                        <a:rPr sz="1050" b="0">
                          <a:solidFill>
                            <a:srgbClr val="3B2A54"/>
                          </a:solidFill>
                          <a:latin typeface="Arial"/>
                        </a:rPr>
                        <a:t>One-to-ones with each executive</a:t>
                      </a:r>
                    </a:p>
                  </a:txBody>
                  <a:tcPr marL="64008" marR="64008" marT="36576" marB="36576" anchor="ctr">
                    <a:solidFill>
                      <a:srgbClr val="F7F2FD"/>
                    </a:solidFill>
                  </a:tcPr>
                </a:tc>
              </a:tr>
              <a:tr h="329184">
                <a:tc>
                  <a:txBody>
                    <a:bodyPr wrap="square"/>
                    <a:lstStyle/>
                    <a:p>
                      <a:r>
                        <a:rPr sz="1050" b="1">
                          <a:solidFill>
                            <a:srgbClr val="11052C"/>
                          </a:solidFill>
                          <a:latin typeface="Arial"/>
                        </a:rPr>
                        <a:t>Day 72</a:t>
                      </a:r>
                    </a:p>
                  </a:txBody>
                  <a:tcPr marL="64008" marR="64008" marT="36576" marB="36576" anchor="ctr">
                    <a:solidFill>
                      <a:srgbClr val="FFFFFF"/>
                    </a:solidFill>
                  </a:tcPr>
                </a:tc>
                <a:tc>
                  <a:txBody>
                    <a:bodyPr wrap="square"/>
                    <a:lstStyle/>
                    <a:p>
                      <a:r>
                        <a:rPr sz="1050" b="0">
                          <a:solidFill>
                            <a:srgbClr val="3B2A54"/>
                          </a:solidFill>
                          <a:latin typeface="Arial"/>
                        </a:rPr>
                        <a:t>Early Nov</a:t>
                      </a:r>
                    </a:p>
                  </a:txBody>
                  <a:tcPr marL="64008" marR="64008" marT="36576" marB="36576" anchor="ctr">
                    <a:solidFill>
                      <a:srgbClr val="FFFFFF"/>
                    </a:solidFill>
                  </a:tcPr>
                </a:tc>
                <a:tc>
                  <a:txBody>
                    <a:bodyPr wrap="square"/>
                    <a:lstStyle/>
                    <a:p>
                      <a:r>
                        <a:rPr sz="1050" b="0">
                          <a:solidFill>
                            <a:srgbClr val="3B2A54"/>
                          </a:solidFill>
                          <a:latin typeface="Arial"/>
                        </a:rPr>
                        <a:t>T-16</a:t>
                      </a:r>
                    </a:p>
                  </a:txBody>
                  <a:tcPr marL="64008" marR="64008" marT="36576" marB="36576" anchor="ctr">
                    <a:solidFill>
                      <a:srgbClr val="FFFFFF"/>
                    </a:solidFill>
                  </a:tcPr>
                </a:tc>
                <a:tc>
                  <a:txBody>
                    <a:bodyPr wrap="square"/>
                    <a:lstStyle/>
                    <a:p>
                      <a:r>
                        <a:rPr sz="1050" b="0">
                          <a:solidFill>
                            <a:srgbClr val="3B2A54"/>
                          </a:solidFill>
                          <a:latin typeface="Arial"/>
                        </a:rPr>
                        <a:t>Capital options lock with CEO, CFO and MTeam</a:t>
                      </a:r>
                    </a:p>
                  </a:txBody>
                  <a:tcPr marL="64008" marR="64008" marT="36576" marB="36576" anchor="ctr">
                    <a:solidFill>
                      <a:srgbClr val="FFFFFF"/>
                    </a:solidFill>
                  </a:tcPr>
                </a:tc>
              </a:tr>
              <a:tr h="329184">
                <a:tc>
                  <a:txBody>
                    <a:bodyPr wrap="square"/>
                    <a:lstStyle/>
                    <a:p>
                      <a:r>
                        <a:rPr sz="1050" b="1">
                          <a:solidFill>
                            <a:srgbClr val="11052C"/>
                          </a:solidFill>
                          <a:latin typeface="Arial"/>
                        </a:rPr>
                        <a:t>Day 78-81</a:t>
                      </a:r>
                    </a:p>
                  </a:txBody>
                  <a:tcPr marL="64008" marR="64008" marT="36576" marB="36576" anchor="ctr">
                    <a:solidFill>
                      <a:srgbClr val="F7F2FD"/>
                    </a:solidFill>
                  </a:tcPr>
                </a:tc>
                <a:tc>
                  <a:txBody>
                    <a:bodyPr wrap="square"/>
                    <a:lstStyle/>
                    <a:p>
                      <a:r>
                        <a:rPr sz="1050" b="0">
                          <a:solidFill>
                            <a:srgbClr val="3B2A54"/>
                          </a:solidFill>
                          <a:latin typeface="Arial"/>
                        </a:rPr>
                        <a:t>Early Nov</a:t>
                      </a:r>
                    </a:p>
                  </a:txBody>
                  <a:tcPr marL="64008" marR="64008" marT="36576" marB="36576" anchor="ctr">
                    <a:solidFill>
                      <a:srgbClr val="F7F2FD"/>
                    </a:solidFill>
                  </a:tcPr>
                </a:tc>
                <a:tc>
                  <a:txBody>
                    <a:bodyPr wrap="square"/>
                    <a:lstStyle/>
                    <a:p>
                      <a:r>
                        <a:rPr sz="1050" b="0">
                          <a:solidFill>
                            <a:srgbClr val="3B2A54"/>
                          </a:solidFill>
                          <a:latin typeface="Arial"/>
                        </a:rPr>
                        <a:t>T-10 to T-7</a:t>
                      </a:r>
                    </a:p>
                  </a:txBody>
                  <a:tcPr marL="64008" marR="64008" marT="36576" marB="36576" anchor="ctr">
                    <a:solidFill>
                      <a:srgbClr val="F7F2FD"/>
                    </a:solidFill>
                  </a:tcPr>
                </a:tc>
                <a:tc>
                  <a:txBody>
                    <a:bodyPr wrap="square"/>
                    <a:lstStyle/>
                    <a:p>
                      <a:r>
                        <a:rPr sz="1050" b="0">
                          <a:solidFill>
                            <a:srgbClr val="3B2A54"/>
                          </a:solidFill>
                          <a:latin typeface="Arial"/>
                        </a:rPr>
                        <a:t>Inputs freeze; chairs briefed (T-9); book on portal (T-7)</a:t>
                      </a:r>
                    </a:p>
                  </a:txBody>
                  <a:tcPr marL="64008" marR="64008" marT="36576" marB="36576" anchor="ctr">
                    <a:solidFill>
                      <a:srgbClr val="F7F2FD"/>
                    </a:solidFill>
                  </a:tcPr>
                </a:tc>
              </a:tr>
              <a:tr h="329184">
                <a:tc>
                  <a:txBody>
                    <a:bodyPr wrap="square"/>
                    <a:lstStyle/>
                    <a:p>
                      <a:r>
                        <a:rPr sz="1050" b="1">
                          <a:solidFill>
                            <a:srgbClr val="11052C"/>
                          </a:solidFill>
                          <a:latin typeface="Arial"/>
                        </a:rPr>
                        <a:t>Day 88</a:t>
                      </a:r>
                    </a:p>
                  </a:txBody>
                  <a:tcPr marL="64008" marR="64008" marT="36576" marB="36576" anchor="ctr">
                    <a:solidFill>
                      <a:srgbClr val="FFFFFF"/>
                    </a:solidFill>
                  </a:tcPr>
                </a:tc>
                <a:tc>
                  <a:txBody>
                    <a:bodyPr wrap="square"/>
                    <a:lstStyle/>
                    <a:p>
                      <a:r>
                        <a:rPr sz="1050" b="0">
                          <a:solidFill>
                            <a:srgbClr val="3B2A54"/>
                          </a:solidFill>
                          <a:latin typeface="Arial"/>
                        </a:rPr>
                        <a:t>Tue 17 Nov (assumed)</a:t>
                      </a:r>
                    </a:p>
                  </a:txBody>
                  <a:tcPr marL="64008" marR="64008" marT="36576" marB="36576" anchor="ctr">
                    <a:solidFill>
                      <a:srgbClr val="FFFFFF"/>
                    </a:solidFill>
                  </a:tcPr>
                </a:tc>
                <a:tc>
                  <a:txBody>
                    <a:bodyPr wrap="square"/>
                    <a:lstStyle/>
                    <a:p>
                      <a:r>
                        <a:rPr sz="1050" b="0">
                          <a:solidFill>
                            <a:srgbClr val="3B2A54"/>
                          </a:solidFill>
                          <a:latin typeface="Arial"/>
                        </a:rPr>
                        <a:t>T-0</a:t>
                      </a:r>
                    </a:p>
                  </a:txBody>
                  <a:tcPr marL="64008" marR="64008" marT="36576" marB="36576" anchor="ctr">
                    <a:solidFill>
                      <a:srgbClr val="FFFFFF"/>
                    </a:solidFill>
                  </a:tcPr>
                </a:tc>
                <a:tc>
                  <a:txBody>
                    <a:bodyPr wrap="square"/>
                    <a:lstStyle/>
                    <a:p>
                      <a:r>
                        <a:rPr sz="1050" b="0">
                          <a:solidFill>
                            <a:srgbClr val="3B2A54"/>
                          </a:solidFill>
                          <a:latin typeface="Arial"/>
                        </a:rPr>
                        <a:t>Board approves FY27 plan; first-release allocation published</a:t>
                      </a:r>
                    </a:p>
                  </a:txBody>
                  <a:tcPr marL="64008" marR="64008" marT="36576" marB="36576" anchor="ctr">
                    <a:solidFill>
                      <a:srgbClr val="FFFFFF"/>
                    </a:solidFill>
                  </a:tcPr>
                </a:tc>
              </a:tr>
              <a:tr h="329184">
                <a:tc>
                  <a:txBody>
                    <a:bodyPr wrap="square"/>
                    <a:lstStyle/>
                    <a:p>
                      <a:r>
                        <a:rPr sz="1050" b="1">
                          <a:solidFill>
                            <a:srgbClr val="11052C"/>
                          </a:solidFill>
                          <a:latin typeface="Arial"/>
                        </a:rPr>
                        <a:t>Day 90</a:t>
                      </a:r>
                    </a:p>
                  </a:txBody>
                  <a:tcPr marL="64008" marR="64008" marT="36576" marB="36576" anchor="ctr">
                    <a:solidFill>
                      <a:srgbClr val="F7F2FD"/>
                    </a:solidFill>
                  </a:tcPr>
                </a:tc>
                <a:tc>
                  <a:txBody>
                    <a:bodyPr wrap="square"/>
                    <a:lstStyle/>
                    <a:p>
                      <a:r>
                        <a:rPr sz="1050" b="0">
                          <a:solidFill>
                            <a:srgbClr val="3B2A54"/>
                          </a:solidFill>
                          <a:latin typeface="Arial"/>
                        </a:rPr>
                        <a:t>Thu 19 Nov</a:t>
                      </a:r>
                    </a:p>
                  </a:txBody>
                  <a:tcPr marL="64008" marR="64008" marT="36576" marB="36576" anchor="ctr">
                    <a:solidFill>
                      <a:srgbClr val="F7F2FD"/>
                    </a:solidFill>
                  </a:tcPr>
                </a:tc>
                <a:tc>
                  <a:txBody>
                    <a:bodyPr wrap="square"/>
                    <a:lstStyle/>
                    <a:p>
                      <a:r>
                        <a:rPr sz="1050" b="0">
                          <a:solidFill>
                            <a:srgbClr val="3B2A54"/>
                          </a:solidFill>
                          <a:latin typeface="Arial"/>
                        </a:rPr>
                        <a:t>HQ D+30</a:t>
                      </a:r>
                    </a:p>
                  </a:txBody>
                  <a:tcPr marL="64008" marR="64008" marT="36576" marB="36576" anchor="ctr">
                    <a:solidFill>
                      <a:srgbClr val="F7F2FD"/>
                    </a:solidFill>
                  </a:tcPr>
                </a:tc>
                <a:tc>
                  <a:txBody>
                    <a:bodyPr wrap="square"/>
                    <a:lstStyle/>
                    <a:p>
                      <a:r>
                        <a:rPr sz="1050" b="0">
                          <a:solidFill>
                            <a:srgbClr val="3B2A54"/>
                          </a:solidFill>
                          <a:latin typeface="Arial"/>
                        </a:rPr>
                        <a:t>Gate 1: tax substance test</a:t>
                      </a:r>
                    </a:p>
                  </a:txBody>
                  <a:tcPr marL="64008" marR="64008" marT="36576" marB="36576" anchor="ctr">
                    <a:solidFill>
                      <a:srgbClr val="F7F2FD"/>
                    </a:solidFill>
                  </a:tcPr>
                </a:tc>
              </a:tr>
              <a:tr h="329184">
                <a:tc>
                  <a:txBody>
                    <a:bodyPr wrap="square"/>
                    <a:lstStyle/>
                    <a:p>
                      <a:r>
                        <a:rPr sz="1050" b="1">
                          <a:solidFill>
                            <a:srgbClr val="11052C"/>
                          </a:solidFill>
                          <a:latin typeface="Arial"/>
                        </a:rPr>
                        <a:t>Day 95</a:t>
                      </a:r>
                    </a:p>
                  </a:txBody>
                  <a:tcPr marL="64008" marR="64008" marT="36576" marB="36576" anchor="ctr">
                    <a:solidFill>
                      <a:srgbClr val="FFFFFF"/>
                    </a:solidFill>
                  </a:tcPr>
                </a:tc>
                <a:tc>
                  <a:txBody>
                    <a:bodyPr wrap="square"/>
                    <a:lstStyle/>
                    <a:p>
                      <a:r>
                        <a:rPr sz="1050" b="0">
                          <a:solidFill>
                            <a:srgbClr val="3B2A54"/>
                          </a:solidFill>
                          <a:latin typeface="Arial"/>
                        </a:rPr>
                        <a:t>Late Nov</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Hub in place; finance partners embedded</a:t>
                      </a:r>
                    </a:p>
                  </a:txBody>
                  <a:tcPr marL="64008" marR="64008" marT="36576" marB="36576" anchor="ctr">
                    <a:solidFill>
                      <a:srgbClr val="FFFFFF"/>
                    </a:solidFill>
                  </a:tcPr>
                </a:tc>
              </a:tr>
              <a:tr h="329184">
                <a:tc>
                  <a:txBody>
                    <a:bodyPr wrap="square"/>
                    <a:lstStyle/>
                    <a:p>
                      <a:r>
                        <a:rPr sz="1050" b="1">
                          <a:solidFill>
                            <a:srgbClr val="11052C"/>
                          </a:solidFill>
                          <a:latin typeface="Arial"/>
                        </a:rPr>
                        <a:t>Day 105</a:t>
                      </a:r>
                    </a:p>
                  </a:txBody>
                  <a:tcPr marL="64008" marR="64008" marT="36576" marB="36576" anchor="ctr">
                    <a:solidFill>
                      <a:srgbClr val="F7F2FD"/>
                    </a:solidFill>
                  </a:tcPr>
                </a:tc>
                <a:tc>
                  <a:txBody>
                    <a:bodyPr wrap="square"/>
                    <a:lstStyle/>
                    <a:p>
                      <a:r>
                        <a:rPr sz="1050" b="0">
                          <a:solidFill>
                            <a:srgbClr val="3B2A54"/>
                          </a:solidFill>
                          <a:latin typeface="Arial"/>
                        </a:rPr>
                        <a:t>Early Dec</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Squad clinics running; $12M case track under way</a:t>
                      </a:r>
                    </a:p>
                  </a:txBody>
                  <a:tcPr marL="64008" marR="64008" marT="36576" marB="36576" anchor="ctr">
                    <a:solidFill>
                      <a:srgbClr val="F7F2FD"/>
                    </a:solidFill>
                  </a:tcPr>
                </a:tc>
              </a:tr>
              <a:tr h="329184">
                <a:tc>
                  <a:txBody>
                    <a:bodyPr wrap="square"/>
                    <a:lstStyle/>
                    <a:p>
                      <a:r>
                        <a:rPr sz="1050" b="1">
                          <a:solidFill>
                            <a:srgbClr val="11052C"/>
                          </a:solidFill>
                          <a:latin typeface="Arial"/>
                        </a:rPr>
                        <a:t>Day 120</a:t>
                      </a:r>
                    </a:p>
                  </a:txBody>
                  <a:tcPr marL="64008" marR="64008" marT="36576" marB="36576" anchor="ctr">
                    <a:solidFill>
                      <a:srgbClr val="FFFFFF"/>
                    </a:solidFill>
                  </a:tcPr>
                </a:tc>
                <a:tc>
                  <a:txBody>
                    <a:bodyPr wrap="square"/>
                    <a:lstStyle/>
                    <a:p>
                      <a:r>
                        <a:rPr sz="1050" b="0">
                          <a:solidFill>
                            <a:srgbClr val="3B2A54"/>
                          </a:solidFill>
                          <a:latin typeface="Arial"/>
                        </a:rPr>
                        <a:t>Mid-Dec</a:t>
                      </a:r>
                    </a:p>
                  </a:txBody>
                  <a:tcPr marL="64008" marR="64008" marT="36576" marB="36576" anchor="ctr">
                    <a:solidFill>
                      <a:srgbClr val="FFFFFF"/>
                    </a:solidFill>
                  </a:tcPr>
                </a:tc>
                <a:tc>
                  <a:txBody>
                    <a:bodyPr wrap="square"/>
                    <a:lstStyle/>
                    <a:p>
                      <a:r>
                        <a:rPr sz="1050" b="0">
                          <a:solidFill>
                            <a:srgbClr val="3B2A54"/>
                          </a:solidFill>
                          <a:latin typeface="Arial"/>
                        </a:rPr>
                        <a:t>HQ D+60</a:t>
                      </a:r>
                    </a:p>
                  </a:txBody>
                  <a:tcPr marL="64008" marR="64008" marT="36576" marB="36576" anchor="ctr">
                    <a:solidFill>
                      <a:srgbClr val="FFFFFF"/>
                    </a:solidFill>
                  </a:tcPr>
                </a:tc>
                <a:tc>
                  <a:txBody>
                    <a:bodyPr wrap="square"/>
                    <a:lstStyle/>
                    <a:p>
                      <a:r>
                        <a:rPr sz="1050" b="0">
                          <a:solidFill>
                            <a:srgbClr val="3B2A54"/>
                          </a:solidFill>
                          <a:latin typeface="Arial"/>
                        </a:rPr>
                        <a:t>Gate 2: grant terms (24-month grace)</a:t>
                      </a:r>
                    </a:p>
                  </a:txBody>
                  <a:tcPr marL="64008" marR="64008" marT="36576" marB="36576" anchor="ctr">
                    <a:solidFill>
                      <a:srgbClr val="FFFFFF"/>
                    </a:solidFill>
                  </a:tcPr>
                </a:tc>
              </a:tr>
              <a:tr h="329184">
                <a:tc>
                  <a:txBody>
                    <a:bodyPr wrap="square"/>
                    <a:lstStyle/>
                    <a:p>
                      <a:r>
                        <a:rPr sz="1050" b="1">
                          <a:solidFill>
                            <a:srgbClr val="11052C"/>
                          </a:solidFill>
                          <a:latin typeface="Arial"/>
                        </a:rPr>
                        <a:t>Day 133</a:t>
                      </a:r>
                    </a:p>
                  </a:txBody>
                  <a:tcPr marL="64008" marR="64008" marT="36576" marB="36576" anchor="ctr">
                    <a:solidFill>
                      <a:srgbClr val="F7F2FD"/>
                    </a:solidFill>
                  </a:tcPr>
                </a:tc>
                <a:tc>
                  <a:txBody>
                    <a:bodyPr wrap="square"/>
                    <a:lstStyle/>
                    <a:p>
                      <a:r>
                        <a:rPr sz="1050" b="0">
                          <a:solidFill>
                            <a:srgbClr val="3B2A54"/>
                          </a:solidFill>
                          <a:latin typeface="Arial"/>
                        </a:rPr>
                        <a:t>Fri 1 Jan 2027</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FY27 starts; $15M first release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150</a:t>
                      </a:r>
                    </a:p>
                  </a:txBody>
                  <a:tcPr marL="64008" marR="64008" marT="36576" marB="36576" anchor="ctr">
                    <a:solidFill>
                      <a:srgbClr val="FFFFFF"/>
                    </a:solidFill>
                  </a:tcPr>
                </a:tc>
                <a:tc>
                  <a:txBody>
                    <a:bodyPr wrap="square"/>
                    <a:lstStyle/>
                    <a:p>
                      <a:r>
                        <a:rPr sz="1050" b="0">
                          <a:solidFill>
                            <a:srgbClr val="3B2A54"/>
                          </a:solidFill>
                          <a:latin typeface="Arial"/>
                        </a:rPr>
                        <a:t>Mid-Jan</a:t>
                      </a:r>
                    </a:p>
                  </a:txBody>
                  <a:tcPr marL="64008" marR="64008" marT="36576" marB="36576" anchor="ctr">
                    <a:solidFill>
                      <a:srgbClr val="FFFFFF"/>
                    </a:solidFill>
                  </a:tcPr>
                </a:tc>
                <a:tc>
                  <a:txBody>
                    <a:bodyPr wrap="square"/>
                    <a:lstStyle/>
                    <a:p>
                      <a:r>
                        <a:rPr sz="1050" b="0">
                          <a:solidFill>
                            <a:srgbClr val="3B2A54"/>
                          </a:solidFill>
                          <a:latin typeface="Arial"/>
                        </a:rPr>
                        <a:t>HQ D+90</a:t>
                      </a:r>
                    </a:p>
                  </a:txBody>
                  <a:tcPr marL="64008" marR="64008" marT="36576" marB="36576" anchor="ctr">
                    <a:solidFill>
                      <a:srgbClr val="FFFFFF"/>
                    </a:solidFill>
                  </a:tcPr>
                </a:tc>
                <a:tc>
                  <a:txBody>
                    <a:bodyPr wrap="square"/>
                    <a:lstStyle/>
                    <a:p>
                      <a:r>
                        <a:rPr sz="1050" b="0">
                          <a:solidFill>
                            <a:srgbClr val="3B2A54"/>
                          </a:solidFill>
                          <a:latin typeface="Arial"/>
                        </a:rPr>
                        <a:t>Gate 3: officers and D&amp;O; 90-day report to the CFO</a:t>
                      </a:r>
                    </a:p>
                  </a:txBody>
                  <a:tcPr marL="64008" marR="64008" marT="36576" marB="36576" anchor="ctr">
                    <a:solidFill>
                      <a:srgbClr val="FFFFFF"/>
                    </a:solidFill>
                  </a:tcPr>
                </a:tc>
              </a:tr>
              <a:tr h="329184">
                <a:tc>
                  <a:txBody>
                    <a:bodyPr wrap="square"/>
                    <a:lstStyle/>
                    <a:p>
                      <a:r>
                        <a:rPr sz="1050" b="1">
                          <a:solidFill>
                            <a:srgbClr val="11052C"/>
                          </a:solidFill>
                          <a:latin typeface="Arial"/>
                        </a:rPr>
                        <a:t>Day 180</a:t>
                      </a:r>
                    </a:p>
                  </a:txBody>
                  <a:tcPr marL="64008" marR="64008" marT="36576" marB="36576" anchor="ctr">
                    <a:solidFill>
                      <a:srgbClr val="F7F2FD"/>
                    </a:solidFill>
                  </a:tcPr>
                </a:tc>
                <a:tc>
                  <a:txBody>
                    <a:bodyPr wrap="square"/>
                    <a:lstStyle/>
                    <a:p>
                      <a:r>
                        <a:rPr sz="1050" b="0">
                          <a:solidFill>
                            <a:srgbClr val="3B2A54"/>
                          </a:solidFill>
                          <a:latin typeface="Arial"/>
                        </a:rPr>
                        <a:t>Mid-Feb</a:t>
                      </a:r>
                    </a:p>
                  </a:txBody>
                  <a:tcPr marL="64008" marR="64008" marT="36576" marB="36576" anchor="ctr">
                    <a:solidFill>
                      <a:srgbClr val="F7F2FD"/>
                    </a:solidFill>
                  </a:tcPr>
                </a:tc>
                <a:tc>
                  <a:txBody>
                    <a:bodyPr wrap="square"/>
                    <a:lstStyle/>
                    <a:p>
                      <a:r>
                        <a:rPr sz="1050" b="0">
                          <a:solidFill>
                            <a:srgbClr val="3B2A54"/>
                          </a:solidFill>
                          <a:latin typeface="Arial"/>
                        </a:rPr>
                        <a:t>HQ D+120</a:t>
                      </a:r>
                    </a:p>
                  </a:txBody>
                  <a:tcPr marL="64008" marR="64008" marT="36576" marB="36576" anchor="ctr">
                    <a:solidFill>
                      <a:srgbClr val="F7F2FD"/>
                    </a:solidFill>
                  </a:tcPr>
                </a:tc>
                <a:tc>
                  <a:txBody>
                    <a:bodyPr wrap="square"/>
                    <a:lstStyle/>
                    <a:p>
                      <a:r>
                        <a:rPr sz="1050" b="0">
                          <a:solidFill>
                            <a:srgbClr val="3B2A54"/>
                          </a:solidFill>
                          <a:latin typeface="Arial"/>
                        </a:rPr>
                        <a:t>Gate 4: 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222</a:t>
                      </a:r>
                    </a:p>
                  </a:txBody>
                  <a:tcPr marL="64008" marR="64008" marT="36576" marB="36576" anchor="ctr">
                    <a:solidFill>
                      <a:srgbClr val="FFFFFF"/>
                    </a:solidFill>
                  </a:tcPr>
                </a:tc>
                <a:tc>
                  <a:txBody>
                    <a:bodyPr wrap="square"/>
                    <a:lstStyle/>
                    <a:p>
                      <a:r>
                        <a:rPr sz="1050" b="0">
                          <a:solidFill>
                            <a:srgbClr val="3B2A54"/>
                          </a:solidFill>
                          <a:latin typeface="Arial"/>
                        </a:rPr>
                        <a:t>Wed 31 Mar</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Q1 close: second release ($10M) decided</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Stakeholder map: who decides, who is consulted, and when they hear it</a:t>
            </a:r>
          </a:p>
        </p:txBody>
      </p:sp>
      <p:graphicFrame>
        <p:nvGraphicFramePr>
          <p:cNvPr id="4" name="Table 3"/>
          <p:cNvGraphicFramePr>
            <a:graphicFrameLocks noGrp="1"/>
          </p:cNvGraphicFramePr>
          <p:nvPr/>
        </p:nvGraphicFramePr>
        <p:xfrm>
          <a:off x="612648" y="1371600"/>
          <a:ext cx="10972800" cy="3913631"/>
        </p:xfrm>
        <a:graphic>
          <a:graphicData uri="http://schemas.openxmlformats.org/drawingml/2006/table">
            <a:tbl>
              <a:tblPr>
                <a:tableStyleId>{5C22544A-7EE6-4342-B048-85BDC9FD1C3A}</a:tableStyleId>
              </a:tblPr>
              <a:tblGrid>
                <a:gridCol w="2926080"/>
                <a:gridCol w="4023360"/>
                <a:gridCol w="4023360"/>
              </a:tblGrid>
              <a:tr h="347472">
                <a:tc>
                  <a:txBody>
                    <a:bodyPr wrap="square"/>
                    <a:lstStyle/>
                    <a:p>
                      <a:r>
                        <a:rPr sz="1050" b="1">
                          <a:solidFill>
                            <a:srgbClr val="FFFFFF"/>
                          </a:solidFill>
                          <a:latin typeface="Arial"/>
                        </a:rPr>
                        <a:t>Who</a:t>
                      </a:r>
                    </a:p>
                  </a:txBody>
                  <a:tcPr marL="64008" marR="64008" marT="36576" marB="36576" anchor="ctr">
                    <a:solidFill>
                      <a:srgbClr val="820AD1"/>
                    </a:solidFill>
                  </a:tcPr>
                </a:tc>
                <a:tc>
                  <a:txBody>
                    <a:bodyPr wrap="square"/>
                    <a:lstStyle/>
                    <a:p>
                      <a:r>
                        <a:rPr sz="1050" b="1">
                          <a:solidFill>
                            <a:srgbClr val="FFFFFF"/>
                          </a:solidFill>
                          <a:latin typeface="Arial"/>
                        </a:rPr>
                        <a:t>Role in these decisions</a:t>
                      </a:r>
                    </a:p>
                  </a:txBody>
                  <a:tcPr marL="64008" marR="64008" marT="36576" marB="36576" anchor="ctr">
                    <a:solidFill>
                      <a:srgbClr val="820AD1"/>
                    </a:solidFill>
                  </a:tcPr>
                </a:tc>
                <a:tc>
                  <a:txBody>
                    <a:bodyPr wrap="square"/>
                    <a:lstStyle/>
                    <a:p>
                      <a:r>
                        <a:rPr sz="1050" b="1">
                          <a:solidFill>
                            <a:srgbClr val="FFFFFF"/>
                          </a:solidFill>
                          <a:latin typeface="Arial"/>
                        </a:rPr>
                        <a:t>When they hear it</a:t>
                      </a:r>
                    </a:p>
                  </a:txBody>
                  <a:tcPr marL="64008" marR="64008" marT="36576" marB="36576" anchor="ctr">
                    <a:solidFill>
                      <a:srgbClr val="820AD1"/>
                    </a:solidFill>
                  </a:tcPr>
                </a:tc>
              </a:tr>
              <a:tr h="393192">
                <a:tc>
                  <a:txBody>
                    <a:bodyPr wrap="square"/>
                    <a:lstStyle/>
                    <a:p>
                      <a:r>
                        <a:rPr sz="1050" b="1">
                          <a:solidFill>
                            <a:srgbClr val="11052C"/>
                          </a:solidFill>
                          <a:latin typeface="Arial"/>
                        </a:rPr>
                        <a:t>CEO</a:t>
                      </a:r>
                    </a:p>
                  </a:txBody>
                  <a:tcPr marL="64008" marR="64008" marT="36576" marB="36576" anchor="ctr">
                    <a:solidFill>
                      <a:srgbClr val="FFFFFF"/>
                    </a:solidFill>
                  </a:tcPr>
                </a:tc>
                <a:tc>
                  <a:txBody>
                    <a:bodyPr wrap="square"/>
                    <a:lstStyle/>
                    <a:p>
                      <a:r>
                        <a:rPr sz="1050" b="0">
                          <a:solidFill>
                            <a:srgbClr val="3B2A54"/>
                          </a:solidFill>
                          <a:latin typeface="Arial"/>
                        </a:rPr>
                        <a:t>Decides the capital ranking</a:t>
                      </a:r>
                    </a:p>
                  </a:txBody>
                  <a:tcPr marL="64008" marR="64008" marT="36576" marB="36576" anchor="ctr">
                    <a:solidFill>
                      <a:srgbClr val="FFFFFF"/>
                    </a:solidFill>
                  </a:tcPr>
                </a:tc>
                <a:tc>
                  <a:txBody>
                    <a:bodyPr wrap="square"/>
                    <a:lstStyle/>
                    <a:p>
                      <a:r>
                        <a:rPr sz="1050" b="0">
                          <a:solidFill>
                            <a:srgbClr val="3B2A54"/>
                          </a:solidFill>
                          <a:latin typeface="Arial"/>
                        </a:rPr>
                        <a:t>Options memo before T-16; CEO's office briefed before any GM lock</a:t>
                      </a:r>
                    </a:p>
                  </a:txBody>
                  <a:tcPr marL="64008" marR="64008" marT="36576" marB="36576" anchor="ctr">
                    <a:solidFill>
                      <a:srgbClr val="FFFFFF"/>
                    </a:solidFill>
                  </a:tcPr>
                </a:tc>
              </a:tr>
              <a:tr h="347472">
                <a:tc>
                  <a:txBody>
                    <a:bodyPr wrap="square"/>
                    <a:lstStyle/>
                    <a:p>
                      <a:r>
                        <a:rPr sz="1050" b="1">
                          <a:solidFill>
                            <a:srgbClr val="11052C"/>
                          </a:solidFill>
                          <a:latin typeface="Arial"/>
                        </a:rPr>
                        <a:t>CFO (since 13 Jul 2026)</a:t>
                      </a:r>
                    </a:p>
                  </a:txBody>
                  <a:tcPr marL="64008" marR="64008" marT="36576" marB="36576" anchor="ctr">
                    <a:solidFill>
                      <a:srgbClr val="F7F2FD"/>
                    </a:solidFill>
                  </a:tcPr>
                </a:tc>
                <a:tc>
                  <a:txBody>
                    <a:bodyPr wrap="square"/>
                    <a:lstStyle/>
                    <a:p>
                      <a:r>
                        <a:rPr sz="1050" b="0">
                          <a:solidFill>
                            <a:srgbClr val="3B2A54"/>
                          </a:solidFill>
                          <a:latin typeface="Arial"/>
                        </a:rPr>
                        <a:t>Recommends the ranking; decides releases and the H2 reserve</a:t>
                      </a:r>
                    </a:p>
                  </a:txBody>
                  <a:tcPr marL="64008" marR="64008" marT="36576" marB="36576" anchor="ctr">
                    <a:solidFill>
                      <a:srgbClr val="F7F2FD"/>
                    </a:solidFill>
                  </a:tcPr>
                </a:tc>
                <a:tc>
                  <a:txBody>
                    <a:bodyPr wrap="square"/>
                    <a:lstStyle/>
                    <a:p>
                      <a:r>
                        <a:rPr sz="1050" b="0">
                          <a:solidFill>
                            <a:srgbClr val="3B2A54"/>
                          </a:solidFill>
                          <a:latin typeface="Arial"/>
                        </a:rPr>
                        <a:t>Weekly; every pack before it moves</a:t>
                      </a:r>
                    </a:p>
                  </a:txBody>
                  <a:tcPr marL="64008" marR="64008" marT="36576" marB="36576" anchor="ctr">
                    <a:solidFill>
                      <a:srgbClr val="F7F2FD"/>
                    </a:solidFill>
                  </a:tcPr>
                </a:tc>
              </a:tr>
              <a:tr h="347472">
                <a:tc>
                  <a:txBody>
                    <a:bodyPr wrap="square"/>
                    <a:lstStyle/>
                    <a:p>
                      <a:r>
                        <a:rPr sz="1050" b="1">
                          <a:solidFill>
                            <a:srgbClr val="11052C"/>
                          </a:solidFill>
                          <a:latin typeface="Arial"/>
                        </a:rPr>
                        <a:t>Board chair and committee chairs</a:t>
                      </a:r>
                    </a:p>
                  </a:txBody>
                  <a:tcPr marL="64008" marR="64008" marT="36576" marB="36576" anchor="ctr">
                    <a:solidFill>
                      <a:srgbClr val="FFFFFF"/>
                    </a:solidFill>
                  </a:tcPr>
                </a:tc>
                <a:tc>
                  <a:txBody>
                    <a:bodyPr wrap="square"/>
                    <a:lstStyle/>
                    <a:p>
                      <a:r>
                        <a:rPr sz="1050" b="0">
                          <a:solidFill>
                            <a:srgbClr val="3B2A54"/>
                          </a:solidFill>
                          <a:latin typeface="Arial"/>
                        </a:rPr>
                        <a:t>Approve the capital plan; oversee entities</a:t>
                      </a:r>
                    </a:p>
                  </a:txBody>
                  <a:tcPr marL="64008" marR="64008" marT="36576" marB="36576" anchor="ctr">
                    <a:solidFill>
                      <a:srgbClr val="FFFFFF"/>
                    </a:solidFill>
                  </a:tcPr>
                </a:tc>
                <a:tc>
                  <a:txBody>
                    <a:bodyPr wrap="square"/>
                    <a:lstStyle/>
                    <a:p>
                      <a:r>
                        <a:rPr sz="1050" b="0">
                          <a:solidFill>
                            <a:srgbClr val="3B2A54"/>
                          </a:solidFill>
                          <a:latin typeface="Arial"/>
                        </a:rPr>
                        <a:t>Pre-read at T-9; book at T-7</a:t>
                      </a:r>
                    </a:p>
                  </a:txBody>
                  <a:tcPr marL="64008" marR="64008" marT="36576" marB="36576" anchor="ctr">
                    <a:solidFill>
                      <a:srgbClr val="FFFFFF"/>
                    </a:solidFill>
                  </a:tcPr>
                </a:tc>
              </a:tr>
              <a:tr h="347472">
                <a:tc>
                  <a:txBody>
                    <a:bodyPr wrap="square"/>
                    <a:lstStyle/>
                    <a:p>
                      <a:r>
                        <a:rPr sz="1050" b="1">
                          <a:solidFill>
                            <a:srgbClr val="11052C"/>
                          </a:solidFill>
                          <a:latin typeface="Arial"/>
                        </a:rPr>
                        <a:t>Corporate Secretary</a:t>
                      </a:r>
                    </a:p>
                  </a:txBody>
                  <a:tcPr marL="64008" marR="64008" marT="36576" marB="36576" anchor="ctr">
                    <a:solidFill>
                      <a:srgbClr val="F7F2FD"/>
                    </a:solidFill>
                  </a:tcPr>
                </a:tc>
                <a:tc>
                  <a:txBody>
                    <a:bodyPr wrap="square"/>
                    <a:lstStyle/>
                    <a:p>
                      <a:r>
                        <a:rPr sz="1050" b="0">
                          <a:solidFill>
                            <a:srgbClr val="3B2A54"/>
                          </a:solidFill>
                          <a:latin typeface="Arial"/>
                        </a:rPr>
                        <a:t>Owns the Board book and statutory calendar</a:t>
                      </a:r>
                    </a:p>
                  </a:txBody>
                  <a:tcPr marL="64008" marR="64008" marT="36576" marB="36576" anchor="ctr">
                    <a:solidFill>
                      <a:srgbClr val="F7F2FD"/>
                    </a:solidFill>
                  </a:tcPr>
                </a:tc>
                <a:tc>
                  <a:txBody>
                    <a:bodyPr wrap="square"/>
                    <a:lstStyle/>
                    <a:p>
                      <a:r>
                        <a:rPr sz="1050" b="0">
                          <a:solidFill>
                            <a:srgbClr val="3B2A54"/>
                          </a:solidFill>
                          <a:latin typeface="Arial"/>
                        </a:rPr>
                        <a:t>From today (T-28)</a:t>
                      </a:r>
                    </a:p>
                  </a:txBody>
                  <a:tcPr marL="64008" marR="64008" marT="36576" marB="36576" anchor="ctr">
                    <a:solidFill>
                      <a:srgbClr val="F7F2FD"/>
                    </a:solidFill>
                  </a:tcPr>
                </a:tc>
              </a:tr>
              <a:tr h="347472">
                <a:tc>
                  <a:txBody>
                    <a:bodyPr wrap="square"/>
                    <a:lstStyle/>
                    <a:p>
                      <a:r>
                        <a:rPr sz="1050" b="1">
                          <a:solidFill>
                            <a:srgbClr val="11052C"/>
                          </a:solidFill>
                          <a:latin typeface="Arial"/>
                        </a:rPr>
                        <a:t>The two MTeam members</a:t>
                      </a:r>
                    </a:p>
                  </a:txBody>
                  <a:tcPr marL="64008" marR="64008" marT="36576" marB="36576" anchor="ctr">
                    <a:solidFill>
                      <a:srgbClr val="FFFFFF"/>
                    </a:solidFill>
                  </a:tcPr>
                </a:tc>
                <a:tc>
                  <a:txBody>
                    <a:bodyPr wrap="square"/>
                    <a:lstStyle/>
                    <a:p>
                      <a:r>
                        <a:rPr sz="1050" b="0">
                          <a:solidFill>
                            <a:srgbClr val="3B2A54"/>
                          </a:solidFill>
                          <a:latin typeface="Arial"/>
                        </a:rPr>
                        <a:t>Hold the opposing capital views</a:t>
                      </a:r>
                    </a:p>
                  </a:txBody>
                  <a:tcPr marL="64008" marR="64008" marT="36576" marB="36576" anchor="ctr">
                    <a:solidFill>
                      <a:srgbClr val="FFFFFF"/>
                    </a:solidFill>
                  </a:tcPr>
                </a:tc>
                <a:tc>
                  <a:txBody>
                    <a:bodyPr wrap="square"/>
                    <a:lstStyle/>
                    <a:p>
                      <a:r>
                        <a:rPr sz="1050" b="0">
                          <a:solidFill>
                            <a:srgbClr val="3B2A54"/>
                          </a:solidFill>
                          <a:latin typeface="Arial"/>
                        </a:rPr>
                        <a:t>One-to-ones at T-21; joint lock at T-16</a:t>
                      </a:r>
                    </a:p>
                  </a:txBody>
                  <a:tcPr marL="64008" marR="64008" marT="36576" marB="36576" anchor="ctr">
                    <a:solidFill>
                      <a:srgbClr val="FFFFFF"/>
                    </a:solidFill>
                  </a:tcPr>
                </a:tc>
              </a:tr>
              <a:tr h="393192">
                <a:tc>
                  <a:txBody>
                    <a:bodyPr wrap="square"/>
                    <a:lstStyle/>
                    <a:p>
                      <a:r>
                        <a:rPr sz="1050" b="1">
                          <a:solidFill>
                            <a:srgbClr val="11052C"/>
                          </a:solidFill>
                          <a:latin typeface="Arial"/>
                        </a:rPr>
                        <a:t>Local CFOs (Mexico, Colombia); Brazil CFO (new role)</a:t>
                      </a:r>
                    </a:p>
                  </a:txBody>
                  <a:tcPr marL="64008" marR="64008" marT="36576" marB="36576" anchor="ctr">
                    <a:solidFill>
                      <a:srgbClr val="F7F2FD"/>
                    </a:solidFill>
                  </a:tcPr>
                </a:tc>
                <a:tc>
                  <a:txBody>
                    <a:bodyPr wrap="square"/>
                    <a:lstStyle/>
                    <a:p>
                      <a:r>
                        <a:rPr sz="1050" b="0">
                          <a:solidFill>
                            <a:srgbClr val="3B2A54"/>
                          </a:solidFill>
                          <a:latin typeface="Arial"/>
                        </a:rPr>
                        <a:t>Own local decision rights; inputs to the model</a:t>
                      </a:r>
                    </a:p>
                  </a:txBody>
                  <a:tcPr marL="64008" marR="64008" marT="36576" marB="36576" anchor="ctr">
                    <a:solidFill>
                      <a:srgbClr val="F7F2FD"/>
                    </a:solidFill>
                  </a:tcPr>
                </a:tc>
                <a:tc>
                  <a:txBody>
                    <a:bodyPr wrap="square"/>
                    <a:lstStyle/>
                    <a:p>
                      <a:r>
                        <a:rPr sz="1050" b="0">
                          <a:solidFill>
                            <a:srgbClr val="3B2A54"/>
                          </a:solidFill>
                          <a:latin typeface="Arial"/>
                        </a:rPr>
                        <a:t>Squad clinics; decision rights unchanged for 90 days</a:t>
                      </a:r>
                    </a:p>
                  </a:txBody>
                  <a:tcPr marL="64008" marR="64008" marT="36576" marB="36576" anchor="ctr">
                    <a:solidFill>
                      <a:srgbClr val="F7F2FD"/>
                    </a:solidFill>
                  </a:tcPr>
                </a:tc>
              </a:tr>
              <a:tr h="347472">
                <a:tc>
                  <a:txBody>
                    <a:bodyPr wrap="square"/>
                    <a:lstStyle/>
                    <a:p>
                      <a:r>
                        <a:rPr sz="1050" b="1">
                          <a:solidFill>
                            <a:srgbClr val="11052C"/>
                          </a:solidFill>
                          <a:latin typeface="Arial"/>
                        </a:rPr>
                        <a:t>Risk</a:t>
                      </a:r>
                    </a:p>
                  </a:txBody>
                  <a:tcPr marL="64008" marR="64008" marT="36576" marB="36576" anchor="ctr">
                    <a:solidFill>
                      <a:srgbClr val="FFFFFF"/>
                    </a:solidFill>
                  </a:tcPr>
                </a:tc>
                <a:tc>
                  <a:txBody>
                    <a:bodyPr wrap="square"/>
                    <a:lstStyle/>
                    <a:p>
                      <a:r>
                        <a:rPr sz="1050" b="0">
                          <a:solidFill>
                            <a:srgbClr val="3B2A54"/>
                          </a:solidFill>
                          <a:latin typeface="Arial"/>
                        </a:rPr>
                        <a:t>Confirms credit conditions; can block the H2 reserve</a:t>
                      </a:r>
                    </a:p>
                  </a:txBody>
                  <a:tcPr marL="64008" marR="64008" marT="36576" marB="36576" anchor="ctr">
                    <a:solidFill>
                      <a:srgbClr val="FFFFFF"/>
                    </a:solidFill>
                  </a:tcPr>
                </a:tc>
                <a:tc>
                  <a:txBody>
                    <a:bodyPr wrap="square"/>
                    <a:lstStyle/>
                    <a:p>
                      <a:r>
                        <a:rPr sz="1050" b="0">
                          <a:solidFill>
                            <a:srgbClr val="3B2A54"/>
                          </a:solidFill>
                          <a:latin typeface="Arial"/>
                        </a:rPr>
                        <a:t>Quarterly release review; H1 close</a:t>
                      </a:r>
                    </a:p>
                  </a:txBody>
                  <a:tcPr marL="64008" marR="64008" marT="36576" marB="36576" anchor="ctr">
                    <a:solidFill>
                      <a:srgbClr val="FFFFFF"/>
                    </a:solidFill>
                  </a:tcPr>
                </a:tc>
              </a:tr>
              <a:tr h="347472">
                <a:tc>
                  <a:txBody>
                    <a:bodyPr wrap="square"/>
                    <a:lstStyle/>
                    <a:p>
                      <a:r>
                        <a:rPr sz="1050" b="1">
                          <a:solidFill>
                            <a:srgbClr val="11052C"/>
                          </a:solidFill>
                          <a:latin typeface="Arial"/>
                        </a:rPr>
                        <a:t>IR</a:t>
                      </a:r>
                    </a:p>
                  </a:txBody>
                  <a:tcPr marL="64008" marR="64008" marT="36576" marB="36576" anchor="ctr">
                    <a:solidFill>
                      <a:srgbClr val="F7F2FD"/>
                    </a:solidFill>
                  </a:tcPr>
                </a:tc>
                <a:tc>
                  <a:txBody>
                    <a:bodyPr wrap="square"/>
                    <a:lstStyle/>
                    <a:p>
                      <a:r>
                        <a:rPr sz="1050" b="0">
                          <a:solidFill>
                            <a:srgbClr val="3B2A54"/>
                          </a:solidFill>
                          <a:latin typeface="Arial"/>
                        </a:rPr>
                        <a:t>Sets how the plan and reserve are disclosed</a:t>
                      </a:r>
                    </a:p>
                  </a:txBody>
                  <a:tcPr marL="64008" marR="64008" marT="36576" marB="36576" anchor="ctr">
                    <a:solidFill>
                      <a:srgbClr val="F7F2FD"/>
                    </a:solidFill>
                  </a:tcPr>
                </a:tc>
                <a:tc>
                  <a:txBody>
                    <a:bodyPr wrap="square"/>
                    <a:lstStyle/>
                    <a:p>
                      <a:r>
                        <a:rPr sz="1050" b="0">
                          <a:solidFill>
                            <a:srgbClr val="3B2A54"/>
                          </a:solidFill>
                          <a:latin typeface="Arial"/>
                        </a:rPr>
                        <a:t>Before Investor Day (8 Dec)</a:t>
                      </a:r>
                    </a:p>
                  </a:txBody>
                  <a:tcPr marL="64008" marR="64008" marT="36576" marB="36576" anchor="ctr">
                    <a:solidFill>
                      <a:srgbClr val="F7F2FD"/>
                    </a:solidFill>
                  </a:tcPr>
                </a:tc>
              </a:tr>
              <a:tr h="347472">
                <a:tc>
                  <a:txBody>
                    <a:bodyPr wrap="square"/>
                    <a:lstStyle/>
                    <a:p>
                      <a:r>
                        <a:rPr sz="1050" b="1">
                          <a:solidFill>
                            <a:srgbClr val="11052C"/>
                          </a:solidFill>
                          <a:latin typeface="Arial"/>
                        </a:rPr>
                        <a:t>Tax, Legal, People, Workplace</a:t>
                      </a:r>
                    </a:p>
                  </a:txBody>
                  <a:tcPr marL="64008" marR="64008" marT="36576" marB="36576" anchor="ctr">
                    <a:solidFill>
                      <a:srgbClr val="FFFFFF"/>
                    </a:solidFill>
                  </a:tcPr>
                </a:tc>
                <a:tc>
                  <a:txBody>
                    <a:bodyPr wrap="square"/>
                    <a:lstStyle/>
                    <a:p>
                      <a:r>
                        <a:rPr sz="1050" b="0">
                          <a:solidFill>
                            <a:srgbClr val="3B2A54"/>
                          </a:solidFill>
                          <a:latin typeface="Arial"/>
                        </a:rPr>
                        <a:t>Own HQ gates 1-4</a:t>
                      </a:r>
                    </a:p>
                  </a:txBody>
                  <a:tcPr marL="64008" marR="64008" marT="36576" marB="36576" anchor="ctr">
                    <a:solidFill>
                      <a:srgbClr val="FFFFFF"/>
                    </a:solidFill>
                  </a:tcPr>
                </a:tc>
                <a:tc>
                  <a:txBody>
                    <a:bodyPr wrap="square"/>
                    <a:lstStyle/>
                    <a:p>
                      <a:r>
                        <a:rPr sz="1050" b="0">
                          <a:solidFill>
                            <a:srgbClr val="3B2A54"/>
                          </a:solidFill>
                          <a:latin typeface="Arial"/>
                        </a:rPr>
                        <a:t>Weekly HQ pod; 48-hour escalation</a:t>
                      </a:r>
                    </a:p>
                  </a:txBody>
                  <a:tcPr marL="64008" marR="64008" marT="36576" marB="36576" anchor="ctr">
                    <a:solidFill>
                      <a:srgbClr val="FFFFFF"/>
                    </a:solidFill>
                  </a:tcPr>
                </a:tc>
              </a:tr>
              <a:tr h="347472">
                <a:tc>
                  <a:txBody>
                    <a:bodyPr wrap="square"/>
                    <a:lstStyle/>
                    <a:p>
                      <a:r>
                        <a:rPr sz="1050" b="1">
                          <a:solidFill>
                            <a:srgbClr val="11052C"/>
                          </a:solidFill>
                          <a:latin typeface="Arial"/>
                        </a:rPr>
                        <a:t>GMs</a:t>
                      </a:r>
                    </a:p>
                  </a:txBody>
                  <a:tcPr marL="64008" marR="64008" marT="36576" marB="36576" anchor="ctr">
                    <a:solidFill>
                      <a:srgbClr val="F7F2FD"/>
                    </a:solidFill>
                  </a:tcPr>
                </a:tc>
                <a:tc>
                  <a:txBody>
                    <a:bodyPr wrap="square"/>
                    <a:lstStyle/>
                    <a:p>
                      <a:r>
                        <a:rPr sz="1050" b="0">
                          <a:solidFill>
                            <a:srgbClr val="3B2A54"/>
                          </a:solidFill>
                          <a:latin typeface="Arial"/>
                        </a:rPr>
                        <a:t>Bring the cases; co-sign them</a:t>
                      </a:r>
                    </a:p>
                  </a:txBody>
                  <a:tcPr marL="64008" marR="64008" marT="36576" marB="36576" anchor="ctr">
                    <a:solidFill>
                      <a:srgbClr val="F7F2FD"/>
                    </a:solidFill>
                  </a:tcPr>
                </a:tc>
                <a:tc>
                  <a:txBody>
                    <a:bodyPr wrap="square"/>
                    <a:lstStyle/>
                    <a:p>
                      <a:r>
                        <a:rPr sz="1050" b="0">
                          <a:solidFill>
                            <a:srgbClr val="3B2A54"/>
                          </a:solidFill>
                          <a:latin typeface="Arial"/>
                        </a:rPr>
                        <a:t>Squad clinics weekly; one-to-ones every two weeks</a:t>
                      </a:r>
                    </a:p>
                  </a:txBody>
                  <a:tcPr marL="64008" marR="64008" marT="36576" marB="36576" anchor="ctr">
                    <a:solidFill>
                      <a:srgbClr val="F7F2FD"/>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H</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Two AI agents take the busywork; people own every number and decision</a:t>
            </a:r>
          </a:p>
        </p:txBody>
      </p:sp>
      <p:graphicFrame>
        <p:nvGraphicFramePr>
          <p:cNvPr id="4" name="Table 3"/>
          <p:cNvGraphicFramePr>
            <a:graphicFrameLocks noGrp="1"/>
          </p:cNvGraphicFramePr>
          <p:nvPr/>
        </p:nvGraphicFramePr>
        <p:xfrm>
          <a:off x="612648" y="1325880"/>
          <a:ext cx="10972800" cy="3435095"/>
        </p:xfrm>
        <a:graphic>
          <a:graphicData uri="http://schemas.openxmlformats.org/drawingml/2006/table">
            <a:tbl>
              <a:tblPr>
                <a:tableStyleId>{5C22544A-7EE6-4342-B048-85BDC9FD1C3A}</a:tableStyleId>
              </a:tblPr>
              <a:tblGrid>
                <a:gridCol w="1737360"/>
                <a:gridCol w="4617720"/>
                <a:gridCol w="4617720"/>
              </a:tblGrid>
              <a:tr h="45720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PMO agent</a:t>
                      </a:r>
                    </a:p>
                  </a:txBody>
                  <a:tcPr marL="64008" marR="64008" marT="36576" marB="36576" anchor="ctr">
                    <a:solidFill>
                      <a:srgbClr val="820AD1"/>
                    </a:solidFill>
                  </a:tcPr>
                </a:tc>
                <a:tc>
                  <a:txBody>
                    <a:bodyPr wrap="square"/>
                    <a:lstStyle/>
                    <a:p>
                      <a:r>
                        <a:rPr sz="1150" b="1">
                          <a:solidFill>
                            <a:srgbClr val="FFFFFF"/>
                          </a:solidFill>
                          <a:latin typeface="Arial"/>
                        </a:rPr>
                        <a:t>Review agent</a:t>
                      </a:r>
                    </a:p>
                  </a:txBody>
                  <a:tcPr marL="64008" marR="64008" marT="36576" marB="36576" anchor="ctr">
                    <a:solidFill>
                      <a:srgbClr val="820AD1"/>
                    </a:solidFill>
                  </a:tcPr>
                </a:tc>
              </a:tr>
              <a:tr h="743711">
                <a:tc>
                  <a:txBody>
                    <a:bodyPr wrap="square"/>
                    <a:lstStyle/>
                    <a:p>
                      <a:r>
                        <a:rPr sz="1100" b="1">
                          <a:solidFill>
                            <a:srgbClr val="11052C"/>
                          </a:solidFill>
                          <a:latin typeface="Arial"/>
                        </a:rPr>
                        <a:t>Day to day</a:t>
                      </a:r>
                    </a:p>
                  </a:txBody>
                  <a:tcPr marL="64008" marR="64008" marT="36576" marB="36576" anchor="ctr">
                    <a:solidFill>
                      <a:srgbClr val="FFFFFF"/>
                    </a:solidFill>
                  </a:tcPr>
                </a:tc>
                <a:tc>
                  <a:txBody>
                    <a:bodyPr wrap="square"/>
                    <a:lstStyle/>
                    <a:p>
                      <a:r>
                        <a:rPr sz="1100" b="0">
                          <a:solidFill>
                            <a:srgbClr val="3B2A54"/>
                          </a:solidFill>
                          <a:latin typeface="Arial"/>
                        </a:rPr>
                        <a:t>Every Monday it reads status where the work happens (tracker, shared drive, team channels) for the HQ gates, the release plan and the Board countdown. It updates the gate tracker and decision log, flags dates at risk and drafts the pod note.</a:t>
                      </a:r>
                    </a:p>
                  </a:txBody>
                  <a:tcPr marL="64008" marR="64008" marT="36576" marB="36576" anchor="ctr">
                    <a:solidFill>
                      <a:srgbClr val="FFFFFF"/>
                    </a:solidFill>
                  </a:tcPr>
                </a:tc>
                <a:tc>
                  <a:txBody>
                    <a:bodyPr wrap="square"/>
                    <a:lstStyle/>
                    <a:p>
                      <a:r>
                        <a:rPr sz="1100" b="0">
                          <a:solidFill>
                            <a:srgbClr val="3B2A54"/>
                          </a:solidFill>
                          <a:latin typeface="Arial"/>
                        </a:rPr>
                        <a:t>When a GM submits a case, it checks the template and the four indicators, ties each figure to the data platform and flags gaps before the clinic. For the Board, it drafts the book from the locked tables and drafts answers to directors' questions.</a:t>
                      </a:r>
                    </a:p>
                  </a:txBody>
                  <a:tcPr marL="64008" marR="64008" marT="36576" marB="36576" anchor="ctr">
                    <a:solidFill>
                      <a:srgbClr val="FFFFFF"/>
                    </a:solidFill>
                  </a:tcPr>
                </a:tc>
              </a:tr>
              <a:tr h="457200">
                <a:tc>
                  <a:txBody>
                    <a:bodyPr wrap="square"/>
                    <a:lstStyle/>
                    <a:p>
                      <a:r>
                        <a:rPr sz="1100" b="1">
                          <a:solidFill>
                            <a:srgbClr val="11052C"/>
                          </a:solidFill>
                          <a:latin typeface="Arial"/>
                        </a:rPr>
                        <a:t>What it replaces</a:t>
                      </a:r>
                    </a:p>
                  </a:txBody>
                  <a:tcPr marL="64008" marR="64008" marT="36576" marB="36576" anchor="ctr">
                    <a:solidFill>
                      <a:srgbClr val="F7F2FD"/>
                    </a:solidFill>
                  </a:tcPr>
                </a:tc>
                <a:tc>
                  <a:txBody>
                    <a:bodyPr wrap="square"/>
                    <a:lstStyle/>
                    <a:p>
                      <a:r>
                        <a:rPr sz="1100" b="0">
                          <a:solidFill>
                            <a:srgbClr val="3B2A54"/>
                          </a:solidFill>
                          <a:latin typeface="Arial"/>
                        </a:rPr>
                        <a:t>Status templates and the weekly chase. Owners correct a draft instead of filling in a form.</a:t>
                      </a:r>
                    </a:p>
                  </a:txBody>
                  <a:tcPr marL="64008" marR="64008" marT="36576" marB="36576" anchor="ctr">
                    <a:solidFill>
                      <a:srgbClr val="F7F2FD"/>
                    </a:solidFill>
                  </a:tcPr>
                </a:tc>
                <a:tc>
                  <a:txBody>
                    <a:bodyPr wrap="square"/>
                    <a:lstStyle/>
                    <a:p>
                      <a:r>
                        <a:rPr sz="1100" b="0">
                          <a:solidFill>
                            <a:srgbClr val="3B2A54"/>
                          </a:solidFill>
                          <a:latin typeface="Arial"/>
                        </a:rPr>
                        <a:t>Manual tie-outs and blank-page first drafts. Analyst time moves to judgment.</a:t>
                      </a:r>
                    </a:p>
                  </a:txBody>
                  <a:tcPr marL="64008" marR="64008" marT="36576" marB="36576" anchor="ctr">
                    <a:solidFill>
                      <a:srgbClr val="F7F2FD"/>
                    </a:solidFill>
                  </a:tcPr>
                </a:tc>
              </a:tr>
              <a:tr h="743711">
                <a:tc>
                  <a:txBody>
                    <a:bodyPr wrap="square"/>
                    <a:lstStyle/>
                    <a:p>
                      <a:r>
                        <a:rPr sz="1100" b="1">
                          <a:solidFill>
                            <a:srgbClr val="11052C"/>
                          </a:solidFill>
                          <a:latin typeface="Arial"/>
                        </a:rPr>
                        <a:t>Why it is good practice</a:t>
                      </a:r>
                    </a:p>
                  </a:txBody>
                  <a:tcPr marL="64008" marR="64008" marT="36576" marB="36576" anchor="ctr">
                    <a:solidFill>
                      <a:srgbClr val="FFFFFF"/>
                    </a:solidFill>
                  </a:tcPr>
                </a:tc>
                <a:tc>
                  <a:txBody>
                    <a:bodyPr wrap="square"/>
                    <a:lstStyle/>
                    <a:p>
                      <a:r>
                        <a:rPr sz="1100" b="0">
                          <a:solidFill>
                            <a:srgbClr val="3B2A54"/>
                          </a:solidFill>
                          <a:latin typeface="Arial"/>
                        </a:rPr>
                        <a:t>Gartner (2019): data collection, tracking and reporting are the project-management tasks AI takes over; 80% of today's tasks gone by 2030. PMI (2023): reporting is project managers' top AI use (34%).</a:t>
                      </a:r>
                    </a:p>
                  </a:txBody>
                  <a:tcPr marL="64008" marR="64008" marT="36576" marB="36576" anchor="ctr">
                    <a:solidFill>
                      <a:srgbClr val="FFFFFF"/>
                    </a:solidFill>
                  </a:tcPr>
                </a:tc>
                <a:tc>
                  <a:txBody>
                    <a:bodyPr wrap="square"/>
                    <a:lstStyle/>
                    <a:p>
                      <a:r>
                        <a:rPr sz="1100" b="0">
                          <a:solidFill>
                            <a:srgbClr val="3B2A54"/>
                          </a:solidFill>
                          <a:latin typeface="Arial"/>
                        </a:rPr>
                        <a:t>Science (Noy and Zhang, 2023): writing tasks 40% faster, quality up 18%. HBS/BCG (2023): inside AI's frontier, 12.2% more tasks and 40% higher quality; outside it, 19 points less accurate. Gartner (2024): 58% of finance teams use AI.</a:t>
                      </a:r>
                    </a:p>
                  </a:txBody>
                  <a:tcPr marL="64008" marR="64008" marT="36576" marB="36576" anchor="ctr">
                    <a:solidFill>
                      <a:srgbClr val="FFFFFF"/>
                    </a:solidFill>
                  </a:tcPr>
                </a:tc>
              </a:tr>
              <a:tr h="576072">
                <a:tc>
                  <a:txBody>
                    <a:bodyPr wrap="square"/>
                    <a:lstStyle/>
                    <a:p>
                      <a:r>
                        <a:rPr sz="1100" b="1">
                          <a:solidFill>
                            <a:srgbClr val="11052C"/>
                          </a:solidFill>
                          <a:latin typeface="Arial"/>
                        </a:rPr>
                        <a:t>Guardrails</a:t>
                      </a:r>
                    </a:p>
                  </a:txBody>
                  <a:tcPr marL="64008" marR="64008" marT="36576" marB="36576" anchor="ctr">
                    <a:solidFill>
                      <a:srgbClr val="F7F2FD"/>
                    </a:solidFill>
                  </a:tcPr>
                </a:tc>
                <a:tc>
                  <a:txBody>
                    <a:bodyPr wrap="square"/>
                    <a:lstStyle/>
                    <a:p>
                      <a:r>
                        <a:rPr sz="1100" b="0">
                          <a:solidFill>
                            <a:srgbClr val="3B2A54"/>
                          </a:solidFill>
                          <a:latin typeface="Arial"/>
                        </a:rPr>
                        <a:t>Reads only; never changes a date or a decision. Each owner confirms their line. Escalation to the CFO stays human, within 48 hours.</a:t>
                      </a:r>
                    </a:p>
                  </a:txBody>
                  <a:tcPr marL="64008" marR="64008" marT="36576" marB="36576" anchor="ctr">
                    <a:solidFill>
                      <a:srgbClr val="F7F2FD"/>
                    </a:solidFill>
                  </a:tcPr>
                </a:tc>
                <a:tc>
                  <a:txBody>
                    <a:bodyPr wrap="square"/>
                    <a:lstStyle/>
                    <a:p>
                      <a:r>
                        <a:rPr sz="1100" b="0">
                          <a:solidFill>
                            <a:srgbClr val="3B2A54"/>
                          </a:solidFill>
                          <a:latin typeface="Arial"/>
                        </a:rPr>
                        <a:t>Nu-approved tools inside Nu's environment (A11). A named person signs every figure and answer. A wrong number that reaches the CFO sends that step back to manual until it is fixed.</a:t>
                      </a:r>
                    </a:p>
                  </a:txBody>
                  <a:tcPr marL="64008" marR="64008" marT="36576" marB="36576" anchor="ctr">
                    <a:solidFill>
                      <a:srgbClr val="F7F2FD"/>
                    </a:solidFill>
                  </a:tcPr>
                </a:tc>
              </a:tr>
              <a:tr h="457200">
                <a:tc>
                  <a:txBody>
                    <a:bodyPr wrap="square"/>
                    <a:lstStyle/>
                    <a:p>
                      <a:r>
                        <a:rPr sz="1100" b="1">
                          <a:solidFill>
                            <a:srgbClr val="11052C"/>
                          </a:solidFill>
                          <a:latin typeface="Arial"/>
                        </a:rPr>
                        <a:t>How I measure it</a:t>
                      </a:r>
                    </a:p>
                  </a:txBody>
                  <a:tcPr marL="64008" marR="64008" marT="36576" marB="36576" anchor="ctr">
                    <a:solidFill>
                      <a:srgbClr val="FFFFFF"/>
                    </a:solidFill>
                  </a:tcPr>
                </a:tc>
                <a:tc>
                  <a:txBody>
                    <a:bodyPr wrap="square"/>
                    <a:lstStyle/>
                    <a:p>
                      <a:r>
                        <a:rPr sz="1100" b="0">
                          <a:solidFill>
                            <a:srgbClr val="3B2A54"/>
                          </a:solidFill>
                          <a:latin typeface="Arial"/>
                        </a:rPr>
                        <a:t>Hours spent on status (baseline now); gate dates hit; no status templates by late November.</a:t>
                      </a:r>
                    </a:p>
                  </a:txBody>
                  <a:tcPr marL="64008" marR="64008" marT="36576" marB="36576" anchor="ctr">
                    <a:solidFill>
                      <a:srgbClr val="FFFFFF"/>
                    </a:solidFill>
                  </a:tcPr>
                </a:tc>
                <a:tc>
                  <a:txBody>
                    <a:bodyPr wrap="square"/>
                    <a:lstStyle/>
                    <a:p>
                      <a:r>
                        <a:rPr sz="1100" b="0">
                          <a:solidFill>
                            <a:srgbClr val="3B2A54"/>
                          </a:solidFill>
                          <a:latin typeface="Arial"/>
                        </a:rPr>
                        <a:t>Cycle time under 40 days; errors caught before the clinic; directors' answers out by T-3.</a:t>
                      </a:r>
                    </a:p>
                  </a:txBody>
                  <a:tcPr marL="64008" marR="64008" marT="36576" marB="36576" anchor="ctr">
                    <a:solidFill>
                      <a:srgbClr val="FFFFFF"/>
                    </a:solidFill>
                  </a:tcPr>
                </a:tc>
              </a:tr>
            </a:tbl>
          </a:graphicData>
        </a:graphic>
      </p:graphicFrame>
      <p:sp>
        <p:nvSpPr>
          <p:cNvPr id="5" name="TextBox 4"/>
          <p:cNvSpPr txBox="1"/>
          <p:nvPr/>
        </p:nvSpPr>
        <p:spPr>
          <a:xfrm>
            <a:off x="612648" y="6035040"/>
            <a:ext cx="10515600" cy="365760"/>
          </a:xfrm>
          <a:prstGeom prst="rect">
            <a:avLst/>
          </a:prstGeom>
          <a:noFill/>
        </p:spPr>
        <p:txBody>
          <a:bodyPr wrap="square" anchor="t">
            <a:spAutoFit/>
          </a:bodyPr>
          <a:lstStyle/>
          <a:p>
            <a:pPr algn="l"/>
            <a:r>
              <a:rPr sz="900" b="0">
                <a:solidFill>
                  <a:srgbClr val="6B5B82"/>
                </a:solidFill>
                <a:latin typeface="Arial"/>
              </a:rPr>
              <a:t>Nu context: AI agents handle more than 60% of support conversations in Brazil (Q2'26 release); AI-first strategy (Hyperplane acquisition, Jun 2024). The studies are context for the method, not a forecast of Nu's savings.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