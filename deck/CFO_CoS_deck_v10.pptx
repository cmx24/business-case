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3"/>
  </p:notesMasterIdLst>
  <p:sldIdLst>
    <p:sldId id="256" r:id="rId2"/>
    <p:sldId id="257" r:id="rId3"/>
    <p:sldId id="282" r:id="rId4"/>
    <p:sldId id="285" r:id="rId28"/>
    <p:sldId id="259" r:id="rId5"/>
    <p:sldId id="283" r:id="rId6"/>
    <p:sldId id="260" r:id="rId7"/>
    <p:sldId id="284" r:id="rId8"/>
    <p:sldId id="264" r:id="rId9"/>
    <p:sldId id="263" r:id="rId10"/>
    <p:sldId id="265" r:id="rId11"/>
    <p:sldId id="267" r:id="rId12"/>
    <p:sldId id="266" r:id="rId13"/>
    <p:sldId id="268" r:id="rId14"/>
    <p:sldId id="269" r:id="rId15"/>
    <p:sldId id="271" r:id="rId16"/>
    <p:sldId id="272" r:id="rId17"/>
    <p:sldId id="273" r:id="rId18"/>
    <p:sldId id="275" r:id="rId19"/>
    <p:sldId id="277" r:id="rId20"/>
    <p:sldId id="279" r:id="rId21"/>
    <p:sldId id="281" r:id="rId22"/>
    <p:sldId id="28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035" autoAdjust="0"/>
  </p:normalViewPr>
  <p:slideViewPr>
    <p:cSldViewPr snapToGrid="0" snapToObjects="1">
      <p:cViewPr varScale="1">
        <p:scale>
          <a:sx n="74" d="100"/>
          <a:sy n="74" d="100"/>
        </p:scale>
        <p:origin x="38" y="25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base</c:v>
                </c:pt>
              </c:strCache>
            </c:strRef>
          </c:tx>
          <c:spPr>
            <a:noFill/>
            <a:ln>
              <a:noFill/>
            </a:ln>
          </c:spPr>
          <c:invertIfNegative val="1"/>
          <c:cat>
            <c:strRef>
              <c:f>Sheet1!$A$2:$A$6</c:f>
              <c:strCache>
                <c:ptCount val="5"/>
                <c:pt idx="0">
                  <c:v>GM asks</c:v>
                </c:pt>
                <c:pt idx="1">
                  <c:v>Reserve</c:v>
                </c:pt>
                <c:pt idx="2">
                  <c:v>2H Checkpoint</c:v>
                </c:pt>
                <c:pt idx="3">
                  <c:v>Second release</c:v>
                </c:pt>
                <c:pt idx="4">
                  <c:v>Fund now: first release</c:v>
                </c:pt>
              </c:strCache>
            </c:strRef>
          </c:cat>
          <c:val>
            <c:numRef>
              <c:f>Sheet1!$B$2:$B$6</c:f>
              <c:numCache>
                <c:formatCode>General</c:formatCode>
                <c:ptCount val="5"/>
                <c:pt idx="0">
                  <c:v>0</c:v>
                </c:pt>
                <c:pt idx="1">
                  <c:v>50</c:v>
                </c:pt>
                <c:pt idx="2">
                  <c:v>25</c:v>
                </c:pt>
                <c:pt idx="3">
                  <c:v>15</c:v>
                </c:pt>
                <c:pt idx="4">
                  <c:v>0</c:v>
                </c:pt>
              </c:numCache>
            </c:numRef>
          </c:val>
          <c:extLst>
            <c:ext xmlns:c16="http://schemas.microsoft.com/office/drawing/2014/chart" uri="{C3380CC4-5D6E-409C-BE32-E72D297353CC}">
              <c16:uniqueId val="{00000000-D816-48F4-A961-B3B7E7760B90}"/>
            </c:ext>
          </c:extLst>
        </c:ser>
        <c:ser>
          <c:idx val="1"/>
          <c:order val="1"/>
          <c:tx>
            <c:strRef>
              <c:f>Sheet1!$C$1</c:f>
              <c:strCache>
                <c:ptCount val="1"/>
                <c:pt idx="0">
                  <c:v>value</c:v>
                </c:pt>
              </c:strCache>
            </c:strRef>
          </c:tx>
          <c:invertIfNegative val="1"/>
          <c:dPt>
            <c:idx val="0"/>
            <c:invertIfNegative val="1"/>
            <c:bubble3D val="0"/>
            <c:spPr>
              <a:solidFill>
                <a:srgbClr val="5B4B7A"/>
              </a:solidFill>
            </c:spPr>
            <c:extLst>
              <c:ext xmlns:c16="http://schemas.microsoft.com/office/drawing/2014/chart" uri="{C3380CC4-5D6E-409C-BE32-E72D297353CC}">
                <c16:uniqueId val="{00000002-D816-48F4-A961-B3B7E7760B90}"/>
              </c:ext>
            </c:extLst>
          </c:dPt>
          <c:dPt>
            <c:idx val="1"/>
            <c:invertIfNegative val="1"/>
            <c:bubble3D val="0"/>
            <c:spPr>
              <a:solidFill>
                <a:srgbClr val="8B5CF6"/>
              </a:solidFill>
            </c:spPr>
            <c:extLst>
              <c:ext xmlns:c16="http://schemas.microsoft.com/office/drawing/2014/chart" uri="{C3380CC4-5D6E-409C-BE32-E72D297353CC}">
                <c16:uniqueId val="{00000004-D816-48F4-A961-B3B7E7760B90}"/>
              </c:ext>
            </c:extLst>
          </c:dPt>
          <c:dPt>
            <c:idx val="2"/>
            <c:invertIfNegative val="1"/>
            <c:bubble3D val="0"/>
            <c:spPr>
              <a:solidFill>
                <a:srgbClr val="8B5CF6"/>
              </a:solidFill>
            </c:spPr>
            <c:extLst>
              <c:ext xmlns:c16="http://schemas.microsoft.com/office/drawing/2014/chart" uri="{C3380CC4-5D6E-409C-BE32-E72D297353CC}">
                <c16:uniqueId val="{00000006-D816-48F4-A961-B3B7E7760B90}"/>
              </c:ext>
            </c:extLst>
          </c:dPt>
          <c:dPt>
            <c:idx val="3"/>
            <c:invertIfNegative val="1"/>
            <c:bubble3D val="0"/>
            <c:spPr>
              <a:solidFill>
                <a:srgbClr val="D97706"/>
              </a:solidFill>
            </c:spPr>
            <c:extLst>
              <c:ext xmlns:c16="http://schemas.microsoft.com/office/drawing/2014/chart" uri="{C3380CC4-5D6E-409C-BE32-E72D297353CC}">
                <c16:uniqueId val="{00000008-D816-48F4-A961-B3B7E7760B90}"/>
              </c:ext>
            </c:extLst>
          </c:dPt>
          <c:dPt>
            <c:idx val="4"/>
            <c:invertIfNegative val="1"/>
            <c:bubble3D val="0"/>
            <c:spPr>
              <a:solidFill>
                <a:srgbClr val="820AD1"/>
              </a:solidFill>
            </c:spPr>
            <c:extLst>
              <c:ext xmlns:c16="http://schemas.microsoft.com/office/drawing/2014/chart" uri="{C3380CC4-5D6E-409C-BE32-E72D297353CC}">
                <c16:uniqueId val="{0000000A-D816-48F4-A961-B3B7E7760B90}"/>
              </c:ext>
            </c:extLst>
          </c:dPt>
          <c:dLbls>
            <c:dLbl>
              <c:idx val="0"/>
              <c:tx>
                <c:rich>
                  <a:bodyPr/>
                  <a:lstStyle/>
                  <a:p>
                    <a:r>
                      <a:rPr lang="en-US" sz="1200" b="1">
                        <a:solidFill>
                          <a:srgbClr val="FFFFFF"/>
                        </a:solidFill>
                        <a:latin typeface="Arial"/>
                      </a:rPr>
                      <a:t>$60M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816-48F4-A961-B3B7E7760B90}"/>
                </c:ext>
              </c:extLst>
            </c:dLbl>
            <c:dLbl>
              <c:idx val="1"/>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816-48F4-A961-B3B7E7760B90}"/>
                </c:ext>
              </c:extLst>
            </c:dLbl>
            <c:dLbl>
              <c:idx val="2"/>
              <c:tx>
                <c:rich>
                  <a:bodyPr/>
                  <a:lstStyle/>
                  <a:p>
                    <a:r>
                      <a:rPr lang="en-US" sz="1200" b="1">
                        <a:solidFill>
                          <a:srgbClr val="FFFFFF"/>
                        </a:solidFill>
                        <a:latin typeface="Arial"/>
                      </a:rPr>
                      <a:t>$25M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816-48F4-A961-B3B7E7760B90}"/>
                </c:ext>
              </c:extLst>
            </c:dLbl>
            <c:dLbl>
              <c:idx val="3"/>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816-48F4-A961-B3B7E7760B90}"/>
                </c:ext>
              </c:extLst>
            </c:dLbl>
            <c:dLbl>
              <c:idx val="4"/>
              <c:tx>
                <c:rich>
                  <a:bodyPr/>
                  <a:lstStyle/>
                  <a:p>
                    <a:r>
                      <a:rPr lang="en-US" sz="1200" b="1">
                        <a:solidFill>
                          <a:srgbClr val="FFFFFF"/>
                        </a:solidFill>
                        <a:latin typeface="Arial"/>
                      </a:rPr>
                      <a:t>$15M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816-48F4-A961-B3B7E7760B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GM asks</c:v>
                </c:pt>
                <c:pt idx="1">
                  <c:v>Reserve</c:v>
                </c:pt>
                <c:pt idx="2">
                  <c:v>2H Checkpoint</c:v>
                </c:pt>
                <c:pt idx="3">
                  <c:v>Second release</c:v>
                </c:pt>
                <c:pt idx="4">
                  <c:v>Fund now: first release</c:v>
                </c:pt>
              </c:strCache>
            </c:strRef>
          </c:cat>
          <c:val>
            <c:numRef>
              <c:f>Sheet1!$C$2:$C$6</c:f>
              <c:numCache>
                <c:formatCode>General</c:formatCode>
                <c:ptCount val="5"/>
                <c:pt idx="0">
                  <c:v>60</c:v>
                </c:pt>
                <c:pt idx="1">
                  <c:v>10</c:v>
                </c:pt>
                <c:pt idx="2">
                  <c:v>25</c:v>
                </c:pt>
                <c:pt idx="3">
                  <c:v>10</c:v>
                </c:pt>
                <c:pt idx="4">
                  <c:v>15</c:v>
                </c:pt>
              </c:numCache>
            </c:numRef>
          </c:val>
          <c:extLst>
            <c:ext xmlns:c16="http://schemas.microsoft.com/office/drawing/2014/chart" uri="{C3380CC4-5D6E-409C-BE32-E72D297353CC}">
              <c16:uniqueId val="{0000000B-D816-48F4-A961-B3B7E7760B90}"/>
            </c:ext>
          </c:extLst>
        </c:ser>
        <c:dLbls>
          <c:showLegendKey val="0"/>
          <c:showVal val="0"/>
          <c:showCatName val="0"/>
          <c:showSerName val="0"/>
          <c:showPercent val="0"/>
          <c:showBubbleSize val="0"/>
        </c:dLbls>
        <c:gapWidth val="55"/>
        <c:overlap val="10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100">
                <a:solidFill>
                  <a:srgbClr val="11052C"/>
                </a:solidFill>
                <a:latin typeface="Arial"/>
              </a:defRPr>
            </a:pPr>
            <a:endParaRPr lang="en-US"/>
          </a:p>
        </c:txPr>
        <c:crossAx val="2113994440"/>
        <c:crosses val="autoZero"/>
        <c:auto val="1"/>
        <c:lblAlgn val="ctr"/>
        <c:lblOffset val="100"/>
        <c:noMultiLvlLbl val="0"/>
      </c:catAx>
      <c:valAx>
        <c:axId val="2113994440"/>
        <c:scaling>
          <c:orientation val="minMax"/>
          <c:max val="61"/>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2242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385BE-FAEA-6C01-8970-C3D4FF0C70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D5042-EFAE-36AD-AB98-4FFCF1A8F53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5FF9BB1-4945-4395-9694-224015D6F1C9}"/>
              </a:ext>
            </a:extLst>
          </p:cNvPr>
          <p:cNvSpPr>
            <a:spLocks noGrp="1"/>
          </p:cNvSpPr>
          <p:nvPr>
            <p:ph type="body" sz="quarter" idx="3"/>
          </p:nvPr>
        </p:nvSpPr>
        <p:spPr/>
        <p:txBody>
          <a:bodyPr/>
          <a:lstStyle/>
          <a:p/>
        </p:txBody>
      </p:sp>
      <p:sp>
        <p:nvSpPr>
          <p:cNvPr id="4" name="Slide Number Placeholder 3">
            <a:extLst>
              <a:ext uri="{FF2B5EF4-FFF2-40B4-BE49-F238E27FC236}">
                <a16:creationId xmlns:a16="http://schemas.microsoft.com/office/drawing/2014/main" id="{CF7B567F-5F21-365E-0C5F-F7A0AD3A3118}"/>
              </a:ext>
            </a:extLst>
          </p:cNvPr>
          <p:cNvSpPr>
            <a:spLocks noGrp="1"/>
          </p:cNvSpPr>
          <p:nvPr>
            <p:ph type="sldNum" sz="quarter" idx="5"/>
          </p:nvPr>
        </p:nvSpPr>
        <p:spPr/>
      </p:sp>
    </p:spTree>
    <p:extLst>
      <p:ext uri="{BB962C8B-B14F-4D97-AF65-F5344CB8AC3E}">
        <p14:creationId xmlns:p14="http://schemas.microsoft.com/office/powerpoint/2010/main" val="28674721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0530"/>
        </a:solidFill>
        <a:effectLst/>
      </p:bgPr>
    </p:bg>
    <p:spTree>
      <p:nvGrpSpPr>
        <p:cNvPr id="1" name=""/>
        <p:cNvGrpSpPr/>
        <p:nvPr/>
      </p:nvGrpSpPr>
      <p:grpSpPr>
        <a:xfrm>
          <a:off x="0" y="0"/>
          <a:ext cx="0" cy="0"/>
          <a:chOff x="0" y="0"/>
          <a:chExt cx="0" cy="0"/>
        </a:xfrm>
      </p:grpSpPr>
      <p:sp>
        <p:nvSpPr>
          <p:cNvPr id="2" name="TextBox 1"/>
          <p:cNvSpPr txBox="1"/>
          <p:nvPr/>
        </p:nvSpPr>
        <p:spPr>
          <a:xfrm>
            <a:off x="612648" y="685800"/>
            <a:ext cx="10972800" cy="253916"/>
          </a:xfrm>
          <a:prstGeom prst="rect">
            <a:avLst/>
          </a:prstGeom>
          <a:noFill/>
        </p:spPr>
        <p:txBody>
          <a:bodyPr wrap="square" anchor="t">
            <a:spAutoFit/>
          </a:bodyPr>
          <a:lstStyle/>
          <a:p>
            <a:pPr algn="l"/>
            <a:r>
              <a:rPr lang="en-US" sz="1050" b="1" dirty="0">
                <a:solidFill>
                  <a:srgbClr val="C084FC"/>
                </a:solidFill>
                <a:latin typeface="Arial"/>
              </a:rPr>
              <a:t>NUBANK // BUSINESS CASE</a:t>
            </a:r>
            <a:endParaRPr sz="1050" b="1" dirty="0">
              <a:solidFill>
                <a:srgbClr val="C084FC"/>
              </a:solidFill>
              <a:latin typeface="Arial"/>
            </a:endParaRPr>
          </a:p>
        </p:txBody>
      </p:sp>
      <p:sp>
        <p:nvSpPr>
          <p:cNvPr id="3" name="TextBox 2"/>
          <p:cNvSpPr txBox="1"/>
          <p:nvPr/>
        </p:nvSpPr>
        <p:spPr>
          <a:xfrm>
            <a:off x="612648" y="1005840"/>
            <a:ext cx="6852181" cy="1200329"/>
          </a:xfrm>
          <a:prstGeom prst="rect">
            <a:avLst/>
          </a:prstGeom>
          <a:noFill/>
        </p:spPr>
        <p:txBody>
          <a:bodyPr wrap="square" anchor="t">
            <a:spAutoFit/>
          </a:bodyPr>
          <a:lstStyle/>
          <a:p>
            <a:pPr algn="l"/>
            <a:r>
              <a:rPr sz="3600" b="1" dirty="0">
                <a:solidFill>
                  <a:srgbClr val="FFFFFF"/>
                </a:solidFill>
                <a:latin typeface="Arial"/>
              </a:rPr>
              <a:t>Chief of Staff to the CFO</a:t>
            </a:r>
            <a:r>
              <a:rPr lang="en-US" sz="3600" b="1" dirty="0">
                <a:solidFill>
                  <a:srgbClr val="FFFFFF"/>
                </a:solidFill>
                <a:latin typeface="Arial"/>
              </a:rPr>
              <a:t> &amp; Global Corporate Governance</a:t>
            </a:r>
            <a:endParaRPr sz="3600" b="1" dirty="0">
              <a:solidFill>
                <a:srgbClr val="FFFFFF"/>
              </a:solidFill>
              <a:latin typeface="Arial"/>
            </a:endParaRPr>
          </a:p>
        </p:txBody>
      </p:sp>
      <p:sp>
        <p:nvSpPr>
          <p:cNvPr id="4" name="TextBox 3"/>
          <p:cNvSpPr txBox="1"/>
          <p:nvPr/>
        </p:nvSpPr>
        <p:spPr>
          <a:xfrm>
            <a:off x="612648" y="2240280"/>
            <a:ext cx="9601200" cy="323165"/>
          </a:xfrm>
          <a:prstGeom prst="rect">
            <a:avLst/>
          </a:prstGeom>
          <a:noFill/>
        </p:spPr>
        <p:txBody>
          <a:bodyPr wrap="square" anchor="t">
            <a:spAutoFit/>
          </a:bodyPr>
          <a:lstStyle/>
          <a:p>
            <a:pPr algn="l"/>
            <a:r>
              <a:rPr sz="1500" b="0" dirty="0">
                <a:solidFill>
                  <a:srgbClr val="E9D5FF"/>
                </a:solidFill>
                <a:latin typeface="Arial"/>
              </a:rPr>
              <a:t>Cassio Modelli</a:t>
            </a:r>
            <a:r>
              <a:rPr lang="en-US" sz="1500" b="0" dirty="0">
                <a:solidFill>
                  <a:srgbClr val="E9D5FF"/>
                </a:solidFill>
                <a:latin typeface="Arial"/>
              </a:rPr>
              <a:t> -</a:t>
            </a:r>
            <a:r>
              <a:rPr sz="1500" b="0" dirty="0">
                <a:solidFill>
                  <a:srgbClr val="E9D5FF"/>
                </a:solidFill>
                <a:latin typeface="Arial"/>
              </a:rPr>
              <a:t> October 2026</a:t>
            </a:r>
          </a:p>
        </p:txBody>
      </p:sp>
      <p:sp>
        <p:nvSpPr>
          <p:cNvPr id="5" name="Rounded Rectangle 4"/>
          <p:cNvSpPr/>
          <p:nvPr/>
        </p:nvSpPr>
        <p:spPr>
          <a:xfrm>
            <a:off x="61264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1 | IN-HOUSING </a:t>
            </a:r>
            <a:r>
              <a:rPr sz="950" b="1" dirty="0">
                <a:solidFill>
                  <a:srgbClr val="C084FC"/>
                </a:solidFill>
                <a:latin typeface="Arial"/>
              </a:rPr>
              <a:t>PLANNING</a:t>
            </a:r>
            <a:r>
              <a:rPr lang="en-US" sz="950" b="1" dirty="0">
                <a:solidFill>
                  <a:srgbClr val="C084FC"/>
                </a:solidFill>
                <a:latin typeface="Arial"/>
              </a:rPr>
              <a:t> &amp; BUDGET TRADE-OFFS</a:t>
            </a:r>
            <a:endParaRPr sz="950" b="1" dirty="0">
              <a:solidFill>
                <a:srgbClr val="C084FC"/>
              </a:solidFill>
              <a:latin typeface="Arial"/>
            </a:endParaRPr>
          </a:p>
          <a:p>
            <a:pPr algn="l">
              <a:spcAft>
                <a:spcPts val="600"/>
              </a:spcAft>
            </a:pPr>
            <a:r>
              <a:rPr sz="1500" b="1" dirty="0">
                <a:solidFill>
                  <a:srgbClr val="FFFFFF"/>
                </a:solidFill>
                <a:latin typeface="Arial"/>
              </a:rPr>
              <a:t>$60M of asks</a:t>
            </a:r>
            <a:r>
              <a:rPr lang="en-US" sz="1500" b="1" dirty="0">
                <a:solidFill>
                  <a:srgbClr val="FFFFFF"/>
                </a:solidFill>
                <a:latin typeface="Arial"/>
              </a:rPr>
              <a:t> vs.</a:t>
            </a:r>
            <a:r>
              <a:rPr sz="1500" b="1" dirty="0">
                <a:solidFill>
                  <a:srgbClr val="FFFFFF"/>
                </a:solidFill>
                <a:latin typeface="Arial"/>
              </a:rPr>
              <a:t> a $25M cap</a:t>
            </a:r>
          </a:p>
          <a:p>
            <a:pPr algn="l">
              <a:spcAft>
                <a:spcPts val="400"/>
              </a:spcAft>
            </a:pPr>
            <a:r>
              <a:rPr lang="en-US" sz="1300" dirty="0">
                <a:solidFill>
                  <a:srgbClr val="E9D5FF"/>
                </a:solidFill>
                <a:latin typeface="Arial"/>
              </a:rPr>
              <a:t>Centralizing </a:t>
            </a:r>
            <a:r>
              <a:rPr sz="1300" b="0" dirty="0">
                <a:solidFill>
                  <a:srgbClr val="E9D5FF"/>
                </a:solidFill>
                <a:latin typeface="Arial"/>
              </a:rPr>
              <a:t>planning </a:t>
            </a:r>
            <a:r>
              <a:rPr lang="en-US" sz="1300" b="0" dirty="0">
                <a:solidFill>
                  <a:srgbClr val="E9D5FF"/>
                </a:solidFill>
                <a:latin typeface="Arial"/>
              </a:rPr>
              <a:t>to improve alignment and coordination</a:t>
            </a:r>
            <a:r>
              <a:rPr lang="en-US" sz="1300" dirty="0">
                <a:solidFill>
                  <a:srgbClr val="E9D5FF"/>
                </a:solidFill>
                <a:latin typeface="Arial"/>
              </a:rPr>
              <a:t>, while driving investment/expense discipline and methodology</a:t>
            </a:r>
            <a:endParaRPr sz="1300" b="0" dirty="0">
              <a:solidFill>
                <a:srgbClr val="E9D5FF"/>
              </a:solidFill>
              <a:latin typeface="Arial"/>
            </a:endParaRPr>
          </a:p>
        </p:txBody>
      </p:sp>
      <p:sp>
        <p:nvSpPr>
          <p:cNvPr id="7" name="Rounded Rectangle 6"/>
          <p:cNvSpPr/>
          <p:nvPr/>
        </p:nvSpPr>
        <p:spPr>
          <a:xfrm>
            <a:off x="431596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2569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2 | C-SUITE ALIGNMENT &amp; BOARD GOVERNANCE</a:t>
            </a:r>
            <a:endParaRPr sz="950" b="1" dirty="0">
              <a:solidFill>
                <a:srgbClr val="C084FC"/>
              </a:solidFill>
              <a:latin typeface="Arial"/>
            </a:endParaRPr>
          </a:p>
          <a:p>
            <a:pPr algn="l">
              <a:spcAft>
                <a:spcPts val="600"/>
              </a:spcAft>
            </a:pPr>
            <a:r>
              <a:rPr sz="1500" b="1" dirty="0">
                <a:solidFill>
                  <a:srgbClr val="FFFFFF"/>
                </a:solidFill>
                <a:latin typeface="Arial"/>
              </a:rPr>
              <a:t>Board </a:t>
            </a:r>
            <a:r>
              <a:rPr lang="en-US" sz="1500" b="1" dirty="0">
                <a:solidFill>
                  <a:srgbClr val="FFFFFF"/>
                </a:solidFill>
                <a:latin typeface="Arial"/>
              </a:rPr>
              <a:t>meeting cadence and prep</a:t>
            </a:r>
            <a:endParaRPr sz="1500" b="1" dirty="0">
              <a:solidFill>
                <a:srgbClr val="FFFFFF"/>
              </a:solidFill>
              <a:latin typeface="Arial"/>
            </a:endParaRPr>
          </a:p>
          <a:p>
            <a:pPr algn="l">
              <a:spcAft>
                <a:spcPts val="400"/>
              </a:spcAft>
            </a:pPr>
            <a:r>
              <a:rPr lang="en-US" sz="1300" b="0" dirty="0">
                <a:solidFill>
                  <a:srgbClr val="E9D5FF"/>
                </a:solidFill>
                <a:latin typeface="Arial"/>
              </a:rPr>
              <a:t>Establishing agenda rhythm and material preparation efficiency + ways of working to navigate executive priorities and support alignment</a:t>
            </a:r>
            <a:endParaRPr sz="1300" b="0" dirty="0">
              <a:solidFill>
                <a:srgbClr val="E9D5FF"/>
              </a:solidFill>
              <a:latin typeface="Arial"/>
            </a:endParaRPr>
          </a:p>
        </p:txBody>
      </p:sp>
      <p:sp>
        <p:nvSpPr>
          <p:cNvPr id="9" name="Rounded Rectangle 8"/>
          <p:cNvSpPr/>
          <p:nvPr/>
        </p:nvSpPr>
        <p:spPr>
          <a:xfrm>
            <a:off x="801928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129015" y="3264408"/>
            <a:ext cx="3255263" cy="1184940"/>
          </a:xfrm>
          <a:prstGeom prst="rect">
            <a:avLst/>
          </a:prstGeom>
          <a:noFill/>
        </p:spPr>
        <p:txBody>
          <a:bodyPr wrap="square" anchor="t">
            <a:spAutoFit/>
          </a:bodyPr>
          <a:lstStyle/>
          <a:p>
            <a:pPr algn="l">
              <a:spcAft>
                <a:spcPts val="300"/>
              </a:spcAft>
            </a:pPr>
            <a:r>
              <a:rPr lang="en-US" sz="950" b="1" dirty="0">
                <a:solidFill>
                  <a:srgbClr val="C084FC"/>
                </a:solidFill>
                <a:latin typeface="Arial"/>
              </a:rPr>
              <a:t>3 | </a:t>
            </a:r>
            <a:r>
              <a:rPr sz="950" b="1" dirty="0">
                <a:solidFill>
                  <a:srgbClr val="C084FC"/>
                </a:solidFill>
                <a:latin typeface="Arial"/>
              </a:rPr>
              <a:t>SPECIAL PROJECT</a:t>
            </a:r>
            <a:r>
              <a:rPr lang="en-US" sz="950" b="1" dirty="0">
                <a:solidFill>
                  <a:srgbClr val="C084FC"/>
                </a:solidFill>
                <a:latin typeface="Arial"/>
              </a:rPr>
              <a:t> NEGOTIATION</a:t>
            </a:r>
            <a:endParaRPr sz="950" b="1" dirty="0">
              <a:solidFill>
                <a:srgbClr val="C084FC"/>
              </a:solidFill>
              <a:latin typeface="Arial"/>
            </a:endParaRPr>
          </a:p>
          <a:p>
            <a:pPr algn="l">
              <a:spcAft>
                <a:spcPts val="600"/>
              </a:spcAft>
            </a:pPr>
            <a:r>
              <a:rPr sz="1500" b="1" dirty="0">
                <a:solidFill>
                  <a:srgbClr val="FFFFFF"/>
                </a:solidFill>
                <a:latin typeface="Arial"/>
              </a:rPr>
              <a:t>A new </a:t>
            </a:r>
            <a:r>
              <a:rPr lang="en-US" sz="1500" b="1" dirty="0">
                <a:solidFill>
                  <a:srgbClr val="FFFFFF"/>
                </a:solidFill>
                <a:latin typeface="Arial"/>
              </a:rPr>
              <a:t>HQ: complex workstreams</a:t>
            </a:r>
            <a:endParaRPr sz="1500" b="1" dirty="0">
              <a:solidFill>
                <a:srgbClr val="FFFFFF"/>
              </a:solidFill>
              <a:latin typeface="Arial"/>
            </a:endParaRPr>
          </a:p>
          <a:p>
            <a:pPr algn="l">
              <a:spcAft>
                <a:spcPts val="400"/>
              </a:spcAft>
            </a:pPr>
            <a:r>
              <a:rPr lang="en-US" sz="1300" b="0" dirty="0">
                <a:solidFill>
                  <a:srgbClr val="E9D5FF"/>
                </a:solidFill>
                <a:latin typeface="Arial"/>
              </a:rPr>
              <a:t>Leading cross-functional engagement without hierarchy to incorporate specialist input and lead to better outcomes</a:t>
            </a:r>
            <a:endParaRPr sz="1300" b="0" dirty="0">
              <a:solidFill>
                <a:srgbClr val="E9D5FF"/>
              </a:solidFill>
              <a:latin typeface="Arial"/>
            </a:endParaRPr>
          </a:p>
        </p:txBody>
      </p:sp>
      <p:sp>
        <p:nvSpPr>
          <p:cNvPr id="11" name="Rounded Rectangle 10"/>
          <p:cNvSpPr/>
          <p:nvPr/>
        </p:nvSpPr>
        <p:spPr>
          <a:xfrm>
            <a:off x="612648" y="4983480"/>
            <a:ext cx="10881360" cy="86868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2649" y="5189886"/>
            <a:ext cx="10835432" cy="492443"/>
          </a:xfrm>
          <a:prstGeom prst="rect">
            <a:avLst/>
          </a:prstGeom>
          <a:noFill/>
        </p:spPr>
        <p:txBody>
          <a:bodyPr wrap="square" anchor="ctr">
            <a:spAutoFit/>
          </a:bodyPr>
          <a:lstStyle/>
          <a:p>
            <a:pPr algn="l"/>
            <a:r>
              <a:rPr lang="en-US" sz="1300" b="1" dirty="0">
                <a:solidFill>
                  <a:srgbClr val="11052C"/>
                </a:solidFill>
                <a:latin typeface="Arial"/>
              </a:rPr>
              <a:t>THE FOUNDATION: FINANCE &amp; GOVERNANCE AS GROWTH LEVERS AND BUSINESS ENABLERS, SUPPORTING NUBANK’S GROWTH AMBITIONS BY ESTABLISHING WAYS OF WORKING TO REMAIN AGILE WHILE ADDING RIGOR REQUIRED BY SCALE.</a:t>
            </a:r>
            <a:endParaRPr sz="1300" b="0" dirty="0">
              <a:solidFill>
                <a:srgbClr val="11052C"/>
              </a:solidFill>
              <a:latin typeface="Arial"/>
            </a:endParaRP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C084FC"/>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lang="en-US" sz="1000" b="1" dirty="0">
                <a:solidFill>
                  <a:srgbClr val="820AD1"/>
                </a:solidFill>
                <a:latin typeface="Arial"/>
              </a:rPr>
              <a:t>PROPOSED APPROACH</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Establishing principle-based structure for each deliverable</a:t>
            </a:r>
            <a:endParaRPr sz="2400" b="1" dirty="0">
              <a:solidFill>
                <a:srgbClr val="11052C"/>
              </a:solidFill>
              <a:latin typeface="Arial"/>
            </a:endParaRPr>
          </a:p>
        </p:txBody>
      </p:sp>
      <p:sp>
        <p:nvSpPr>
          <p:cNvPr id="4" name="TextBox 3"/>
          <p:cNvSpPr txBox="1"/>
          <p:nvPr/>
        </p:nvSpPr>
        <p:spPr>
          <a:xfrm>
            <a:off x="612648" y="1280160"/>
            <a:ext cx="10789920" cy="477054"/>
          </a:xfrm>
          <a:prstGeom prst="rect">
            <a:avLst/>
          </a:prstGeom>
          <a:noFill/>
        </p:spPr>
        <p:txBody>
          <a:bodyPr wrap="square" anchor="t">
            <a:spAutoFit/>
          </a:bodyPr>
          <a:lstStyle/>
          <a:p>
            <a:r>
              <a:rPr lang="en-US" sz="1250" b="1" dirty="0">
                <a:solidFill>
                  <a:srgbClr val="11052C"/>
                </a:solidFill>
                <a:latin typeface="Arial"/>
              </a:rPr>
              <a:t>OWNERSHIP as a core principle guiding </a:t>
            </a:r>
            <a:r>
              <a:rPr sz="1250" b="1" dirty="0">
                <a:solidFill>
                  <a:srgbClr val="11052C"/>
                </a:solidFill>
                <a:latin typeface="Arial"/>
              </a:rPr>
              <a:t>all </a:t>
            </a:r>
            <a:r>
              <a:rPr lang="en-US" sz="1250" b="1" dirty="0">
                <a:solidFill>
                  <a:srgbClr val="11052C"/>
                </a:solidFill>
                <a:latin typeface="Arial"/>
              </a:rPr>
              <a:t>four topics: </a:t>
            </a:r>
            <a:r>
              <a:rPr lang="en-US" sz="1250" b="0" dirty="0">
                <a:solidFill>
                  <a:srgbClr val="11052C"/>
                </a:solidFill>
                <a:latin typeface="Arial"/>
              </a:rPr>
              <a:t>Proposing methodology</a:t>
            </a:r>
            <a:r>
              <a:rPr lang="en-US" sz="1250" dirty="0">
                <a:solidFill>
                  <a:srgbClr val="11052C"/>
                </a:solidFill>
                <a:latin typeface="Arial"/>
              </a:rPr>
              <a:t>, gathering data/viewpoints, providing recommendations and options, </a:t>
            </a:r>
            <a:r>
              <a:rPr lang="en-US" sz="1250" b="0" dirty="0">
                <a:solidFill>
                  <a:srgbClr val="11052C"/>
                </a:solidFill>
                <a:latin typeface="Arial"/>
              </a:rPr>
              <a:t>establishing decision management criteria</a:t>
            </a:r>
            <a:r>
              <a:rPr sz="1250" b="0" dirty="0">
                <a:solidFill>
                  <a:srgbClr val="11052C"/>
                </a:solidFill>
                <a:latin typeface="Arial"/>
              </a:rPr>
              <a:t>. </a:t>
            </a:r>
            <a:r>
              <a:rPr lang="en-US" sz="1250" b="0" dirty="0">
                <a:solidFill>
                  <a:srgbClr val="11052C"/>
                </a:solidFill>
                <a:latin typeface="Arial"/>
              </a:rPr>
              <a:t>D</a:t>
            </a:r>
            <a:r>
              <a:rPr sz="1250" b="0" dirty="0">
                <a:solidFill>
                  <a:srgbClr val="11052C"/>
                </a:solidFill>
                <a:latin typeface="Arial"/>
              </a:rPr>
              <a:t>ecision</a:t>
            </a:r>
            <a:r>
              <a:rPr lang="en-US" sz="1250" b="0" dirty="0">
                <a:solidFill>
                  <a:srgbClr val="11052C"/>
                </a:solidFill>
                <a:latin typeface="Arial"/>
              </a:rPr>
              <a:t>s</a:t>
            </a:r>
            <a:r>
              <a:rPr sz="1250" b="0" dirty="0">
                <a:solidFill>
                  <a:srgbClr val="11052C"/>
                </a:solidFill>
                <a:latin typeface="Arial"/>
              </a:rPr>
              <a:t>, rationale and dissent are recorded</a:t>
            </a:r>
            <a:r>
              <a:rPr lang="en-US" sz="1250" b="0" dirty="0">
                <a:solidFill>
                  <a:srgbClr val="11052C"/>
                </a:solidFill>
                <a:latin typeface="Arial"/>
              </a:rPr>
              <a:t> </a:t>
            </a:r>
            <a:r>
              <a:rPr lang="en-US" sz="1250" dirty="0">
                <a:solidFill>
                  <a:srgbClr val="11052C"/>
                </a:solidFill>
                <a:latin typeface="Arial"/>
              </a:rPr>
              <a:t>for processes and outcome </a:t>
            </a:r>
            <a:r>
              <a:rPr lang="en-US" sz="1250" b="0" dirty="0">
                <a:solidFill>
                  <a:srgbClr val="11052C"/>
                </a:solidFill>
                <a:latin typeface="Arial"/>
              </a:rPr>
              <a:t>continuous improvement</a:t>
            </a:r>
            <a:endParaRPr sz="1250" b="0" dirty="0">
              <a:solidFill>
                <a:srgbClr val="11052C"/>
              </a:solidFill>
              <a:latin typeface="Arial"/>
            </a:endParaRPr>
          </a:p>
        </p:txBody>
      </p:sp>
      <p:sp>
        <p:nvSpPr>
          <p:cNvPr id="5" name="Rounded Rectangle 4"/>
          <p:cNvSpPr/>
          <p:nvPr/>
        </p:nvSpPr>
        <p:spPr>
          <a:xfrm>
            <a:off x="6126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2092316"/>
            <a:ext cx="2340863" cy="2046714"/>
          </a:xfrm>
          <a:prstGeom prst="rect">
            <a:avLst/>
          </a:prstGeom>
          <a:noFill/>
        </p:spPr>
        <p:txBody>
          <a:bodyPr wrap="square" anchor="t">
            <a:spAutoFit/>
          </a:bodyPr>
          <a:lstStyle/>
          <a:p>
            <a:pPr algn="l">
              <a:spcAft>
                <a:spcPts val="300"/>
              </a:spcAft>
            </a:pPr>
            <a:r>
              <a:rPr sz="950" b="1" dirty="0">
                <a:solidFill>
                  <a:srgbClr val="820AD1"/>
                </a:solidFill>
                <a:latin typeface="Arial"/>
              </a:rPr>
              <a:t>DELIVERABLE 1  //  PLANNING</a:t>
            </a:r>
          </a:p>
          <a:p>
            <a:pPr algn="l">
              <a:spcAft>
                <a:spcPts val="600"/>
              </a:spcAft>
            </a:pPr>
            <a:r>
              <a:rPr lang="en-US" sz="1500" b="1" dirty="0">
                <a:solidFill>
                  <a:srgbClr val="11052C"/>
                </a:solidFill>
                <a:latin typeface="Arial"/>
              </a:rPr>
              <a:t>Global Planning Hub + spend discipline</a:t>
            </a:r>
          </a:p>
          <a:p>
            <a:pPr algn="l">
              <a:spcAft>
                <a:spcPts val="600"/>
              </a:spcAft>
            </a:pPr>
            <a:r>
              <a:rPr lang="en-US" sz="1250" b="0" dirty="0">
                <a:solidFill>
                  <a:srgbClr val="3B2A54"/>
                </a:solidFill>
                <a:latin typeface="Arial"/>
              </a:rPr>
              <a:t>CoS &amp; CG and Global Finance / FP&amp;A stand up a Planning CoE with the Countries and GMs: one Nubank</a:t>
            </a:r>
            <a:r>
              <a:rPr lang="en-US" sz="1250" b="0" dirty="0" err="1">
                <a:solidFill>
                  <a:srgbClr val="3B2A54"/>
                </a:solidFill>
                <a:latin typeface="Arial"/>
              </a:rPr>
              <a:t/>
            </a:r>
            <a:r>
              <a:rPr lang="en-US" sz="1250" b="0" dirty="0">
                <a:solidFill>
                  <a:srgbClr val="3B2A54"/>
                </a:solidFill>
                <a:latin typeface="Arial"/>
              </a:rPr>
              <a:t/>
            </a:r>
          </a:p>
          <a:p>
            <a:pPr algn="l">
              <a:spcAft>
                <a:spcPts val="600"/>
              </a:spcAft>
            </a:pPr>
            <a:r>
              <a:rPr lang="en-US" sz="1250" b="0" dirty="0">
                <a:solidFill>
                  <a:srgbClr val="3B2A54"/>
                </a:solidFill>
                <a:latin typeface="Arial"/>
              </a:rPr>
              <a:t>B</a:t>
            </a:r>
            <a:r>
              <a:rPr sz="1250" b="0" dirty="0">
                <a:solidFill>
                  <a:srgbClr val="3B2A54"/>
                </a:solidFill>
                <a:latin typeface="Arial"/>
              </a:rPr>
              <a:t>usiness case</a:t>
            </a:r>
            <a:r>
              <a:rPr lang="en-US" sz="1250" b="0" dirty="0">
                <a:solidFill>
                  <a:srgbClr val="3B2A54"/>
                </a:solidFill>
                <a:latin typeface="Arial"/>
              </a:rPr>
              <a:t> methodology for spend prioritization + proposed funding </a:t>
            </a:r>
            <a:r>
              <a:rPr lang="en-US" sz="1250" dirty="0">
                <a:solidFill>
                  <a:srgbClr val="3B2A54"/>
                </a:solidFill>
                <a:latin typeface="Arial"/>
              </a:rPr>
              <a:t>schedule</a:t>
            </a:r>
            <a:r>
              <a:rPr sz="1250" b="0" dirty="0">
                <a:solidFill>
                  <a:srgbClr val="3B2A54"/>
                </a:solidFill>
                <a:latin typeface="Arial"/>
              </a:rPr>
              <a:t>.</a:t>
            </a:r>
          </a:p>
        </p:txBody>
      </p:sp>
      <p:sp>
        <p:nvSpPr>
          <p:cNvPr id="7" name="Rounded Rectangle 6"/>
          <p:cNvSpPr/>
          <p:nvPr/>
        </p:nvSpPr>
        <p:spPr>
          <a:xfrm>
            <a:off x="33558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2092316"/>
            <a:ext cx="2340863" cy="2072362"/>
          </a:xfrm>
          <a:prstGeom prst="rect">
            <a:avLst/>
          </a:prstGeom>
          <a:noFill/>
        </p:spPr>
        <p:txBody>
          <a:bodyPr wrap="square" anchor="t">
            <a:spAutoFit/>
          </a:bodyPr>
          <a:lstStyle/>
          <a:p>
            <a:pPr algn="l">
              <a:spcAft>
                <a:spcPts val="300"/>
              </a:spcAft>
            </a:pPr>
            <a:r>
              <a:rPr sz="950" b="1" dirty="0">
                <a:solidFill>
                  <a:srgbClr val="820AD1"/>
                </a:solidFill>
                <a:latin typeface="Arial"/>
              </a:rPr>
              <a:t>DELIVERABLE 2  //  BOARD</a:t>
            </a:r>
          </a:p>
          <a:p>
            <a:pPr algn="l">
              <a:spcAft>
                <a:spcPts val="600"/>
              </a:spcAft>
            </a:pPr>
            <a:r>
              <a:rPr lang="en-US" sz="1500" b="1" dirty="0">
                <a:solidFill>
                  <a:srgbClr val="11052C"/>
                </a:solidFill>
                <a:latin typeface="Arial"/>
              </a:rPr>
              <a:t>Establishing cadence and ownership</a:t>
            </a:r>
            <a:endParaRPr sz="1500" b="1" dirty="0">
              <a:solidFill>
                <a:srgbClr val="11052C"/>
              </a:solidFill>
              <a:latin typeface="Arial"/>
            </a:endParaRPr>
          </a:p>
          <a:p>
            <a:pPr algn="l">
              <a:spcAft>
                <a:spcPts val="400"/>
              </a:spcAft>
            </a:pPr>
            <a:r>
              <a:rPr lang="en-US" sz="1250" b="0" dirty="0">
                <a:solidFill>
                  <a:srgbClr val="3B2A54"/>
                </a:solidFill>
                <a:latin typeface="Arial"/>
              </a:rPr>
              <a:t>Agenda topics are living </a:t>
            </a:r>
            <a:r>
              <a:rPr lang="en-US" sz="1250" dirty="0">
                <a:solidFill>
                  <a:srgbClr val="3B2A54"/>
                </a:solidFill>
                <a:latin typeface="Arial"/>
              </a:rPr>
              <a:t>concepts – updates are key. </a:t>
            </a:r>
          </a:p>
          <a:p>
            <a:pPr>
              <a:spcAft>
                <a:spcPts val="400"/>
              </a:spcAft>
            </a:pPr>
            <a:r>
              <a:rPr lang="en-US" sz="1250" dirty="0">
                <a:solidFill>
                  <a:srgbClr val="3B2A54"/>
                </a:solidFill>
                <a:latin typeface="Arial"/>
              </a:rPr>
              <a:t>The book ships 7 days before the Board, every quarter.</a:t>
            </a:r>
          </a:p>
          <a:p>
            <a:pPr algn="l">
              <a:spcAft>
                <a:spcPts val="400"/>
              </a:spcAft>
            </a:pPr>
            <a:r>
              <a:rPr lang="en-US" sz="1250" b="0" dirty="0">
                <a:solidFill>
                  <a:srgbClr val="3B2A54"/>
                </a:solidFill>
                <a:latin typeface="Arial"/>
              </a:rPr>
              <a:t>Decision fram</a:t>
            </a:r>
            <a:r>
              <a:rPr lang="en-US" sz="1250" dirty="0">
                <a:solidFill>
                  <a:srgbClr val="3B2A54"/>
                </a:solidFill>
                <a:latin typeface="Arial"/>
              </a:rPr>
              <a:t>ework: </a:t>
            </a:r>
            <a:r>
              <a:rPr sz="1250" b="0" dirty="0">
                <a:solidFill>
                  <a:srgbClr val="3B2A54"/>
                </a:solidFill>
                <a:latin typeface="Arial"/>
              </a:rPr>
              <a:t>positions</a:t>
            </a:r>
            <a:r>
              <a:rPr lang="en-US" sz="1250" b="0" dirty="0">
                <a:solidFill>
                  <a:srgbClr val="3B2A54"/>
                </a:solidFill>
                <a:latin typeface="Arial"/>
              </a:rPr>
              <a:t>, voting</a:t>
            </a:r>
            <a:r>
              <a:rPr sz="1250" b="0" dirty="0">
                <a:solidFill>
                  <a:srgbClr val="3B2A54"/>
                </a:solidFill>
                <a:latin typeface="Arial"/>
              </a:rPr>
              <a:t> </a:t>
            </a:r>
            <a:r>
              <a:rPr lang="en-US" sz="1250" dirty="0">
                <a:solidFill>
                  <a:srgbClr val="3B2A54"/>
                </a:solidFill>
                <a:latin typeface="Arial"/>
              </a:rPr>
              <a:t>&amp; </a:t>
            </a:r>
            <a:r>
              <a:rPr sz="1250" b="0" dirty="0">
                <a:solidFill>
                  <a:srgbClr val="3B2A54"/>
                </a:solidFill>
                <a:latin typeface="Arial"/>
              </a:rPr>
              <a:t>CEO </a:t>
            </a:r>
            <a:r>
              <a:rPr lang="en-US" sz="1250" b="0" dirty="0">
                <a:solidFill>
                  <a:srgbClr val="3B2A54"/>
                </a:solidFill>
                <a:latin typeface="Arial"/>
              </a:rPr>
              <a:t>arbitrage</a:t>
            </a:r>
          </a:p>
        </p:txBody>
      </p:sp>
      <p:sp>
        <p:nvSpPr>
          <p:cNvPr id="9" name="Rounded Rectangle 8"/>
          <p:cNvSpPr/>
          <p:nvPr/>
        </p:nvSpPr>
        <p:spPr>
          <a:xfrm>
            <a:off x="60990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2092316"/>
            <a:ext cx="2340863" cy="2136482"/>
          </a:xfrm>
          <a:prstGeom prst="rect">
            <a:avLst/>
          </a:prstGeom>
          <a:noFill/>
        </p:spPr>
        <p:txBody>
          <a:bodyPr wrap="square" anchor="t">
            <a:spAutoFit/>
          </a:bodyPr>
          <a:lstStyle/>
          <a:p>
            <a:pPr algn="l">
              <a:spcAft>
                <a:spcPts val="300"/>
              </a:spcAft>
            </a:pPr>
            <a:r>
              <a:rPr sz="950" b="1" dirty="0">
                <a:solidFill>
                  <a:srgbClr val="820AD1"/>
                </a:solidFill>
                <a:latin typeface="Arial"/>
              </a:rPr>
              <a:t>DELIVERABLE 3  //  HQ</a:t>
            </a:r>
          </a:p>
          <a:p>
            <a:pPr algn="l">
              <a:spcAft>
                <a:spcPts val="600"/>
              </a:spcAft>
            </a:pPr>
            <a:r>
              <a:rPr sz="1500" b="1" dirty="0">
                <a:solidFill>
                  <a:srgbClr val="11052C"/>
                </a:solidFill>
                <a:latin typeface="Arial"/>
              </a:rPr>
              <a:t>120-day gated approach</a:t>
            </a:r>
            <a:r>
              <a:rPr lang="en-US" sz="1500" b="1" dirty="0">
                <a:solidFill>
                  <a:srgbClr val="11052C"/>
                </a:solidFill>
                <a:latin typeface="Arial"/>
              </a:rPr>
              <a:t/>
            </a:r>
            <a:endParaRPr sz="1500" b="1" dirty="0">
              <a:solidFill>
                <a:srgbClr val="11052C"/>
              </a:solidFill>
              <a:latin typeface="Arial"/>
            </a:endParaRPr>
          </a:p>
          <a:p>
            <a:pPr algn="l">
              <a:spcAft>
                <a:spcPts val="400"/>
              </a:spcAft>
            </a:pPr>
            <a:r>
              <a:rPr lang="en-US" sz="1250" b="0" dirty="0">
                <a:solidFill>
                  <a:srgbClr val="3B2A54"/>
                </a:solidFill>
                <a:latin typeface="Arial"/>
              </a:rPr>
              <a:t>What c</a:t>
            </a:r>
            <a:r>
              <a:rPr sz="1250" b="0" dirty="0">
                <a:solidFill>
                  <a:srgbClr val="3B2A54"/>
                </a:solidFill>
                <a:latin typeface="Arial"/>
              </a:rPr>
              <a:t>an we</a:t>
            </a:r>
            <a:r>
              <a:rPr lang="en-US" sz="1250" b="0" dirty="0">
                <a:solidFill>
                  <a:srgbClr val="3B2A54"/>
                </a:solidFill>
                <a:latin typeface="Arial"/>
              </a:rPr>
              <a:t> do?</a:t>
            </a:r>
          </a:p>
          <a:p>
            <a:pPr algn="l">
              <a:spcAft>
                <a:spcPts val="400"/>
              </a:spcAft>
            </a:pPr>
            <a:r>
              <a:rPr lang="en-US" sz="1250" dirty="0">
                <a:solidFill>
                  <a:srgbClr val="3B2A54"/>
                </a:solidFill>
                <a:latin typeface="Arial"/>
              </a:rPr>
              <a:t>W</a:t>
            </a:r>
            <a:r>
              <a:rPr sz="1250" b="0" dirty="0">
                <a:solidFill>
                  <a:srgbClr val="3B2A54"/>
                </a:solidFill>
                <a:latin typeface="Arial"/>
              </a:rPr>
              <a:t>hat may we offer</a:t>
            </a:r>
            <a:r>
              <a:rPr lang="en-US" sz="1250" b="0" dirty="0">
                <a:solidFill>
                  <a:srgbClr val="3B2A54"/>
                </a:solidFill>
                <a:latin typeface="Arial"/>
              </a:rPr>
              <a:t>?</a:t>
            </a:r>
          </a:p>
          <a:p>
            <a:pPr algn="l">
              <a:spcAft>
                <a:spcPts val="400"/>
              </a:spcAft>
            </a:pPr>
            <a:r>
              <a:rPr lang="en-US" sz="1250" dirty="0">
                <a:solidFill>
                  <a:srgbClr val="3B2A54"/>
                </a:solidFill>
                <a:latin typeface="Arial"/>
              </a:rPr>
              <a:t>W</a:t>
            </a:r>
            <a:r>
              <a:rPr sz="1250" b="0" dirty="0">
                <a:solidFill>
                  <a:srgbClr val="3B2A54"/>
                </a:solidFill>
                <a:latin typeface="Arial"/>
              </a:rPr>
              <a:t>ho may bind Nu</a:t>
            </a:r>
            <a:r>
              <a:rPr lang="en-US" sz="1250" b="0" dirty="0">
                <a:solidFill>
                  <a:srgbClr val="3B2A54"/>
                </a:solidFill>
                <a:latin typeface="Arial"/>
              </a:rPr>
              <a:t>?</a:t>
            </a:r>
          </a:p>
          <a:p>
            <a:pPr algn="l">
              <a:spcAft>
                <a:spcPts val="400"/>
              </a:spcAft>
            </a:pPr>
            <a:r>
              <a:rPr lang="en-US" sz="1250" b="0" dirty="0">
                <a:solidFill>
                  <a:srgbClr val="3B2A54"/>
                </a:solidFill>
                <a:latin typeface="Arial"/>
              </a:rPr>
              <a:t>D</a:t>
            </a:r>
            <a:r>
              <a:rPr sz="1250" b="0" dirty="0">
                <a:solidFill>
                  <a:srgbClr val="3B2A54"/>
                </a:solidFill>
                <a:latin typeface="Arial"/>
              </a:rPr>
              <a:t>o we commit</a:t>
            </a:r>
            <a:r>
              <a:rPr lang="en-US" sz="1250" b="0" dirty="0">
                <a:solidFill>
                  <a:srgbClr val="3B2A54"/>
                </a:solidFill>
                <a:latin typeface="Arial"/>
              </a:rPr>
              <a:t>?</a:t>
            </a:r>
          </a:p>
          <a:p>
            <a:pPr algn="l">
              <a:spcAft>
                <a:spcPts val="400"/>
              </a:spcAft>
            </a:pPr>
            <a:r>
              <a:rPr lang="en-US" sz="1250" b="0" dirty="0">
                <a:solidFill>
                  <a:srgbClr val="3B2A54"/>
                </a:solidFill>
                <a:latin typeface="Arial"/>
              </a:rPr>
              <a:t>Our team recommends; the CEO and CFO decide.</a:t>
            </a:r>
            <a:endParaRPr sz="1250" b="0" dirty="0">
              <a:solidFill>
                <a:srgbClr val="3B2A54"/>
              </a:solidFill>
              <a:latin typeface="Arial"/>
            </a:endParaRPr>
          </a:p>
        </p:txBody>
      </p:sp>
      <p:sp>
        <p:nvSpPr>
          <p:cNvPr id="11" name="Rounded Rectangle 10"/>
          <p:cNvSpPr/>
          <p:nvPr/>
        </p:nvSpPr>
        <p:spPr>
          <a:xfrm>
            <a:off x="88422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2092316"/>
            <a:ext cx="2340863" cy="2033890"/>
          </a:xfrm>
          <a:prstGeom prst="rect">
            <a:avLst/>
          </a:prstGeom>
          <a:noFill/>
        </p:spPr>
        <p:txBody>
          <a:bodyPr wrap="square" anchor="t">
            <a:spAutoFit/>
          </a:bodyPr>
          <a:lstStyle/>
          <a:p>
            <a:pPr algn="l">
              <a:spcAft>
                <a:spcPts val="300"/>
              </a:spcAft>
            </a:pPr>
            <a:r>
              <a:rPr sz="950" b="1" dirty="0">
                <a:solidFill>
                  <a:srgbClr val="820AD1"/>
                </a:solidFill>
                <a:latin typeface="Arial"/>
              </a:rPr>
              <a:t>DELIVERABLE 4  //  LEADERSHIP</a:t>
            </a:r>
          </a:p>
          <a:p>
            <a:pPr algn="l">
              <a:spcAft>
                <a:spcPts val="600"/>
              </a:spcAft>
            </a:pPr>
            <a:r>
              <a:rPr sz="1500" b="1" dirty="0">
                <a:solidFill>
                  <a:srgbClr val="11052C"/>
                </a:solidFill>
                <a:latin typeface="Arial"/>
              </a:rPr>
              <a:t>Built with</a:t>
            </a:r>
            <a:r>
              <a:rPr lang="en-US" sz="1500" b="1" dirty="0">
                <a:solidFill>
                  <a:srgbClr val="11052C"/>
                </a:solidFill>
                <a:latin typeface="Arial"/>
              </a:rPr>
              <a:t>, not for</a:t>
            </a:r>
            <a:endParaRPr sz="1500" b="1" dirty="0">
              <a:solidFill>
                <a:srgbClr val="11052C"/>
              </a:solidFill>
              <a:latin typeface="Arial"/>
            </a:endParaRPr>
          </a:p>
          <a:p>
            <a:pPr algn="l">
              <a:spcAft>
                <a:spcPts val="400"/>
              </a:spcAft>
            </a:pPr>
            <a:r>
              <a:rPr lang="en-US" sz="1250" b="0" dirty="0">
                <a:solidFill>
                  <a:srgbClr val="3B2A54"/>
                </a:solidFill>
                <a:latin typeface="Arial"/>
              </a:rPr>
              <a:t>This team will </a:t>
            </a:r>
            <a:r>
              <a:rPr sz="1250" b="0" dirty="0">
                <a:solidFill>
                  <a:srgbClr val="3B2A54"/>
                </a:solidFill>
                <a:latin typeface="Arial"/>
              </a:rPr>
              <a:t>work inside the </a:t>
            </a:r>
            <a:r>
              <a:rPr lang="en-US" sz="1250" b="0" dirty="0">
                <a:solidFill>
                  <a:srgbClr val="3B2A54"/>
                </a:solidFill>
                <a:latin typeface="Arial"/>
              </a:rPr>
              <a:t>business and its </a:t>
            </a:r>
            <a:r>
              <a:rPr sz="1250" b="0" dirty="0">
                <a:solidFill>
                  <a:srgbClr val="3B2A54"/>
                </a:solidFill>
                <a:latin typeface="Arial"/>
              </a:rPr>
              <a:t>numbers: </a:t>
            </a:r>
            <a:r>
              <a:rPr lang="en-US" sz="1250" b="0" dirty="0">
                <a:solidFill>
                  <a:srgbClr val="3B2A54"/>
                </a:solidFill>
                <a:latin typeface="Arial"/>
              </a:rPr>
              <a:t>we </a:t>
            </a:r>
            <a:r>
              <a:rPr sz="1250" b="0" dirty="0">
                <a:solidFill>
                  <a:srgbClr val="3B2A54"/>
                </a:solidFill>
                <a:latin typeface="Arial"/>
              </a:rPr>
              <a:t>propose, implement, assess, and change course fast. </a:t>
            </a:r>
            <a:endParaRPr lang="en-US" sz="1250" b="0" dirty="0">
              <a:solidFill>
                <a:srgbClr val="3B2A54"/>
              </a:solidFill>
              <a:latin typeface="Arial"/>
            </a:endParaRPr>
          </a:p>
          <a:p>
            <a:pPr algn="l">
              <a:spcAft>
                <a:spcPts val="400"/>
              </a:spcAft>
            </a:pPr>
            <a:r>
              <a:rPr lang="en-US" sz="1250" dirty="0">
                <a:solidFill>
                  <a:srgbClr val="3B2A54"/>
                </a:solidFill>
                <a:latin typeface="Arial"/>
              </a:rPr>
              <a:t>AI-enabled processes to support integration.</a:t>
            </a:r>
            <a:endParaRPr lang="en-US" sz="1250" b="0" dirty="0">
              <a:solidFill>
                <a:srgbClr val="3B2A54"/>
              </a:solidFill>
              <a:latin typeface="Arial"/>
            </a:endParaRPr>
          </a:p>
          <a:p>
            <a:pPr algn="l">
              <a:spcAft>
                <a:spcPts val="400"/>
              </a:spcAft>
            </a:pPr>
            <a:r>
              <a:rPr sz="1250" b="0" dirty="0">
                <a:solidFill>
                  <a:srgbClr val="3B2A54"/>
                </a:solidFill>
                <a:latin typeface="Arial"/>
              </a:rPr>
              <a:t>The CFO owns the decision.</a:t>
            </a:r>
          </a:p>
        </p:txBody>
      </p:sp>
      <p:sp>
        <p:nvSpPr>
          <p:cNvPr id="13" name="Rounded Rectangle 12"/>
          <p:cNvSpPr/>
          <p:nvPr/>
        </p:nvSpPr>
        <p:spPr>
          <a:xfrm>
            <a:off x="612648" y="4315968"/>
            <a:ext cx="10789920" cy="182880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4370832"/>
            <a:ext cx="10424160" cy="1719072"/>
          </a:xfrm>
          <a:prstGeom prst="rect">
            <a:avLst/>
          </a:prstGeom>
          <a:noFill/>
        </p:spPr>
        <p:txBody>
          <a:bodyPr wrap="square" anchor="ctr">
            <a:spAutoFit/>
          </a:bodyPr>
          <a:lstStyle/>
          <a:p>
            <a:r>
              <a:rPr lang="en-US" b="1" dirty="0">
                <a:solidFill>
                  <a:srgbClr val="FFFFFF"/>
                </a:solidFill>
                <a:latin typeface="Arial"/>
              </a:rPr>
              <a:t>How will we measure success? </a:t>
            </a:r>
          </a:p>
          <a:p>
            <a:r>
              <a:rPr lang="en-US" sz="1500" b="1" dirty="0">
                <a:solidFill>
                  <a:srgbClr val="C084FC"/>
                </a:solidFill>
                <a:latin typeface="Arial"/>
              </a:rPr>
              <a:t>The </a:t>
            </a:r>
            <a:r>
              <a:rPr lang="en-US" sz="1500" b="1" dirty="0" err="1">
                <a:solidFill>
                  <a:srgbClr val="C084FC"/>
                </a:solidFill>
                <a:latin typeface="Arial"/>
              </a:rPr>
              <a:t>CoS</a:t>
            </a:r>
            <a:r>
              <a:rPr lang="en-US" sz="1500" b="1" dirty="0">
                <a:solidFill>
                  <a:srgbClr val="C084FC"/>
                </a:solidFill>
                <a:latin typeface="Arial"/>
              </a:rPr>
              <a:t> &amp; Governance team </a:t>
            </a:r>
            <a:r>
              <a:rPr lang="en-US" sz="1500" b="1" dirty="0">
                <a:solidFill>
                  <a:srgbClr val="FFFFFF"/>
                </a:solidFill>
                <a:latin typeface="Arial"/>
              </a:rPr>
              <a:t>acts as equal parts catalyst, facilitator and trusted advisor to drive (1) 100% of discretionary spend released against an approved case, with cycle time under 40 days; (2) a living Board agenda, with the book out 7 days before every Board; (3) HQ gates 1 and 2 cleared by mid-December, nothing signed between gates; (4) the team rated twice a year by the GMs as a growth facilitator, not corporate bureaucracy. Decisions requested today: the $25M FY27 cap and its release schedule, the Board calendar, and the HQ gates.</a:t>
            </a:r>
            <a:endParaRPr sz="1500" b="1" dirty="0">
              <a:solidFill>
                <a:srgbClr val="FFFFFF"/>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E6684-5295-6C91-ACC7-591CAAD569C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BAC111-C5EF-3C24-643D-DA0EDD66880E}"/>
              </a:ext>
            </a:extLst>
          </p:cNvPr>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a:extLst>
              <a:ext uri="{FF2B5EF4-FFF2-40B4-BE49-F238E27FC236}">
                <a16:creationId xmlns:a16="http://schemas.microsoft.com/office/drawing/2014/main" id="{72730D54-ED3F-17BD-B2FA-6CFD041109CF}"/>
              </a:ext>
            </a:extLst>
          </p:cNvPr>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A lean hub and three meetings </a:t>
            </a:r>
            <a:r>
              <a:rPr lang="en-US" sz="2400" b="1" dirty="0">
                <a:solidFill>
                  <a:srgbClr val="11052C"/>
                </a:solidFill>
                <a:latin typeface="Arial"/>
              </a:rPr>
              <a:t>to centralize </a:t>
            </a:r>
            <a:r>
              <a:rPr sz="2400" b="1" dirty="0">
                <a:solidFill>
                  <a:srgbClr val="11052C"/>
                </a:solidFill>
                <a:latin typeface="Arial"/>
              </a:rPr>
              <a:t>planning</a:t>
            </a:r>
          </a:p>
        </p:txBody>
      </p:sp>
      <p:sp>
        <p:nvSpPr>
          <p:cNvPr id="4" name="Rounded Rectangle 3">
            <a:extLst>
              <a:ext uri="{FF2B5EF4-FFF2-40B4-BE49-F238E27FC236}">
                <a16:creationId xmlns:a16="http://schemas.microsoft.com/office/drawing/2014/main" id="{15E8414F-1E86-1A1F-5FD2-67EBEB22B60B}"/>
              </a:ext>
            </a:extLst>
          </p:cNvPr>
          <p:cNvSpPr/>
          <p:nvPr/>
        </p:nvSpPr>
        <p:spPr>
          <a:xfrm>
            <a:off x="612648" y="1325880"/>
            <a:ext cx="4206240" cy="3474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A4EE02CA-C90E-3178-3CA8-4E7B7C99D2E3}"/>
              </a:ext>
            </a:extLst>
          </p:cNvPr>
          <p:cNvSpPr txBox="1"/>
          <p:nvPr/>
        </p:nvSpPr>
        <p:spPr>
          <a:xfrm>
            <a:off x="722376" y="1389888"/>
            <a:ext cx="3986783" cy="3364992"/>
          </a:xfrm>
          <a:prstGeom prst="rect">
            <a:avLst/>
          </a:prstGeom>
          <a:noFill/>
        </p:spPr>
        <p:txBody>
          <a:bodyPr wrap="square" anchor="t">
            <a:spAutoFit/>
          </a:bodyPr>
          <a:lstStyle/>
          <a:p>
            <a:pPr algn="l">
              <a:lnSpc>
                <a:spcPct val="150000"/>
              </a:lnSpc>
              <a:spcAft>
                <a:spcPts val="300"/>
              </a:spcAft>
            </a:pPr>
            <a:r>
              <a:rPr sz="950" b="1" dirty="0">
                <a:solidFill>
                  <a:srgbClr val="820AD1"/>
                </a:solidFill>
                <a:latin typeface="Arial"/>
              </a:rPr>
              <a:t>THE </a:t>
            </a:r>
            <a:r>
              <a:rPr lang="en-US" sz="950" b="1" dirty="0">
                <a:solidFill>
                  <a:srgbClr val="820AD1"/>
                </a:solidFill>
                <a:latin typeface="Arial"/>
              </a:rPr>
              <a:t>CENTRALIZED PLANNING STRUCTURE</a:t>
            </a:r>
            <a:endParaRPr sz="950" b="1" dirty="0">
              <a:solidFill>
                <a:srgbClr val="820AD1"/>
              </a:solidFill>
              <a:latin typeface="Arial"/>
            </a:endParaRPr>
          </a:p>
          <a:p>
            <a:pPr algn="l">
              <a:lnSpc>
                <a:spcPct val="150000"/>
              </a:lnSpc>
              <a:spcAft>
                <a:spcPts val="600"/>
              </a:spcAft>
            </a:pPr>
            <a:r>
              <a:rPr sz="1500" b="1" dirty="0">
                <a:solidFill>
                  <a:srgbClr val="11052C"/>
                </a:solidFill>
                <a:latin typeface="Arial"/>
              </a:rPr>
              <a:t>A </a:t>
            </a:r>
            <a:r>
              <a:rPr lang="en-US" sz="1500" b="1" dirty="0" err="1">
                <a:solidFill>
                  <a:srgbClr val="11052C"/>
                </a:solidFill>
                <a:latin typeface="Arial"/>
              </a:rPr>
              <a:t>CoE</a:t>
            </a:r>
            <a:r>
              <a:rPr lang="en-US" sz="1500" b="1" dirty="0">
                <a:solidFill>
                  <a:srgbClr val="11052C"/>
                </a:solidFill>
                <a:latin typeface="Arial"/>
              </a:rPr>
              <a:t> </a:t>
            </a:r>
            <a:r>
              <a:rPr sz="1500" b="1" dirty="0">
                <a:solidFill>
                  <a:srgbClr val="11052C"/>
                </a:solidFill>
                <a:latin typeface="Arial"/>
              </a:rPr>
              <a:t>hub of </a:t>
            </a:r>
            <a:r>
              <a:rPr lang="en-US" sz="1500" b="1" dirty="0">
                <a:solidFill>
                  <a:srgbClr val="11052C"/>
                </a:solidFill>
                <a:latin typeface="Arial"/>
              </a:rPr>
              <a:t>4</a:t>
            </a:r>
            <a:r>
              <a:rPr sz="1500" b="1" dirty="0">
                <a:solidFill>
                  <a:srgbClr val="11052C"/>
                </a:solidFill>
                <a:latin typeface="Arial"/>
              </a:rPr>
              <a:t>-6 people</a:t>
            </a:r>
            <a:endParaRPr lang="en-US" sz="1500" b="1" dirty="0">
              <a:solidFill>
                <a:srgbClr val="11052C"/>
              </a:solidFill>
              <a:latin typeface="Arial"/>
            </a:endParaRPr>
          </a:p>
          <a:p>
            <a:pPr algn="l">
              <a:lnSpc>
                <a:spcPct val="150000"/>
              </a:lnSpc>
              <a:spcAft>
                <a:spcPts val="600"/>
              </a:spcAft>
            </a:pPr>
            <a:r>
              <a:rPr lang="en-US" sz="1150" b="0" dirty="0">
                <a:solidFill>
                  <a:srgbClr val="3B2A54"/>
                </a:solidFill>
                <a:latin typeface="Arial"/>
              </a:rPr>
              <a:t>CoS &amp; CG partners with Global Finance / FP&amp;A to stand up the CoE; the hub and market/vertical teams report to Global Finance, with a dotted line to Country CFOs.</a:t>
            </a:r>
          </a:p>
          <a:p>
            <a:pPr algn="l">
              <a:lnSpc>
                <a:spcPct val="150000"/>
              </a:lnSpc>
              <a:spcAft>
                <a:spcPts val="400"/>
              </a:spcAft>
            </a:pPr>
            <a:r>
              <a:rPr sz="1150" b="1" dirty="0">
                <a:solidFill>
                  <a:srgbClr val="3B2A54"/>
                </a:solidFill>
                <a:latin typeface="Arial"/>
              </a:rPr>
              <a:t>KPIs</a:t>
            </a:r>
            <a:r>
              <a:rPr sz="1150" b="0" dirty="0">
                <a:solidFill>
                  <a:srgbClr val="3B2A54"/>
                </a:solidFill>
                <a:latin typeface="Arial"/>
              </a:rPr>
              <a:t>: cycle time under 40 days, forecast accuracy, and 100% of discretionary spend with an approved case.</a:t>
            </a:r>
          </a:p>
          <a:p>
            <a:pPr algn="l">
              <a:lnSpc>
                <a:spcPct val="150000"/>
              </a:lnSpc>
              <a:spcAft>
                <a:spcPts val="400"/>
              </a:spcAft>
            </a:pPr>
            <a:r>
              <a:rPr sz="1150" b="1" dirty="0">
                <a:solidFill>
                  <a:srgbClr val="3B2A54"/>
                </a:solidFill>
                <a:latin typeface="Arial"/>
              </a:rPr>
              <a:t>A</a:t>
            </a:r>
            <a:r>
              <a:rPr lang="en-US" sz="1150" b="1" dirty="0">
                <a:solidFill>
                  <a:srgbClr val="3B2A54"/>
                </a:solidFill>
                <a:latin typeface="Arial"/>
              </a:rPr>
              <a:t>I-enabled processes</a:t>
            </a:r>
            <a:r>
              <a:rPr lang="en-US" sz="1150" b="0" dirty="0">
                <a:solidFill>
                  <a:srgbClr val="3B2A54"/>
                </a:solidFill>
                <a:latin typeface="Arial"/>
              </a:rPr>
              <a:t>: agents to support consolidation, tracking action items, facilitating alignment and reducing manual work. </a:t>
            </a:r>
          </a:p>
          <a:p>
            <a:pPr algn="l">
              <a:lnSpc>
                <a:spcPct val="150000"/>
              </a:lnSpc>
              <a:spcAft>
                <a:spcPts val="400"/>
              </a:spcAft>
            </a:pPr>
            <a:r>
              <a:rPr lang="en-US" sz="1150" b="1" dirty="0">
                <a:solidFill>
                  <a:srgbClr val="3B2A54"/>
                </a:solidFill>
                <a:latin typeface="Arial"/>
              </a:rPr>
              <a:t>Career pathways</a:t>
            </a:r>
            <a:r>
              <a:rPr lang="en-US" sz="1150" dirty="0">
                <a:solidFill>
                  <a:srgbClr val="3B2A54"/>
                </a:solidFill>
                <a:latin typeface="Arial"/>
              </a:rPr>
              <a:t>: “seeding” talent across markets.</a:t>
            </a:r>
            <a:endParaRPr sz="1150" b="0" dirty="0">
              <a:solidFill>
                <a:srgbClr val="3B2A54"/>
              </a:solidFill>
              <a:latin typeface="Arial"/>
            </a:endParaRPr>
          </a:p>
        </p:txBody>
      </p:sp>
      <p:graphicFrame>
        <p:nvGraphicFramePr>
          <p:cNvPr id="6" name="Table 5">
            <a:extLst>
              <a:ext uri="{FF2B5EF4-FFF2-40B4-BE49-F238E27FC236}">
                <a16:creationId xmlns:a16="http://schemas.microsoft.com/office/drawing/2014/main" id="{DF352F86-9452-5598-6279-6D6623718FB9}"/>
              </a:ext>
            </a:extLst>
          </p:cNvPr>
          <p:cNvGraphicFramePr>
            <a:graphicFrameLocks noGrp="1"/>
          </p:cNvGraphicFramePr>
          <p:nvPr>
            <p:extLst>
              <p:ext uri="{D42A27DB-BD31-4B8C-83A1-F6EECF244321}">
                <p14:modId xmlns:p14="http://schemas.microsoft.com/office/powerpoint/2010/main" val="640576590"/>
              </p:ext>
            </p:extLst>
          </p:nvPr>
        </p:nvGraphicFramePr>
        <p:xfrm>
          <a:off x="5029200" y="1600200"/>
          <a:ext cx="6400800" cy="1563624"/>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84048">
                <a:tc>
                  <a:txBody>
                    <a:bodyPr/>
                    <a:lstStyle/>
                    <a:p>
                      <a:r>
                        <a:rPr sz="1100" b="1" dirty="0">
                          <a:solidFill>
                            <a:srgbClr val="FFFFFF"/>
                          </a:solidFill>
                          <a:latin typeface="Arial"/>
                        </a:rPr>
                        <a:t>Meeting</a:t>
                      </a:r>
                    </a:p>
                  </a:txBody>
                  <a:tcPr marL="64008" marR="64008" marT="36576" marB="36576" anchor="ctr">
                    <a:solidFill>
                      <a:srgbClr val="820AD1"/>
                    </a:solidFill>
                  </a:tcPr>
                </a:tc>
                <a:tc>
                  <a:txBody>
                    <a:bodyPr/>
                    <a:lstStyle/>
                    <a:p>
                      <a:r>
                        <a:rPr sz="1100" b="1">
                          <a:solidFill>
                            <a:srgbClr val="FFFFFF"/>
                          </a:solidFill>
                          <a:latin typeface="Arial"/>
                        </a:rPr>
                        <a:t>Who runs it</a:t>
                      </a:r>
                    </a:p>
                  </a:txBody>
                  <a:tcPr marL="64008" marR="64008" marT="36576" marB="36576" anchor="ctr">
                    <a:solidFill>
                      <a:srgbClr val="820AD1"/>
                    </a:solidFill>
                  </a:tcPr>
                </a:tc>
                <a:tc>
                  <a:txBody>
                    <a:bodyPr/>
                    <a:lstStyle/>
                    <a:p>
                      <a:r>
                        <a:rPr sz="1100" b="1">
                          <a:solidFill>
                            <a:srgbClr val="FFFFFF"/>
                          </a:solidFill>
                          <a:latin typeface="Arial"/>
                        </a:rPr>
                        <a:t>Output</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lang="en-US" sz="1050" b="1" dirty="0">
                          <a:solidFill>
                            <a:srgbClr val="11052C"/>
                          </a:solidFill>
                          <a:latin typeface="Arial"/>
                        </a:rPr>
                        <a:t>Stand-ups</a:t>
                      </a:r>
                      <a:r>
                        <a:rPr sz="1050" b="0" dirty="0">
                          <a:solidFill>
                            <a:srgbClr val="11052C"/>
                          </a:solidFill>
                          <a:latin typeface="Arial"/>
                        </a:rPr>
                        <a:t>, </a:t>
                      </a:r>
                      <a:r>
                        <a:rPr lang="en-US" sz="1050" b="0" dirty="0">
                          <a:solidFill>
                            <a:srgbClr val="11052C"/>
                          </a:solidFill>
                          <a:latin typeface="Arial"/>
                        </a:rPr>
                        <a:t>bi-</a:t>
                      </a:r>
                      <a:r>
                        <a:rPr sz="1050" b="0" dirty="0">
                          <a:solidFill>
                            <a:srgbClr val="11052C"/>
                          </a:solidFill>
                          <a:latin typeface="Arial"/>
                        </a:rPr>
                        <a:t>weekly</a:t>
                      </a:r>
                    </a:p>
                  </a:txBody>
                  <a:tcPr marL="64008" marR="64008" marT="36576" marB="36576" anchor="ctr">
                    <a:solidFill>
                      <a:srgbClr val="FFFFFF"/>
                    </a:solidFill>
                  </a:tcPr>
                </a:tc>
                <a:tc>
                  <a:txBody>
                    <a:bodyPr/>
                    <a:lstStyle/>
                    <a:p>
                      <a:r>
                        <a:rPr lang="en-US" sz="1050" b="0" dirty="0">
                          <a:solidFill>
                            <a:srgbClr val="3B2A54"/>
                          </a:solidFill>
                          <a:latin typeface="Arial"/>
                        </a:rPr>
                        <a:t>Global Planning +</a:t>
                      </a:r>
                      <a:br>
                        <a:rPr lang="en-US" sz="1050" b="0" dirty="0">
                          <a:solidFill>
                            <a:srgbClr val="3B2A54"/>
                          </a:solidFill>
                          <a:latin typeface="Arial"/>
                        </a:rPr>
                      </a:br>
                      <a:r>
                        <a:rPr lang="en-US" sz="1050" b="0" dirty="0">
                          <a:solidFill>
                            <a:srgbClr val="3B2A54"/>
                          </a:solidFill>
                          <a:latin typeface="Arial"/>
                        </a:rPr>
                        <a:t>Local Finance</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Data gathering, alignment on drivers, reporting best practices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lang="en-US" sz="1050" b="1" dirty="0">
                          <a:solidFill>
                            <a:srgbClr val="11052C"/>
                          </a:solidFill>
                          <a:latin typeface="Arial"/>
                        </a:rPr>
                        <a:t>CFO 1:1s</a:t>
                      </a:r>
                      <a:r>
                        <a:rPr sz="1050" b="0" dirty="0">
                          <a:solidFill>
                            <a:srgbClr val="11052C"/>
                          </a:solidFill>
                          <a:latin typeface="Arial"/>
                        </a:rPr>
                        <a:t>, </a:t>
                      </a:r>
                      <a:r>
                        <a:rPr lang="en-US" sz="1050" b="0" dirty="0">
                          <a:solidFill>
                            <a:srgbClr val="11052C"/>
                          </a:solidFill>
                          <a:latin typeface="Arial"/>
                        </a:rPr>
                        <a:t>monthly</a:t>
                      </a:r>
                      <a:endParaRPr sz="1050" b="0" dirty="0">
                        <a:solidFill>
                          <a:srgbClr val="11052C"/>
                        </a:solidFill>
                        <a:latin typeface="Arial"/>
                      </a:endParaRPr>
                    </a:p>
                  </a:txBody>
                  <a:tcPr marL="64008" marR="64008" marT="36576" marB="36576" anchor="ctr">
                    <a:solidFill>
                      <a:srgbClr val="F7F2FD"/>
                    </a:solidFill>
                  </a:tcPr>
                </a:tc>
                <a:tc>
                  <a:txBody>
                    <a:bodyPr/>
                    <a:lstStyle/>
                    <a:p>
                      <a:r>
                        <a:rPr lang="en-US" sz="1050" b="0" dirty="0" err="1">
                          <a:solidFill>
                            <a:srgbClr val="3B2A54"/>
                          </a:solidFill>
                          <a:latin typeface="Arial"/>
                        </a:rPr>
                        <a:t>CoS</a:t>
                      </a:r>
                      <a:r>
                        <a:rPr lang="en-US" sz="1050" b="0" dirty="0">
                          <a:solidFill>
                            <a:srgbClr val="3B2A54"/>
                          </a:solidFill>
                          <a:latin typeface="Arial"/>
                        </a:rPr>
                        <a:t> &amp; CG team +</a:t>
                      </a:r>
                      <a:br>
                        <a:rPr lang="en-US" sz="1050" b="0" dirty="0">
                          <a:solidFill>
                            <a:srgbClr val="3B2A54"/>
                          </a:solidFill>
                          <a:latin typeface="Arial"/>
                        </a:rPr>
                      </a:br>
                      <a:r>
                        <a:rPr lang="en-US" sz="1050" b="0" dirty="0">
                          <a:solidFill>
                            <a:srgbClr val="3B2A54"/>
                          </a:solidFill>
                          <a:latin typeface="Arial"/>
                        </a:rPr>
                        <a:t>Country CFOs</a:t>
                      </a:r>
                      <a:endParaRPr sz="1050" b="0" dirty="0">
                        <a:solidFill>
                          <a:srgbClr val="3B2A54"/>
                        </a:solidFill>
                        <a:latin typeface="Arial"/>
                      </a:endParaRPr>
                    </a:p>
                  </a:txBody>
                  <a:tcPr marL="64008" marR="64008" marT="36576" marB="36576" anchor="ctr">
                    <a:solidFill>
                      <a:srgbClr val="F7F2FD"/>
                    </a:solidFill>
                  </a:tcPr>
                </a:tc>
                <a:tc>
                  <a:txBody>
                    <a:bodyPr/>
                    <a:lstStyle/>
                    <a:p>
                      <a:r>
                        <a:rPr sz="1050" b="0" dirty="0">
                          <a:solidFill>
                            <a:srgbClr val="3B2A54"/>
                          </a:solidFill>
                          <a:latin typeface="Arial"/>
                        </a:rPr>
                        <a:t>No surprises at the lock</a:t>
                      </a:r>
                      <a:r>
                        <a:rPr lang="en-US" sz="1050" b="0" dirty="0">
                          <a:solidFill>
                            <a:srgbClr val="3B2A54"/>
                          </a:solidFill>
                          <a:latin typeface="Arial"/>
                        </a:rPr>
                        <a:t> and</a:t>
                      </a:r>
                      <a:r>
                        <a:rPr sz="1050" b="0" dirty="0">
                          <a:solidFill>
                            <a:srgbClr val="3B2A54"/>
                          </a:solidFill>
                          <a:latin typeface="Arial"/>
                        </a:rPr>
                        <a:t> ask</a:t>
                      </a:r>
                      <a:r>
                        <a:rPr lang="en-US" sz="1050" b="0" dirty="0">
                          <a:solidFill>
                            <a:srgbClr val="3B2A54"/>
                          </a:solidFill>
                          <a:latin typeface="Arial"/>
                        </a:rPr>
                        <a:t>s</a:t>
                      </a:r>
                      <a:r>
                        <a:rPr sz="1050" b="0" dirty="0">
                          <a:solidFill>
                            <a:srgbClr val="3B2A54"/>
                          </a:solidFill>
                          <a:latin typeface="Arial"/>
                        </a:rPr>
                        <a:t> </a:t>
                      </a:r>
                      <a:r>
                        <a:rPr lang="en-US" sz="1050" b="0" dirty="0">
                          <a:solidFill>
                            <a:srgbClr val="3B2A54"/>
                          </a:solidFill>
                          <a:latin typeface="Arial"/>
                        </a:rPr>
                        <a:t>knowing </a:t>
                      </a:r>
                      <a:r>
                        <a:rPr sz="1050" b="0" dirty="0">
                          <a:solidFill>
                            <a:srgbClr val="3B2A54"/>
                          </a:solidFill>
                          <a:latin typeface="Arial"/>
                        </a:rPr>
                        <a:t>path to </a:t>
                      </a:r>
                      <a:r>
                        <a:rPr lang="en-US" sz="1050" b="0" dirty="0">
                          <a:solidFill>
                            <a:srgbClr val="3B2A54"/>
                          </a:solidFill>
                          <a:latin typeface="Arial"/>
                        </a:rPr>
                        <a:t>approval</a:t>
                      </a:r>
                      <a:endParaRPr sz="10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lang="en-US" sz="1050" b="1" dirty="0">
                          <a:solidFill>
                            <a:srgbClr val="11052C"/>
                          </a:solidFill>
                          <a:latin typeface="Arial"/>
                        </a:rPr>
                        <a:t>GM R</a:t>
                      </a:r>
                      <a:r>
                        <a:rPr sz="1050" b="1" dirty="0">
                          <a:solidFill>
                            <a:srgbClr val="11052C"/>
                          </a:solidFill>
                          <a:latin typeface="Arial"/>
                        </a:rPr>
                        <a:t>eview</a:t>
                      </a:r>
                      <a:r>
                        <a:rPr lang="en-US" sz="1050" b="1" dirty="0">
                          <a:solidFill>
                            <a:srgbClr val="11052C"/>
                          </a:solidFill>
                          <a:latin typeface="Arial"/>
                        </a:rPr>
                        <a:t>s</a:t>
                      </a:r>
                      <a:r>
                        <a:rPr sz="1050" b="0" dirty="0">
                          <a:solidFill>
                            <a:srgbClr val="11052C"/>
                          </a:solidFill>
                          <a:latin typeface="Arial"/>
                        </a:rPr>
                        <a:t>, quarterly</a:t>
                      </a:r>
                    </a:p>
                  </a:txBody>
                  <a:tcPr marL="64008" marR="64008" marT="36576" marB="36576" anchor="ctr">
                    <a:solidFill>
                      <a:srgbClr val="FFFFFF"/>
                    </a:solidFill>
                  </a:tcPr>
                </a:tc>
                <a:tc>
                  <a:txBody>
                    <a:bodyPr/>
                    <a:lstStyle/>
                    <a:p>
                      <a:r>
                        <a:rPr lang="en-US" sz="1050" b="0" dirty="0">
                          <a:solidFill>
                            <a:srgbClr val="3B2A54"/>
                          </a:solidFill>
                          <a:latin typeface="Arial"/>
                        </a:rPr>
                        <a:t>Global </a:t>
                      </a:r>
                      <a:r>
                        <a:rPr sz="1050" b="0" dirty="0">
                          <a:solidFill>
                            <a:srgbClr val="3B2A54"/>
                          </a:solidFill>
                          <a:latin typeface="Arial"/>
                        </a:rPr>
                        <a:t>CFO </a:t>
                      </a:r>
                      <a:r>
                        <a:rPr lang="en-US" sz="1050" b="0" dirty="0">
                          <a:solidFill>
                            <a:srgbClr val="3B2A54"/>
                          </a:solidFill>
                          <a:latin typeface="Arial"/>
                        </a:rPr>
                        <a:t>&amp; </a:t>
                      </a:r>
                      <a:r>
                        <a:rPr lang="en-US" sz="1050" b="0" dirty="0" err="1">
                          <a:solidFill>
                            <a:srgbClr val="3B2A54"/>
                          </a:solidFill>
                          <a:latin typeface="Arial"/>
                        </a:rPr>
                        <a:t>CoS</a:t>
                      </a:r>
                      <a:r>
                        <a:rPr lang="en-US" sz="1050" b="0" dirty="0">
                          <a:solidFill>
                            <a:srgbClr val="3B2A54"/>
                          </a:solidFill>
                          <a:latin typeface="Arial"/>
                        </a:rPr>
                        <a:t> +</a:t>
                      </a:r>
                      <a:br>
                        <a:rPr lang="en-US" sz="1050" b="0" dirty="0">
                          <a:solidFill>
                            <a:srgbClr val="3B2A54"/>
                          </a:solidFill>
                          <a:latin typeface="Arial"/>
                        </a:rPr>
                      </a:br>
                      <a:r>
                        <a:rPr lang="en-US" sz="1050" b="0" dirty="0">
                          <a:solidFill>
                            <a:srgbClr val="3B2A54"/>
                          </a:solidFill>
                          <a:latin typeface="Arial"/>
                        </a:rPr>
                        <a:t>GMs/Business Leaders</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Tracking of strategic projects, prioritizing spend and investments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7" name="Rounded Rectangle 6">
            <a:extLst>
              <a:ext uri="{FF2B5EF4-FFF2-40B4-BE49-F238E27FC236}">
                <a16:creationId xmlns:a16="http://schemas.microsoft.com/office/drawing/2014/main" id="{4C51ACB9-EB6E-D542-61A7-7C05646063EA}"/>
              </a:ext>
            </a:extLst>
          </p:cNvPr>
          <p:cNvSpPr/>
          <p:nvPr/>
        </p:nvSpPr>
        <p:spPr>
          <a:xfrm>
            <a:off x="5029200" y="3273552"/>
            <a:ext cx="6400800" cy="1481328"/>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a:extLst>
              <a:ext uri="{FF2B5EF4-FFF2-40B4-BE49-F238E27FC236}">
                <a16:creationId xmlns:a16="http://schemas.microsoft.com/office/drawing/2014/main" id="{2BC10F7A-1A6A-8273-DB59-455CE9C7EBBC}"/>
              </a:ext>
            </a:extLst>
          </p:cNvPr>
          <p:cNvSpPr txBox="1"/>
          <p:nvPr/>
        </p:nvSpPr>
        <p:spPr>
          <a:xfrm>
            <a:off x="5120640" y="3273523"/>
            <a:ext cx="6236208" cy="1443152"/>
          </a:xfrm>
          <a:prstGeom prst="rect">
            <a:avLst/>
          </a:prstGeom>
          <a:noFill/>
        </p:spPr>
        <p:txBody>
          <a:bodyPr wrap="square" anchor="ctr">
            <a:spAutoFit/>
          </a:bodyPr>
          <a:lstStyle/>
          <a:p>
            <a:pPr algn="l">
              <a:lnSpc>
                <a:spcPct val="150000"/>
              </a:lnSpc>
            </a:pPr>
            <a:r>
              <a:rPr lang="en-US" sz="1200" b="1">
                <a:solidFill>
                  <a:srgbClr val="11052C"/>
                </a:solidFill>
                <a:latin typeface="Arial"/>
              </a:rPr>
              <a:t>Ways of Working: </a:t>
            </a:r>
            <a:r>
              <a:rPr lang="en-US" sz="1200" b="0">
                <a:solidFill>
                  <a:srgbClr val="11052C"/>
                </a:solidFill>
                <a:latin typeface="Arial"/>
              </a:rPr>
              <a:t>Local Finance teams own the FP&amp;A drivers and business case assumptions; CoS &amp; CG team standardizes, consolidates and provide analysis and insights; the CFO makes decisions on spend and reports results to the board.</a:t>
            </a:r>
          </a:p>
          <a:p>
            <a:pPr algn="l">
              <a:lnSpc>
                <a:spcPct val="150000"/>
              </a:lnSpc>
            </a:pPr>
            <a:r>
              <a:rPr lang="en-US" sz="1200">
                <a:solidFill>
                  <a:srgbClr val="11052C"/>
                </a:solidFill>
                <a:latin typeface="Arial"/>
              </a:rPr>
              <a:t>Global Planning becomes a key resource to inform Senior Management on what we are doing, what’s working or not, and how those inputs inform decision-making.</a:t>
            </a:r>
            <a:endParaRPr lang="en-US" sz="1200" b="0" dirty="0">
              <a:solidFill>
                <a:srgbClr val="11052C"/>
              </a:solidFill>
              <a:latin typeface="Arial"/>
            </a:endParaRPr>
          </a:p>
        </p:txBody>
      </p:sp>
      <p:sp>
        <p:nvSpPr>
          <p:cNvPr id="9" name="Rounded Rectangle 8">
            <a:extLst>
              <a:ext uri="{FF2B5EF4-FFF2-40B4-BE49-F238E27FC236}">
                <a16:creationId xmlns:a16="http://schemas.microsoft.com/office/drawing/2014/main" id="{59DDEC54-611E-FCFD-D031-048274AD1CB1}"/>
              </a:ext>
            </a:extLst>
          </p:cNvPr>
          <p:cNvSpPr/>
          <p:nvPr/>
        </p:nvSpPr>
        <p:spPr>
          <a:xfrm>
            <a:off x="61264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15A97DF5-A727-B049-D6F8-A3A1828AF686}"/>
              </a:ext>
            </a:extLst>
          </p:cNvPr>
          <p:cNvSpPr txBox="1"/>
          <p:nvPr/>
        </p:nvSpPr>
        <p:spPr>
          <a:xfrm>
            <a:off x="722375" y="5029200"/>
            <a:ext cx="3363329"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Without Country buy-in, model can drive Local vs. Global inaccuracy/misalignment</a:t>
            </a:r>
            <a:endParaRPr sz="1250" b="1" dirty="0">
              <a:solidFill>
                <a:srgbClr val="11052C"/>
              </a:solidFill>
              <a:latin typeface="Arial"/>
            </a:endParaRPr>
          </a:p>
          <a:p>
            <a:pPr algn="l">
              <a:spcAft>
                <a:spcPts val="400"/>
              </a:spcAft>
            </a:pPr>
            <a:r>
              <a:rPr lang="en-US" sz="1050" b="0" dirty="0">
                <a:solidFill>
                  <a:srgbClr val="3B2A54"/>
                </a:solidFill>
                <a:latin typeface="Arial"/>
              </a:rPr>
              <a:t>In-market presence and alignment with local </a:t>
            </a:r>
            <a:r>
              <a:rPr lang="en-US" sz="1050" dirty="0">
                <a:solidFill>
                  <a:srgbClr val="3B2A54"/>
                </a:solidFill>
                <a:latin typeface="Arial"/>
              </a:rPr>
              <a:t>CFO/GM agendas are crucial.</a:t>
            </a:r>
            <a:endParaRPr sz="1050" b="0" dirty="0">
              <a:solidFill>
                <a:srgbClr val="3B2A54"/>
              </a:solidFill>
              <a:latin typeface="Arial"/>
            </a:endParaRPr>
          </a:p>
        </p:txBody>
      </p:sp>
      <p:sp>
        <p:nvSpPr>
          <p:cNvPr id="11" name="Rounded Rectangle 10">
            <a:extLst>
              <a:ext uri="{FF2B5EF4-FFF2-40B4-BE49-F238E27FC236}">
                <a16:creationId xmlns:a16="http://schemas.microsoft.com/office/drawing/2014/main" id="{006486E3-67E7-CCDF-E985-7F2A2A7A628A}"/>
              </a:ext>
            </a:extLst>
          </p:cNvPr>
          <p:cNvSpPr/>
          <p:nvPr/>
        </p:nvSpPr>
        <p:spPr>
          <a:xfrm>
            <a:off x="422452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915F78E2-6E02-52FD-20B2-5F1A82C2C490}"/>
              </a:ext>
            </a:extLst>
          </p:cNvPr>
          <p:cNvSpPr txBox="1"/>
          <p:nvPr/>
        </p:nvSpPr>
        <p:spPr>
          <a:xfrm>
            <a:off x="433425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Mismatched job descriptions and leveling to existing structures</a:t>
            </a:r>
            <a:endParaRPr sz="1250" b="1" dirty="0">
              <a:solidFill>
                <a:srgbClr val="11052C"/>
              </a:solidFill>
              <a:latin typeface="Arial"/>
            </a:endParaRPr>
          </a:p>
          <a:p>
            <a:pPr algn="l">
              <a:spcAft>
                <a:spcPts val="400"/>
              </a:spcAft>
            </a:pPr>
            <a:r>
              <a:rPr lang="en-US" sz="1050" b="0" dirty="0">
                <a:solidFill>
                  <a:srgbClr val="3B2A54"/>
                </a:solidFill>
                <a:latin typeface="Arial"/>
              </a:rPr>
              <a:t>Roles and responsibilities clearly established and assimilated to inform who does what</a:t>
            </a:r>
            <a:endParaRPr sz="1050" b="0" dirty="0">
              <a:solidFill>
                <a:srgbClr val="3B2A54"/>
              </a:solidFill>
              <a:latin typeface="Arial"/>
            </a:endParaRPr>
          </a:p>
        </p:txBody>
      </p:sp>
      <p:sp>
        <p:nvSpPr>
          <p:cNvPr id="13" name="Rounded Rectangle 12">
            <a:extLst>
              <a:ext uri="{FF2B5EF4-FFF2-40B4-BE49-F238E27FC236}">
                <a16:creationId xmlns:a16="http://schemas.microsoft.com/office/drawing/2014/main" id="{C9F0FF15-D922-90F6-7DB9-FB98F1B57533}"/>
              </a:ext>
            </a:extLst>
          </p:cNvPr>
          <p:cNvSpPr/>
          <p:nvPr/>
        </p:nvSpPr>
        <p:spPr>
          <a:xfrm>
            <a:off x="783640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a:extLst>
              <a:ext uri="{FF2B5EF4-FFF2-40B4-BE49-F238E27FC236}">
                <a16:creationId xmlns:a16="http://schemas.microsoft.com/office/drawing/2014/main" id="{B7434691-8E99-5AD3-8E11-590B7B6298D7}"/>
              </a:ext>
            </a:extLst>
          </p:cNvPr>
          <p:cNvSpPr txBox="1"/>
          <p:nvPr/>
        </p:nvSpPr>
        <p:spPr>
          <a:xfrm>
            <a:off x="794613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Governance can be perceived as bureaucracy and loss of speed</a:t>
            </a:r>
            <a:endParaRPr sz="1250" b="1" dirty="0">
              <a:solidFill>
                <a:srgbClr val="11052C"/>
              </a:solidFill>
              <a:latin typeface="Arial"/>
            </a:endParaRPr>
          </a:p>
          <a:p>
            <a:pPr algn="l">
              <a:spcAft>
                <a:spcPts val="400"/>
              </a:spcAft>
            </a:pPr>
            <a:r>
              <a:rPr lang="en-US" sz="1050" b="0" dirty="0">
                <a:solidFill>
                  <a:srgbClr val="3B2A54"/>
                </a:solidFill>
                <a:latin typeface="Arial"/>
              </a:rPr>
              <a:t>Leveraging AI processes to speed up manual work helps avoid the pitfalls seen in large companies</a:t>
            </a:r>
            <a:endParaRPr sz="1050" b="0" dirty="0">
              <a:solidFill>
                <a:srgbClr val="3B2A54"/>
              </a:solidFill>
              <a:latin typeface="Arial"/>
            </a:endParaRP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3</a:t>
            </a:r>
            <a:endParaRPr sz="900" b="0">
              <a:solidFill>
                <a:srgbClr val="6B5B82"/>
              </a:solidFill>
              <a:latin typeface="Arial"/>
            </a:endParaRPr>
          </a:p>
        </p:txBody>
      </p:sp>
    </p:spTree>
    <p:extLst>
      <p:ext uri="{BB962C8B-B14F-4D97-AF65-F5344CB8AC3E}">
        <p14:creationId xmlns:p14="http://schemas.microsoft.com/office/powerpoint/2010/main" val="3937944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BUDGET</a:t>
            </a:r>
            <a:endParaRPr sz="1000" b="1" dirty="0">
              <a:solidFill>
                <a:srgbClr val="820AD1"/>
              </a:solidFill>
              <a:latin typeface="Arial"/>
            </a:endParaRP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Prioritized s</a:t>
            </a:r>
            <a:r>
              <a:rPr sz="2400" b="1" dirty="0">
                <a:solidFill>
                  <a:srgbClr val="11052C"/>
                </a:solidFill>
                <a:latin typeface="Arial"/>
              </a:rPr>
              <a:t>taged </a:t>
            </a:r>
            <a:r>
              <a:rPr lang="en-US" sz="2400" b="1" dirty="0">
                <a:solidFill>
                  <a:srgbClr val="11052C"/>
                </a:solidFill>
                <a:latin typeface="Arial"/>
              </a:rPr>
              <a:t>deployment &gt; </a:t>
            </a:r>
            <a:r>
              <a:rPr sz="2400" b="1" dirty="0">
                <a:solidFill>
                  <a:srgbClr val="11052C"/>
                </a:solidFill>
                <a:latin typeface="Arial"/>
              </a:rPr>
              <a:t>flat cuts</a:t>
            </a:r>
            <a:r>
              <a:rPr lang="en-US" sz="2400" b="1" dirty="0">
                <a:solidFill>
                  <a:srgbClr val="11052C"/>
                </a:solidFill>
                <a:latin typeface="Arial"/>
              </a:rPr>
              <a:t> across the board;</a:t>
            </a:r>
          </a:p>
          <a:p>
            <a:pPr algn="l"/>
            <a:r>
              <a:rPr lang="en-US" sz="2400" b="1" dirty="0">
                <a:solidFill>
                  <a:srgbClr val="11052C"/>
                </a:solidFill>
                <a:latin typeface="Arial"/>
              </a:rPr>
              <a:t>t</a:t>
            </a:r>
            <a:r>
              <a:rPr sz="2400" b="1" dirty="0">
                <a:solidFill>
                  <a:srgbClr val="11052C"/>
                </a:solidFill>
                <a:latin typeface="Arial"/>
              </a:rPr>
              <a:t>he precedent </a:t>
            </a:r>
            <a:r>
              <a:rPr lang="en-US" sz="2400" b="1" dirty="0">
                <a:solidFill>
                  <a:srgbClr val="11052C"/>
                </a:solidFill>
                <a:latin typeface="Arial"/>
              </a:rPr>
              <a:t>and the discipline </a:t>
            </a:r>
            <a:r>
              <a:rPr sz="2400" b="1" dirty="0">
                <a:solidFill>
                  <a:srgbClr val="11052C"/>
                </a:solidFill>
                <a:latin typeface="Arial"/>
              </a:rPr>
              <a:t>matter more than the </a:t>
            </a:r>
            <a:r>
              <a:rPr lang="en-US" sz="2400" b="1" dirty="0">
                <a:solidFill>
                  <a:srgbClr val="11052C"/>
                </a:solidFill>
                <a:latin typeface="Arial"/>
              </a:rPr>
              <a:t>nominal asks</a:t>
            </a:r>
            <a:endParaRPr sz="2400" b="1" dirty="0">
              <a:solidFill>
                <a:srgbClr val="11052C"/>
              </a:solidFill>
              <a:latin typeface="Arial"/>
            </a:endParaRPr>
          </a:p>
        </p:txBody>
      </p:sp>
      <p:sp>
        <p:nvSpPr>
          <p:cNvPr id="4" name="Rounded Rectangle 3"/>
          <p:cNvSpPr/>
          <p:nvPr/>
        </p:nvSpPr>
        <p:spPr>
          <a:xfrm>
            <a:off x="612648" y="1600200"/>
            <a:ext cx="3108960" cy="4389120"/>
          </a:xfrm>
          <a:prstGeom prst="roundRect">
            <a:avLst>
              <a:gd name="adj" fmla="val 5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737360"/>
            <a:ext cx="2880360" cy="246221"/>
          </a:xfrm>
          <a:prstGeom prst="rect">
            <a:avLst/>
          </a:prstGeom>
          <a:noFill/>
        </p:spPr>
        <p:txBody>
          <a:bodyPr wrap="square" anchor="t">
            <a:spAutoFit/>
          </a:bodyPr>
          <a:lstStyle/>
          <a:p>
            <a:pPr algn="ctr"/>
            <a:r>
              <a:rPr sz="1000" b="1" dirty="0">
                <a:solidFill>
                  <a:srgbClr val="C084FC"/>
                </a:solidFill>
                <a:latin typeface="Arial"/>
              </a:rPr>
              <a:t>THE GAP</a:t>
            </a:r>
            <a:r>
              <a:rPr lang="en-US" sz="1000" b="1" dirty="0">
                <a:solidFill>
                  <a:srgbClr val="C084FC"/>
                </a:solidFill>
                <a:latin typeface="Arial"/>
              </a:rPr>
              <a:t> ($60M of asks vs. a $25M cap):</a:t>
            </a:r>
            <a:endParaRPr sz="1000" b="1" dirty="0">
              <a:solidFill>
                <a:srgbClr val="C084FC"/>
              </a:solidFill>
              <a:latin typeface="Arial"/>
            </a:endParaRPr>
          </a:p>
        </p:txBody>
      </p:sp>
      <p:sp>
        <p:nvSpPr>
          <p:cNvPr id="6" name="TextBox 5"/>
          <p:cNvSpPr txBox="1"/>
          <p:nvPr/>
        </p:nvSpPr>
        <p:spPr>
          <a:xfrm>
            <a:off x="731520" y="2011680"/>
            <a:ext cx="2880360" cy="960120"/>
          </a:xfrm>
          <a:prstGeom prst="rect">
            <a:avLst/>
          </a:prstGeom>
          <a:noFill/>
        </p:spPr>
        <p:txBody>
          <a:bodyPr wrap="square" anchor="t">
            <a:spAutoFit/>
          </a:bodyPr>
          <a:lstStyle/>
          <a:p>
            <a:pPr algn="ctr"/>
            <a:r>
              <a:rPr sz="5800" b="1">
                <a:solidFill>
                  <a:srgbClr val="FFFFFF"/>
                </a:solidFill>
                <a:latin typeface="Arial"/>
              </a:rPr>
              <a:t>$35M</a:t>
            </a:r>
          </a:p>
        </p:txBody>
      </p:sp>
      <p:sp>
        <p:nvSpPr>
          <p:cNvPr id="7" name="TextBox 6"/>
          <p:cNvSpPr txBox="1"/>
          <p:nvPr/>
        </p:nvSpPr>
        <p:spPr>
          <a:xfrm>
            <a:off x="777240" y="3017520"/>
            <a:ext cx="2788920" cy="1146468"/>
          </a:xfrm>
          <a:prstGeom prst="rect">
            <a:avLst/>
          </a:prstGeom>
          <a:noFill/>
        </p:spPr>
        <p:txBody>
          <a:bodyPr wrap="square" anchor="t">
            <a:spAutoFit/>
          </a:bodyPr>
          <a:lstStyle/>
          <a:p>
            <a:pPr algn="ctr">
              <a:spcAft>
                <a:spcPts val="600"/>
              </a:spcAft>
            </a:pPr>
            <a:r>
              <a:rPr lang="en-US" sz="1400" b="0" dirty="0">
                <a:solidFill>
                  <a:srgbClr val="E9D5FF"/>
                </a:solidFill>
                <a:latin typeface="Arial"/>
              </a:rPr>
              <a:t>Equal to:</a:t>
            </a:r>
            <a:endParaRPr lang="en-US" sz="1400" dirty="0">
              <a:solidFill>
                <a:srgbClr val="E9D5FF"/>
              </a:solidFill>
              <a:latin typeface="Arial"/>
            </a:endParaRPr>
          </a:p>
          <a:p>
            <a:pPr algn="ctr">
              <a:spcAft>
                <a:spcPts val="600"/>
              </a:spcAft>
            </a:pPr>
            <a:r>
              <a:rPr lang="en-US" sz="1400" b="0" dirty="0">
                <a:solidFill>
                  <a:srgbClr val="E9D5FF"/>
                </a:solidFill>
                <a:latin typeface="Arial"/>
              </a:rPr>
              <a:t>~</a:t>
            </a:r>
            <a:r>
              <a:rPr sz="1400" b="0" dirty="0">
                <a:solidFill>
                  <a:srgbClr val="E9D5FF"/>
                </a:solidFill>
                <a:latin typeface="Arial"/>
              </a:rPr>
              <a:t>15 bps of annualized revenue</a:t>
            </a:r>
          </a:p>
          <a:p>
            <a:pPr algn="ctr">
              <a:spcAft>
                <a:spcPts val="300"/>
              </a:spcAft>
            </a:pPr>
            <a:r>
              <a:rPr lang="en-US" sz="1400" b="0" dirty="0">
                <a:solidFill>
                  <a:srgbClr val="E9D5FF"/>
                </a:solidFill>
                <a:latin typeface="Arial"/>
              </a:rPr>
              <a:t>~</a:t>
            </a:r>
            <a:r>
              <a:rPr sz="1400" b="0" dirty="0">
                <a:solidFill>
                  <a:srgbClr val="E9D5FF"/>
                </a:solidFill>
                <a:latin typeface="Arial"/>
              </a:rPr>
              <a:t>1.1% of annual </a:t>
            </a:r>
            <a:r>
              <a:rPr sz="1400" b="0" dirty="0" err="1">
                <a:solidFill>
                  <a:srgbClr val="E9D5FF"/>
                </a:solidFill>
                <a:latin typeface="Arial"/>
              </a:rPr>
              <a:t>opex</a:t>
            </a:r>
            <a:endParaRPr lang="en-US" sz="1400" b="0" dirty="0">
              <a:solidFill>
                <a:srgbClr val="E9D5FF"/>
              </a:solidFill>
              <a:latin typeface="Arial"/>
            </a:endParaRPr>
          </a:p>
          <a:p>
            <a:pPr algn="ctr">
              <a:spcAft>
                <a:spcPts val="300"/>
              </a:spcAft>
            </a:pPr>
            <a:r>
              <a:rPr lang="en-US" sz="1400" b="0" dirty="0">
                <a:solidFill>
                  <a:srgbClr val="E9D5FF"/>
                </a:solidFill>
                <a:latin typeface="Arial"/>
              </a:rPr>
              <a:t>~</a:t>
            </a:r>
            <a:r>
              <a:rPr sz="1400" b="0" dirty="0">
                <a:solidFill>
                  <a:srgbClr val="E9D5FF"/>
                </a:solidFill>
                <a:latin typeface="Arial"/>
              </a:rPr>
              <a:t>0.2 points of efficiency ratio</a:t>
            </a:r>
          </a:p>
        </p:txBody>
      </p:sp>
      <p:sp>
        <p:nvSpPr>
          <p:cNvPr id="8" name="TextBox 7"/>
          <p:cNvSpPr txBox="1"/>
          <p:nvPr/>
        </p:nvSpPr>
        <p:spPr>
          <a:xfrm>
            <a:off x="777240" y="4526280"/>
            <a:ext cx="2788920" cy="1031886"/>
          </a:xfrm>
          <a:prstGeom prst="rect">
            <a:avLst/>
          </a:prstGeom>
          <a:noFill/>
        </p:spPr>
        <p:txBody>
          <a:bodyPr wrap="square" anchor="t">
            <a:spAutoFit/>
          </a:bodyPr>
          <a:lstStyle/>
          <a:p>
            <a:pPr algn="ctr">
              <a:lnSpc>
                <a:spcPct val="150000"/>
              </a:lnSpc>
            </a:pPr>
            <a:r>
              <a:rPr lang="en-US" sz="1050" b="0" dirty="0">
                <a:solidFill>
                  <a:srgbClr val="E9D5FF"/>
                </a:solidFill>
                <a:latin typeface="Arial"/>
              </a:rPr>
              <a:t>Drivers: </a:t>
            </a:r>
            <a:r>
              <a:rPr sz="1050" b="0" dirty="0">
                <a:solidFill>
                  <a:srgbClr val="E9D5FF"/>
                </a:solidFill>
                <a:latin typeface="Arial"/>
              </a:rPr>
              <a:t>Efficiency ratio 19.5% in Q2'26 (17.6% in Q1); FY26 expected near 20%. Cost to serve $1.0 a month ($0.8 a year earlier) against $17.1 of ARPAC.</a:t>
            </a:r>
          </a:p>
        </p:txBody>
      </p:sp>
      <p:sp>
        <p:nvSpPr>
          <p:cNvPr id="9" name="TextBox 8"/>
          <p:cNvSpPr txBox="1"/>
          <p:nvPr/>
        </p:nvSpPr>
        <p:spPr>
          <a:xfrm>
            <a:off x="3931920" y="1554480"/>
            <a:ext cx="7498079" cy="935321"/>
          </a:xfrm>
          <a:prstGeom prst="rect">
            <a:avLst/>
          </a:prstGeom>
          <a:noFill/>
        </p:spPr>
        <p:txBody>
          <a:bodyPr wrap="square" anchor="t">
            <a:spAutoFit/>
          </a:bodyPr>
          <a:lstStyle/>
          <a:p>
            <a:pPr algn="l">
              <a:lnSpc>
                <a:spcPct val="150000"/>
              </a:lnSpc>
              <a:spcAft>
                <a:spcPts val="300"/>
              </a:spcAft>
            </a:pPr>
            <a:r>
              <a:rPr lang="en-US" sz="1400" b="1" dirty="0">
                <a:solidFill>
                  <a:srgbClr val="820AD1"/>
                </a:solidFill>
                <a:latin typeface="Arial"/>
              </a:rPr>
              <a:t>Problem statement: </a:t>
            </a:r>
            <a:r>
              <a:rPr sz="1200" b="0" dirty="0">
                <a:solidFill>
                  <a:srgbClr val="3B2A54"/>
                </a:solidFill>
                <a:latin typeface="Arial"/>
              </a:rPr>
              <a:t>Asks as number</a:t>
            </a:r>
            <a:r>
              <a:rPr lang="en-US" sz="1200" dirty="0">
                <a:solidFill>
                  <a:srgbClr val="3B2A54"/>
                </a:solidFill>
                <a:latin typeface="Arial"/>
              </a:rPr>
              <a:t>s </a:t>
            </a:r>
            <a:r>
              <a:rPr sz="1200" b="0" dirty="0">
                <a:solidFill>
                  <a:srgbClr val="3B2A54"/>
                </a:solidFill>
                <a:latin typeface="Arial"/>
              </a:rPr>
              <a:t>with no </a:t>
            </a:r>
            <a:r>
              <a:rPr lang="en-US" sz="1200" b="0" dirty="0">
                <a:solidFill>
                  <a:srgbClr val="3B2A54"/>
                </a:solidFill>
                <a:latin typeface="Arial"/>
              </a:rPr>
              <a:t>pre-defined, globally standardized format for valuation and </a:t>
            </a:r>
            <a:r>
              <a:rPr lang="en-US" sz="1200" dirty="0">
                <a:solidFill>
                  <a:srgbClr val="3B2A54"/>
                </a:solidFill>
                <a:latin typeface="Arial"/>
              </a:rPr>
              <a:t>assessment. Establishing the approach is a tone-setter; proper discipline and decision-making support </a:t>
            </a:r>
            <a:r>
              <a:rPr lang="en-US" sz="1200" b="0" dirty="0">
                <a:solidFill>
                  <a:srgbClr val="3B2A54"/>
                </a:solidFill>
                <a:latin typeface="Arial"/>
              </a:rPr>
              <a:t>will inform how we prepare for investment and expenditure as we scale.</a:t>
            </a:r>
            <a:endParaRPr sz="1200" b="0" dirty="0">
              <a:solidFill>
                <a:srgbClr val="3B2A54"/>
              </a:solidFill>
              <a:latin typeface="Arial"/>
            </a:endParaRPr>
          </a:p>
        </p:txBody>
      </p:sp>
      <p:graphicFrame>
        <p:nvGraphicFramePr>
          <p:cNvPr id="10" name="Table 9"/>
          <p:cNvGraphicFramePr>
            <a:graphicFrameLocks noGrp="1"/>
          </p:cNvGraphicFramePr>
          <p:nvPr>
            <p:extLst>
              <p:ext uri="{D42A27DB-BD31-4B8C-83A1-F6EECF244321}">
                <p14:modId xmlns:p14="http://schemas.microsoft.com/office/powerpoint/2010/main" val="1585472168"/>
              </p:ext>
            </p:extLst>
          </p:nvPr>
        </p:nvGraphicFramePr>
        <p:xfrm>
          <a:off x="3931920" y="2572927"/>
          <a:ext cx="7394171" cy="1730849"/>
        </p:xfrm>
        <a:graphic>
          <a:graphicData uri="http://schemas.openxmlformats.org/drawingml/2006/table">
            <a:tbl>
              <a:tblPr>
                <a:tableStyleId>{5C22544A-7EE6-4342-B048-85BDC9FD1C3A}</a:tableStyleId>
              </a:tblPr>
              <a:tblGrid>
                <a:gridCol w="3383280">
                  <a:extLst>
                    <a:ext uri="{9D8B030D-6E8A-4147-A177-3AD203B41FA5}">
                      <a16:colId xmlns:a16="http://schemas.microsoft.com/office/drawing/2014/main" val="20000"/>
                    </a:ext>
                  </a:extLst>
                </a:gridCol>
                <a:gridCol w="4010891">
                  <a:extLst>
                    <a:ext uri="{9D8B030D-6E8A-4147-A177-3AD203B41FA5}">
                      <a16:colId xmlns:a16="http://schemas.microsoft.com/office/drawing/2014/main" val="20002"/>
                    </a:ext>
                  </a:extLst>
                </a:gridCol>
              </a:tblGrid>
              <a:tr h="425951">
                <a:tc>
                  <a:txBody>
                    <a:bodyPr/>
                    <a:lstStyle/>
                    <a:p>
                      <a:r>
                        <a:rPr sz="1100" b="1">
                          <a:solidFill>
                            <a:srgbClr val="FFFFFF"/>
                          </a:solidFill>
                          <a:latin typeface="Arial"/>
                        </a:rPr>
                        <a:t>Three ways to close the gap</a:t>
                      </a:r>
                    </a:p>
                  </a:txBody>
                  <a:tcPr marL="64008" marR="64008" marT="36576" marB="36576" anchor="ctr">
                    <a:solidFill>
                      <a:srgbClr val="820AD1"/>
                    </a:solidFill>
                  </a:tcPr>
                </a:tc>
                <a:tc>
                  <a:txBody>
                    <a:bodyPr/>
                    <a:lstStyle/>
                    <a:p>
                      <a:r>
                        <a:rPr sz="1100" b="1">
                          <a:solidFill>
                            <a:srgbClr val="FFFFFF"/>
                          </a:solidFill>
                          <a:latin typeface="Arial"/>
                        </a:rPr>
                        <a:t>Why</a:t>
                      </a:r>
                    </a:p>
                  </a:txBody>
                  <a:tcPr marL="64008" marR="64008" marT="36576" marB="36576" anchor="ctr">
                    <a:solidFill>
                      <a:srgbClr val="820AD1"/>
                    </a:solidFill>
                  </a:tcPr>
                </a:tc>
                <a:extLst>
                  <a:ext uri="{0D108BD9-81ED-4DB2-BD59-A6C34878D82A}">
                    <a16:rowId xmlns:a16="http://schemas.microsoft.com/office/drawing/2014/main" val="10000"/>
                  </a:ext>
                </a:extLst>
              </a:tr>
              <a:tr h="425951">
                <a:tc>
                  <a:txBody>
                    <a:bodyPr/>
                    <a:lstStyle/>
                    <a:p>
                      <a:r>
                        <a:rPr sz="1100" b="1">
                          <a:solidFill>
                            <a:srgbClr val="11052C"/>
                          </a:solidFill>
                          <a:latin typeface="Arial"/>
                        </a:rPr>
                        <a:t>Equal cut</a:t>
                      </a:r>
                      <a:r>
                        <a:rPr sz="1100" b="0">
                          <a:solidFill>
                            <a:srgbClr val="11052C"/>
                          </a:solidFill>
                          <a:latin typeface="Arial"/>
                        </a:rPr>
                        <a:t> (every unit gets 42% of its ask)</a:t>
                      </a:r>
                    </a:p>
                  </a:txBody>
                  <a:tcPr marL="64008" marR="64008" marT="36576" marB="36576" anchor="ctr">
                    <a:solidFill>
                      <a:srgbClr val="FFFFFF"/>
                    </a:solidFill>
                  </a:tcPr>
                </a:tc>
                <a:tc>
                  <a:txBody>
                    <a:bodyPr/>
                    <a:lstStyle/>
                    <a:p>
                      <a:r>
                        <a:rPr sz="1100" b="0" dirty="0">
                          <a:solidFill>
                            <a:srgbClr val="3B2A54"/>
                          </a:solidFill>
                          <a:latin typeface="Arial"/>
                        </a:rPr>
                        <a:t>Fast, </a:t>
                      </a:r>
                      <a:r>
                        <a:rPr lang="en-US" sz="1100" b="0" dirty="0">
                          <a:solidFill>
                            <a:srgbClr val="3B2A54"/>
                          </a:solidFill>
                          <a:latin typeface="Arial"/>
                        </a:rPr>
                        <a:t>but </a:t>
                      </a:r>
                      <a:r>
                        <a:rPr sz="1100" b="0" dirty="0">
                          <a:solidFill>
                            <a:srgbClr val="3B2A54"/>
                          </a:solidFill>
                          <a:latin typeface="Arial"/>
                        </a:rPr>
                        <a:t>it </a:t>
                      </a:r>
                      <a:r>
                        <a:rPr lang="en-US" sz="1100" b="0" dirty="0">
                          <a:solidFill>
                            <a:srgbClr val="3B2A54"/>
                          </a:solidFill>
                          <a:latin typeface="Arial"/>
                        </a:rPr>
                        <a:t>shows a path </a:t>
                      </a:r>
                      <a:r>
                        <a:rPr sz="1100" b="0" dirty="0">
                          <a:solidFill>
                            <a:srgbClr val="3B2A54"/>
                          </a:solidFill>
                          <a:latin typeface="Arial"/>
                        </a:rPr>
                        <a:t>to pad next year's ask</a:t>
                      </a:r>
                    </a:p>
                  </a:txBody>
                  <a:tcPr marL="64008" marR="64008" marT="36576" marB="36576" anchor="ctr">
                    <a:solidFill>
                      <a:srgbClr val="FFFFFF"/>
                    </a:solidFill>
                  </a:tcPr>
                </a:tc>
                <a:extLst>
                  <a:ext uri="{0D108BD9-81ED-4DB2-BD59-A6C34878D82A}">
                    <a16:rowId xmlns:a16="http://schemas.microsoft.com/office/drawing/2014/main" val="10001"/>
                  </a:ext>
                </a:extLst>
              </a:tr>
              <a:tr h="425951">
                <a:tc>
                  <a:txBody>
                    <a:bodyPr/>
                    <a:lstStyle/>
                    <a:p>
                      <a:r>
                        <a:rPr sz="1100" b="1">
                          <a:solidFill>
                            <a:srgbClr val="11052C"/>
                          </a:solidFill>
                          <a:latin typeface="Arial"/>
                        </a:rPr>
                        <a:t>Core markets first</a:t>
                      </a:r>
                      <a:r>
                        <a:rPr sz="1100" b="0">
                          <a:solidFill>
                            <a:srgbClr val="11052C"/>
                          </a:solidFill>
                          <a:latin typeface="Arial"/>
                        </a:rPr>
                        <a:t> (pause new bets)</a:t>
                      </a:r>
                    </a:p>
                  </a:txBody>
                  <a:tcPr marL="64008" marR="64008" marT="36576" marB="36576" anchor="ctr">
                    <a:solidFill>
                      <a:srgbClr val="F7F2FD"/>
                    </a:solidFill>
                  </a:tcPr>
                </a:tc>
                <a:tc>
                  <a:txBody>
                    <a:bodyPr/>
                    <a:lstStyle/>
                    <a:p>
                      <a:r>
                        <a:rPr lang="en-US" sz="1100" b="0" dirty="0">
                          <a:solidFill>
                            <a:srgbClr val="3B2A54"/>
                          </a:solidFill>
                          <a:latin typeface="Arial"/>
                        </a:rPr>
                        <a:t>Simple</a:t>
                      </a:r>
                      <a:r>
                        <a:rPr sz="1100" b="0" dirty="0">
                          <a:solidFill>
                            <a:srgbClr val="3B2A54"/>
                          </a:solidFill>
                          <a:latin typeface="Arial"/>
                        </a:rPr>
                        <a:t>, but new bets </a:t>
                      </a:r>
                      <a:r>
                        <a:rPr lang="en-US" sz="1100" b="0" dirty="0">
                          <a:solidFill>
                            <a:srgbClr val="3B2A54"/>
                          </a:solidFill>
                          <a:latin typeface="Arial"/>
                        </a:rPr>
                        <a:t>lack focus/funding</a:t>
                      </a:r>
                      <a:endParaRPr sz="11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452996">
                <a:tc>
                  <a:txBody>
                    <a:bodyPr/>
                    <a:lstStyle/>
                    <a:p>
                      <a:r>
                        <a:rPr sz="1100" b="1" dirty="0">
                          <a:solidFill>
                            <a:srgbClr val="11052C"/>
                          </a:solidFill>
                          <a:latin typeface="Arial"/>
                        </a:rPr>
                        <a:t>Business-case readiness and staged release</a:t>
                      </a:r>
                      <a:r>
                        <a:rPr sz="1100" b="0" dirty="0">
                          <a:solidFill>
                            <a:srgbClr val="11052C"/>
                          </a:solidFill>
                          <a:latin typeface="Arial"/>
                        </a:rPr>
                        <a:t> (recommended)</a:t>
                      </a:r>
                    </a:p>
                  </a:txBody>
                  <a:tcPr marL="64008" marR="64008" marT="36576" marB="36576" anchor="ctr">
                    <a:solidFill>
                      <a:srgbClr val="E9D5FF"/>
                    </a:solidFill>
                  </a:tcPr>
                </a:tc>
                <a:tc>
                  <a:txBody>
                    <a:bodyPr/>
                    <a:lstStyle/>
                    <a:p>
                      <a:r>
                        <a:rPr sz="1100" b="0" dirty="0">
                          <a:solidFill>
                            <a:srgbClr val="3B2A54"/>
                          </a:solidFill>
                          <a:latin typeface="Arial"/>
                        </a:rPr>
                        <a:t>Wins on growth return, ownership</a:t>
                      </a:r>
                      <a:r>
                        <a:rPr lang="en-US" sz="1100" b="0" dirty="0">
                          <a:solidFill>
                            <a:srgbClr val="3B2A54"/>
                          </a:solidFill>
                          <a:latin typeface="Arial"/>
                        </a:rPr>
                        <a:t>, value creation</a:t>
                      </a:r>
                      <a:r>
                        <a:rPr sz="1100" b="0" dirty="0">
                          <a:solidFill>
                            <a:srgbClr val="3B2A54"/>
                          </a:solidFill>
                          <a:latin typeface="Arial"/>
                        </a:rPr>
                        <a:t>; </a:t>
                      </a:r>
                      <a:r>
                        <a:rPr lang="en-US" sz="1100" b="0" dirty="0">
                          <a:solidFill>
                            <a:srgbClr val="3B2A54"/>
                          </a:solidFill>
                          <a:latin typeface="Arial"/>
                        </a:rPr>
                        <a:t>trade-off </a:t>
                      </a:r>
                      <a:r>
                        <a:rPr sz="1100" b="0" dirty="0">
                          <a:solidFill>
                            <a:srgbClr val="3B2A54"/>
                          </a:solidFill>
                          <a:latin typeface="Arial"/>
                        </a:rPr>
                        <a:t>on speed</a:t>
                      </a:r>
                    </a:p>
                  </a:txBody>
                  <a:tcPr marL="64008" marR="64008" marT="36576" marB="36576" anchor="ctr">
                    <a:solidFill>
                      <a:srgbClr val="E9D5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3931920" y="4440936"/>
            <a:ext cx="7498079" cy="1396985"/>
          </a:xfrm>
          <a:prstGeom prst="rect">
            <a:avLst/>
          </a:prstGeom>
          <a:noFill/>
        </p:spPr>
        <p:txBody>
          <a:bodyPr wrap="square" anchor="t">
            <a:spAutoFit/>
          </a:bodyPr>
          <a:lstStyle/>
          <a:p>
            <a:pPr algn="l">
              <a:spcAft>
                <a:spcPts val="300"/>
              </a:spcAft>
            </a:pPr>
            <a:r>
              <a:rPr sz="1400" b="1" dirty="0">
                <a:solidFill>
                  <a:srgbClr val="820AD1"/>
                </a:solidFill>
                <a:latin typeface="Arial"/>
              </a:rPr>
              <a:t>Budgets </a:t>
            </a:r>
            <a:r>
              <a:rPr lang="en-US" sz="1400" b="1" dirty="0">
                <a:solidFill>
                  <a:srgbClr val="820AD1"/>
                </a:solidFill>
                <a:latin typeface="Arial"/>
              </a:rPr>
              <a:t>can </a:t>
            </a:r>
            <a:r>
              <a:rPr sz="1400" b="1" dirty="0">
                <a:solidFill>
                  <a:srgbClr val="820AD1"/>
                </a:solidFill>
                <a:latin typeface="Arial"/>
              </a:rPr>
              <a:t>work like Nu's credit</a:t>
            </a:r>
            <a:r>
              <a:rPr lang="en-US" sz="1400" b="1" dirty="0">
                <a:solidFill>
                  <a:srgbClr val="820AD1"/>
                </a:solidFill>
                <a:latin typeface="Arial"/>
              </a:rPr>
              <a:t> management principles.</a:t>
            </a:r>
            <a:endParaRPr sz="1400" b="1" dirty="0">
              <a:solidFill>
                <a:srgbClr val="820AD1"/>
              </a:solidFill>
              <a:latin typeface="Arial"/>
            </a:endParaRPr>
          </a:p>
          <a:p>
            <a:pPr algn="l">
              <a:lnSpc>
                <a:spcPct val="200000"/>
              </a:lnSpc>
            </a:pPr>
            <a:r>
              <a:rPr sz="1200" b="0" dirty="0">
                <a:solidFill>
                  <a:srgbClr val="3B2A54"/>
                </a:solidFill>
                <a:latin typeface="Arial"/>
              </a:rPr>
              <a:t>Nu's 20-F </a:t>
            </a:r>
            <a:r>
              <a:rPr lang="en-US" sz="1200" dirty="0">
                <a:solidFill>
                  <a:srgbClr val="3B2A54"/>
                </a:solidFill>
                <a:latin typeface="Arial"/>
              </a:rPr>
              <a:t>Form </a:t>
            </a:r>
            <a:r>
              <a:rPr sz="1200" b="0" dirty="0">
                <a:solidFill>
                  <a:srgbClr val="3B2A54"/>
                </a:solidFill>
                <a:latin typeface="Arial"/>
              </a:rPr>
              <a:t>describes </a:t>
            </a:r>
            <a:r>
              <a:rPr lang="en-US" sz="1200" b="0" dirty="0">
                <a:solidFill>
                  <a:srgbClr val="3B2A54"/>
                </a:solidFill>
                <a:latin typeface="Arial"/>
              </a:rPr>
              <a:t>"</a:t>
            </a:r>
            <a:r>
              <a:rPr sz="1200" b="0" dirty="0">
                <a:solidFill>
                  <a:srgbClr val="3B2A54"/>
                </a:solidFill>
                <a:latin typeface="Arial"/>
              </a:rPr>
              <a:t>low-and-grow</a:t>
            </a:r>
            <a:r>
              <a:rPr lang="en-US" sz="1200" b="0" dirty="0">
                <a:solidFill>
                  <a:srgbClr val="3B2A54"/>
                </a:solidFill>
                <a:latin typeface="Arial"/>
              </a:rPr>
              <a:t>"</a:t>
            </a:r>
            <a:r>
              <a:rPr sz="1200" b="0" dirty="0">
                <a:solidFill>
                  <a:srgbClr val="3B2A54"/>
                </a:solidFill>
                <a:latin typeface="Arial"/>
              </a:rPr>
              <a:t>: small limits, raised on behavior. </a:t>
            </a:r>
            <a:endParaRPr lang="en-US" sz="1200" b="0" dirty="0">
              <a:solidFill>
                <a:srgbClr val="3B2A54"/>
              </a:solidFill>
              <a:latin typeface="Arial"/>
            </a:endParaRPr>
          </a:p>
          <a:p>
            <a:pPr algn="l">
              <a:lnSpc>
                <a:spcPct val="200000"/>
              </a:lnSpc>
            </a:pPr>
            <a:r>
              <a:rPr sz="1200" b="0" dirty="0">
                <a:solidFill>
                  <a:srgbClr val="3B2A54"/>
                </a:solidFill>
                <a:latin typeface="Arial"/>
              </a:rPr>
              <a:t>Budgets </a:t>
            </a:r>
            <a:r>
              <a:rPr lang="en-US" sz="1200" b="0" dirty="0">
                <a:solidFill>
                  <a:srgbClr val="3B2A54"/>
                </a:solidFill>
                <a:latin typeface="Arial"/>
              </a:rPr>
              <a:t>should </a:t>
            </a:r>
            <a:r>
              <a:rPr sz="1200" b="0" dirty="0">
                <a:solidFill>
                  <a:srgbClr val="3B2A54"/>
                </a:solidFill>
                <a:latin typeface="Arial"/>
              </a:rPr>
              <a:t>get same test-and-learn: start small, grow when </a:t>
            </a:r>
            <a:r>
              <a:rPr lang="en-US" sz="1200" b="0" dirty="0">
                <a:solidFill>
                  <a:srgbClr val="3B2A54"/>
                </a:solidFill>
                <a:latin typeface="Arial"/>
              </a:rPr>
              <a:t>KPIs (i.e. </a:t>
            </a:r>
            <a:r>
              <a:rPr sz="1200" b="0" dirty="0">
                <a:solidFill>
                  <a:srgbClr val="3B2A54"/>
                </a:solidFill>
                <a:latin typeface="Arial"/>
              </a:rPr>
              <a:t>activation, 30-day retention, unit cost</a:t>
            </a:r>
            <a:r>
              <a:rPr lang="en-US" sz="1200" b="0" dirty="0">
                <a:solidFill>
                  <a:srgbClr val="3B2A54"/>
                </a:solidFill>
                <a:latin typeface="Arial"/>
              </a:rPr>
              <a:t>) can support further scaling</a:t>
            </a:r>
            <a:r>
              <a:rPr sz="1200" b="0" dirty="0">
                <a:solidFill>
                  <a:srgbClr val="3B2A54"/>
                </a:solidFill>
                <a:latin typeface="Arial"/>
              </a:rPr>
              <a:t>. </a:t>
            </a:r>
            <a:r>
              <a:rPr lang="en-US" sz="1200" b="0" dirty="0">
                <a:solidFill>
                  <a:srgbClr val="3B2A54"/>
                </a:solidFill>
                <a:latin typeface="Arial"/>
              </a:rPr>
              <a:t>This becomes an ownership-driving, principle-based methodology.</a:t>
            </a:r>
            <a:endParaRPr sz="1200" b="0" dirty="0">
              <a:solidFill>
                <a:srgbClr val="3B2A54"/>
              </a:solidFill>
              <a:latin typeface="Arial"/>
            </a:endParaRPr>
          </a:p>
        </p:txBody>
      </p:sp>
      <p:sp>
        <p:nvSpPr>
          <p:cNvPr id="12" name="TextBox 11"/>
          <p:cNvSpPr txBox="1"/>
          <p:nvPr/>
        </p:nvSpPr>
        <p:spPr>
          <a:xfrm>
            <a:off x="612648" y="6126480"/>
            <a:ext cx="10515600" cy="369332"/>
          </a:xfrm>
          <a:prstGeom prst="rect">
            <a:avLst/>
          </a:prstGeom>
          <a:noFill/>
        </p:spPr>
        <p:txBody>
          <a:bodyPr wrap="square" anchor="t">
            <a:spAutoFit/>
          </a:bodyPr>
          <a:lstStyle/>
          <a:p>
            <a:pPr algn="l"/>
            <a:r>
              <a:rPr sz="900" b="0" dirty="0">
                <a:solidFill>
                  <a:srgbClr val="6B5B82"/>
                </a:solidFill>
                <a:latin typeface="Arial"/>
              </a:rPr>
              <a:t>Sources: Nu Q2'26 release and 6-K (</a:t>
            </a:r>
            <a:r>
              <a:rPr sz="900" b="0" dirty="0" err="1">
                <a:solidFill>
                  <a:srgbClr val="6B5B82"/>
                </a:solidFill>
                <a:latin typeface="Arial"/>
              </a:rPr>
              <a:t>opex</a:t>
            </a:r>
            <a:r>
              <a:rPr sz="900" b="0" dirty="0">
                <a:solidFill>
                  <a:srgbClr val="6B5B82"/>
                </a:solidFill>
                <a:latin typeface="Arial"/>
              </a:rPr>
              <a:t> $806.2M; net revenue ~$4.1B a quarter), Q2'26 call, Form 20-F. Calculations: the 15 bps is on managerial revenue, ~$23.5B annualized; the 1.1% is on </a:t>
            </a:r>
            <a:r>
              <a:rPr sz="900" b="0" dirty="0" err="1">
                <a:solidFill>
                  <a:srgbClr val="6B5B82"/>
                </a:solidFill>
                <a:latin typeface="Arial"/>
              </a:rPr>
              <a:t>opex</a:t>
            </a:r>
            <a:r>
              <a:rPr sz="900" b="0" dirty="0">
                <a:solidFill>
                  <a:srgbClr val="6B5B82"/>
                </a:solidFill>
                <a:latin typeface="Arial"/>
              </a:rPr>
              <a:t>, ~$3.2B annualized; the efficiency-ratio points are on Nu's denominator (NII plus fees).</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a:solidFill>
                  <a:srgbClr val="820AD1"/>
                </a:solidFill>
                <a:latin typeface="Arial"/>
              </a:rPr>
              <a:t>DELIVERABLE 1  //  PRIORITIZATION</a:t>
            </a:r>
          </a:p>
        </p:txBody>
      </p:sp>
      <p:sp>
        <p:nvSpPr>
          <p:cNvPr id="3" name="TextBox 2"/>
          <p:cNvSpPr txBox="1"/>
          <p:nvPr/>
        </p:nvSpPr>
        <p:spPr>
          <a:xfrm>
            <a:off x="612648" y="621792"/>
            <a:ext cx="10972800" cy="594360"/>
          </a:xfrm>
          <a:prstGeom prst="rect">
            <a:avLst/>
          </a:prstGeom>
          <a:noFill/>
        </p:spPr>
        <p:txBody>
          <a:bodyPr wrap="square" anchor="t">
            <a:spAutoFit/>
          </a:bodyPr>
          <a:lstStyle/>
          <a:p>
            <a:pPr algn="l"/>
            <a:r>
              <a:rPr lang="en-US" sz="2400" b="1">
                <a:solidFill>
                  <a:srgbClr val="11052C"/>
                </a:solidFill>
                <a:latin typeface="Arial"/>
              </a:rPr>
              <a:t>Proposed investment and spend prioritization framework</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6</a:t>
            </a:r>
          </a:p>
        </p:txBody>
      </p:sp>
      <p:sp>
        <p:nvSpPr>
          <p:cNvPr id="14" name="TextBox 13"/>
          <p:cNvSpPr txBox="1"/>
          <p:nvPr/>
        </p:nvSpPr>
        <p:spPr>
          <a:xfrm>
            <a:off x="612648" y="1280160"/>
            <a:ext cx="10972800" cy="307777"/>
          </a:xfrm>
          <a:prstGeom prst="rect">
            <a:avLst/>
          </a:prstGeom>
          <a:noFill/>
        </p:spPr>
        <p:txBody>
          <a:bodyPr wrap="square">
            <a:spAutoFit/>
          </a:bodyPr>
          <a:lstStyle/>
          <a:p>
            <a:pPr>
              <a:spcAft>
                <a:spcPts val="300"/>
              </a:spcAft>
            </a:pPr>
            <a:r>
              <a:rPr sz="1400" b="1" dirty="0">
                <a:solidFill>
                  <a:srgbClr val="820AD1"/>
                </a:solidFill>
                <a:latin typeface="Arial"/>
              </a:rPr>
              <a:t>Mandatory obligations pass a separate gate</a:t>
            </a:r>
            <a:r>
              <a:rPr lang="en-US" sz="1400" b="1" dirty="0">
                <a:solidFill>
                  <a:srgbClr val="820AD1"/>
                </a:solidFill>
                <a:latin typeface="Arial"/>
              </a:rPr>
              <a:t>, and d</a:t>
            </a:r>
            <a:r>
              <a:rPr sz="1400" b="1" dirty="0">
                <a:solidFill>
                  <a:srgbClr val="820AD1"/>
                </a:solidFill>
                <a:latin typeface="Arial"/>
              </a:rPr>
              <a:t>iscretionary asks compete within agreed strategic envelopes.</a:t>
            </a:r>
          </a:p>
        </p:txBody>
      </p:sp>
      <p:sp>
        <p:nvSpPr>
          <p:cNvPr id="15" name="TextBox 14"/>
          <p:cNvSpPr txBox="1"/>
          <p:nvPr/>
        </p:nvSpPr>
        <p:spPr>
          <a:xfrm>
            <a:off x="612648" y="1901952"/>
            <a:ext cx="4983480" cy="320040"/>
          </a:xfrm>
          <a:prstGeom prst="rect">
            <a:avLst/>
          </a:prstGeom>
          <a:noFill/>
        </p:spPr>
        <p:txBody>
          <a:bodyPr wrap="square">
            <a:spAutoFit/>
          </a:bodyPr>
          <a:lstStyle/>
          <a:p>
            <a:pPr>
              <a:spcAft>
                <a:spcPts val="300"/>
              </a:spcAft>
            </a:pPr>
            <a:r>
              <a:rPr sz="1000" b="1">
                <a:solidFill>
                  <a:srgbClr val="820AD1"/>
                </a:solidFill>
                <a:latin typeface="Arial"/>
              </a:rPr>
              <a:t>PROPOSED SCORECARD  //  DISCRETIONARY ASKS</a:t>
            </a:r>
          </a:p>
        </p:txBody>
      </p:sp>
      <p:graphicFrame>
        <p:nvGraphicFramePr>
          <p:cNvPr id="16" name="Table 15"/>
          <p:cNvGraphicFramePr>
            <a:graphicFrameLocks noGrp="1"/>
          </p:cNvGraphicFramePr>
          <p:nvPr>
            <p:extLst>
              <p:ext uri="{D42A27DB-BD31-4B8C-83A1-F6EECF244321}">
                <p14:modId xmlns:p14="http://schemas.microsoft.com/office/powerpoint/2010/main" val="2336644537"/>
              </p:ext>
            </p:extLst>
          </p:nvPr>
        </p:nvGraphicFramePr>
        <p:xfrm>
          <a:off x="704088" y="2340864"/>
          <a:ext cx="4846319" cy="259080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429768">
                <a:tc>
                  <a:txBody>
                    <a:bodyPr/>
                    <a:lstStyle/>
                    <a:p>
                      <a:r>
                        <a:rPr sz="1150" b="1">
                          <a:solidFill>
                            <a:srgbClr val="FFFFFF"/>
                          </a:solidFill>
                          <a:latin typeface="Arial"/>
                        </a:rPr>
                        <a:t>Criterion</a:t>
                      </a:r>
                    </a:p>
                  </a:txBody>
                  <a:tcPr marL="73152" marR="54864" marT="54864" marB="36576" anchor="ctr">
                    <a:solidFill>
                      <a:srgbClr val="820AD1"/>
                    </a:solidFill>
                  </a:tcPr>
                </a:tc>
                <a:tc>
                  <a:txBody>
                    <a:bodyPr/>
                    <a:lstStyle/>
                    <a:p>
                      <a:r>
                        <a:rPr sz="1150" b="1">
                          <a:solidFill>
                            <a:srgbClr val="FFFFFF"/>
                          </a:solidFill>
                          <a:latin typeface="Arial"/>
                        </a:rPr>
                        <a:t>Weight</a:t>
                      </a:r>
                    </a:p>
                  </a:txBody>
                  <a:tcPr marL="73152" marR="54864" marT="54864" marB="36576" anchor="ctr">
                    <a:solidFill>
                      <a:srgbClr val="820AD1"/>
                    </a:solidFill>
                  </a:tcPr>
                </a:tc>
                <a:tc>
                  <a:txBody>
                    <a:bodyPr/>
                    <a:lstStyle/>
                    <a:p>
                      <a:r>
                        <a:rPr sz="1150" b="1">
                          <a:solidFill>
                            <a:srgbClr val="FFFFFF"/>
                          </a:solidFill>
                          <a:latin typeface="Arial"/>
                        </a:rPr>
                        <a:t>Evidence required</a:t>
                      </a:r>
                    </a:p>
                  </a:txBody>
                  <a:tcPr marL="73152" marR="54864" marT="54864" marB="36576" anchor="ctr">
                    <a:solidFill>
                      <a:srgbClr val="820AD1"/>
                    </a:solidFill>
                  </a:tcPr>
                </a:tc>
                <a:extLst>
                  <a:ext uri="{0D108BD9-81ED-4DB2-BD59-A6C34878D82A}">
                    <a16:rowId xmlns:a16="http://schemas.microsoft.com/office/drawing/2014/main" val="10000"/>
                  </a:ext>
                </a:extLst>
              </a:tr>
              <a:tr h="429768">
                <a:tc>
                  <a:txBody>
                    <a:bodyPr/>
                    <a:lstStyle/>
                    <a:p>
                      <a:r>
                        <a:rPr sz="1150" b="0">
                          <a:solidFill>
                            <a:srgbClr val="3B2A54"/>
                          </a:solidFill>
                          <a:latin typeface="Arial"/>
                        </a:rPr>
                        <a:t>Strategic contribution</a:t>
                      </a:r>
                    </a:p>
                  </a:txBody>
                  <a:tcPr marL="73152" marR="54864" marT="54864" marB="36576" anchor="ctr">
                    <a:solidFill>
                      <a:srgbClr val="FFFFFF"/>
                    </a:solidFill>
                  </a:tcPr>
                </a:tc>
                <a:tc>
                  <a:txBody>
                    <a:bodyPr/>
                    <a:lstStyle/>
                    <a:p>
                      <a:r>
                        <a:rPr sz="1150" b="1">
                          <a:solidFill>
                            <a:srgbClr val="3B2A54"/>
                          </a:solidFill>
                          <a:latin typeface="Arial"/>
                        </a:rPr>
                        <a:t>25%</a:t>
                      </a:r>
                    </a:p>
                  </a:txBody>
                  <a:tcPr marL="73152" marR="54864" marT="54864" marB="36576" anchor="ctr">
                    <a:solidFill>
                      <a:srgbClr val="FFFFFF"/>
                    </a:solidFill>
                  </a:tcPr>
                </a:tc>
                <a:tc>
                  <a:txBody>
                    <a:bodyPr/>
                    <a:lstStyle/>
                    <a:p>
                      <a:r>
                        <a:rPr sz="1150" b="0">
                          <a:solidFill>
                            <a:srgbClr val="3B2A54"/>
                          </a:solidFill>
                          <a:latin typeface="Arial"/>
                        </a:rPr>
                        <a:t>Priority + measurable outcome</a:t>
                      </a:r>
                    </a:p>
                  </a:txBody>
                  <a:tcPr marL="73152" marR="54864" marT="54864" marB="36576" anchor="ctr">
                    <a:solidFill>
                      <a:srgbClr val="FFFFFF"/>
                    </a:solidFill>
                  </a:tcPr>
                </a:tc>
                <a:extLst>
                  <a:ext uri="{0D108BD9-81ED-4DB2-BD59-A6C34878D82A}">
                    <a16:rowId xmlns:a16="http://schemas.microsoft.com/office/drawing/2014/main" val="10001"/>
                  </a:ext>
                </a:extLst>
              </a:tr>
              <a:tr h="429768">
                <a:tc>
                  <a:txBody>
                    <a:bodyPr/>
                    <a:lstStyle/>
                    <a:p>
                      <a:r>
                        <a:rPr sz="1150" b="0">
                          <a:solidFill>
                            <a:srgbClr val="3B2A54"/>
                          </a:solidFill>
                          <a:latin typeface="Arial"/>
                        </a:rPr>
                        <a:t>Economic value</a:t>
                      </a:r>
                    </a:p>
                  </a:txBody>
                  <a:tcPr marL="73152" marR="54864" marT="54864" marB="36576" anchor="ctr">
                    <a:solidFill>
                      <a:srgbClr val="F3EDFA"/>
                    </a:solidFill>
                  </a:tcPr>
                </a:tc>
                <a:tc>
                  <a:txBody>
                    <a:bodyPr/>
                    <a:lstStyle/>
                    <a:p>
                      <a:r>
                        <a:rPr sz="1150" b="1">
                          <a:solidFill>
                            <a:srgbClr val="3B2A54"/>
                          </a:solidFill>
                          <a:latin typeface="Arial"/>
                        </a:rPr>
                        <a:t>30%</a:t>
                      </a:r>
                    </a:p>
                  </a:txBody>
                  <a:tcPr marL="73152" marR="54864" marT="54864" marB="36576" anchor="ctr">
                    <a:solidFill>
                      <a:srgbClr val="F3EDFA"/>
                    </a:solidFill>
                  </a:tcPr>
                </a:tc>
                <a:tc>
                  <a:txBody>
                    <a:bodyPr/>
                    <a:lstStyle/>
                    <a:p>
                      <a:r>
                        <a:rPr sz="1150" b="0">
                          <a:solidFill>
                            <a:srgbClr val="3B2A54"/>
                          </a:solidFill>
                          <a:latin typeface="Arial"/>
                        </a:rPr>
                        <a:t>NPV, payback + downside case</a:t>
                      </a:r>
                    </a:p>
                  </a:txBody>
                  <a:tcPr marL="73152" marR="54864" marT="54864" marB="36576" anchor="ctr">
                    <a:solidFill>
                      <a:srgbClr val="F3EDFA"/>
                    </a:solidFill>
                  </a:tcPr>
                </a:tc>
                <a:extLst>
                  <a:ext uri="{0D108BD9-81ED-4DB2-BD59-A6C34878D82A}">
                    <a16:rowId xmlns:a16="http://schemas.microsoft.com/office/drawing/2014/main" val="10002"/>
                  </a:ext>
                </a:extLst>
              </a:tr>
              <a:tr h="429768">
                <a:tc>
                  <a:txBody>
                    <a:bodyPr/>
                    <a:lstStyle/>
                    <a:p>
                      <a:r>
                        <a:rPr sz="1150" b="0">
                          <a:solidFill>
                            <a:srgbClr val="3B2A54"/>
                          </a:solidFill>
                          <a:latin typeface="Arial"/>
                        </a:rPr>
                        <a:t>Customer / risk impact</a:t>
                      </a:r>
                    </a:p>
                  </a:txBody>
                  <a:tcPr marL="73152" marR="54864" marT="54864" marB="36576" anchor="ctr">
                    <a:solidFill>
                      <a:srgbClr val="FFFFFF"/>
                    </a:solidFill>
                  </a:tcPr>
                </a:tc>
                <a:tc>
                  <a:txBody>
                    <a:bodyPr/>
                    <a:lstStyle/>
                    <a:p>
                      <a:r>
                        <a:rPr sz="1150" b="1">
                          <a:solidFill>
                            <a:srgbClr val="3B2A54"/>
                          </a:solidFill>
                          <a:latin typeface="Arial"/>
                        </a:rPr>
                        <a:t>20%</a:t>
                      </a:r>
                    </a:p>
                  </a:txBody>
                  <a:tcPr marL="73152" marR="54864" marT="54864" marB="36576" anchor="ctr">
                    <a:solidFill>
                      <a:srgbClr val="FFFFFF"/>
                    </a:solidFill>
                  </a:tcPr>
                </a:tc>
                <a:tc>
                  <a:txBody>
                    <a:bodyPr/>
                    <a:lstStyle/>
                    <a:p>
                      <a:r>
                        <a:rPr sz="1150" b="0">
                          <a:solidFill>
                            <a:srgbClr val="3B2A54"/>
                          </a:solidFill>
                          <a:latin typeface="Arial"/>
                        </a:rPr>
                        <a:t>Customer KPI or risk reduction</a:t>
                      </a:r>
                    </a:p>
                  </a:txBody>
                  <a:tcPr marL="73152" marR="54864" marT="54864" marB="36576" anchor="ctr">
                    <a:solidFill>
                      <a:srgbClr val="FFFFFF"/>
                    </a:solidFill>
                  </a:tcPr>
                </a:tc>
                <a:extLst>
                  <a:ext uri="{0D108BD9-81ED-4DB2-BD59-A6C34878D82A}">
                    <a16:rowId xmlns:a16="http://schemas.microsoft.com/office/drawing/2014/main" val="10003"/>
                  </a:ext>
                </a:extLst>
              </a:tr>
              <a:tr h="429768">
                <a:tc>
                  <a:txBody>
                    <a:bodyPr/>
                    <a:lstStyle/>
                    <a:p>
                      <a:r>
                        <a:rPr sz="1150" b="0">
                          <a:solidFill>
                            <a:srgbClr val="3B2A54"/>
                          </a:solidFill>
                          <a:latin typeface="Arial"/>
                        </a:rPr>
                        <a:t>Delivery confidence</a:t>
                      </a:r>
                    </a:p>
                  </a:txBody>
                  <a:tcPr marL="73152" marR="54864" marT="54864" marB="36576" anchor="ctr">
                    <a:solidFill>
                      <a:srgbClr val="F3EDFA"/>
                    </a:solidFill>
                  </a:tcPr>
                </a:tc>
                <a:tc>
                  <a:txBody>
                    <a:bodyPr/>
                    <a:lstStyle/>
                    <a:p>
                      <a:r>
                        <a:rPr sz="1150" b="1">
                          <a:solidFill>
                            <a:srgbClr val="3B2A54"/>
                          </a:solidFill>
                          <a:latin typeface="Arial"/>
                        </a:rPr>
                        <a:t>15%</a:t>
                      </a:r>
                    </a:p>
                  </a:txBody>
                  <a:tcPr marL="73152" marR="54864" marT="54864" marB="36576" anchor="ctr">
                    <a:solidFill>
                      <a:srgbClr val="F3EDFA"/>
                    </a:solidFill>
                  </a:tcPr>
                </a:tc>
                <a:tc>
                  <a:txBody>
                    <a:bodyPr/>
                    <a:lstStyle/>
                    <a:p>
                      <a:r>
                        <a:rPr sz="1150" b="0">
                          <a:solidFill>
                            <a:srgbClr val="3B2A54"/>
                          </a:solidFill>
                          <a:latin typeface="Arial"/>
                        </a:rPr>
                        <a:t>Owner, capacity + dependencies</a:t>
                      </a:r>
                    </a:p>
                  </a:txBody>
                  <a:tcPr marL="73152" marR="54864" marT="54864" marB="36576" anchor="ctr">
                    <a:solidFill>
                      <a:srgbClr val="F3EDFA"/>
                    </a:solidFill>
                  </a:tcPr>
                </a:tc>
                <a:extLst>
                  <a:ext uri="{0D108BD9-81ED-4DB2-BD59-A6C34878D82A}">
                    <a16:rowId xmlns:a16="http://schemas.microsoft.com/office/drawing/2014/main" val="10004"/>
                  </a:ext>
                </a:extLst>
              </a:tr>
              <a:tr h="429768">
                <a:tc>
                  <a:txBody>
                    <a:bodyPr/>
                    <a:lstStyle/>
                    <a:p>
                      <a:r>
                        <a:rPr sz="1150" b="0">
                          <a:solidFill>
                            <a:srgbClr val="3B2A54"/>
                          </a:solidFill>
                          <a:latin typeface="Arial"/>
                        </a:rPr>
                        <a:t>Speed to evidence</a:t>
                      </a:r>
                    </a:p>
                  </a:txBody>
                  <a:tcPr marL="73152" marR="54864" marT="54864" marB="36576" anchor="ctr">
                    <a:solidFill>
                      <a:srgbClr val="FFFFFF"/>
                    </a:solidFill>
                  </a:tcPr>
                </a:tc>
                <a:tc>
                  <a:txBody>
                    <a:bodyPr/>
                    <a:lstStyle/>
                    <a:p>
                      <a:r>
                        <a:rPr sz="1150" b="1">
                          <a:solidFill>
                            <a:srgbClr val="3B2A54"/>
                          </a:solidFill>
                          <a:latin typeface="Arial"/>
                        </a:rPr>
                        <a:t>10%</a:t>
                      </a:r>
                    </a:p>
                  </a:txBody>
                  <a:tcPr marL="73152" marR="54864" marT="54864" marB="36576" anchor="ctr">
                    <a:solidFill>
                      <a:srgbClr val="FFFFFF"/>
                    </a:solidFill>
                  </a:tcPr>
                </a:tc>
                <a:tc>
                  <a:txBody>
                    <a:bodyPr/>
                    <a:lstStyle/>
                    <a:p>
                      <a:r>
                        <a:rPr sz="1150" b="0">
                          <a:solidFill>
                            <a:srgbClr val="3B2A54"/>
                          </a:solidFill>
                          <a:latin typeface="Arial"/>
                        </a:rPr>
                        <a:t>Time and cost to validate</a:t>
                      </a:r>
                    </a:p>
                  </a:txBody>
                  <a:tcPr marL="73152" marR="54864" marT="54864" marB="36576" anchor="ctr">
                    <a:solidFill>
                      <a:srgbClr val="FFFFFF"/>
                    </a:solidFill>
                  </a:tcPr>
                </a:tc>
                <a:extLst>
                  <a:ext uri="{0D108BD9-81ED-4DB2-BD59-A6C34878D82A}">
                    <a16:rowId xmlns:a16="http://schemas.microsoft.com/office/drawing/2014/main" val="10005"/>
                  </a:ext>
                </a:extLst>
              </a:tr>
            </a:tbl>
          </a:graphicData>
        </a:graphic>
      </p:graphicFrame>
      <p:sp>
        <p:nvSpPr>
          <p:cNvPr id="17" name="TextBox 16"/>
          <p:cNvSpPr txBox="1"/>
          <p:nvPr/>
        </p:nvSpPr>
        <p:spPr>
          <a:xfrm>
            <a:off x="612648" y="5047488"/>
            <a:ext cx="5029200" cy="713232"/>
          </a:xfrm>
          <a:prstGeom prst="rect">
            <a:avLst/>
          </a:prstGeom>
          <a:noFill/>
        </p:spPr>
        <p:txBody>
          <a:bodyPr wrap="square">
            <a:spAutoFit/>
          </a:bodyPr>
          <a:lstStyle/>
          <a:p>
            <a:pPr>
              <a:spcAft>
                <a:spcPts val="300"/>
              </a:spcAft>
            </a:pPr>
            <a:r>
              <a:rPr sz="1150" b="0">
                <a:solidFill>
                  <a:srgbClr val="3B2A54"/>
                </a:solidFill>
                <a:latin typeface="Arial"/>
              </a:rPr>
              <a:t>Rate 1–5 against published anchors.</a:t>
            </a:r>
          </a:p>
          <a:p>
            <a:pPr>
              <a:spcAft>
                <a:spcPts val="300"/>
              </a:spcAft>
            </a:pPr>
            <a:r>
              <a:rPr sz="1150" b="0">
                <a:solidFill>
                  <a:srgbClr val="3B2A54"/>
                </a:solidFill>
                <a:latin typeface="Arial"/>
              </a:rPr>
              <a:t>Score / 100 = Σ(weight × rating / 5).</a:t>
            </a:r>
          </a:p>
          <a:p>
            <a:pPr>
              <a:spcAft>
                <a:spcPts val="300"/>
              </a:spcAft>
            </a:pPr>
            <a:r>
              <a:rPr sz="1150" b="0">
                <a:solidFill>
                  <a:srgbClr val="3B2A54"/>
                </a:solidFill>
                <a:latin typeface="Arial"/>
              </a:rPr>
              <a:t>Finance tests downside assumptions and ranking sensitivity.</a:t>
            </a:r>
          </a:p>
        </p:txBody>
      </p:sp>
      <p:sp>
        <p:nvSpPr>
          <p:cNvPr id="18" name="TextBox 17"/>
          <p:cNvSpPr txBox="1"/>
          <p:nvPr/>
        </p:nvSpPr>
        <p:spPr>
          <a:xfrm>
            <a:off x="5897880" y="1901952"/>
            <a:ext cx="5532120" cy="320040"/>
          </a:xfrm>
          <a:prstGeom prst="rect">
            <a:avLst/>
          </a:prstGeom>
          <a:noFill/>
        </p:spPr>
        <p:txBody>
          <a:bodyPr wrap="square">
            <a:spAutoFit/>
          </a:bodyPr>
          <a:lstStyle/>
          <a:p>
            <a:pPr>
              <a:spcAft>
                <a:spcPts val="300"/>
              </a:spcAft>
            </a:pPr>
            <a:r>
              <a:rPr sz="1000" b="1">
                <a:solidFill>
                  <a:srgbClr val="820AD1"/>
                </a:solidFill>
                <a:latin typeface="Arial"/>
              </a:rPr>
              <a:t>DECISION PROCESS  //  CLEAR OWNERSHIP</a:t>
            </a:r>
          </a:p>
        </p:txBody>
      </p:sp>
      <p:sp>
        <p:nvSpPr>
          <p:cNvPr id="19" name="TextBox 18"/>
          <p:cNvSpPr txBox="1"/>
          <p:nvPr/>
        </p:nvSpPr>
        <p:spPr>
          <a:xfrm>
            <a:off x="5897880" y="2331720"/>
            <a:ext cx="5532120" cy="274320"/>
          </a:xfrm>
          <a:prstGeom prst="rect">
            <a:avLst/>
          </a:prstGeom>
          <a:noFill/>
        </p:spPr>
        <p:txBody>
          <a:bodyPr wrap="square">
            <a:spAutoFit/>
          </a:bodyPr>
          <a:lstStyle/>
          <a:p>
            <a:pPr>
              <a:spcAft>
                <a:spcPts val="300"/>
              </a:spcAft>
            </a:pPr>
            <a:r>
              <a:rPr sz="1400" b="1">
                <a:solidFill>
                  <a:srgbClr val="820AD1"/>
                </a:solidFill>
                <a:latin typeface="Arial"/>
              </a:rPr>
              <a:t>1  Intake and hard gates</a:t>
            </a:r>
          </a:p>
        </p:txBody>
      </p:sp>
      <p:sp>
        <p:nvSpPr>
          <p:cNvPr id="20" name="TextBox 19"/>
          <p:cNvSpPr txBox="1"/>
          <p:nvPr/>
        </p:nvSpPr>
        <p:spPr>
          <a:xfrm>
            <a:off x="5897880" y="2615184"/>
            <a:ext cx="5532120" cy="446276"/>
          </a:xfrm>
          <a:prstGeom prst="rect">
            <a:avLst/>
          </a:prstGeom>
          <a:noFill/>
        </p:spPr>
        <p:txBody>
          <a:bodyPr wrap="square">
            <a:spAutoFit/>
          </a:bodyPr>
          <a:lstStyle/>
          <a:p>
            <a:pPr>
              <a:spcAft>
                <a:spcPts val="300"/>
              </a:spcAft>
            </a:pPr>
            <a:r>
              <a:rPr sz="1150" b="0" dirty="0">
                <a:solidFill>
                  <a:srgbClr val="3B2A54"/>
                </a:solidFill>
                <a:latin typeface="Arial"/>
              </a:rPr>
              <a:t>Business + Local Finance submit one case: full cost, baseline, alternatives and benefit owner. Legal / Risk validate mandatory scope </a:t>
            </a:r>
            <a:r>
              <a:rPr lang="en-US" sz="1150" b="0" dirty="0">
                <a:solidFill>
                  <a:srgbClr val="3B2A54"/>
                </a:solidFill>
                <a:latin typeface="Arial"/>
              </a:rPr>
              <a:t>when applicable.</a:t>
            </a:r>
            <a:endParaRPr sz="1150" b="0" dirty="0">
              <a:solidFill>
                <a:srgbClr val="3B2A54"/>
              </a:solidFill>
              <a:latin typeface="Arial"/>
            </a:endParaRPr>
          </a:p>
        </p:txBody>
      </p:sp>
      <p:sp>
        <p:nvSpPr>
          <p:cNvPr id="21" name="TextBox 20"/>
          <p:cNvSpPr txBox="1"/>
          <p:nvPr/>
        </p:nvSpPr>
        <p:spPr>
          <a:xfrm>
            <a:off x="5897880" y="3163824"/>
            <a:ext cx="5532120" cy="274320"/>
          </a:xfrm>
          <a:prstGeom prst="rect">
            <a:avLst/>
          </a:prstGeom>
          <a:noFill/>
        </p:spPr>
        <p:txBody>
          <a:bodyPr wrap="square">
            <a:spAutoFit/>
          </a:bodyPr>
          <a:lstStyle/>
          <a:p>
            <a:pPr>
              <a:spcAft>
                <a:spcPts val="300"/>
              </a:spcAft>
            </a:pPr>
            <a:r>
              <a:rPr sz="1400" b="1">
                <a:solidFill>
                  <a:srgbClr val="820AD1"/>
                </a:solidFill>
                <a:latin typeface="Arial"/>
              </a:rPr>
              <a:t>2  Challenge and rank</a:t>
            </a:r>
          </a:p>
        </p:txBody>
      </p:sp>
      <p:sp>
        <p:nvSpPr>
          <p:cNvPr id="22" name="TextBox 21"/>
          <p:cNvSpPr txBox="1"/>
          <p:nvPr/>
        </p:nvSpPr>
        <p:spPr>
          <a:xfrm>
            <a:off x="5897880" y="3447288"/>
            <a:ext cx="5532120" cy="521207"/>
          </a:xfrm>
          <a:prstGeom prst="rect">
            <a:avLst/>
          </a:prstGeom>
          <a:noFill/>
        </p:spPr>
        <p:txBody>
          <a:bodyPr wrap="square">
            <a:spAutoFit/>
          </a:bodyPr>
          <a:lstStyle/>
          <a:p>
            <a:pPr>
              <a:spcAft>
                <a:spcPts val="300"/>
              </a:spcAft>
            </a:pPr>
            <a:r>
              <a:rPr sz="1150" b="0">
                <a:solidFill>
                  <a:srgbClr val="3B2A54"/>
                </a:solidFill>
                <a:latin typeface="Arial"/>
              </a:rPr>
              <a:t>Global Planning calibrates scores </a:t>
            </a:r>
            <a:r>
              <a:rPr lang="en-US" sz="1150" b="0">
                <a:solidFill>
                  <a:srgbClr val="3B2A54"/>
                </a:solidFill>
                <a:latin typeface="Arial"/>
              </a:rPr>
              <a:t>across markets. Compare core and new bets </a:t>
            </a:r>
            <a:r>
              <a:rPr sz="1150" b="0">
                <a:solidFill>
                  <a:srgbClr val="3B2A54"/>
                </a:solidFill>
                <a:latin typeface="Arial"/>
              </a:rPr>
              <a:t>within agreed envelopes using </a:t>
            </a:r>
            <a:r>
              <a:rPr lang="en-US" sz="1150" b="0">
                <a:solidFill>
                  <a:srgbClr val="3B2A54"/>
                </a:solidFill>
                <a:latin typeface="Arial"/>
              </a:rPr>
              <a:t>horizon-appropriate </a:t>
            </a:r>
            <a:r>
              <a:rPr sz="1150" b="0">
                <a:solidFill>
                  <a:srgbClr val="3B2A54"/>
                </a:solidFill>
                <a:latin typeface="Arial"/>
              </a:rPr>
              <a:t>KPIs.</a:t>
            </a:r>
          </a:p>
        </p:txBody>
      </p:sp>
      <p:sp>
        <p:nvSpPr>
          <p:cNvPr id="23" name="TextBox 22"/>
          <p:cNvSpPr txBox="1"/>
          <p:nvPr/>
        </p:nvSpPr>
        <p:spPr>
          <a:xfrm>
            <a:off x="5897880" y="3995928"/>
            <a:ext cx="5532120" cy="274320"/>
          </a:xfrm>
          <a:prstGeom prst="rect">
            <a:avLst/>
          </a:prstGeom>
          <a:noFill/>
        </p:spPr>
        <p:txBody>
          <a:bodyPr wrap="square">
            <a:spAutoFit/>
          </a:bodyPr>
          <a:lstStyle/>
          <a:p>
            <a:pPr>
              <a:spcAft>
                <a:spcPts val="300"/>
              </a:spcAft>
            </a:pPr>
            <a:r>
              <a:rPr sz="1400" b="1">
                <a:solidFill>
                  <a:srgbClr val="820AD1"/>
                </a:solidFill>
                <a:latin typeface="Arial"/>
              </a:rPr>
              <a:t>3  Decide and release</a:t>
            </a:r>
          </a:p>
        </p:txBody>
      </p:sp>
      <p:sp>
        <p:nvSpPr>
          <p:cNvPr id="24" name="TextBox 23"/>
          <p:cNvSpPr txBox="1"/>
          <p:nvPr/>
        </p:nvSpPr>
        <p:spPr>
          <a:xfrm>
            <a:off x="5897880" y="4279392"/>
            <a:ext cx="5532120" cy="446276"/>
          </a:xfrm>
          <a:prstGeom prst="rect">
            <a:avLst/>
          </a:prstGeom>
          <a:noFill/>
        </p:spPr>
        <p:txBody>
          <a:bodyPr wrap="square">
            <a:spAutoFit/>
          </a:bodyPr>
          <a:lstStyle/>
          <a:p>
            <a:pPr>
              <a:spcAft>
                <a:spcPts val="300"/>
              </a:spcAft>
            </a:pPr>
            <a:r>
              <a:rPr sz="1150" b="0" dirty="0">
                <a:solidFill>
                  <a:srgbClr val="3B2A54"/>
                </a:solidFill>
                <a:latin typeface="Arial"/>
              </a:rPr>
              <a:t>CFO approves within delegation and the cap. CEO resolves strategic trade-offs. </a:t>
            </a:r>
            <a:r>
              <a:rPr lang="en-US" sz="1150" b="0" dirty="0" err="1">
                <a:solidFill>
                  <a:srgbClr val="3B2A54"/>
                </a:solidFill>
                <a:latin typeface="Arial"/>
              </a:rPr>
              <a:t>CoS</a:t>
            </a:r>
            <a:r>
              <a:rPr lang="en-US" sz="1150" b="0" dirty="0">
                <a:solidFill>
                  <a:srgbClr val="3B2A54"/>
                </a:solidFill>
                <a:latin typeface="Arial"/>
              </a:rPr>
              <a:t> &amp; </a:t>
            </a:r>
            <a:r>
              <a:rPr lang="en-US" sz="1150" dirty="0">
                <a:solidFill>
                  <a:srgbClr val="3B2A54"/>
                </a:solidFill>
                <a:latin typeface="Arial"/>
              </a:rPr>
              <a:t>CG </a:t>
            </a:r>
            <a:r>
              <a:rPr lang="en-US" sz="1150" b="0" dirty="0">
                <a:solidFill>
                  <a:srgbClr val="3B2A54"/>
                </a:solidFill>
                <a:latin typeface="Arial"/>
              </a:rPr>
              <a:t>r</a:t>
            </a:r>
            <a:r>
              <a:rPr sz="1150" b="0" dirty="0">
                <a:solidFill>
                  <a:srgbClr val="3B2A54"/>
                </a:solidFill>
                <a:latin typeface="Arial"/>
              </a:rPr>
              <a:t>ecord</a:t>
            </a:r>
            <a:r>
              <a:rPr lang="en-US" sz="1150" b="0" dirty="0">
                <a:solidFill>
                  <a:srgbClr val="3B2A54"/>
                </a:solidFill>
                <a:latin typeface="Arial"/>
              </a:rPr>
              <a:t>s</a:t>
            </a:r>
            <a:r>
              <a:rPr sz="1150" b="0" dirty="0">
                <a:solidFill>
                  <a:srgbClr val="3B2A54"/>
                </a:solidFill>
                <a:latin typeface="Arial"/>
              </a:rPr>
              <a:t> rationale, dissent and next-gate KPIs.</a:t>
            </a:r>
          </a:p>
        </p:txBody>
      </p:sp>
      <p:sp>
        <p:nvSpPr>
          <p:cNvPr id="25" name="TextBox 24"/>
          <p:cNvSpPr txBox="1"/>
          <p:nvPr/>
        </p:nvSpPr>
        <p:spPr>
          <a:xfrm>
            <a:off x="5897880" y="4828031"/>
            <a:ext cx="5532120" cy="274320"/>
          </a:xfrm>
          <a:prstGeom prst="rect">
            <a:avLst/>
          </a:prstGeom>
          <a:noFill/>
        </p:spPr>
        <p:txBody>
          <a:bodyPr wrap="square">
            <a:spAutoFit/>
          </a:bodyPr>
          <a:lstStyle/>
          <a:p>
            <a:pPr>
              <a:spcAft>
                <a:spcPts val="300"/>
              </a:spcAft>
            </a:pPr>
            <a:r>
              <a:rPr sz="1400" b="1">
                <a:solidFill>
                  <a:srgbClr val="820AD1"/>
                </a:solidFill>
                <a:latin typeface="Arial"/>
              </a:rPr>
              <a:t>4  Track and reallocate</a:t>
            </a:r>
          </a:p>
        </p:txBody>
      </p:sp>
      <p:sp>
        <p:nvSpPr>
          <p:cNvPr id="26" name="TextBox 25"/>
          <p:cNvSpPr txBox="1"/>
          <p:nvPr/>
        </p:nvSpPr>
        <p:spPr>
          <a:xfrm>
            <a:off x="5897880" y="5111495"/>
            <a:ext cx="5532120" cy="446276"/>
          </a:xfrm>
          <a:prstGeom prst="rect">
            <a:avLst/>
          </a:prstGeom>
          <a:noFill/>
        </p:spPr>
        <p:txBody>
          <a:bodyPr wrap="square">
            <a:spAutoFit/>
          </a:bodyPr>
          <a:lstStyle/>
          <a:p>
            <a:pPr>
              <a:spcAft>
                <a:spcPts val="300"/>
              </a:spcAft>
            </a:pPr>
            <a:r>
              <a:rPr lang="en-US" sz="1150" b="0">
                <a:solidFill>
                  <a:srgbClr val="3B2A54"/>
                </a:solidFill>
                <a:latin typeface="Arial"/>
              </a:rPr>
              <a:t>Owners report actual spend and benefits </a:t>
            </a:r>
            <a:r>
              <a:rPr sz="1150" b="0">
                <a:solidFill>
                  <a:srgbClr val="3B2A54"/>
                </a:solidFill>
                <a:latin typeface="Arial"/>
              </a:rPr>
              <a:t>monthly. </a:t>
            </a:r>
            <a:r>
              <a:rPr lang="en-US" sz="1150" b="0">
                <a:solidFill>
                  <a:srgbClr val="3B2A54"/>
                </a:solidFill>
                <a:latin typeface="Arial"/>
              </a:rPr>
              <a:t>Global Planning consolidates and reviews </a:t>
            </a:r>
            <a:r>
              <a:rPr sz="1150" b="0">
                <a:solidFill>
                  <a:srgbClr val="3B2A54"/>
                </a:solidFill>
                <a:latin typeface="Arial"/>
              </a:rPr>
              <a:t>quarterly</a:t>
            </a:r>
            <a:r>
              <a:rPr lang="en-US" sz="1150" b="0">
                <a:solidFill>
                  <a:srgbClr val="3B2A54"/>
                </a:solidFill>
                <a:latin typeface="Arial"/>
              </a:rPr>
              <a:t> with CFO, which decides further releases / deployments.</a:t>
            </a:r>
            <a:endParaRPr sz="1150" b="0" dirty="0">
              <a:solidFill>
                <a:srgbClr val="3B2A54"/>
              </a:solidFill>
              <a:latin typeface="Arial"/>
            </a:endParaRPr>
          </a:p>
        </p:txBody>
      </p:sp>
      <p:sp>
        <p:nvSpPr>
          <p:cNvPr id="27" name="TextBox 26"/>
          <p:cNvSpPr txBox="1"/>
          <p:nvPr/>
        </p:nvSpPr>
        <p:spPr>
          <a:xfrm>
            <a:off x="612648" y="6016752"/>
            <a:ext cx="10652760" cy="230832"/>
          </a:xfrm>
          <a:prstGeom prst="rect">
            <a:avLst/>
          </a:prstGeom>
          <a:noFill/>
        </p:spPr>
        <p:txBody>
          <a:bodyPr wrap="square">
            <a:spAutoFit/>
          </a:bodyPr>
          <a:lstStyle/>
          <a:p>
            <a:pPr>
              <a:spcAft>
                <a:spcPts val="300"/>
              </a:spcAft>
            </a:pPr>
            <a:r>
              <a:rPr lang="en-US" sz="900" b="0">
                <a:solidFill>
                  <a:srgbClr val="6B5B82"/>
                </a:solidFill>
                <a:latin typeface="Arial"/>
              </a:rPr>
              <a:t>Proposal: </a:t>
            </a:r>
            <a:r>
              <a:rPr sz="900" b="0">
                <a:solidFill>
                  <a:srgbClr val="6B5B82"/>
                </a:solidFill>
                <a:latin typeface="Arial"/>
              </a:rPr>
              <a:t>weights</a:t>
            </a:r>
            <a:r>
              <a:rPr lang="en-US" sz="900" b="0">
                <a:solidFill>
                  <a:srgbClr val="6B5B82"/>
                </a:solidFill>
                <a:latin typeface="Arial"/>
              </a:rPr>
              <a:t> and cadence require CFO agreement</a:t>
            </a:r>
            <a:r>
              <a:rPr sz="900" b="0">
                <a:solidFill>
                  <a:srgbClr val="6B5B82"/>
                </a:solidFill>
                <a:latin typeface="Arial"/>
              </a:rPr>
              <a:t>. Method</a:t>
            </a:r>
            <a:r>
              <a:rPr lang="en-US" sz="900" b="0">
                <a:solidFill>
                  <a:srgbClr val="6B5B82"/>
                </a:solidFill>
                <a:latin typeface="Arial"/>
              </a:rPr>
              <a:t> draws on</a:t>
            </a:r>
            <a:r>
              <a:rPr sz="900" b="0">
                <a:solidFill>
                  <a:srgbClr val="6B5B82"/>
                </a:solidFill>
                <a:latin typeface="Arial"/>
              </a:rPr>
              <a:t> </a:t>
            </a:r>
            <a:r>
              <a:rPr sz="900" b="0" dirty="0">
                <a:solidFill>
                  <a:srgbClr val="6B5B82"/>
                </a:solidFill>
                <a:latin typeface="Arial"/>
              </a:rPr>
              <a:t>McKinsey capital-allocation guidance (2023, </a:t>
            </a:r>
            <a:r>
              <a:rPr sz="900" b="0">
                <a:solidFill>
                  <a:srgbClr val="6B5B82"/>
                </a:solidFill>
                <a:latin typeface="Arial"/>
              </a:rPr>
              <a:t>2024).</a:t>
            </a:r>
            <a:r>
              <a:rPr lang="en-US" sz="900" b="0">
                <a:solidFill>
                  <a:srgbClr val="6B5B82"/>
                </a:solidFill>
                <a:latin typeface="Arial"/>
              </a:rPr>
              <a:t> </a:t>
            </a:r>
            <a:endParaRPr sz="900" b="0" dirty="0">
              <a:solidFill>
                <a:srgbClr val="6B5B82"/>
              </a:solidFill>
              <a:latin typeface="Arial"/>
            </a:endParaRPr>
          </a:p>
        </p:txBody>
      </p:sp>
    </p:spTree>
    <p:extLst>
      <p:ext uri="{BB962C8B-B14F-4D97-AF65-F5344CB8AC3E}">
        <p14:creationId xmlns:p14="http://schemas.microsoft.com/office/powerpoint/2010/main" val="4069620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SCHEDULING</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Proposed path</a:t>
            </a:r>
            <a:r>
              <a:rPr sz="2400" b="1" dirty="0">
                <a:solidFill>
                  <a:srgbClr val="11052C"/>
                </a:solidFill>
                <a:latin typeface="Arial"/>
              </a:rPr>
              <a:t>: fund now</a:t>
            </a:r>
            <a:r>
              <a:rPr lang="en-US" sz="2400" b="1" dirty="0">
                <a:solidFill>
                  <a:srgbClr val="11052C"/>
                </a:solidFill>
                <a:latin typeface="Arial"/>
              </a:rPr>
              <a:t> +</a:t>
            </a:r>
            <a:r>
              <a:rPr sz="2400" b="1" dirty="0">
                <a:solidFill>
                  <a:srgbClr val="11052C"/>
                </a:solidFill>
                <a:latin typeface="Arial"/>
              </a:rPr>
              <a:t> stage, </a:t>
            </a:r>
            <a:r>
              <a:rPr lang="en-US" sz="2400" b="1" dirty="0">
                <a:solidFill>
                  <a:srgbClr val="11052C"/>
                </a:solidFill>
                <a:latin typeface="Arial"/>
              </a:rPr>
              <a:t>assess</a:t>
            </a:r>
            <a:r>
              <a:rPr sz="2400" b="1" dirty="0">
                <a:solidFill>
                  <a:srgbClr val="11052C"/>
                </a:solidFill>
                <a:latin typeface="Arial"/>
              </a:rPr>
              <a:t>, </a:t>
            </a:r>
            <a:r>
              <a:rPr lang="en-US" sz="2400" b="1" dirty="0">
                <a:solidFill>
                  <a:srgbClr val="11052C"/>
                </a:solidFill>
                <a:latin typeface="Arial"/>
              </a:rPr>
              <a:t>go/no-go</a:t>
            </a:r>
            <a:endParaRPr sz="2400" b="1" dirty="0">
              <a:solidFill>
                <a:srgbClr val="11052C"/>
              </a:solidFill>
              <a:latin typeface="Arial"/>
            </a:endParaRPr>
          </a:p>
        </p:txBody>
      </p:sp>
      <p:graphicFrame>
        <p:nvGraphicFramePr>
          <p:cNvPr id="4" name="Chart 3" descr="Chart"/>
          <p:cNvGraphicFramePr>
            <a:graphicFrameLocks noGrp="1"/>
          </p:cNvGraphicFramePr>
          <p:nvPr>
            <p:extLst>
              <p:ext uri="{D42A27DB-BD31-4B8C-83A1-F6EECF244321}">
                <p14:modId xmlns:p14="http://schemas.microsoft.com/office/powerpoint/2010/main" val="2512678745"/>
              </p:ext>
            </p:extLst>
          </p:nvPr>
        </p:nvGraphicFramePr>
        <p:xfrm>
          <a:off x="457200" y="1645920"/>
          <a:ext cx="603504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6675120" y="1645920"/>
            <a:ext cx="4754880" cy="13258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784848" y="1755648"/>
            <a:ext cx="4535424" cy="1170432"/>
          </a:xfrm>
          <a:prstGeom prst="rect">
            <a:avLst/>
          </a:prstGeom>
          <a:noFill/>
        </p:spPr>
        <p:txBody>
          <a:bodyPr wrap="square" anchor="t">
            <a:spAutoFit/>
          </a:bodyPr>
          <a:lstStyle/>
          <a:p>
            <a:pPr algn="l">
              <a:spcAft>
                <a:spcPts val="300"/>
              </a:spcAft>
            </a:pPr>
            <a:r>
              <a:rPr sz="950" b="1" dirty="0">
                <a:solidFill>
                  <a:srgbClr val="820AD1"/>
                </a:solidFill>
                <a:latin typeface="Arial"/>
              </a:rPr>
              <a:t>FUND NOW  //  FIRST RELEASE</a:t>
            </a:r>
            <a:r>
              <a:rPr lang="en-US" sz="950" b="1" dirty="0">
                <a:solidFill>
                  <a:srgbClr val="820AD1"/>
                </a:solidFill>
                <a:latin typeface="Arial"/>
              </a:rPr>
              <a:t> 1Q</a:t>
            </a:r>
            <a:r>
              <a:rPr sz="950" b="1" dirty="0">
                <a:solidFill>
                  <a:srgbClr val="820AD1"/>
                </a:solidFill>
                <a:latin typeface="Arial"/>
              </a:rPr>
              <a:t>27</a:t>
            </a:r>
            <a:r>
              <a:rPr lang="en-US" sz="950" b="1" dirty="0">
                <a:solidFill>
                  <a:srgbClr val="820AD1"/>
                </a:solidFill>
                <a:latin typeface="Arial"/>
              </a:rPr>
              <a:t>, SECOND RELEASE 2Q27</a:t>
            </a:r>
            <a:endParaRPr sz="950" b="1" dirty="0">
              <a:solidFill>
                <a:srgbClr val="820AD1"/>
              </a:solidFill>
              <a:latin typeface="Arial"/>
            </a:endParaRPr>
          </a:p>
          <a:p>
            <a:pPr algn="l">
              <a:spcAft>
                <a:spcPts val="600"/>
              </a:spcAft>
            </a:pPr>
            <a:r>
              <a:rPr sz="1600" b="1" dirty="0">
                <a:solidFill>
                  <a:srgbClr val="11052C"/>
                </a:solidFill>
                <a:latin typeface="Arial"/>
              </a:rPr>
              <a:t>$</a:t>
            </a:r>
            <a:r>
              <a:rPr lang="en-US" sz="1600" b="1" dirty="0">
                <a:solidFill>
                  <a:srgbClr val="11052C"/>
                </a:solidFill>
                <a:latin typeface="Arial"/>
              </a:rPr>
              <a:t>1</a:t>
            </a:r>
            <a:r>
              <a:rPr sz="1600" b="1" dirty="0">
                <a:solidFill>
                  <a:srgbClr val="11052C"/>
                </a:solidFill>
                <a:latin typeface="Arial"/>
              </a:rPr>
              <a:t>5M</a:t>
            </a:r>
            <a:r>
              <a:rPr lang="en-US" sz="1600" b="1" dirty="0">
                <a:solidFill>
                  <a:srgbClr val="11052C"/>
                </a:solidFill>
                <a:latin typeface="Arial"/>
              </a:rPr>
              <a:t> - </a:t>
            </a:r>
            <a:r>
              <a:rPr sz="1200" b="0" dirty="0">
                <a:solidFill>
                  <a:srgbClr val="3B2A54"/>
                </a:solidFill>
                <a:latin typeface="Arial"/>
              </a:rPr>
              <a:t>$10.5M to core markets (70%) and $4.5M to new bets (30%), for cases vetted</a:t>
            </a:r>
            <a:r>
              <a:rPr lang="en-US" sz="1200" b="0" dirty="0">
                <a:solidFill>
                  <a:srgbClr val="3B2A54"/>
                </a:solidFill>
                <a:latin typeface="Arial"/>
              </a:rPr>
              <a:t> through the proposed methodology.</a:t>
            </a:r>
          </a:p>
          <a:p>
            <a:pPr>
              <a:spcAft>
                <a:spcPts val="600"/>
              </a:spcAft>
            </a:pPr>
            <a:r>
              <a:rPr lang="en-US" sz="1600" b="1" dirty="0">
                <a:solidFill>
                  <a:srgbClr val="11052C"/>
                </a:solidFill>
                <a:latin typeface="Arial"/>
              </a:rPr>
              <a:t>$10M </a:t>
            </a:r>
            <a:r>
              <a:rPr lang="en-US" sz="1200" b="1" dirty="0">
                <a:solidFill>
                  <a:srgbClr val="3B2A54"/>
                </a:solidFill>
                <a:latin typeface="Arial"/>
              </a:rPr>
              <a:t>- </a:t>
            </a:r>
            <a:r>
              <a:rPr lang="en-US" sz="1200" dirty="0">
                <a:solidFill>
                  <a:srgbClr val="3B2A54"/>
                </a:solidFill>
                <a:latin typeface="Arial"/>
              </a:rPr>
              <a:t>Second release to asks for Business where Q1 results support additional investment, decided on Q1 data.</a:t>
            </a:r>
          </a:p>
        </p:txBody>
      </p:sp>
      <p:sp>
        <p:nvSpPr>
          <p:cNvPr id="7" name="Rounded Rectangle 6"/>
          <p:cNvSpPr/>
          <p:nvPr/>
        </p:nvSpPr>
        <p:spPr>
          <a:xfrm>
            <a:off x="6675120" y="3063240"/>
            <a:ext cx="4754880" cy="17830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784848" y="3172968"/>
            <a:ext cx="4535424" cy="1627632"/>
          </a:xfrm>
          <a:prstGeom prst="rect">
            <a:avLst/>
          </a:prstGeom>
          <a:noFill/>
        </p:spPr>
        <p:txBody>
          <a:bodyPr wrap="square" anchor="t">
            <a:spAutoFit/>
          </a:bodyPr>
          <a:lstStyle/>
          <a:p>
            <a:pPr algn="l">
              <a:spcAft>
                <a:spcPts val="300"/>
              </a:spcAft>
            </a:pPr>
            <a:r>
              <a:rPr sz="950" b="1" dirty="0">
                <a:solidFill>
                  <a:srgbClr val="820AD1"/>
                </a:solidFill>
                <a:latin typeface="Arial"/>
              </a:rPr>
              <a:t>STAGE-GATE  //  </a:t>
            </a:r>
            <a:r>
              <a:rPr lang="en-US" sz="950" b="1" dirty="0">
                <a:solidFill>
                  <a:srgbClr val="820AD1"/>
                </a:solidFill>
                <a:latin typeface="Arial"/>
              </a:rPr>
              <a:t>LATE FISCAL YEAR </a:t>
            </a:r>
            <a:r>
              <a:rPr sz="950" b="1" dirty="0">
                <a:solidFill>
                  <a:srgbClr val="820AD1"/>
                </a:solidFill>
                <a:latin typeface="Arial"/>
              </a:rPr>
              <a:t>RELEASE, </a:t>
            </a:r>
            <a:r>
              <a:rPr lang="en-US" sz="950" b="1" dirty="0">
                <a:solidFill>
                  <a:srgbClr val="820AD1"/>
                </a:solidFill>
                <a:latin typeface="Arial"/>
              </a:rPr>
              <a:t>3Q-4Q27</a:t>
            </a:r>
            <a:endParaRPr sz="950" b="1" dirty="0">
              <a:solidFill>
                <a:srgbClr val="820AD1"/>
              </a:solidFill>
              <a:latin typeface="Arial"/>
            </a:endParaRPr>
          </a:p>
          <a:p>
            <a:pPr algn="l">
              <a:spcAft>
                <a:spcPts val="600"/>
              </a:spcAft>
            </a:pPr>
            <a:r>
              <a:rPr sz="1600" b="1" dirty="0">
                <a:solidFill>
                  <a:srgbClr val="11052C"/>
                </a:solidFill>
                <a:latin typeface="Arial"/>
              </a:rPr>
              <a:t>$25M</a:t>
            </a:r>
            <a:endParaRPr sz="1200" b="0" dirty="0">
              <a:solidFill>
                <a:srgbClr val="3B2A54"/>
              </a:solidFill>
              <a:latin typeface="Arial"/>
            </a:endParaRPr>
            <a:r>
              <a:rPr sz="1200" b="0" dirty="0">
                <a:solidFill>
                  <a:srgbClr val="11052C"/>
                </a:solidFill>
                <a:latin typeface="Arial"/>
              </a:rPr>
              <a:t> - Released to Business units on track to beat the FY27 plan, decided at the H1 close on H1 data: only from profit above plan, inside the efficiency-ratio guide in force, with NPL 90+ on plan (the CFO decides; Risk can block). Remedial spend for units behind plan goes to the MTeam, with CFO prioritization.</a:t>
            </a:r>
          </a:p>
        </p:txBody>
      </p:sp>
      <p:sp>
        <p:nvSpPr>
          <p:cNvPr id="9" name="Rounded Rectangle 8"/>
          <p:cNvSpPr/>
          <p:nvPr/>
        </p:nvSpPr>
        <p:spPr>
          <a:xfrm>
            <a:off x="6675120" y="4937760"/>
            <a:ext cx="4754880" cy="1005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784848" y="5047488"/>
            <a:ext cx="4535424" cy="850392"/>
          </a:xfrm>
          <a:prstGeom prst="rect">
            <a:avLst/>
          </a:prstGeom>
          <a:noFill/>
        </p:spPr>
        <p:txBody>
          <a:bodyPr wrap="square" anchor="t">
            <a:spAutoFit/>
          </a:bodyPr>
          <a:lstStyle/>
          <a:p>
            <a:pPr algn="l">
              <a:spcAft>
                <a:spcPts val="300"/>
              </a:spcAft>
            </a:pPr>
            <a:r>
              <a:rPr sz="950" b="1" dirty="0">
                <a:solidFill>
                  <a:srgbClr val="D97706"/>
                </a:solidFill>
                <a:latin typeface="Arial"/>
              </a:rPr>
              <a:t>DEFER  //  </a:t>
            </a:r>
            <a:r>
              <a:rPr lang="en-US" sz="950" b="1" dirty="0">
                <a:solidFill>
                  <a:srgbClr val="D97706"/>
                </a:solidFill>
                <a:latin typeface="Arial"/>
              </a:rPr>
              <a:t>Q4 </a:t>
            </a:r>
            <a:r>
              <a:rPr sz="950" b="1" dirty="0">
                <a:solidFill>
                  <a:srgbClr val="D97706"/>
                </a:solidFill>
                <a:latin typeface="Arial"/>
              </a:rPr>
              <a:t>RESERVE</a:t>
            </a:r>
          </a:p>
          <a:p>
            <a:pPr algn="l">
              <a:spcAft>
                <a:spcPts val="600"/>
              </a:spcAft>
            </a:pPr>
            <a:r>
              <a:rPr sz="1600" b="1" dirty="0">
                <a:solidFill>
                  <a:srgbClr val="11052C"/>
                </a:solidFill>
                <a:latin typeface="Arial"/>
              </a:rPr>
              <a:t>$10M</a:t>
            </a:r>
            <a:endParaRPr sz="1200" b="0" dirty="0">
              <a:solidFill>
                <a:srgbClr val="3B2A54"/>
              </a:solidFill>
              <a:latin typeface="Arial"/>
            </a:endParaRPr>
            <a:r>
              <a:rPr sz="1200" b="0" dirty="0">
                <a:solidFill>
                  <a:srgbClr val="11052C"/>
                </a:solidFill>
                <a:latin typeface="Arial"/>
              </a:rPr>
              <a:t> - Set aside for strategic imperatives, special projects, regulatory requirements or similar extraordinary escalation factors, and deployed after MTeam validation.</a:t>
            </a:r>
          </a:p>
        </p:txBody>
      </p:sp>
      <p:sp>
        <p:nvSpPr>
          <p:cNvPr id="12" name="TextBox 11"/>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7</a:t>
            </a:r>
            <a:endParaRPr sz="900" b="0">
              <a:solidFill>
                <a:srgbClr val="6B5B82"/>
              </a:solidFill>
              <a:latin typeface="Arial"/>
            </a:endParaRPr>
          </a:p>
        </p:txBody>
      </p:sp>
      <p:sp>
        <p:nvSpPr>
          <p:cNvPr id="13" name="TextBox 12"/>
          <p:cNvSpPr txBox="1"/>
          <p:nvPr/>
        </p:nvSpPr>
        <p:spPr>
          <a:xfrm>
            <a:off x="612648" y="6035040"/>
            <a:ext cx="10515600" cy="457200"/>
          </a:xfrm>
          <a:prstGeom prst="rect">
            <a:avLst/>
          </a:prstGeom>
          <a:noFill/>
        </p:spPr>
        <p:txBody>
          <a:bodyPr wrap="square">
            <a:spAutoFit/>
          </a:bodyPr>
          <a:lstStyle/>
          <a:p>
            <a:r>
              <a:rPr sz="900">
                <a:solidFill>
                  <a:srgbClr val="6B5B82"/>
                </a:solidFill>
                <a:latin typeface="Arial"/>
              </a:rPr>
              <a:t>The two releases ($25M) are the cap. The 2H checkpoint (up to $25M) and the reserve ($10M) sit outside the plan and open only on the conditions stated, so every dollar of the $60M has a path. The 70/30 split follows mature cohorts: ~$31 of monthly ARPAC at eight years against $17.1 for the group (Q1'26 cohort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err="1">
                <a:solidFill>
                  <a:srgbClr val="11052C"/>
                </a:solidFill>
                <a:latin typeface="Arial"/>
              </a:rPr>
              <a:t>CoS</a:t>
            </a:r>
            <a:r>
              <a:rPr sz="2400" b="1" dirty="0">
                <a:solidFill>
                  <a:srgbClr val="11052C"/>
                </a:solidFill>
                <a:latin typeface="Arial"/>
              </a:rPr>
              <a:t> &amp; CG</a:t>
            </a:r>
            <a:r>
              <a:rPr lang="en-US" sz="2400" b="1" dirty="0">
                <a:solidFill>
                  <a:srgbClr val="11052C"/>
                </a:solidFill>
                <a:latin typeface="Arial"/>
              </a:rPr>
              <a:t>: Ways of Working</a:t>
            </a:r>
            <a:endParaRPr sz="2400" b="1" dirty="0">
              <a:solidFill>
                <a:srgbClr val="11052C"/>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8</a:t>
            </a:r>
          </a:p>
        </p:txBody>
      </p:sp>
      <p:sp>
        <p:nvSpPr>
          <p:cNvPr id="16" name="TextBox 15"/>
          <p:cNvSpPr txBox="1"/>
          <p:nvPr/>
        </p:nvSpPr>
        <p:spPr>
          <a:xfrm>
            <a:off x="612648" y="1116119"/>
            <a:ext cx="10789920" cy="575542"/>
          </a:xfrm>
          <a:prstGeom prst="rect">
            <a:avLst/>
          </a:prstGeom>
          <a:noFill/>
        </p:spPr>
        <p:txBody>
          <a:bodyPr wrap="square">
            <a:spAutoFit/>
          </a:bodyPr>
          <a:lstStyle/>
          <a:p>
            <a:pPr>
              <a:spcAft>
                <a:spcPts val="300"/>
              </a:spcAft>
            </a:pPr>
            <a:r>
              <a:rPr sz="1400" b="1">
                <a:solidFill>
                  <a:srgbClr val="820AD1"/>
                </a:solidFill>
                <a:latin typeface="Arial"/>
              </a:rPr>
              <a:t>The CoS &amp; CG lead drives alignment and resolves executive differences; the team registers Board decisions, tracks progress and consolidates data and insights from Business Units.</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endParaRPr sz="1400" b="1" dirty="0">
              <a:solidFill>
                <a:srgbClr val="820AD1"/>
              </a:solidFill>
              <a:latin typeface="Arial"/>
            </a:endParaRPr>
          </a:p>
        </p:txBody>
      </p:sp>
      <p:sp>
        <p:nvSpPr>
          <p:cNvPr id="17" name="TextBox 16"/>
          <p:cNvSpPr txBox="1"/>
          <p:nvPr/>
        </p:nvSpPr>
        <p:spPr>
          <a:xfrm>
            <a:off x="612648" y="1917450"/>
            <a:ext cx="3383280" cy="246221"/>
          </a:xfrm>
          <a:prstGeom prst="rect">
            <a:avLst/>
          </a:prstGeom>
          <a:noFill/>
        </p:spPr>
        <p:txBody>
          <a:bodyPr wrap="square">
            <a:spAutoFit/>
          </a:bodyPr>
          <a:lstStyle/>
          <a:p>
            <a:pPr>
              <a:spcAft>
                <a:spcPts val="300"/>
              </a:spcAft>
            </a:pPr>
            <a:r>
              <a:rPr lang="en-US" sz="1000" b="1" dirty="0">
                <a:solidFill>
                  <a:srgbClr val="820AD1"/>
                </a:solidFill>
                <a:latin typeface="Arial"/>
              </a:rPr>
              <a:t>ACCOUNTABILITY</a:t>
            </a:r>
            <a:endParaRPr sz="1000" b="1" dirty="0">
              <a:solidFill>
                <a:srgbClr val="820AD1"/>
              </a:solidFill>
              <a:latin typeface="Arial"/>
            </a:endParaRPr>
          </a:p>
        </p:txBody>
      </p:sp>
      <p:sp>
        <p:nvSpPr>
          <p:cNvPr id="18" name="TextBox 17"/>
          <p:cNvSpPr txBox="1"/>
          <p:nvPr/>
        </p:nvSpPr>
        <p:spPr>
          <a:xfrm>
            <a:off x="612648" y="2180718"/>
            <a:ext cx="3337560" cy="292608"/>
          </a:xfrm>
          <a:prstGeom prst="rect">
            <a:avLst/>
          </a:prstGeom>
          <a:noFill/>
        </p:spPr>
        <p:txBody>
          <a:bodyPr wrap="square">
            <a:spAutoFit/>
          </a:bodyPr>
          <a:lstStyle/>
          <a:p>
            <a:pPr>
              <a:spcAft>
                <a:spcPts val="300"/>
              </a:spcAft>
            </a:pPr>
            <a:r>
              <a:rPr sz="1400" b="1">
                <a:solidFill>
                  <a:srgbClr val="820AD1"/>
                </a:solidFill>
                <a:latin typeface="Arial"/>
              </a:rPr>
              <a:t>CoS &amp; CG lead</a:t>
            </a:r>
          </a:p>
        </p:txBody>
      </p:sp>
      <p:sp>
        <p:nvSpPr>
          <p:cNvPr id="19" name="TextBox 18"/>
          <p:cNvSpPr txBox="1"/>
          <p:nvPr/>
        </p:nvSpPr>
        <p:spPr>
          <a:xfrm>
            <a:off x="612648" y="2411334"/>
            <a:ext cx="3337560" cy="623248"/>
          </a:xfrm>
          <a:prstGeom prst="rect">
            <a:avLst/>
          </a:prstGeom>
          <a:noFill/>
        </p:spPr>
        <p:txBody>
          <a:bodyPr wrap="square">
            <a:spAutoFit/>
          </a:bodyPr>
          <a:lstStyle/>
          <a:p>
            <a:pPr>
              <a:spcAft>
                <a:spcPts val="300"/>
              </a:spcAft>
            </a:pPr>
            <a:r>
              <a:rPr lang="en-US" sz="1150" dirty="0">
                <a:solidFill>
                  <a:srgbClr val="3B2A54"/>
                </a:solidFill>
                <a:latin typeface="Arial"/>
              </a:rPr>
              <a:t>Fosters </a:t>
            </a:r>
            <a:r>
              <a:rPr lang="en-US" sz="1150" b="0" dirty="0">
                <a:solidFill>
                  <a:srgbClr val="3B2A54"/>
                </a:solidFill>
                <a:latin typeface="Arial"/>
              </a:rPr>
              <a:t>alignment </a:t>
            </a:r>
            <a:r>
              <a:rPr sz="1150" b="0" dirty="0">
                <a:solidFill>
                  <a:srgbClr val="3B2A54"/>
                </a:solidFill>
                <a:latin typeface="Arial"/>
              </a:rPr>
              <a:t>with </a:t>
            </a:r>
            <a:r>
              <a:rPr lang="en-US" sz="1150" b="0" dirty="0">
                <a:solidFill>
                  <a:srgbClr val="3B2A54"/>
                </a:solidFill>
                <a:latin typeface="Arial"/>
              </a:rPr>
              <a:t>executives before formal decisions. Takes unresolved </a:t>
            </a:r>
            <a:r>
              <a:rPr sz="1150" b="0" dirty="0">
                <a:solidFill>
                  <a:srgbClr val="3B2A54"/>
                </a:solidFill>
                <a:latin typeface="Arial"/>
              </a:rPr>
              <a:t>trade-offs to the </a:t>
            </a:r>
            <a:r>
              <a:rPr lang="en-US" sz="1150" b="0" dirty="0">
                <a:solidFill>
                  <a:srgbClr val="3B2A54"/>
                </a:solidFill>
                <a:latin typeface="Arial"/>
              </a:rPr>
              <a:t>CFO, always with a recommendation</a:t>
            </a:r>
            <a:r>
              <a:rPr sz="1150" b="0" dirty="0">
                <a:solidFill>
                  <a:srgbClr val="3B2A54"/>
                </a:solidFill>
                <a:latin typeface="Arial"/>
              </a:rPr>
              <a:t>.</a:t>
            </a:r>
          </a:p>
        </p:txBody>
      </p:sp>
      <p:sp>
        <p:nvSpPr>
          <p:cNvPr id="20" name="TextBox 19"/>
          <p:cNvSpPr txBox="1"/>
          <p:nvPr/>
        </p:nvSpPr>
        <p:spPr>
          <a:xfrm>
            <a:off x="612648" y="3031110"/>
            <a:ext cx="3337560" cy="307777"/>
          </a:xfrm>
          <a:prstGeom prst="rect">
            <a:avLst/>
          </a:prstGeom>
          <a:noFill/>
        </p:spPr>
        <p:txBody>
          <a:bodyPr wrap="square">
            <a:spAutoFit/>
          </a:bodyPr>
          <a:lstStyle/>
          <a:p>
            <a:pPr>
              <a:spcAft>
                <a:spcPts val="300"/>
              </a:spcAft>
            </a:pPr>
            <a:r>
              <a:rPr lang="en-US" sz="1400" b="1">
                <a:solidFill>
                  <a:srgbClr val="820AD1"/>
                </a:solidFill>
                <a:latin typeface="Arial"/>
              </a:rPr>
              <a:t>Core team</a:t>
            </a:r>
            <a:endParaRPr sz="1400" b="1">
              <a:solidFill>
                <a:srgbClr val="820AD1"/>
              </a:solidFill>
              <a:latin typeface="Arial"/>
            </a:endParaRPr>
          </a:p>
        </p:txBody>
      </p:sp>
      <p:sp>
        <p:nvSpPr>
          <p:cNvPr id="21" name="TextBox 20"/>
          <p:cNvSpPr txBox="1"/>
          <p:nvPr/>
        </p:nvSpPr>
        <p:spPr>
          <a:xfrm>
            <a:off x="612648" y="3266892"/>
            <a:ext cx="3337560" cy="623248"/>
          </a:xfrm>
          <a:prstGeom prst="rect">
            <a:avLst/>
          </a:prstGeom>
          <a:noFill/>
        </p:spPr>
        <p:txBody>
          <a:bodyPr wrap="square">
            <a:spAutoFit/>
          </a:bodyPr>
          <a:lstStyle/>
          <a:p>
            <a:pPr>
              <a:spcAft>
                <a:spcPts val="300"/>
              </a:spcAft>
            </a:pPr>
            <a:r>
              <a:rPr lang="en-US" sz="1150" b="0">
                <a:solidFill>
                  <a:srgbClr val="3B2A54"/>
                </a:solidFill>
                <a:latin typeface="Arial"/>
              </a:rPr>
              <a:t>Runs the calendar. Prepares briefs and tracks actions. Leverages AI Agents for efficiency. Liaises with Country</a:t>
            </a:r>
            <a:r>
              <a:rPr lang="en-US" sz="1150" b="0" dirty="0">
                <a:solidFill>
                  <a:srgbClr val="3B2A54"/>
                </a:solidFill>
                <a:latin typeface="Arial"/>
              </a:rPr>
              <a:t>/</a:t>
            </a:r>
            <a:r>
              <a:rPr lang="en-US" sz="1150" b="0">
                <a:solidFill>
                  <a:srgbClr val="3B2A54"/>
                </a:solidFill>
                <a:latin typeface="Arial"/>
              </a:rPr>
              <a:t>BU teams.</a:t>
            </a:r>
            <a:endParaRPr sz="1150" b="0" dirty="0">
              <a:solidFill>
                <a:srgbClr val="3B2A54"/>
              </a:solidFill>
              <a:latin typeface="Arial"/>
            </a:endParaRPr>
          </a:p>
        </p:txBody>
      </p:sp>
      <p:sp>
        <p:nvSpPr>
          <p:cNvPr id="22" name="TextBox 21"/>
          <p:cNvSpPr txBox="1"/>
          <p:nvPr/>
        </p:nvSpPr>
        <p:spPr>
          <a:xfrm>
            <a:off x="612648" y="3881502"/>
            <a:ext cx="3337560" cy="292608"/>
          </a:xfrm>
          <a:prstGeom prst="rect">
            <a:avLst/>
          </a:prstGeom>
          <a:noFill/>
        </p:spPr>
        <p:txBody>
          <a:bodyPr wrap="square">
            <a:spAutoFit/>
          </a:bodyPr>
          <a:lstStyle/>
          <a:p>
            <a:pPr>
              <a:spcAft>
                <a:spcPts val="300"/>
              </a:spcAft>
            </a:pPr>
            <a:r>
              <a:rPr sz="1400" b="1">
                <a:solidFill>
                  <a:srgbClr val="820AD1"/>
                </a:solidFill>
                <a:latin typeface="Arial"/>
              </a:rPr>
              <a:t>Decision rights</a:t>
            </a:r>
          </a:p>
        </p:txBody>
      </p:sp>
      <p:sp>
        <p:nvSpPr>
          <p:cNvPr id="23" name="TextBox 22"/>
          <p:cNvSpPr txBox="1"/>
          <p:nvPr/>
        </p:nvSpPr>
        <p:spPr>
          <a:xfrm>
            <a:off x="612648" y="4096620"/>
            <a:ext cx="3337560" cy="623248"/>
          </a:xfrm>
          <a:prstGeom prst="rect">
            <a:avLst/>
          </a:prstGeom>
          <a:noFill/>
        </p:spPr>
        <p:txBody>
          <a:bodyPr wrap="square">
            <a:spAutoFit/>
          </a:bodyPr>
          <a:lstStyle/>
          <a:p>
            <a:pPr>
              <a:spcAft>
                <a:spcPts val="300"/>
              </a:spcAft>
            </a:pPr>
            <a:r>
              <a:rPr sz="1150" b="0" dirty="0">
                <a:solidFill>
                  <a:srgbClr val="3B2A54"/>
                </a:solidFill>
                <a:latin typeface="Arial"/>
              </a:rPr>
              <a:t>Executives </a:t>
            </a:r>
            <a:r>
              <a:rPr sz="1150" b="0">
                <a:solidFill>
                  <a:srgbClr val="3B2A54"/>
                </a:solidFill>
                <a:latin typeface="Arial"/>
              </a:rPr>
              <a:t>own </a:t>
            </a:r>
            <a:r>
              <a:rPr lang="en-US" sz="1150" b="0">
                <a:solidFill>
                  <a:srgbClr val="3B2A54"/>
                </a:solidFill>
                <a:latin typeface="Arial"/>
              </a:rPr>
              <a:t>the content</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Chair </a:t>
            </a:r>
            <a:r>
              <a:rPr sz="1150" b="0" dirty="0">
                <a:solidFill>
                  <a:srgbClr val="3B2A54"/>
                </a:solidFill>
                <a:latin typeface="Arial"/>
              </a:rPr>
              <a:t>approves the agenda</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Secretary </a:t>
            </a:r>
            <a:r>
              <a:rPr lang="en-US" sz="1150" b="0">
                <a:solidFill>
                  <a:srgbClr val="3B2A54"/>
                </a:solidFill>
                <a:latin typeface="Arial"/>
              </a:rPr>
              <a:t>manages </a:t>
            </a:r>
            <a:r>
              <a:rPr sz="1150" b="0">
                <a:solidFill>
                  <a:srgbClr val="3B2A54"/>
                </a:solidFill>
                <a:latin typeface="Arial"/>
              </a:rPr>
              <a:t>formal </a:t>
            </a:r>
            <a:r>
              <a:rPr lang="en-US" sz="1150" b="0">
                <a:solidFill>
                  <a:srgbClr val="3B2A54"/>
                </a:solidFill>
                <a:latin typeface="Arial"/>
              </a:rPr>
              <a:t>governance</a:t>
            </a:r>
            <a:r>
              <a:rPr sz="1150" b="0">
                <a:solidFill>
                  <a:srgbClr val="3B2A54"/>
                </a:solidFill>
                <a:latin typeface="Arial"/>
              </a:rPr>
              <a:t> </a:t>
            </a:r>
            <a:r>
              <a:rPr sz="1150" b="0" dirty="0">
                <a:solidFill>
                  <a:srgbClr val="3B2A54"/>
                </a:solidFill>
                <a:latin typeface="Arial"/>
              </a:rPr>
              <a:t>and </a:t>
            </a:r>
            <a:r>
              <a:rPr sz="1150" b="0">
                <a:solidFill>
                  <a:srgbClr val="3B2A54"/>
                </a:solidFill>
                <a:latin typeface="Arial"/>
              </a:rPr>
              <a:t>minutes.</a:t>
            </a:r>
            <a:r>
              <a:rPr lang="en-US" sz="1150" b="0">
                <a:solidFill>
                  <a:srgbClr val="3B2A54"/>
                </a:solidFill>
                <a:latin typeface="Arial"/>
              </a:rPr>
              <a:t> The CoS &amp; CG team reports.</a:t>
            </a:r>
            <a:endParaRPr sz="1150" b="0" dirty="0">
              <a:solidFill>
                <a:srgbClr val="3B2A54"/>
              </a:solidFill>
              <a:latin typeface="Arial"/>
            </a:endParaRPr>
          </a:p>
        </p:txBody>
      </p:sp>
      <p:sp>
        <p:nvSpPr>
          <p:cNvPr id="24" name="TextBox 23"/>
          <p:cNvSpPr txBox="1"/>
          <p:nvPr/>
        </p:nvSpPr>
        <p:spPr>
          <a:xfrm>
            <a:off x="4233672" y="1917450"/>
            <a:ext cx="7196328" cy="246221"/>
          </a:xfrm>
          <a:prstGeom prst="rect">
            <a:avLst/>
          </a:prstGeom>
          <a:noFill/>
        </p:spPr>
        <p:txBody>
          <a:bodyPr wrap="square">
            <a:spAutoFit/>
          </a:bodyPr>
          <a:lstStyle/>
          <a:p>
            <a:pPr>
              <a:spcAft>
                <a:spcPts val="300"/>
              </a:spcAft>
            </a:pPr>
            <a:r>
              <a:rPr lang="en-US" sz="1000" b="1">
                <a:solidFill>
                  <a:srgbClr val="820AD1"/>
                </a:solidFill>
                <a:latin typeface="Arial"/>
              </a:rPr>
              <a:t>WORKING </a:t>
            </a:r>
            <a:r>
              <a:rPr sz="1000" b="1">
                <a:solidFill>
                  <a:srgbClr val="820AD1"/>
                </a:solidFill>
                <a:latin typeface="Arial"/>
              </a:rPr>
              <a:t>CADENCE</a:t>
            </a:r>
          </a:p>
        </p:txBody>
      </p:sp>
      <p:graphicFrame>
        <p:nvGraphicFramePr>
          <p:cNvPr id="25" name="Table 24"/>
          <p:cNvGraphicFramePr>
            <a:graphicFrameLocks noGrp="1"/>
          </p:cNvGraphicFramePr>
          <p:nvPr>
            <p:extLst>
              <p:ext uri="{D42A27DB-BD31-4B8C-83A1-F6EECF244321}">
                <p14:modId xmlns:p14="http://schemas.microsoft.com/office/powerpoint/2010/main" val="1592995659"/>
              </p:ext>
            </p:extLst>
          </p:nvPr>
        </p:nvGraphicFramePr>
        <p:xfrm>
          <a:off x="4325112" y="2180718"/>
          <a:ext cx="7013448" cy="2532888"/>
        </p:xfrm>
        <a:graphic>
          <a:graphicData uri="http://schemas.openxmlformats.org/drawingml/2006/table">
            <a:tbl>
              <a:tblPr firstRow="1" bandRow="1">
                <a:tableStyleId>{5C22544A-7EE6-4342-B048-85BDC9FD1C3A}</a:tableStyleId>
              </a:tblPr>
              <a:tblGrid>
                <a:gridCol w="1078992">
                  <a:extLst>
                    <a:ext uri="{9D8B030D-6E8A-4147-A177-3AD203B41FA5}">
                      <a16:colId xmlns:a16="http://schemas.microsoft.com/office/drawing/2014/main" val="20000"/>
                    </a:ext>
                  </a:extLst>
                </a:gridCol>
                <a:gridCol w="2359152">
                  <a:extLst>
                    <a:ext uri="{9D8B030D-6E8A-4147-A177-3AD203B41FA5}">
                      <a16:colId xmlns:a16="http://schemas.microsoft.com/office/drawing/2014/main" val="20001"/>
                    </a:ext>
                  </a:extLst>
                </a:gridCol>
                <a:gridCol w="3575304">
                  <a:extLst>
                    <a:ext uri="{9D8B030D-6E8A-4147-A177-3AD203B41FA5}">
                      <a16:colId xmlns:a16="http://schemas.microsoft.com/office/drawing/2014/main" val="20002"/>
                    </a:ext>
                  </a:extLst>
                </a:gridCol>
              </a:tblGrid>
              <a:tr h="393192">
                <a:tc>
                  <a:txBody>
                    <a:bodyPr/>
                    <a:lstStyle/>
                    <a:p>
                      <a:r>
                        <a:rPr lang="en-US" sz="1150" b="1">
                          <a:solidFill>
                            <a:srgbClr val="FFFFFF"/>
                          </a:solidFill>
                          <a:latin typeface="Arial"/>
                        </a:rPr>
                        <a:t>When</a:t>
                      </a:r>
                    </a:p>
                  </a:txBody>
                  <a:tcPr marL="73152" marR="73152" anchor="ctr">
                    <a:solidFill>
                      <a:srgbClr val="820AD1"/>
                    </a:solidFill>
                  </a:tcPr>
                </a:tc>
                <a:tc>
                  <a:txBody>
                    <a:bodyPr/>
                    <a:lstStyle/>
                    <a:p>
                      <a:r>
                        <a:rPr lang="en-US" sz="1150" b="1" dirty="0">
                          <a:solidFill>
                            <a:srgbClr val="FFFFFF"/>
                          </a:solidFill>
                          <a:latin typeface="Arial"/>
                        </a:rPr>
                        <a:t>Who</a:t>
                      </a:r>
                    </a:p>
                  </a:txBody>
                  <a:tcPr marL="73152" marR="73152" anchor="ctr">
                    <a:solidFill>
                      <a:srgbClr val="820AD1"/>
                    </a:solidFill>
                  </a:tcPr>
                </a:tc>
                <a:tc>
                  <a:txBody>
                    <a:bodyPr/>
                    <a:lstStyle/>
                    <a:p>
                      <a:r>
                        <a:rPr lang="en-US" sz="1150" b="1">
                          <a:solidFill>
                            <a:srgbClr val="FFFFFF"/>
                          </a:solidFill>
                          <a:latin typeface="Arial"/>
                        </a:rPr>
                        <a:t>Purpose / deliverable</a:t>
                      </a:r>
                    </a:p>
                  </a:txBody>
                  <a:tcPr marL="73152" marR="73152" anchor="ctr">
                    <a:solidFill>
                      <a:srgbClr val="820AD1"/>
                    </a:solidFill>
                  </a:tcPr>
                </a:tc>
                <a:extLst>
                  <a:ext uri="{0D108BD9-81ED-4DB2-BD59-A6C34878D82A}">
                    <a16:rowId xmlns:a16="http://schemas.microsoft.com/office/drawing/2014/main" val="10000"/>
                  </a:ext>
                </a:extLst>
              </a:tr>
              <a:tr h="534924">
                <a:tc>
                  <a:txBody>
                    <a:bodyPr/>
                    <a:lstStyle/>
                    <a:p>
                      <a:r>
                        <a:rPr sz="1150" b="1">
                          <a:solidFill>
                            <a:srgbClr val="3B2A54"/>
                          </a:solidFill>
                          <a:latin typeface="Arial"/>
                        </a:rPr>
                        <a:t>Weekly</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FFFFF"/>
                    </a:solidFill>
                  </a:tcPr>
                </a:tc>
                <a:tc>
                  <a:txBody>
                    <a:bodyPr/>
                    <a:lstStyle/>
                    <a:p>
                      <a:r>
                        <a:rPr lang="en-US" sz="1150" b="0" dirty="0">
                          <a:solidFill>
                            <a:srgbClr val="3B2A54"/>
                          </a:solidFill>
                          <a:latin typeface="Arial"/>
                        </a:rPr>
                        <a:t>Alignment on strategic topics, Finance management agenda, </a:t>
                      </a:r>
                      <a:r>
                        <a:rPr lang="en-US" sz="1150" b="0" dirty="0" err="1">
                          <a:solidFill>
                            <a:srgbClr val="3B2A54"/>
                          </a:solidFill>
                          <a:latin typeface="Arial"/>
                        </a:rPr>
                        <a:t>MTeam</a:t>
                      </a:r>
                      <a:r>
                        <a:rPr lang="en-US" sz="1150" b="0" dirty="0">
                          <a:solidFill>
                            <a:srgbClr val="3B2A54"/>
                          </a:solidFill>
                          <a:latin typeface="Arial"/>
                        </a:rPr>
                        <a:t> / Board priorities</a:t>
                      </a:r>
                    </a:p>
                  </a:txBody>
                  <a:tcPr marL="73152" marR="73152" anchor="ctr">
                    <a:solidFill>
                      <a:srgbClr val="FFFFFF"/>
                    </a:solidFill>
                  </a:tcPr>
                </a:tc>
                <a:extLst>
                  <a:ext uri="{0D108BD9-81ED-4DB2-BD59-A6C34878D82A}">
                    <a16:rowId xmlns:a16="http://schemas.microsoft.com/office/drawing/2014/main" val="10001"/>
                  </a:ext>
                </a:extLst>
              </a:tr>
              <a:tr h="534924">
                <a:tc>
                  <a:txBody>
                    <a:bodyPr/>
                    <a:lstStyle/>
                    <a:p>
                      <a:r>
                        <a:rPr sz="1150" b="1" dirty="0">
                          <a:solidFill>
                            <a:srgbClr val="3B2A54"/>
                          </a:solidFill>
                          <a:latin typeface="Arial"/>
                        </a:rPr>
                        <a:t>Monthly</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 + GMs</a:t>
                      </a:r>
                    </a:p>
                  </a:txBody>
                  <a:tcPr marL="73152" marR="73152" anchor="ctr">
                    <a:solidFill>
                      <a:srgbClr val="F3EDFA"/>
                    </a:solidFill>
                  </a:tcPr>
                </a:tc>
                <a:tc>
                  <a:txBody>
                    <a:bodyPr/>
                    <a:lstStyle/>
                    <a:p>
                      <a:r>
                        <a:rPr lang="en-US" sz="1150" b="0" dirty="0">
                          <a:solidFill>
                            <a:srgbClr val="3B2A54"/>
                          </a:solidFill>
                          <a:latin typeface="Arial"/>
                        </a:rPr>
                        <a:t>Discuss topics, pending points and decisions needed for the next two Board meetings.</a:t>
                      </a:r>
                    </a:p>
                  </a:txBody>
                  <a:tcPr marL="73152" marR="73152" anchor="ctr">
                    <a:solidFill>
                      <a:srgbClr val="F3EDFA"/>
                    </a:solidFill>
                  </a:tcPr>
                </a:tc>
                <a:extLst>
                  <a:ext uri="{0D108BD9-81ED-4DB2-BD59-A6C34878D82A}">
                    <a16:rowId xmlns:a16="http://schemas.microsoft.com/office/drawing/2014/main" val="10002"/>
                  </a:ext>
                </a:extLst>
              </a:tr>
              <a:tr h="534924">
                <a:tc>
                  <a:txBody>
                    <a:bodyPr/>
                    <a:lstStyle/>
                    <a:p>
                      <a:r>
                        <a:rPr lang="en-US" sz="1150" b="1" dirty="0">
                          <a:solidFill>
                            <a:srgbClr val="3B2A54"/>
                          </a:solidFill>
                          <a:latin typeface="Arial"/>
                        </a:rPr>
                        <a:t>Before Board</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team + Finance teams</a:t>
                      </a:r>
                    </a:p>
                  </a:txBody>
                  <a:tcPr marL="73152" marR="73152" anchor="ctr">
                    <a:solidFill>
                      <a:srgbClr val="FFFFFF"/>
                    </a:solidFill>
                  </a:tcPr>
                </a:tc>
                <a:tc>
                  <a:txBody>
                    <a:bodyPr/>
                    <a:lstStyle/>
                    <a:p>
                      <a:r>
                        <a:rPr lang="en-US" sz="1150" b="0">
                          <a:solidFill>
                            <a:srgbClr val="3B2A54"/>
                          </a:solidFill>
                          <a:latin typeface="Arial"/>
                        </a:rPr>
                        <a:t>See proposed prep schedule: T−28 scope, T−16 resolve differences, T−10 final inputs, T−7 publish.</a:t>
                      </a:r>
                      <a:endParaRPr lang="en-US" sz="1150" b="0" dirty="0">
                        <a:solidFill>
                          <a:srgbClr val="3B2A54"/>
                        </a:solidFill>
                        <a:latin typeface="Arial"/>
                      </a:endParaRPr>
                    </a:p>
                  </a:txBody>
                  <a:tcPr marL="73152" marR="73152" anchor="ctr">
                    <a:solidFill>
                      <a:srgbClr val="FFFFFF"/>
                    </a:solidFill>
                  </a:tcPr>
                </a:tc>
                <a:extLst>
                  <a:ext uri="{0D108BD9-81ED-4DB2-BD59-A6C34878D82A}">
                    <a16:rowId xmlns:a16="http://schemas.microsoft.com/office/drawing/2014/main" val="10003"/>
                  </a:ext>
                </a:extLst>
              </a:tr>
              <a:tr h="534924">
                <a:tc>
                  <a:txBody>
                    <a:bodyPr/>
                    <a:lstStyle/>
                    <a:p>
                      <a:r>
                        <a:rPr lang="en-US" sz="1150" b="1">
                          <a:solidFill>
                            <a:srgbClr val="3B2A54"/>
                          </a:solidFill>
                          <a:latin typeface="Arial"/>
                        </a:rPr>
                        <a:t>After Board</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3EDFA"/>
                    </a:solidFill>
                  </a:tcPr>
                </a:tc>
                <a:tc>
                  <a:txBody>
                    <a:bodyPr/>
                    <a:lstStyle/>
                    <a:p>
                      <a:r>
                        <a:rPr lang="en-US" sz="1150" b="0" dirty="0">
                          <a:solidFill>
                            <a:srgbClr val="3B2A54"/>
                          </a:solidFill>
                          <a:latin typeface="Arial"/>
                        </a:rPr>
                        <a:t>Within 5 working days, confirm actions and dates, and provide progress reports on strategic items.</a:t>
                      </a:r>
                    </a:p>
                  </a:txBody>
                  <a:tcPr marL="73152" marR="73152" anchor="ctr">
                    <a:solidFill>
                      <a:srgbClr val="F3EDFA"/>
                    </a:solidFill>
                  </a:tcPr>
                </a:tc>
                <a:extLst>
                  <a:ext uri="{0D108BD9-81ED-4DB2-BD59-A6C34878D82A}">
                    <a16:rowId xmlns:a16="http://schemas.microsoft.com/office/drawing/2014/main" val="10004"/>
                  </a:ext>
                </a:extLst>
              </a:tr>
            </a:tbl>
          </a:graphicData>
        </a:graphic>
      </p:graphicFrame>
      <p:sp>
        <p:nvSpPr>
          <p:cNvPr id="26" name="Rounded Rectangle 11"/>
          <p:cNvSpPr/>
          <p:nvPr/>
        </p:nvSpPr>
        <p:spPr>
          <a:xfrm>
            <a:off x="612648" y="5074920"/>
            <a:ext cx="10789920" cy="8686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95528" y="5250726"/>
            <a:ext cx="10424160" cy="561692"/>
          </a:xfrm>
          <a:prstGeom prst="rect">
            <a:avLst/>
          </a:prstGeom>
          <a:noFill/>
        </p:spPr>
        <p:txBody>
          <a:bodyPr wrap="square">
            <a:spAutoFit/>
          </a:bodyPr>
          <a:lstStyle/>
          <a:p>
            <a:pPr>
              <a:spcAft>
                <a:spcPts val="300"/>
              </a:spcAft>
            </a:pPr>
            <a:r>
              <a:rPr lang="en-US" sz="1400" b="1" dirty="0">
                <a:solidFill>
                  <a:srgbClr val="FFFFFF"/>
                </a:solidFill>
                <a:latin typeface="Arial"/>
              </a:rPr>
              <a:t>Each meeting has an executive </a:t>
            </a:r>
            <a:r>
              <a:rPr sz="1400" b="1" dirty="0">
                <a:solidFill>
                  <a:srgbClr val="FFFFFF"/>
                </a:solidFill>
                <a:latin typeface="Arial"/>
              </a:rPr>
              <a:t>sponsor, </a:t>
            </a:r>
            <a:r>
              <a:rPr lang="en-US" sz="1400" b="1" dirty="0">
                <a:solidFill>
                  <a:srgbClr val="FFFFFF"/>
                </a:solidFill>
                <a:latin typeface="Arial"/>
              </a:rPr>
              <a:t>an agenda</a:t>
            </a:r>
            <a:r>
              <a:rPr sz="1400" b="1" dirty="0">
                <a:solidFill>
                  <a:srgbClr val="FFFFFF"/>
                </a:solidFill>
                <a:latin typeface="Arial"/>
              </a:rPr>
              <a:t>, </a:t>
            </a:r>
            <a:r>
              <a:rPr lang="en-US" sz="1400" b="1" dirty="0">
                <a:solidFill>
                  <a:srgbClr val="FFFFFF"/>
                </a:solidFill>
                <a:latin typeface="Arial"/>
              </a:rPr>
              <a:t>a meeting cadence and decision tracking.</a:t>
            </a:r>
          </a:p>
          <a:p>
            <a:pPr>
              <a:spcAft>
                <a:spcPts val="300"/>
              </a:spcAft>
            </a:pPr>
            <a:r>
              <a:rPr lang="en-US" sz="1400" b="1" dirty="0">
                <a:solidFill>
                  <a:srgbClr val="FFFFFF"/>
                </a:solidFill>
                <a:latin typeface="Arial"/>
              </a:rPr>
              <a:t>Action items have an owner and </a:t>
            </a:r>
            <a:r>
              <a:rPr sz="1400" b="1" dirty="0">
                <a:solidFill>
                  <a:srgbClr val="FFFFFF"/>
                </a:solidFill>
                <a:latin typeface="Arial"/>
              </a:rPr>
              <a:t>due date.</a:t>
            </a:r>
            <a:r>
              <a:rPr lang="en-US" sz="1400" b="1" dirty="0">
                <a:solidFill>
                  <a:srgbClr val="FFFFFF"/>
                </a:solidFill>
                <a:latin typeface="Arial"/>
              </a:rPr>
              <a:t> The team flags delays weekly; material issues get escalated </a:t>
            </a:r>
            <a:r>
              <a:rPr sz="1400" b="1" dirty="0">
                <a:solidFill>
                  <a:srgbClr val="FFFFFF"/>
                </a:solidFill>
                <a:latin typeface="Arial"/>
              </a:rPr>
              <a:t>to the CFO</a:t>
            </a:r>
            <a:r>
              <a:rPr lang="en-US" sz="1400" b="1" dirty="0">
                <a:solidFill>
                  <a:srgbClr val="FFFFFF"/>
                </a:solidFill>
                <a:latin typeface="Arial"/>
              </a:rPr>
              <a:t>.</a:t>
            </a:r>
            <a:endParaRPr sz="1400" b="1" dirty="0">
              <a:solidFill>
                <a:srgbClr val="FFFFFF"/>
              </a:solidFill>
              <a:latin typeface="Arial"/>
            </a:endParaRPr>
          </a:p>
        </p:txBody>
      </p:sp>
      <p:sp>
        <p:nvSpPr>
          <p:cNvPr id="30" name="TextBox 29"/>
          <p:cNvSpPr txBox="1"/>
          <p:nvPr/>
        </p:nvSpPr>
        <p:spPr>
          <a:xfrm>
            <a:off x="612648" y="6355080"/>
            <a:ext cx="10515600" cy="228600"/>
          </a:xfrm>
          <a:prstGeom prst="rect">
            <a:avLst/>
          </a:prstGeom>
          <a:noFill/>
        </p:spPr>
        <p:txBody>
          <a:bodyPr wrap="square">
            <a:spAutoFit/>
          </a:bodyPr>
          <a:lstStyle/>
          <a:p>
            <a:pPr>
              <a:spcAft>
                <a:spcPts val="300"/>
              </a:spcAft>
            </a:pPr>
            <a:r>
              <a:rPr lang="en-US" sz="850" b="0">
                <a:solidFill>
                  <a:srgbClr val="6B5B82"/>
                </a:solidFill>
                <a:latin typeface="Arial"/>
              </a:rPr>
              <a:t>Proposed operating model</a:t>
            </a:r>
            <a:r>
              <a:rPr sz="850" b="0">
                <a:solidFill>
                  <a:srgbClr val="6B5B82"/>
                </a:solidFill>
                <a:latin typeface="Arial"/>
              </a:rPr>
              <a:t>. Advisory basis: McKinsey (2023) and DirectorPrep (2024).</a:t>
            </a:r>
            <a:r>
              <a:rPr lang="en-US" sz="850" b="0">
                <a:solidFill>
                  <a:srgbClr val="6B5B82"/>
                </a:solidFill>
                <a:latin typeface="Arial"/>
              </a:rPr>
              <a:t> T = Board meeting date.</a:t>
            </a:r>
            <a:endParaRPr sz="850" b="0">
              <a:solidFill>
                <a:srgbClr val="6B5B82"/>
              </a:solidFill>
              <a:latin typeface="Arial"/>
            </a:endParaRPr>
          </a:p>
        </p:txBody>
      </p:sp>
    </p:spTree>
    <p:extLst>
      <p:ext uri="{BB962C8B-B14F-4D97-AF65-F5344CB8AC3E}">
        <p14:creationId xmlns:p14="http://schemas.microsoft.com/office/powerpoint/2010/main" val="1708049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Board Prep Target: </a:t>
            </a:r>
            <a:r>
              <a:rPr sz="2400" b="1" dirty="0">
                <a:solidFill>
                  <a:srgbClr val="11052C"/>
                </a:solidFill>
                <a:latin typeface="Arial"/>
              </a:rPr>
              <a:t>Every quarter the book goes out 7</a:t>
            </a:r>
            <a:r>
              <a:rPr lang="en-US" sz="2400" b="1" dirty="0">
                <a:solidFill>
                  <a:srgbClr val="11052C"/>
                </a:solidFill>
                <a:latin typeface="Arial"/>
              </a:rPr>
              <a:t>d </a:t>
            </a:r>
            <a:r>
              <a:rPr sz="2400" b="1" dirty="0">
                <a:solidFill>
                  <a:srgbClr val="11052C"/>
                </a:solidFill>
                <a:latin typeface="Arial"/>
              </a:rPr>
              <a:t>before the Board</a:t>
            </a:r>
          </a:p>
        </p:txBody>
      </p:sp>
      <p:sp>
        <p:nvSpPr>
          <p:cNvPr id="4" name="TextBox 3"/>
          <p:cNvSpPr txBox="1"/>
          <p:nvPr/>
        </p:nvSpPr>
        <p:spPr>
          <a:xfrm>
            <a:off x="612648" y="1328722"/>
            <a:ext cx="10789920" cy="276999"/>
          </a:xfrm>
          <a:prstGeom prst="rect">
            <a:avLst/>
          </a:prstGeom>
          <a:noFill/>
        </p:spPr>
        <p:txBody>
          <a:bodyPr wrap="square" anchor="t">
            <a:spAutoFit/>
          </a:bodyPr>
          <a:lstStyle/>
          <a:p>
            <a:pPr algn="l"/>
            <a:r>
              <a:rPr lang="en-US" sz="1200" b="1" dirty="0">
                <a:solidFill>
                  <a:srgbClr val="11052C"/>
                </a:solidFill>
                <a:latin typeface="Arial"/>
              </a:rPr>
              <a:t>Hypotheses on w</a:t>
            </a:r>
            <a:r>
              <a:rPr sz="1200" b="1" dirty="0">
                <a:solidFill>
                  <a:srgbClr val="11052C"/>
                </a:solidFill>
                <a:latin typeface="Arial"/>
              </a:rPr>
              <a:t>hy the book is late: </a:t>
            </a:r>
            <a:r>
              <a:rPr sz="1200" b="0" dirty="0">
                <a:solidFill>
                  <a:srgbClr val="11052C"/>
                </a:solidFill>
                <a:latin typeface="Arial"/>
              </a:rPr>
              <a:t>no </a:t>
            </a:r>
            <a:r>
              <a:rPr lang="en-US" sz="1200" b="0" dirty="0">
                <a:solidFill>
                  <a:srgbClr val="11052C"/>
                </a:solidFill>
                <a:latin typeface="Arial"/>
              </a:rPr>
              <a:t>central ownership, </a:t>
            </a:r>
            <a:r>
              <a:rPr lang="en-US" sz="1200" dirty="0">
                <a:solidFill>
                  <a:srgbClr val="11052C"/>
                </a:solidFill>
                <a:latin typeface="Arial"/>
              </a:rPr>
              <a:t>no </a:t>
            </a:r>
            <a:r>
              <a:rPr sz="1200" b="0" dirty="0">
                <a:solidFill>
                  <a:srgbClr val="11052C"/>
                </a:solidFill>
                <a:latin typeface="Arial"/>
              </a:rPr>
              <a:t>locked outline, no standard </a:t>
            </a:r>
            <a:r>
              <a:rPr lang="en-US" sz="1200" b="0" dirty="0">
                <a:solidFill>
                  <a:srgbClr val="11052C"/>
                </a:solidFill>
                <a:latin typeface="Arial"/>
              </a:rPr>
              <a:t>formats and templates</a:t>
            </a:r>
            <a:r>
              <a:rPr sz="1200" b="0" dirty="0">
                <a:solidFill>
                  <a:srgbClr val="11052C"/>
                </a:solidFill>
                <a:latin typeface="Arial"/>
              </a:rPr>
              <a:t>, and units building </a:t>
            </a:r>
            <a:r>
              <a:rPr lang="en-US" sz="1200" b="0" dirty="0">
                <a:solidFill>
                  <a:srgbClr val="11052C"/>
                </a:solidFill>
                <a:latin typeface="Arial"/>
              </a:rPr>
              <a:t>misaligned </a:t>
            </a:r>
            <a:r>
              <a:rPr sz="1200" b="0" dirty="0">
                <a:solidFill>
                  <a:srgbClr val="11052C"/>
                </a:solidFill>
                <a:latin typeface="Arial"/>
              </a:rPr>
              <a:t>decks.</a:t>
            </a:r>
          </a:p>
        </p:txBody>
      </p:sp>
      <p:sp>
        <p:nvSpPr>
          <p:cNvPr id="5" name="Rounded Rectangle 4"/>
          <p:cNvSpPr/>
          <p:nvPr/>
        </p:nvSpPr>
        <p:spPr>
          <a:xfrm>
            <a:off x="6126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T-28 TO T-21</a:t>
            </a:r>
          </a:p>
          <a:p>
            <a:pPr algn="l">
              <a:spcAft>
                <a:spcPts val="600"/>
              </a:spcAft>
            </a:pPr>
            <a:r>
              <a:rPr sz="1500" b="1">
                <a:solidFill>
                  <a:srgbClr val="11052C"/>
                </a:solidFill>
                <a:latin typeface="Arial"/>
              </a:rPr>
              <a:t>Outline locked</a:t>
            </a:r>
          </a:p>
          <a:p>
            <a:pPr algn="l">
              <a:spcAft>
                <a:spcPts val="400"/>
              </a:spcAft>
            </a:pPr>
            <a:r>
              <a:rPr lang="en-US" sz="1100" b="0">
                <a:solidFill>
                  <a:srgbClr val="3B2A54"/>
                </a:solidFill>
                <a:latin typeface="Arial"/>
              </a:rPr>
              <a:t>We issue the locked outline and standard data tables, so units stop building rival decks.</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p>
        </p:txBody>
      </p:sp>
      <p:sp>
        <p:nvSpPr>
          <p:cNvPr id="7" name="Rounded Rectangle 6"/>
          <p:cNvSpPr/>
          <p:nvPr/>
        </p:nvSpPr>
        <p:spPr>
          <a:xfrm>
            <a:off x="33558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T-20 TO T-14</a:t>
            </a:r>
          </a:p>
          <a:p>
            <a:pPr algn="l">
              <a:spcAft>
                <a:spcPts val="600"/>
              </a:spcAft>
            </a:pPr>
            <a:r>
              <a:rPr sz="1500" b="1">
                <a:solidFill>
                  <a:srgbClr val="11052C"/>
                </a:solidFill>
                <a:latin typeface="Arial"/>
              </a:rPr>
              <a:t>Executive lock</a:t>
            </a:r>
          </a:p>
          <a:p>
            <a:pPr algn="l">
              <a:spcAft>
                <a:spcPts val="400"/>
              </a:spcAft>
            </a:pPr>
            <a:r>
              <a:rPr sz="1100" b="0">
                <a:solidFill>
                  <a:srgbClr val="3B2A54"/>
                </a:solidFill>
                <a:latin typeface="Arial"/>
              </a:rPr>
              <a:t>One-to-ones at T-21. The options memo settles the capital priorities and the 70/30 core / new-bets split with the CEO and CFO at T-16.</a:t>
            </a:r>
          </a:p>
        </p:txBody>
      </p:sp>
      <p:sp>
        <p:nvSpPr>
          <p:cNvPr id="9" name="Rounded Rectangle 8"/>
          <p:cNvSpPr/>
          <p:nvPr/>
        </p:nvSpPr>
        <p:spPr>
          <a:xfrm>
            <a:off x="60990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T-13 TO T-7</a:t>
            </a:r>
          </a:p>
          <a:p>
            <a:pPr algn="l">
              <a:spcAft>
                <a:spcPts val="600"/>
              </a:spcAft>
            </a:pPr>
            <a:r>
              <a:rPr sz="1500" b="1">
                <a:solidFill>
                  <a:srgbClr val="11052C"/>
                </a:solidFill>
                <a:latin typeface="Arial"/>
              </a:rPr>
              <a:t>One pen</a:t>
            </a:r>
          </a:p>
          <a:p>
            <a:pPr algn="l">
              <a:spcAft>
                <a:spcPts val="400"/>
              </a:spcAft>
            </a:pPr>
            <a:r>
              <a:rPr sz="1100" b="0">
                <a:solidFill>
                  <a:srgbClr val="3B2A54"/>
                </a:solidFill>
                <a:latin typeface="Arial"/>
              </a:rPr>
              <a:t>Inputs freeze at T-10. </a:t>
            </a:r>
            <a:r>
              <a:rPr lang="en-US" sz="1100" b="0">
                <a:solidFill>
                  <a:srgbClr val="3B2A54"/>
                </a:solidFill>
                <a:latin typeface="Arial"/>
              </a:rPr>
              <a:t>Committee chairs are </a:t>
            </a:r>
            <a:r>
              <a:rPr sz="1100" b="0">
                <a:solidFill>
                  <a:srgbClr val="3B2A54"/>
                </a:solidFill>
                <a:latin typeface="Arial"/>
              </a:rPr>
              <a:t>briefed </a:t>
            </a:r>
            <a:r>
              <a:rPr lang="en-US" sz="1100" b="0">
                <a:solidFill>
                  <a:srgbClr val="3B2A54"/>
                </a:solidFill>
                <a:latin typeface="Arial"/>
              </a:rPr>
              <a:t>at </a:t>
            </a:r>
            <a:r>
              <a:rPr sz="1100" b="0">
                <a:solidFill>
                  <a:srgbClr val="3B2A54"/>
                </a:solidFill>
                <a:latin typeface="Arial"/>
              </a:rPr>
              <a:t>T-9</a:t>
            </a:r>
            <a:r>
              <a:rPr lang="en-US" sz="1100" b="0">
                <a:solidFill>
                  <a:srgbClr val="3B2A54"/>
                </a:solidFill>
                <a:latin typeface="Arial"/>
              </a:rPr>
              <a:t>. The book is on the portal at</a:t>
            </a:r>
            <a:r>
              <a:rPr sz="1100" b="0">
                <a:solidFill>
                  <a:srgbClr val="3B2A54"/>
                </a:solidFill>
                <a:latin typeface="Arial"/>
              </a:rPr>
              <a:t> T-7.</a:t>
            </a:r>
          </a:p>
        </p:txBody>
      </p:sp>
      <p:sp>
        <p:nvSpPr>
          <p:cNvPr id="11" name="Rounded Rectangle 10"/>
          <p:cNvSpPr/>
          <p:nvPr/>
        </p:nvSpPr>
        <p:spPr>
          <a:xfrm>
            <a:off x="88422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T-6 TO T-0</a:t>
            </a:r>
          </a:p>
          <a:p>
            <a:pPr algn="l">
              <a:spcAft>
                <a:spcPts val="600"/>
              </a:spcAft>
            </a:pPr>
            <a:r>
              <a:rPr sz="1500" b="1">
                <a:solidFill>
                  <a:srgbClr val="11052C"/>
                </a:solidFill>
                <a:latin typeface="Arial"/>
              </a:rPr>
              <a:t>Decisions, not read-outs</a:t>
            </a:r>
          </a:p>
          <a:p>
            <a:pPr algn="l">
              <a:spcAft>
                <a:spcPts val="400"/>
              </a:spcAft>
            </a:pPr>
            <a:r>
              <a:rPr lang="en-US" sz="1100" b="0">
                <a:solidFill>
                  <a:srgbClr val="3B2A54"/>
                </a:solidFill>
                <a:latin typeface="Arial"/>
              </a:rPr>
              <a:t>Directors' questions are answered in writing </a:t>
            </a:r>
            <a:r>
              <a:rPr sz="1100" b="0">
                <a:solidFill>
                  <a:srgbClr val="3B2A54"/>
                </a:solidFill>
                <a:latin typeface="Arial"/>
              </a:rPr>
              <a:t>by T-3</a:t>
            </a:r>
            <a:r>
              <a:rPr lang="en-US" sz="1100" b="0">
                <a:solidFill>
                  <a:srgbClr val="3B2A54"/>
                </a:solidFill>
                <a:latin typeface="Arial"/>
              </a:rPr>
              <a:t>, so the meeting goes to the capital plan</a:t>
            </a:r>
            <a:r>
              <a:rPr sz="1100" b="0">
                <a:solidFill>
                  <a:srgbClr val="3B2A54"/>
                </a:solidFill>
                <a:latin typeface="Arial"/>
              </a:rPr>
              <a:t>.</a:t>
            </a:r>
          </a:p>
        </p:txBody>
      </p:sp>
      <p:sp>
        <p:nvSpPr>
          <p:cNvPr id="13" name="Rounded Rectangle 12"/>
          <p:cNvSpPr/>
          <p:nvPr/>
        </p:nvSpPr>
        <p:spPr>
          <a:xfrm>
            <a:off x="612648" y="3556756"/>
            <a:ext cx="10789920" cy="73152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3679194"/>
            <a:ext cx="10424160" cy="523220"/>
          </a:xfrm>
          <a:prstGeom prst="rect">
            <a:avLst/>
          </a:prstGeom>
          <a:noFill/>
        </p:spPr>
        <p:txBody>
          <a:bodyPr wrap="square" anchor="ctr">
            <a:spAutoFit/>
          </a:bodyPr>
          <a:lstStyle/>
          <a:p>
            <a:pPr algn="l"/>
            <a:r>
              <a:rPr sz="1400" b="1">
                <a:solidFill>
                  <a:srgbClr val="11052C"/>
                </a:solidFill>
                <a:latin typeface="Arial"/>
              </a:rPr>
              <a:t>Two items cannot slip: </a:t>
            </a:r>
            <a:r>
              <a:rPr sz="1400" b="0">
                <a:solidFill>
                  <a:srgbClr val="11052C"/>
                </a:solidFill>
                <a:latin typeface="Arial"/>
              </a:rPr>
              <a:t>the capital plan, because this is the last Board before Investor Day on 8 Dec, and the statutory items for new entities: open an entity only when a license or tax substance requires it; officers and signing follow the stage (backup B).</a:t>
            </a:r>
          </a:p>
        </p:txBody>
      </p:sp>
      <p:sp>
        <p:nvSpPr>
          <p:cNvPr id="15" name="Rounded Rectangle 14"/>
          <p:cNvSpPr/>
          <p:nvPr/>
        </p:nvSpPr>
        <p:spPr>
          <a:xfrm>
            <a:off x="61264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22376" y="4498588"/>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Still no agreement at the lock</a:t>
            </a:r>
          </a:p>
          <a:p>
            <a:pPr algn="l">
              <a:spcAft>
                <a:spcPts val="400"/>
              </a:spcAft>
            </a:pPr>
            <a:r>
              <a:rPr lang="en-US" sz="1050" b="0" dirty="0">
                <a:solidFill>
                  <a:srgbClr val="3B2A54"/>
                </a:solidFill>
                <a:latin typeface="Arial"/>
              </a:rPr>
              <a:t>Dissenting </a:t>
            </a:r>
            <a:r>
              <a:rPr sz="1050" b="0" dirty="0">
                <a:solidFill>
                  <a:srgbClr val="3B2A54"/>
                </a:solidFill>
                <a:latin typeface="Arial"/>
              </a:rPr>
              <a:t>positions go in the memo; the CEO decides; the dissent is recorded, so the Board sees one recommendation.</a:t>
            </a:r>
          </a:p>
        </p:txBody>
      </p:sp>
      <p:sp>
        <p:nvSpPr>
          <p:cNvPr id="17" name="Rounded Rectangle 16"/>
          <p:cNvSpPr/>
          <p:nvPr/>
        </p:nvSpPr>
        <p:spPr>
          <a:xfrm>
            <a:off x="422452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3425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Materials are still late at T-10</a:t>
            </a:r>
          </a:p>
          <a:p>
            <a:pPr algn="l">
              <a:spcAft>
                <a:spcPts val="400"/>
              </a:spcAft>
            </a:pPr>
            <a:r>
              <a:rPr sz="1050" b="0">
                <a:solidFill>
                  <a:srgbClr val="3B2A54"/>
                </a:solidFill>
                <a:latin typeface="Arial"/>
              </a:rPr>
              <a:t>The locked outline decides: anything outside it goes to the appendix or the next meeting.</a:t>
            </a:r>
          </a:p>
        </p:txBody>
      </p:sp>
      <p:sp>
        <p:nvSpPr>
          <p:cNvPr id="19" name="Rounded Rectangle 18"/>
          <p:cNvSpPr/>
          <p:nvPr/>
        </p:nvSpPr>
        <p:spPr>
          <a:xfrm>
            <a:off x="783640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94613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The book holds non-public Q3 results</a:t>
            </a:r>
          </a:p>
          <a:p>
            <a:pPr algn="l">
              <a:spcAft>
                <a:spcPts val="400"/>
              </a:spcAft>
            </a:pPr>
            <a:r>
              <a:rPr sz="1050" b="0">
                <a:solidFill>
                  <a:srgbClr val="3B2A54"/>
                </a:solidFill>
                <a:latin typeface="Arial"/>
              </a:rPr>
              <a:t>Portal only</a:t>
            </a:r>
            <a:r>
              <a:rPr lang="en-US" sz="1050" b="0">
                <a:solidFill>
                  <a:srgbClr val="3B2A54"/>
                </a:solidFill>
                <a:latin typeface="Arial"/>
              </a:rPr>
              <a:t>; IR sets what directors may discuss</a:t>
            </a:r>
            <a:r>
              <a:rPr sz="1050" b="0">
                <a:solidFill>
                  <a:srgbClr val="3B2A54"/>
                </a:solidFill>
                <a:latin typeface="Arial"/>
              </a:rPr>
              <a:t>. </a:t>
            </a:r>
            <a:r>
              <a:rPr lang="en-US" sz="1050" b="0">
                <a:solidFill>
                  <a:srgbClr val="3B2A54"/>
                </a:solidFill>
                <a:latin typeface="Arial"/>
              </a:rPr>
              <a:t>The review agent's drafts run on Nu-approved </a:t>
            </a:r>
            <a:r>
              <a:rPr sz="1050" b="0">
                <a:solidFill>
                  <a:srgbClr val="3B2A54"/>
                </a:solidFill>
                <a:latin typeface="Arial"/>
              </a:rPr>
              <a:t>tools, </a:t>
            </a:r>
            <a:r>
              <a:rPr lang="en-US" sz="1050" b="0">
                <a:solidFill>
                  <a:srgbClr val="3B2A54"/>
                </a:solidFill>
                <a:latin typeface="Arial"/>
              </a:rPr>
              <a:t>and a named owner signs each answer</a:t>
            </a:r>
            <a:r>
              <a:rPr sz="1050" b="0">
                <a:solidFill>
                  <a:srgbClr val="3B2A54"/>
                </a:solidFill>
                <a:latin typeface="Arial"/>
              </a:rPr>
              <a:t>.</a:t>
            </a:r>
          </a:p>
        </p:txBody>
      </p:sp>
      <p:sp>
        <p:nvSpPr>
          <p:cNvPr id="21" name="TextBox 20"/>
          <p:cNvSpPr txBox="1"/>
          <p:nvPr/>
        </p:nvSpPr>
        <p:spPr>
          <a:xfrm>
            <a:off x="612648" y="5897620"/>
            <a:ext cx="10515600" cy="230832"/>
          </a:xfrm>
          <a:prstGeom prst="rect">
            <a:avLst/>
          </a:prstGeom>
          <a:noFill/>
        </p:spPr>
        <p:txBody>
          <a:bodyPr wrap="square" anchor="t">
            <a:spAutoFit/>
          </a:bodyPr>
          <a:lstStyle/>
          <a:p>
            <a:pPr algn="l"/>
            <a:r>
              <a:rPr sz="900" b="0" dirty="0">
                <a:solidFill>
                  <a:srgbClr val="6B5B82"/>
                </a:solidFill>
                <a:latin typeface="Arial"/>
              </a:rPr>
              <a:t>Board assumed on Tue 17 Nov, four weeks from today. Q3'26 results are due 12 Nov; Investor Day is 8 Dec 2026.</a:t>
            </a:r>
            <a:r>
              <a:rPr lang="en-US" sz="900" b="0" dirty="0">
                <a:solidFill>
                  <a:srgbClr val="6B5B82"/>
                </a:solidFill>
                <a:latin typeface="Arial"/>
              </a:rPr>
              <a:t/>
            </a:r>
            <a:r>
              <a:rPr sz="900" b="0" dirty="0">
                <a:solidFill>
                  <a:srgbClr val="6B5B82"/>
                </a:solidFill>
                <a:latin typeface="Arial"/>
              </a:rPr>
              <a:t/>
            </a:r>
            <a:r>
              <a:rPr lang="en-US" sz="900" b="0" dirty="0">
                <a:solidFill>
                  <a:srgbClr val="6B5B82"/>
                </a:solidFill>
                <a:latin typeface="Arial"/>
              </a:rPr>
              <a:t/>
            </a:r>
            <a:r>
              <a:rPr sz="900" b="0" dirty="0">
                <a:solidFill>
                  <a:srgbClr val="6B5B82"/>
                </a:solidFill>
                <a:latin typeface="Arial"/>
              </a:rPr>
              <a:t/>
            </a:r>
          </a:p>
        </p:txBody>
      </p:sp>
      <p:sp>
        <p:nvSpPr>
          <p:cNvPr id="22" name="TextBox 21"/>
          <p:cNvSpPr txBox="1"/>
          <p:nvPr/>
        </p:nvSpPr>
        <p:spPr>
          <a:xfrm>
            <a:off x="11292839" y="6322532"/>
            <a:ext cx="731520" cy="274320"/>
          </a:xfrm>
          <a:prstGeom prst="rect">
            <a:avLst/>
          </a:prstGeom>
          <a:noFill/>
        </p:spPr>
        <p:txBody>
          <a:bodyPr wrap="square" anchor="t">
            <a:spAutoFit/>
          </a:bodyPr>
          <a:lstStyle/>
          <a:p>
            <a:pPr algn="r"/>
            <a:r>
              <a:rPr lang="en-US" sz="900" b="0">
                <a:solidFill>
                  <a:srgbClr val="6B5B82"/>
                </a:solidFill>
                <a:latin typeface="Arial"/>
              </a:rPr>
              <a:t>9</a:t>
            </a:r>
            <a:endParaRPr sz="900" b="0">
              <a:solidFill>
                <a:srgbClr val="6B5B82"/>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Managing different viewpoints and friction at the executive level</a:t>
            </a:r>
            <a:endParaRPr sz="2400" b="1" dirty="0">
              <a:solidFill>
                <a:srgbClr val="11052C"/>
              </a:solidFill>
              <a:latin typeface="Arial"/>
            </a:endParaRPr>
          </a:p>
        </p:txBody>
      </p:sp>
      <p:sp>
        <p:nvSpPr>
          <p:cNvPr id="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1</a:t>
            </a:r>
          </a:p>
          <a:p>
            <a:pPr algn="l">
              <a:spcAft>
                <a:spcPts val="600"/>
              </a:spcAft>
            </a:pPr>
            <a:r>
              <a:rPr sz="1600" b="1" dirty="0">
                <a:solidFill>
                  <a:srgbClr val="11052C"/>
                </a:solidFill>
                <a:latin typeface="Arial"/>
              </a:rPr>
              <a:t>Talk privately first</a:t>
            </a:r>
            <a:r>
              <a:rPr lang="en-US" sz="1600" b="1" dirty="0">
                <a:solidFill>
                  <a:srgbClr val="11052C"/>
                </a:solidFill>
                <a:latin typeface="Arial"/>
              </a:rPr>
              <a:t>, always</a:t>
            </a:r>
            <a:endParaRPr sz="1600" b="1" dirty="0">
              <a:solidFill>
                <a:srgbClr val="11052C"/>
              </a:solidFill>
              <a:latin typeface="Arial"/>
            </a:endParaRPr>
          </a:p>
          <a:p>
            <a:pPr algn="l">
              <a:spcAft>
                <a:spcPts val="400"/>
              </a:spcAft>
            </a:pPr>
            <a:r>
              <a:rPr lang="en-US" sz="1400" b="0" dirty="0">
                <a:solidFill>
                  <a:srgbClr val="3B2A54"/>
                </a:solidFill>
                <a:latin typeface="Arial"/>
              </a:rPr>
              <a:t>C-level access comes with earning trust and a seat at the table. Understanding the GMs’ priorities is key to drive acceptance as an advisor; the Business mus</a:t>
            </a:r>
            <a:r>
              <a:rPr lang="en-US" sz="1400" dirty="0">
                <a:solidFill>
                  <a:srgbClr val="3B2A54"/>
                </a:solidFill>
                <a:latin typeface="Arial"/>
              </a:rPr>
              <a:t>t see this role as an enabler and advisor, not a blocker.</a:t>
            </a:r>
            <a:endParaRPr sz="1400" b="0" dirty="0">
              <a:solidFill>
                <a:srgbClr val="3B2A54"/>
              </a:solidFill>
              <a:latin typeface="Arial"/>
            </a:endParaRPr>
          </a:p>
        </p:txBody>
      </p:sp>
      <p:sp>
        <p:nvSpPr>
          <p:cNvPr id="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2</a:t>
            </a:r>
          </a:p>
          <a:p>
            <a:pPr algn="l">
              <a:spcAft>
                <a:spcPts val="600"/>
              </a:spcAft>
            </a:pPr>
            <a:r>
              <a:rPr sz="1600" b="1" dirty="0">
                <a:solidFill>
                  <a:srgbClr val="11052C"/>
                </a:solidFill>
                <a:latin typeface="Arial"/>
              </a:rPr>
              <a:t>Move </a:t>
            </a:r>
            <a:r>
              <a:rPr lang="en-US" sz="1600" b="1" dirty="0">
                <a:solidFill>
                  <a:srgbClr val="11052C"/>
                </a:solidFill>
                <a:latin typeface="Arial"/>
              </a:rPr>
              <a:t>beyond facts and numbers</a:t>
            </a:r>
            <a:endParaRPr sz="1600" b="1" dirty="0">
              <a:solidFill>
                <a:srgbClr val="11052C"/>
              </a:solidFill>
              <a:latin typeface="Arial"/>
            </a:endParaRPr>
          </a:p>
          <a:p>
            <a:pPr algn="l">
              <a:spcAft>
                <a:spcPts val="400"/>
              </a:spcAft>
            </a:pPr>
            <a:r>
              <a:rPr sz="1400" b="0" dirty="0">
                <a:solidFill>
                  <a:srgbClr val="3B2A54"/>
                </a:solidFill>
                <a:latin typeface="Arial"/>
              </a:rPr>
              <a:t>From "I need $25M" to "what would prove this </a:t>
            </a:r>
            <a:r>
              <a:rPr lang="en-US" sz="1400" b="0" dirty="0">
                <a:solidFill>
                  <a:srgbClr val="3B2A54"/>
                </a:solidFill>
                <a:latin typeface="Arial"/>
              </a:rPr>
              <a:t>justifies the ask</a:t>
            </a:r>
            <a:r>
              <a:rPr sz="1400" b="0" dirty="0">
                <a:solidFill>
                  <a:srgbClr val="3B2A54"/>
                </a:solidFill>
                <a:latin typeface="Arial"/>
              </a:rPr>
              <a:t>?" </a:t>
            </a:r>
            <a:r>
              <a:rPr lang="en-US" sz="1400" b="0" dirty="0">
                <a:solidFill>
                  <a:srgbClr val="3B2A54"/>
                </a:solidFill>
                <a:latin typeface="Arial"/>
              </a:rPr>
              <a:t>- t</a:t>
            </a:r>
            <a:r>
              <a:rPr sz="1400" b="0" dirty="0">
                <a:solidFill>
                  <a:srgbClr val="3B2A54"/>
                </a:solidFill>
                <a:latin typeface="Arial"/>
              </a:rPr>
              <a:t>he </a:t>
            </a:r>
            <a:r>
              <a:rPr lang="en-US" sz="1400" dirty="0">
                <a:solidFill>
                  <a:srgbClr val="3B2A54"/>
                </a:solidFill>
                <a:latin typeface="Arial"/>
              </a:rPr>
              <a:t>governance </a:t>
            </a:r>
            <a:r>
              <a:rPr lang="en-US" sz="1400" b="0" dirty="0">
                <a:solidFill>
                  <a:srgbClr val="3B2A54"/>
                </a:solidFill>
                <a:latin typeface="Arial"/>
              </a:rPr>
              <a:t>sets the bar, and this team gains buy-in working as a facilitator to navigate the requirements for a path to approval.</a:t>
            </a:r>
            <a:endParaRPr sz="1400" b="0" dirty="0">
              <a:solidFill>
                <a:srgbClr val="3B2A54"/>
              </a:solidFill>
              <a:latin typeface="Arial"/>
            </a:endParaRPr>
          </a:p>
        </p:txBody>
      </p:sp>
      <p:sp>
        <p:nvSpPr>
          <p:cNvPr id="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dirty="0">
                <a:solidFill>
                  <a:srgbClr val="820AD1"/>
                </a:solidFill>
                <a:latin typeface="Arial"/>
              </a:rPr>
              <a:t>STEP 3</a:t>
            </a:r>
          </a:p>
          <a:p>
            <a:pPr algn="l">
              <a:spcAft>
                <a:spcPts val="600"/>
              </a:spcAft>
            </a:pPr>
            <a:r>
              <a:rPr lang="en-US" sz="1600" b="1" dirty="0">
                <a:solidFill>
                  <a:srgbClr val="11052C"/>
                </a:solidFill>
                <a:latin typeface="Arial"/>
              </a:rPr>
              <a:t>People, people, people</a:t>
            </a:r>
            <a:endParaRPr sz="1600" b="1" dirty="0">
              <a:solidFill>
                <a:srgbClr val="11052C"/>
              </a:solidFill>
              <a:latin typeface="Arial"/>
            </a:endParaRPr>
          </a:p>
          <a:p>
            <a:pPr algn="l">
              <a:spcAft>
                <a:spcPts val="400"/>
              </a:spcAft>
            </a:pPr>
            <a:r>
              <a:rPr lang="en-US" sz="1400" b="0" dirty="0">
                <a:solidFill>
                  <a:srgbClr val="3B2A54"/>
                </a:solidFill>
                <a:latin typeface="Arial"/>
              </a:rPr>
              <a:t>Establishing access with teams, not just leaders, is a proven path to (a) acquire “finger on the pulse” insights,</a:t>
            </a:r>
            <a:r>
              <a:rPr lang="en-US" sz="1400" dirty="0">
                <a:solidFill>
                  <a:srgbClr val="3B2A54"/>
                </a:solidFill>
                <a:latin typeface="Arial"/>
              </a:rPr>
              <a:t> and (b) show executives that this is a generalist team that can navigate a multitude of topics engaging the SMEs</a:t>
            </a:r>
            <a:endParaRPr sz="1400" b="0" dirty="0">
              <a:solidFill>
                <a:srgbClr val="3B2A54"/>
              </a:solidFill>
              <a:latin typeface="Arial"/>
            </a:endParaRPr>
          </a:p>
        </p:txBody>
      </p:sp>
      <p:sp>
        <p:nvSpPr>
          <p:cNvPr id="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dirty="0">
                <a:solidFill>
                  <a:srgbClr val="820AD1"/>
                </a:solidFill>
                <a:latin typeface="Arial"/>
              </a:rPr>
              <a:t>STEP 4</a:t>
            </a:r>
          </a:p>
          <a:p>
            <a:pPr algn="l">
              <a:spcAft>
                <a:spcPts val="600"/>
              </a:spcAft>
            </a:pPr>
            <a:r>
              <a:rPr lang="en-US" sz="1600" b="1" dirty="0">
                <a:solidFill>
                  <a:srgbClr val="11052C"/>
                </a:solidFill>
                <a:latin typeface="Arial"/>
              </a:rPr>
              <a:t>Build with, not for</a:t>
            </a:r>
            <a:endParaRPr sz="1600" b="1" dirty="0">
              <a:solidFill>
                <a:srgbClr val="11052C"/>
              </a:solidFill>
              <a:latin typeface="Arial"/>
            </a:endParaRPr>
          </a:p>
          <a:p>
            <a:pPr algn="l">
              <a:spcAft>
                <a:spcPts val="400"/>
              </a:spcAft>
            </a:pPr>
            <a:r>
              <a:rPr lang="en-US" sz="1400" b="0" dirty="0">
                <a:solidFill>
                  <a:srgbClr val="3B2A54"/>
                </a:solidFill>
                <a:latin typeface="Arial"/>
              </a:rPr>
              <a:t>Making GMs and teams feel part of the solution is a virtuous cycle to secure alignment and increase synergy - REAL synergy that comes from a well functioning, high-performance executive team focused on shared goals.</a:t>
            </a:r>
            <a:endParaRPr sz="1400" b="0" dirty="0">
              <a:solidFill>
                <a:srgbClr val="3B2A54"/>
              </a:solidFill>
              <a:latin typeface="Arial"/>
            </a:endParaRPr>
          </a:p>
        </p:txBody>
      </p:sp>
      <p:sp>
        <p:nvSpPr>
          <p:cNvPr id="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8" y="4668900"/>
            <a:ext cx="10424160" cy="1077218"/>
          </a:xfrm>
          <a:prstGeom prst="rect">
            <a:avLst/>
          </a:prstGeom>
          <a:noFill/>
        </p:spPr>
        <p:txBody>
          <a:bodyPr wrap="square" anchor="ctr">
            <a:spAutoFit/>
          </a:bodyPr>
          <a:lstStyle/>
          <a:p>
            <a:r>
              <a:rPr sz="1600" b="1" dirty="0">
                <a:solidFill>
                  <a:srgbClr val="FFFFFF"/>
                </a:solidFill>
                <a:latin typeface="Arial"/>
              </a:rPr>
              <a:t>Why it can work without line authority: the CoS &amp; CG can play a crucial role in selling the value of the governance and why it makes our decision-making process better. GMs don’t need to agree on everything all the time, but the rules are public on day one, the tough conversations are private, and the sign-off is joint even upon disagreement – “dissent but commit” is a solid outcome.</a:t>
            </a:r>
            <a:r>
              <a:rPr lang="en-US" sz="1600" b="1" dirty="0">
                <a:solidFill>
                  <a:srgbClr val="FFFFFF"/>
                </a:solidFill>
                <a:latin typeface="Arial"/>
              </a:rPr>
              <a:t/>
            </a:r>
            <a:r>
              <a:rPr sz="1600" b="1" dirty="0">
                <a:solidFill>
                  <a:srgbClr val="FFFFFF"/>
                </a:solidFill>
                <a:latin typeface="Arial"/>
              </a:rPr>
              <a:t/>
            </a:r>
            <a:r>
              <a:rPr lang="en-US" sz="1600" b="0" dirty="0">
                <a:solidFill>
                  <a:srgbClr val="FFFFFF"/>
                </a:solidFill>
                <a:latin typeface="Arial"/>
              </a:rPr>
              <a:t/>
            </a:r>
            <a:r>
              <a:rPr lang="en-US" sz="1600" b="0" dirty="0" err="1">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p>
        </p:txBody>
      </p:sp>
      <p:sp>
        <p:nvSpPr>
          <p:cNvPr id="14" name="TextBox 13"/>
          <p:cNvSpPr txBox="1"/>
          <p:nvPr/>
        </p:nvSpPr>
        <p:spPr>
          <a:xfrm>
            <a:off x="612648" y="6169356"/>
            <a:ext cx="10515600" cy="320040"/>
          </a:xfrm>
          <a:prstGeom prst="rect">
            <a:avLst/>
          </a:prstGeom>
          <a:noFill/>
        </p:spPr>
        <p:txBody>
          <a:bodyPr wrap="square" anchor="t">
            <a:spAutoFit/>
          </a:bodyPr>
          <a:lstStyle/>
          <a:p>
            <a:pPr algn="l"/>
            <a:r>
              <a:rPr sz="900" b="0" dirty="0">
                <a:solidFill>
                  <a:srgbClr val="6B5B82"/>
                </a:solidFill>
                <a:latin typeface="Arial"/>
              </a:rPr>
              <a:t>Fair process: Kim and Mauborgne, "Fair Process: Managing in the Knowledge Economy", Harvard Business Review.</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10</a:t>
            </a:r>
            <a:endParaRPr sz="900" b="0">
              <a:solidFill>
                <a:srgbClr val="6B5B8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The HQ is a governance project </a:t>
            </a:r>
            <a:r>
              <a:rPr lang="en-US" sz="2400" b="1" dirty="0">
                <a:solidFill>
                  <a:srgbClr val="11052C"/>
                </a:solidFill>
                <a:latin typeface="Arial"/>
              </a:rPr>
              <a:t>as much as </a:t>
            </a:r>
            <a:r>
              <a:rPr sz="2400" b="1" dirty="0">
                <a:solidFill>
                  <a:srgbClr val="11052C"/>
                </a:solidFill>
                <a:latin typeface="Arial"/>
              </a:rPr>
              <a:t>a real-estate deal</a:t>
            </a:r>
          </a:p>
        </p:txBody>
      </p:sp>
      <p:sp>
        <p:nvSpPr>
          <p:cNvPr id="4" name="Rounded Rectangle 3"/>
          <p:cNvSpPr/>
          <p:nvPr/>
        </p:nvSpPr>
        <p:spPr>
          <a:xfrm>
            <a:off x="640080" y="1374131"/>
            <a:ext cx="5212080" cy="2331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62000" y="1616962"/>
            <a:ext cx="4992624" cy="1931298"/>
          </a:xfrm>
          <a:prstGeom prst="rect">
            <a:avLst/>
          </a:prstGeom>
          <a:noFill/>
        </p:spPr>
        <p:txBody>
          <a:bodyPr wrap="square" anchor="t">
            <a:spAutoFit/>
          </a:bodyPr>
          <a:lstStyle/>
          <a:p>
            <a:pPr algn="l">
              <a:spcAft>
                <a:spcPts val="300"/>
              </a:spcAft>
            </a:pPr>
            <a:r>
              <a:rPr sz="1000" b="1" dirty="0">
                <a:solidFill>
                  <a:srgbClr val="820AD1"/>
                </a:solidFill>
                <a:latin typeface="Arial"/>
              </a:rPr>
              <a:t>THE ASSESSMENT</a:t>
            </a:r>
          </a:p>
          <a:p>
            <a:pPr algn="l">
              <a:spcAft>
                <a:spcPts val="600"/>
              </a:spcAft>
            </a:pPr>
            <a:r>
              <a:rPr sz="1600" b="1" dirty="0">
                <a:solidFill>
                  <a:srgbClr val="11052C"/>
                </a:solidFill>
                <a:latin typeface="Arial"/>
              </a:rPr>
              <a:t>What </a:t>
            </a:r>
            <a:r>
              <a:rPr lang="en-US" sz="1600" b="1" dirty="0">
                <a:solidFill>
                  <a:srgbClr val="11052C"/>
                </a:solidFill>
                <a:latin typeface="Arial"/>
              </a:rPr>
              <a:t>needs to be assessed before </a:t>
            </a:r>
            <a:r>
              <a:rPr sz="1600" b="1" dirty="0">
                <a:solidFill>
                  <a:srgbClr val="11052C"/>
                </a:solidFill>
                <a:latin typeface="Arial"/>
              </a:rPr>
              <a:t>a </a:t>
            </a:r>
            <a:r>
              <a:rPr lang="en-US" sz="1600" b="1" dirty="0">
                <a:solidFill>
                  <a:srgbClr val="11052C"/>
                </a:solidFill>
                <a:latin typeface="Arial"/>
              </a:rPr>
              <a:t>site is defined and a </a:t>
            </a:r>
            <a:r>
              <a:rPr sz="1600" b="1" dirty="0">
                <a:solidFill>
                  <a:srgbClr val="11052C"/>
                </a:solidFill>
                <a:latin typeface="Arial"/>
              </a:rPr>
              <a:t>lease </a:t>
            </a:r>
            <a:r>
              <a:rPr lang="en-US" sz="1600" b="1" dirty="0">
                <a:solidFill>
                  <a:srgbClr val="11052C"/>
                </a:solidFill>
                <a:latin typeface="Arial"/>
              </a:rPr>
              <a:t>/ purchase can happen</a:t>
            </a:r>
            <a:endParaRPr sz="1600" b="1" dirty="0">
              <a:solidFill>
                <a:srgbClr val="11052C"/>
              </a:solidFill>
              <a:latin typeface="Arial"/>
            </a:endParaRPr>
          </a:p>
          <a:p>
            <a:pPr algn="l">
              <a:spcAft>
                <a:spcPts val="400"/>
              </a:spcAft>
            </a:pPr>
            <a:r>
              <a:rPr sz="1400" b="0" dirty="0">
                <a:solidFill>
                  <a:srgbClr val="3B2A54"/>
                </a:solidFill>
                <a:latin typeface="Arial"/>
              </a:rPr>
              <a:t>A regional hub and campus, negotiated across Legal, Tax, Compliance, People and Workplace, </a:t>
            </a:r>
            <a:r>
              <a:rPr lang="en-US" sz="1400" b="0" dirty="0">
                <a:solidFill>
                  <a:srgbClr val="3B2A54"/>
                </a:solidFill>
                <a:latin typeface="Arial"/>
              </a:rPr>
              <a:t>exists </a:t>
            </a:r>
            <a:r>
              <a:rPr sz="1400" b="0" dirty="0">
                <a:solidFill>
                  <a:srgbClr val="3B2A54"/>
                </a:solidFill>
                <a:latin typeface="Arial"/>
              </a:rPr>
              <a:t>in more than one jurisdictio</a:t>
            </a:r>
            <a:r>
              <a:rPr lang="en-US" sz="1400" b="0" dirty="0">
                <a:solidFill>
                  <a:srgbClr val="3B2A54"/>
                </a:solidFill>
                <a:latin typeface="Arial"/>
              </a:rPr>
              <a:t>n </a:t>
            </a:r>
            <a:r>
              <a:rPr sz="1400" b="0" dirty="0">
                <a:solidFill>
                  <a:srgbClr val="3B2A54"/>
                </a:solidFill>
                <a:latin typeface="Arial"/>
              </a:rPr>
              <a:t>with no </a:t>
            </a:r>
            <a:r>
              <a:rPr lang="en-US" sz="1400" b="0" dirty="0">
                <a:solidFill>
                  <a:srgbClr val="3B2A54"/>
                </a:solidFill>
                <a:latin typeface="Arial"/>
              </a:rPr>
              <a:t>clear owner </a:t>
            </a:r>
            <a:r>
              <a:rPr sz="1400" b="0" dirty="0">
                <a:solidFill>
                  <a:srgbClr val="3B2A54"/>
                </a:solidFill>
                <a:latin typeface="Arial"/>
              </a:rPr>
              <a:t>over </a:t>
            </a:r>
            <a:r>
              <a:rPr lang="en-US" sz="1400" b="0" dirty="0">
                <a:solidFill>
                  <a:srgbClr val="3B2A54"/>
                </a:solidFill>
                <a:latin typeface="Arial"/>
              </a:rPr>
              <a:t>all </a:t>
            </a:r>
            <a:r>
              <a:rPr sz="1400" b="0" dirty="0">
                <a:solidFill>
                  <a:srgbClr val="3B2A54"/>
                </a:solidFill>
                <a:latin typeface="Arial"/>
              </a:rPr>
              <a:t>of them.</a:t>
            </a:r>
            <a:r>
              <a:rPr lang="en-US" sz="1400" b="0" dirty="0">
                <a:solidFill>
                  <a:srgbClr val="3B2A54"/>
                </a:solidFill>
                <a:latin typeface="Arial"/>
              </a:rPr>
              <a:t> This is an enterprise initiative that requires significant cross-functional work, with proper cadence and discipline to run it.</a:t>
            </a:r>
            <a:endParaRPr sz="1400" b="0" dirty="0">
              <a:solidFill>
                <a:srgbClr val="3B2A54"/>
              </a:solidFill>
              <a:latin typeface="Arial"/>
            </a:endParaRPr>
          </a:p>
        </p:txBody>
      </p:sp>
      <p:sp>
        <p:nvSpPr>
          <p:cNvPr id="6" name="Rounded Rectangle 5"/>
          <p:cNvSpPr/>
          <p:nvPr/>
        </p:nvSpPr>
        <p:spPr>
          <a:xfrm>
            <a:off x="612648" y="3931403"/>
            <a:ext cx="5212080" cy="227411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22376" y="4200275"/>
            <a:ext cx="4992624" cy="1736373"/>
          </a:xfrm>
          <a:prstGeom prst="rect">
            <a:avLst/>
          </a:prstGeom>
          <a:noFill/>
        </p:spPr>
        <p:txBody>
          <a:bodyPr wrap="square" anchor="t">
            <a:spAutoFit/>
          </a:bodyPr>
          <a:lstStyle/>
          <a:p>
            <a:pPr algn="l">
              <a:spcAft>
                <a:spcPts val="300"/>
              </a:spcAft>
            </a:pPr>
            <a:r>
              <a:rPr sz="1000" b="1" dirty="0">
                <a:solidFill>
                  <a:srgbClr val="820AD1"/>
                </a:solidFill>
                <a:latin typeface="Arial"/>
              </a:rPr>
              <a:t>WHAT IS NEGOTIATED</a:t>
            </a:r>
          </a:p>
          <a:p>
            <a:pPr algn="l">
              <a:spcAft>
                <a:spcPts val="600"/>
              </a:spcAft>
            </a:pPr>
            <a:r>
              <a:rPr lang="en-US" sz="1600" b="1" dirty="0">
                <a:solidFill>
                  <a:srgbClr val="11052C"/>
                </a:solidFill>
                <a:latin typeface="Arial"/>
              </a:rPr>
              <a:t>Different </a:t>
            </a:r>
            <a:r>
              <a:rPr sz="1600" b="1" dirty="0">
                <a:solidFill>
                  <a:srgbClr val="11052C"/>
                </a:solidFill>
                <a:latin typeface="Arial"/>
              </a:rPr>
              <a:t>kinds of agreement</a:t>
            </a:r>
            <a:r>
              <a:rPr lang="en-US" sz="1600" b="1" dirty="0">
                <a:solidFill>
                  <a:srgbClr val="11052C"/>
                </a:solidFill>
                <a:latin typeface="Arial"/>
              </a:rPr>
              <a:t>s</a:t>
            </a:r>
            <a:endParaRPr sz="1600" b="1" dirty="0">
              <a:solidFill>
                <a:srgbClr val="11052C"/>
              </a:solidFill>
              <a:latin typeface="Arial"/>
            </a:endParaRPr>
          </a:p>
          <a:p>
            <a:pPr algn="l">
              <a:spcAft>
                <a:spcPts val="400"/>
              </a:spcAft>
            </a:pPr>
            <a:r>
              <a:rPr sz="1400" b="0" dirty="0">
                <a:solidFill>
                  <a:srgbClr val="3B2A54"/>
                </a:solidFill>
                <a:latin typeface="Arial"/>
              </a:rPr>
              <a:t>Local regulatory agreements: the incentive or grant, any tax ruling, registrations and permits, work permits (Legal, Tax, Compliance, People</a:t>
            </a:r>
            <a:r>
              <a:rPr lang="en-US" sz="1400" b="0" dirty="0">
                <a:solidFill>
                  <a:srgbClr val="3B2A54"/>
                </a:solidFill>
                <a:latin typeface="Arial"/>
              </a:rPr>
              <a:t>, Government Engagement</a:t>
            </a:r>
            <a:r>
              <a:rPr sz="1400" b="0" dirty="0">
                <a:solidFill>
                  <a:srgbClr val="3B2A54"/>
                </a:solidFill>
                <a:latin typeface="Arial"/>
              </a:rPr>
              <a:t>).</a:t>
            </a:r>
          </a:p>
          <a:p>
            <a:pPr algn="l">
              <a:spcAft>
                <a:spcPts val="400"/>
              </a:spcAft>
            </a:pPr>
            <a:r>
              <a:rPr sz="1400" b="0" dirty="0">
                <a:solidFill>
                  <a:srgbClr val="3B2A54"/>
                </a:solidFill>
                <a:latin typeface="Arial"/>
              </a:rPr>
              <a:t>Campus infrastructure agreements: lease or build-to-suit, fit-out, utilities, land and zoning (Workplace, Legal</a:t>
            </a:r>
            <a:r>
              <a:rPr lang="en-US" sz="1400" b="0" dirty="0">
                <a:solidFill>
                  <a:srgbClr val="3B2A54"/>
                </a:solidFill>
                <a:latin typeface="Arial"/>
              </a:rPr>
              <a:t>, Tax</a:t>
            </a:r>
            <a:r>
              <a:rPr sz="1400" b="0" dirty="0">
                <a:solidFill>
                  <a:srgbClr val="3B2A54"/>
                </a:solidFill>
                <a:latin typeface="Arial"/>
              </a:rPr>
              <a:t>).</a:t>
            </a:r>
          </a:p>
        </p:txBody>
      </p:sp>
      <p:sp>
        <p:nvSpPr>
          <p:cNvPr id="8" name="Rounded Rectangle 7"/>
          <p:cNvSpPr/>
          <p:nvPr/>
        </p:nvSpPr>
        <p:spPr>
          <a:xfrm>
            <a:off x="5989320" y="1338020"/>
            <a:ext cx="5440680" cy="489818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500753"/>
            <a:ext cx="5221224" cy="4624343"/>
          </a:xfrm>
          <a:prstGeom prst="rect">
            <a:avLst/>
          </a:prstGeom>
          <a:noFill/>
        </p:spPr>
        <p:txBody>
          <a:bodyPr wrap="square" anchor="t">
            <a:spAutoFit/>
          </a:bodyPr>
          <a:lstStyle/>
          <a:p>
            <a:pPr algn="l">
              <a:spcAft>
                <a:spcPts val="1200"/>
              </a:spcAft>
            </a:pPr>
            <a:r>
              <a:rPr lang="en-US" sz="1050" b="1" dirty="0">
                <a:solidFill>
                  <a:srgbClr val="820AD1"/>
                </a:solidFill>
                <a:latin typeface="Arial"/>
              </a:rPr>
              <a:t>PRINCIPLES ON CHOOSING A </a:t>
            </a:r>
            <a:r>
              <a:rPr sz="1050" b="1" dirty="0">
                <a:solidFill>
                  <a:srgbClr val="820AD1"/>
                </a:solidFill>
                <a:latin typeface="Arial"/>
              </a:rPr>
              <a:t>SITE</a:t>
            </a:r>
          </a:p>
          <a:p>
            <a:pPr algn="l">
              <a:spcAft>
                <a:spcPts val="1200"/>
              </a:spcAft>
            </a:pPr>
            <a:r>
              <a:rPr b="1" dirty="0">
                <a:solidFill>
                  <a:srgbClr val="11052C"/>
                </a:solidFill>
                <a:latin typeface="Arial"/>
              </a:rPr>
              <a:t>Four hard tests, then five criteria</a:t>
            </a:r>
          </a:p>
          <a:p>
            <a:pPr algn="l">
              <a:spcAft>
                <a:spcPts val="1200"/>
              </a:spcAft>
            </a:pPr>
            <a:r>
              <a:rPr sz="1400" b="0" dirty="0">
                <a:solidFill>
                  <a:srgbClr val="3B2A54"/>
                </a:solidFill>
                <a:latin typeface="Arial"/>
              </a:rPr>
              <a:t>1. </a:t>
            </a:r>
            <a:r>
              <a:rPr sz="1400" b="1" dirty="0">
                <a:solidFill>
                  <a:srgbClr val="3B2A54"/>
                </a:solidFill>
                <a:latin typeface="Arial"/>
              </a:rPr>
              <a:t>Regulatory</a:t>
            </a:r>
            <a:r>
              <a:rPr sz="1400" b="0" dirty="0">
                <a:solidFill>
                  <a:srgbClr val="3B2A54"/>
                </a:solidFill>
                <a:latin typeface="Arial"/>
              </a:rPr>
              <a:t>: </a:t>
            </a:r>
            <a:r>
              <a:rPr lang="en-US" sz="1400" dirty="0">
                <a:solidFill>
                  <a:srgbClr val="3B2A54"/>
                </a:solidFill>
                <a:latin typeface="Arial"/>
              </a:rPr>
              <a:t>Nu has the required licenses for what </a:t>
            </a:r>
            <a:r>
              <a:rPr sz="1400" b="0" dirty="0">
                <a:solidFill>
                  <a:srgbClr val="3B2A54"/>
                </a:solidFill>
                <a:latin typeface="Arial"/>
              </a:rPr>
              <a:t>the hub's activities </a:t>
            </a:r>
            <a:r>
              <a:rPr lang="en-US" sz="1400" b="0" dirty="0">
                <a:solidFill>
                  <a:srgbClr val="3B2A54"/>
                </a:solidFill>
                <a:latin typeface="Arial"/>
              </a:rPr>
              <a:t>require </a:t>
            </a:r>
            <a:r>
              <a:rPr sz="1400" b="0" dirty="0">
                <a:solidFill>
                  <a:srgbClr val="3B2A54"/>
                </a:solidFill>
                <a:latin typeface="Arial"/>
              </a:rPr>
              <a:t>(Compliance</a:t>
            </a:r>
            <a:r>
              <a:rPr lang="en-US" sz="1400" b="0" dirty="0">
                <a:solidFill>
                  <a:srgbClr val="3B2A54"/>
                </a:solidFill>
                <a:latin typeface="Arial"/>
              </a:rPr>
              <a:t>, Legal</a:t>
            </a:r>
            <a:r>
              <a:rPr sz="1400" b="0" dirty="0">
                <a:solidFill>
                  <a:srgbClr val="3B2A54"/>
                </a:solidFill>
                <a:latin typeface="Arial"/>
              </a:rPr>
              <a:t>).</a:t>
            </a:r>
          </a:p>
          <a:p>
            <a:pPr algn="l">
              <a:spcAft>
                <a:spcPts val="1200"/>
              </a:spcAft>
            </a:pPr>
            <a:r>
              <a:rPr sz="1400" b="0" dirty="0">
                <a:solidFill>
                  <a:srgbClr val="3B2A54"/>
                </a:solidFill>
                <a:latin typeface="Arial"/>
              </a:rPr>
              <a:t>2. </a:t>
            </a:r>
            <a:r>
              <a:rPr sz="1400" b="1" dirty="0">
                <a:solidFill>
                  <a:srgbClr val="3B2A54"/>
                </a:solidFill>
                <a:latin typeface="Arial"/>
              </a:rPr>
              <a:t>Tax</a:t>
            </a:r>
            <a:r>
              <a:rPr sz="1400" b="0" dirty="0">
                <a:solidFill>
                  <a:srgbClr val="3B2A54"/>
                </a:solidFill>
                <a:latin typeface="Arial"/>
              </a:rPr>
              <a:t>: people and decisions there do not move Nu Holdings' tax residence or create a taxable presence (Tax</a:t>
            </a:r>
            <a:r>
              <a:rPr lang="en-US" sz="1400" b="0" dirty="0">
                <a:solidFill>
                  <a:srgbClr val="3B2A54"/>
                </a:solidFill>
                <a:latin typeface="Arial"/>
              </a:rPr>
              <a:t>, </a:t>
            </a:r>
            <a:r>
              <a:rPr lang="en-US" sz="1400" dirty="0">
                <a:solidFill>
                  <a:srgbClr val="3B2A54"/>
                </a:solidFill>
                <a:latin typeface="Arial"/>
              </a:rPr>
              <a:t>Finance</a:t>
            </a:r>
            <a:r>
              <a:rPr sz="1400" b="0" dirty="0">
                <a:solidFill>
                  <a:srgbClr val="3B2A54"/>
                </a:solidFill>
                <a:latin typeface="Arial"/>
              </a:rPr>
              <a:t>).</a:t>
            </a:r>
          </a:p>
          <a:p>
            <a:pPr algn="l">
              <a:spcAft>
                <a:spcPts val="1200"/>
              </a:spcAft>
            </a:pPr>
            <a:r>
              <a:rPr sz="1400" b="0" dirty="0">
                <a:solidFill>
                  <a:srgbClr val="3B2A54"/>
                </a:solidFill>
                <a:latin typeface="Arial"/>
              </a:rPr>
              <a:t>3. </a:t>
            </a:r>
            <a:r>
              <a:rPr sz="1400" b="1" dirty="0">
                <a:solidFill>
                  <a:srgbClr val="3B2A54"/>
                </a:solidFill>
                <a:latin typeface="Arial"/>
              </a:rPr>
              <a:t>Officers</a:t>
            </a:r>
            <a:r>
              <a:rPr sz="1400" b="0" dirty="0">
                <a:solidFill>
                  <a:srgbClr val="3B2A54"/>
                </a:solidFill>
                <a:latin typeface="Arial"/>
              </a:rPr>
              <a:t>: Nu can field directors who pass fit-and-proper</a:t>
            </a:r>
            <a:r>
              <a:rPr lang="en-US" sz="1400" b="0" dirty="0">
                <a:solidFill>
                  <a:srgbClr val="3B2A54"/>
                </a:solidFill>
                <a:latin typeface="Arial"/>
              </a:rPr>
              <a:t> requirements</a:t>
            </a:r>
            <a:r>
              <a:rPr sz="1400" b="0" dirty="0">
                <a:solidFill>
                  <a:srgbClr val="3B2A54"/>
                </a:solidFill>
                <a:latin typeface="Arial"/>
              </a:rPr>
              <a:t> (Legal, People).</a:t>
            </a:r>
          </a:p>
          <a:p>
            <a:pPr algn="l">
              <a:spcAft>
                <a:spcPts val="1200"/>
              </a:spcAft>
            </a:pPr>
            <a:r>
              <a:rPr sz="1400" b="0" dirty="0">
                <a:solidFill>
                  <a:srgbClr val="3B2A54"/>
                </a:solidFill>
                <a:latin typeface="Arial"/>
              </a:rPr>
              <a:t>4. </a:t>
            </a:r>
            <a:r>
              <a:rPr sz="1400" b="1" dirty="0">
                <a:solidFill>
                  <a:srgbClr val="3B2A54"/>
                </a:solidFill>
                <a:latin typeface="Arial"/>
              </a:rPr>
              <a:t>Substance</a:t>
            </a:r>
            <a:r>
              <a:rPr sz="1400" b="0" dirty="0">
                <a:solidFill>
                  <a:srgbClr val="3B2A54"/>
                </a:solidFill>
                <a:latin typeface="Arial"/>
              </a:rPr>
              <a:t>: real payroll and assets, so the incentive survives Pillar Two (Tax, People).</a:t>
            </a:r>
          </a:p>
          <a:p>
            <a:pPr algn="l">
              <a:spcAft>
                <a:spcPts val="1200"/>
              </a:spcAft>
            </a:pPr>
            <a:r>
              <a:rPr sz="1400" b="0" dirty="0">
                <a:solidFill>
                  <a:srgbClr val="3B2A54"/>
                </a:solidFill>
                <a:latin typeface="Arial"/>
              </a:rPr>
              <a:t>Then five weighted criteria: talent and wage cost; incentive net of clawback; campus cost and timing; modeled tax rate; political and reputational </a:t>
            </a:r>
            <a:r>
              <a:rPr sz="1400" b="0">
                <a:solidFill>
                  <a:srgbClr val="3B2A54"/>
                </a:solidFill>
                <a:latin typeface="Arial"/>
              </a:rPr>
              <a:t>risk (</a:t>
            </a:r>
            <a:r>
              <a:rPr lang="en-US" sz="1400" b="0">
                <a:solidFill>
                  <a:srgbClr val="3B2A54"/>
                </a:solidFill>
                <a:latin typeface="Arial"/>
              </a:rPr>
              <a:t>suggested </a:t>
            </a:r>
            <a:r>
              <a:rPr sz="1400" b="0">
                <a:solidFill>
                  <a:srgbClr val="3B2A54"/>
                </a:solidFill>
                <a:latin typeface="Arial"/>
              </a:rPr>
              <a:t>weights </a:t>
            </a:r>
            <a:r>
              <a:rPr sz="1400" b="0" dirty="0">
                <a:solidFill>
                  <a:srgbClr val="3B2A54"/>
                </a:solidFill>
                <a:latin typeface="Arial"/>
              </a:rPr>
              <a:t>in </a:t>
            </a:r>
            <a:r>
              <a:rPr sz="1400" b="0">
                <a:solidFill>
                  <a:srgbClr val="3B2A54"/>
                </a:solidFill>
                <a:latin typeface="Arial"/>
              </a:rPr>
              <a:t>backup </a:t>
            </a:r>
            <a:r>
              <a:rPr lang="en-US" sz="1400" b="0">
                <a:solidFill>
                  <a:srgbClr val="3B2A54"/>
                </a:solidFill>
                <a:latin typeface="Arial"/>
              </a:rPr>
              <a:t>J</a:t>
            </a:r>
            <a:r>
              <a:rPr sz="1400" b="0">
                <a:solidFill>
                  <a:srgbClr val="3B2A54"/>
                </a:solidFill>
                <a:latin typeface="Arial"/>
              </a:rPr>
              <a:t>).</a:t>
            </a:r>
            <a:endParaRPr sz="1400" b="0" dirty="0">
              <a:solidFill>
                <a:srgbClr val="3B2A54"/>
              </a:solidFill>
              <a:latin typeface="Arial"/>
            </a:endParaRPr>
          </a:p>
          <a:p>
            <a:pPr algn="l">
              <a:spcAft>
                <a:spcPts val="1200"/>
              </a:spcAft>
            </a:pPr>
            <a:r>
              <a:rPr lang="en-US" sz="1400" b="0" dirty="0">
                <a:solidFill>
                  <a:srgbClr val="3B2A54"/>
                </a:solidFill>
                <a:latin typeface="Arial"/>
              </a:rPr>
              <a:t>Propose to </a:t>
            </a:r>
            <a:r>
              <a:rPr sz="1400" b="0" dirty="0">
                <a:solidFill>
                  <a:srgbClr val="3B2A54"/>
                </a:solidFill>
                <a:latin typeface="Arial"/>
              </a:rPr>
              <a:t>start where Nu already has licensed substance and a local CFO (Brazil, Mexico, Colombia) or is building (the US). Two sites go to term sheet</a:t>
            </a:r>
            <a:r>
              <a:rPr lang="en-US" sz="1400" b="0" dirty="0">
                <a:solidFill>
                  <a:srgbClr val="3B2A54"/>
                </a:solidFill>
                <a:latin typeface="Arial"/>
              </a:rPr>
              <a:t>, then</a:t>
            </a:r>
            <a:r>
              <a:rPr sz="1400" b="0" dirty="0">
                <a:solidFill>
                  <a:srgbClr val="3B2A54"/>
                </a:solidFill>
                <a:latin typeface="Arial"/>
              </a:rPr>
              <a:t> the CEO and CFO</a:t>
            </a:r>
            <a:r>
              <a:rPr lang="en-US" sz="1400" b="0" dirty="0">
                <a:solidFill>
                  <a:srgbClr val="3B2A54"/>
                </a:solidFill>
                <a:latin typeface="Arial"/>
              </a:rPr>
              <a:t> prioritize</a:t>
            </a:r>
            <a:endParaRPr sz="1400" b="0" dirty="0">
              <a:solidFill>
                <a:srgbClr val="3B2A54"/>
              </a:solidFill>
              <a:latin typeface="Arial"/>
            </a:endParaRPr>
          </a:p>
        </p:txBody>
      </p:sp>
      <p:sp>
        <p:nvSpPr>
          <p:cNvPr id="11" name="TextBox 10"/>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11</a:t>
            </a:r>
          </a:p>
        </p:txBody>
      </p:sp>
      <p:sp>
        <p:nvSpPr>
          <p:cNvPr id="12" name="TextBox 11"/>
          <p:cNvSpPr txBox="1"/>
          <p:nvPr/>
        </p:nvSpPr>
        <p:spPr>
          <a:xfrm>
            <a:off x="612648" y="6336792"/>
            <a:ext cx="10515600" cy="411480"/>
          </a:xfrm>
          <a:prstGeom prst="rect">
            <a:avLst/>
          </a:prstGeom>
          <a:noFill/>
        </p:spPr>
        <p:txBody>
          <a:bodyPr wrap="square">
            <a:spAutoFit/>
          </a:bodyPr>
          <a:lstStyle/>
          <a:p>
            <a:r>
              <a:rPr sz="850">
                <a:solidFill>
                  <a:srgbClr val="6B5B82"/>
                </a:solidFill>
                <a:latin typeface="Arial"/>
              </a:rPr>
              <a:t>Nu Holdings is Cayman-incorporated (Form 20-F). Nu is above the EUR 750M Pillar Two threshold; 15% minimum; the 2026 carve-out is 9.4% of payroll and 7.4% of tangible assets (OECD GloBE, Art. 5.3 and 9.2). Brazil applies a domestic minimum top-up tax from 2025. Jurisdiction open; no savings figure until a site is chosen.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SMEs </a:t>
            </a:r>
            <a:r>
              <a:rPr sz="2400" b="1" dirty="0">
                <a:solidFill>
                  <a:srgbClr val="11052C"/>
                </a:solidFill>
                <a:latin typeface="Arial"/>
              </a:rPr>
              <a:t>own the judgment, </a:t>
            </a:r>
            <a:r>
              <a:rPr lang="en-US" sz="2400" b="1" dirty="0" err="1">
                <a:solidFill>
                  <a:srgbClr val="11052C"/>
                </a:solidFill>
                <a:latin typeface="Arial"/>
              </a:rPr>
              <a:t>CoS</a:t>
            </a:r>
            <a:r>
              <a:rPr lang="en-US" sz="2400" b="1" dirty="0">
                <a:solidFill>
                  <a:srgbClr val="11052C"/>
                </a:solidFill>
                <a:latin typeface="Arial"/>
              </a:rPr>
              <a:t> &amp; CG</a:t>
            </a:r>
            <a:r>
              <a:rPr sz="2400" b="1" dirty="0">
                <a:solidFill>
                  <a:srgbClr val="11052C"/>
                </a:solidFill>
                <a:latin typeface="Arial"/>
              </a:rPr>
              <a:t> own</a:t>
            </a:r>
            <a:r>
              <a:rPr lang="en-US" sz="2400" b="1" dirty="0">
                <a:solidFill>
                  <a:srgbClr val="11052C"/>
                </a:solidFill>
                <a:latin typeface="Arial"/>
              </a:rPr>
              <a:t>s</a:t>
            </a:r>
            <a:r>
              <a:rPr sz="2400" b="1" dirty="0">
                <a:solidFill>
                  <a:srgbClr val="11052C"/>
                </a:solidFill>
                <a:latin typeface="Arial"/>
              </a:rPr>
              <a:t> the process, the CFO owns </a:t>
            </a:r>
            <a:r>
              <a:rPr lang="en-US" sz="2400" b="1" dirty="0">
                <a:solidFill>
                  <a:srgbClr val="11052C"/>
                </a:solidFill>
                <a:latin typeface="Arial"/>
              </a:rPr>
              <a:t>ultimate recommendations</a:t>
            </a:r>
            <a:endParaRPr sz="2400" b="1" dirty="0">
              <a:solidFill>
                <a:srgbClr val="11052C"/>
              </a:solidFill>
              <a:latin typeface="Arial"/>
            </a:endParaRPr>
          </a:p>
        </p:txBody>
      </p:sp>
      <p:sp>
        <p:nvSpPr>
          <p:cNvPr id="4" name="Rounded Rectangle 3"/>
          <p:cNvSpPr/>
          <p:nvPr/>
        </p:nvSpPr>
        <p:spPr>
          <a:xfrm>
            <a:off x="6126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709928"/>
            <a:ext cx="5084064" cy="2805063"/>
          </a:xfrm>
          <a:prstGeom prst="rect">
            <a:avLst/>
          </a:prstGeom>
          <a:noFill/>
        </p:spPr>
        <p:txBody>
          <a:bodyPr wrap="square" anchor="t">
            <a:spAutoFit/>
          </a:bodyPr>
          <a:lstStyle/>
          <a:p>
            <a:pPr algn="l">
              <a:spcAft>
                <a:spcPts val="1200"/>
              </a:spcAft>
            </a:pPr>
            <a:r>
              <a:rPr sz="1050" b="1" dirty="0">
                <a:solidFill>
                  <a:srgbClr val="820AD1"/>
                </a:solidFill>
                <a:latin typeface="Arial"/>
              </a:rPr>
              <a:t>STATUTORY </a:t>
            </a:r>
            <a:r>
              <a:rPr lang="en-US" sz="1050" b="1" dirty="0">
                <a:solidFill>
                  <a:srgbClr val="820AD1"/>
                </a:solidFill>
                <a:latin typeface="Arial"/>
              </a:rPr>
              <a:t>OFFICERS</a:t>
            </a:r>
            <a:endParaRPr sz="1050" b="1" dirty="0">
              <a:solidFill>
                <a:srgbClr val="820AD1"/>
              </a:solidFill>
              <a:latin typeface="Arial"/>
            </a:endParaRPr>
          </a:p>
          <a:p>
            <a:pPr algn="l">
              <a:spcAft>
                <a:spcPts val="1200"/>
              </a:spcAft>
            </a:pPr>
            <a:r>
              <a:rPr lang="en-US" b="1" dirty="0">
                <a:solidFill>
                  <a:srgbClr val="11052C"/>
                </a:solidFill>
                <a:latin typeface="Arial"/>
              </a:rPr>
              <a:t>Authority and safeguards</a:t>
            </a:r>
            <a:endParaRPr b="1" dirty="0">
              <a:solidFill>
                <a:srgbClr val="11052C"/>
              </a:solidFill>
              <a:latin typeface="Arial"/>
            </a:endParaRPr>
          </a:p>
          <a:p>
            <a:pPr algn="l">
              <a:lnSpc>
                <a:spcPct val="150000"/>
              </a:lnSpc>
              <a:spcAft>
                <a:spcPts val="1200"/>
              </a:spcAft>
            </a:pPr>
            <a:r>
              <a:rPr lang="en-US" sz="1200" b="0" dirty="0">
                <a:solidFill>
                  <a:srgbClr val="3B2A54"/>
                </a:solidFill>
                <a:latin typeface="Arial"/>
              </a:rPr>
              <a:t>Gate decisions are taken at the monthly SteerCo, chaired by the CFO.</a:t>
            </a:r>
            <a:r>
              <a:rPr lang="en-US" sz="1200" b="0" dirty="0" err="1">
                <a:solidFill>
                  <a:srgbClr val="3B2A54"/>
                </a:solidFill>
                <a:latin typeface="Arial"/>
              </a:rPr>
              <a:t/>
            </a:r>
            <a:r>
              <a:rPr lang="en-US" sz="1200" dirty="0" err="1">
                <a:solidFill>
                  <a:srgbClr val="3B2A54"/>
                </a:solidFill>
                <a:latin typeface="Arial"/>
              </a:rPr>
              <a:t/>
            </a:r>
            <a:r>
              <a:rPr lang="en-US" sz="1200" dirty="0">
                <a:solidFill>
                  <a:srgbClr val="3B2A54"/>
                </a:solidFill>
                <a:latin typeface="Arial"/>
              </a:rPr>
              <a:t/>
            </a:r>
            <a:endParaRPr lang="en-US" sz="1200" b="0" dirty="0">
              <a:solidFill>
                <a:srgbClr val="3B2A54"/>
              </a:solidFill>
              <a:latin typeface="Arial"/>
            </a:endParaRPr>
          </a:p>
          <a:p>
            <a:pPr algn="l">
              <a:lnSpc>
                <a:spcPct val="150000"/>
              </a:lnSpc>
              <a:spcAft>
                <a:spcPts val="1200"/>
              </a:spcAft>
            </a:pPr>
            <a:r>
              <a:rPr sz="1200" b="0" dirty="0">
                <a:solidFill>
                  <a:srgbClr val="3B2A54"/>
                </a:solidFill>
                <a:latin typeface="Arial"/>
              </a:rPr>
              <a:t>Signing: central until gate 3</a:t>
            </a:r>
            <a:r>
              <a:rPr lang="en-US" sz="1200" b="0" dirty="0">
                <a:solidFill>
                  <a:srgbClr val="3B2A54"/>
                </a:solidFill>
                <a:latin typeface="Arial"/>
              </a:rPr>
              <a:t>, then delegated limits.</a:t>
            </a:r>
          </a:p>
          <a:p>
            <a:pPr algn="l">
              <a:lnSpc>
                <a:spcPct val="150000"/>
              </a:lnSpc>
              <a:spcAft>
                <a:spcPts val="1200"/>
              </a:spcAft>
            </a:pPr>
            <a:r>
              <a:rPr lang="en-US" sz="1200" b="0" dirty="0">
                <a:solidFill>
                  <a:srgbClr val="3B2A54"/>
                </a:solidFill>
                <a:latin typeface="Arial"/>
              </a:rPr>
              <a:t>Officers: qualified appointees, with D&amp;O cover before activation.</a:t>
            </a:r>
          </a:p>
          <a:p>
            <a:pPr algn="l">
              <a:lnSpc>
                <a:spcPct val="150000"/>
              </a:lnSpc>
              <a:spcAft>
                <a:spcPts val="1200"/>
              </a:spcAft>
            </a:pPr>
            <a:r>
              <a:rPr sz="1200" b="0" dirty="0">
                <a:solidFill>
                  <a:srgbClr val="3B2A54"/>
                </a:solidFill>
                <a:latin typeface="Arial"/>
              </a:rPr>
              <a:t>Legal confirms </a:t>
            </a:r>
            <a:r>
              <a:rPr lang="en-US" sz="1200" b="0" dirty="0">
                <a:solidFill>
                  <a:srgbClr val="3B2A54"/>
                </a:solidFill>
                <a:latin typeface="Arial"/>
              </a:rPr>
              <a:t>personal liability</a:t>
            </a:r>
            <a:r>
              <a:rPr sz="1200" b="0" dirty="0">
                <a:solidFill>
                  <a:srgbClr val="3B2A54"/>
                </a:solidFill>
                <a:latin typeface="Arial"/>
              </a:rPr>
              <a:t>. </a:t>
            </a:r>
            <a:r>
              <a:rPr lang="en-US" sz="1200" b="0" dirty="0">
                <a:solidFill>
                  <a:srgbClr val="3B2A54"/>
                </a:solidFill>
                <a:latin typeface="Arial"/>
              </a:rPr>
              <a:t>Regulatory filings start </a:t>
            </a:r>
            <a:r>
              <a:rPr sz="1200" b="0" dirty="0">
                <a:solidFill>
                  <a:srgbClr val="3B2A54"/>
                </a:solidFill>
                <a:latin typeface="Arial"/>
              </a:rPr>
              <a:t>at gate 1.</a:t>
            </a:r>
          </a:p>
          <a:p>
            <a:pPr algn="l">
              <a:lnSpc>
                <a:spcPct val="150000"/>
              </a:lnSpc>
              <a:spcAft>
                <a:spcPts val="1200"/>
              </a:spcAft>
            </a:pPr>
            <a:r>
              <a:rPr lang="en-US" sz="1200" b="0" dirty="0">
                <a:solidFill>
                  <a:srgbClr val="3B2A54"/>
                </a:solidFill>
                <a:latin typeface="Arial"/>
              </a:rPr>
              <a:t>Regulated entities need </a:t>
            </a:r>
            <a:r>
              <a:rPr sz="1200" b="0" dirty="0">
                <a:solidFill>
                  <a:srgbClr val="3B2A54"/>
                </a:solidFill>
                <a:latin typeface="Arial"/>
              </a:rPr>
              <a:t>a capital plan and </a:t>
            </a:r>
            <a:r>
              <a:rPr lang="en-US" sz="1200" b="0" dirty="0">
                <a:solidFill>
                  <a:srgbClr val="3B2A54"/>
                </a:solidFill>
                <a:latin typeface="Arial"/>
              </a:rPr>
              <a:t>Board oversight.</a:t>
            </a:r>
            <a:endParaRPr sz="1200" b="0" dirty="0">
              <a:solidFill>
                <a:srgbClr val="3B2A54"/>
              </a:solidFill>
              <a:latin typeface="Arial"/>
            </a:endParaRPr>
          </a:p>
        </p:txBody>
      </p:sp>
      <p:sp>
        <p:nvSpPr>
          <p:cNvPr id="6" name="Rounded Rectangle 5"/>
          <p:cNvSpPr/>
          <p:nvPr/>
        </p:nvSpPr>
        <p:spPr>
          <a:xfrm>
            <a:off x="60990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208776" y="1709928"/>
            <a:ext cx="5084064" cy="3127248"/>
          </a:xfrm>
          <a:prstGeom prst="rect">
            <a:avLst/>
          </a:prstGeom>
          <a:noFill/>
        </p:spPr>
        <p:txBody>
          <a:bodyPr wrap="square" anchor="t">
            <a:spAutoFit/>
          </a:bodyPr>
          <a:lstStyle/>
          <a:p>
            <a:pPr algn="l">
              <a:spcAft>
                <a:spcPts val="1200"/>
              </a:spcAft>
            </a:pPr>
            <a:r>
              <a:rPr lang="en-US" sz="1050" b="1" dirty="0">
                <a:solidFill>
                  <a:srgbClr val="820AD1"/>
                </a:solidFill>
                <a:latin typeface="Arial"/>
              </a:rPr>
              <a:t>CROSS-FUNCTIONAL LEADERSHIP</a:t>
            </a:r>
            <a:endParaRPr sz="1050" b="1" dirty="0">
              <a:solidFill>
                <a:srgbClr val="820AD1"/>
              </a:solidFill>
              <a:latin typeface="Arial"/>
            </a:endParaRPr>
          </a:p>
          <a:p>
            <a:pPr algn="l">
              <a:spcAft>
                <a:spcPts val="1200"/>
              </a:spcAft>
            </a:pPr>
            <a:r>
              <a:rPr lang="en-US" b="1" dirty="0">
                <a:solidFill>
                  <a:srgbClr val="11052C"/>
                </a:solidFill>
                <a:latin typeface="Arial"/>
              </a:rPr>
              <a:t>Accountability and escalation</a:t>
            </a:r>
            <a:endParaRPr b="1" dirty="0">
              <a:solidFill>
                <a:srgbClr val="11052C"/>
              </a:solidFill>
              <a:latin typeface="Arial"/>
            </a:endParaRPr>
          </a:p>
          <a:p>
            <a:pPr algn="l">
              <a:lnSpc>
                <a:spcPct val="150000"/>
              </a:lnSpc>
              <a:spcAft>
                <a:spcPts val="600"/>
              </a:spcAft>
            </a:pPr>
            <a:r>
              <a:rPr lang="en-US" sz="1200" b="0" dirty="0" err="1">
                <a:solidFill>
                  <a:srgbClr val="3B2A54"/>
                </a:solidFill>
                <a:latin typeface="Arial"/>
              </a:rPr>
              <a:t>CoS &amp; CG leads cadence and delivery; functions own the technical advice.</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CFO recommends, CEO selects the site; board appoints officers.</a:t>
            </a:r>
          </a:p>
          <a:p>
            <a:pPr algn="l">
              <a:lnSpc>
                <a:spcPct val="150000"/>
              </a:lnSpc>
              <a:spcAft>
                <a:spcPts val="600"/>
              </a:spcAft>
            </a:pPr>
            <a:r>
              <a:rPr lang="en-US" sz="1200" b="0" dirty="0">
                <a:solidFill>
                  <a:srgbClr val="3B2A54"/>
                </a:solidFill>
                <a:latin typeface="Arial"/>
              </a:rPr>
              <a:t>Weekly functional leads meeting with one decision log; monthly SteerCo.</a:t>
            </a:r>
            <a:r>
              <a:rPr lang="en-US" sz="1200" b="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When functions disagree, both views go in the log and reach the CFO within 48 hours with a recommendation; Legal and Compliance keep legality vetoes.</a:t>
            </a:r>
          </a:p>
        </p:txBody>
      </p:sp>
      <p:sp>
        <p:nvSpPr>
          <p:cNvPr id="8" name="Rounded Rectangle 7"/>
          <p:cNvSpPr/>
          <p:nvPr/>
        </p:nvSpPr>
        <p:spPr>
          <a:xfrm>
            <a:off x="61264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22376" y="5111496"/>
            <a:ext cx="3300984" cy="861774"/>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Tax residence </a:t>
            </a:r>
            <a:r>
              <a:rPr lang="en-US" sz="1200" b="1" dirty="0">
                <a:solidFill>
                  <a:srgbClr val="11052C"/>
                </a:solidFill>
                <a:latin typeface="Arial"/>
              </a:rPr>
              <a:t>planning changes</a:t>
            </a:r>
            <a:endParaRPr sz="1200" b="1" dirty="0">
              <a:solidFill>
                <a:srgbClr val="11052C"/>
              </a:solidFill>
              <a:latin typeface="Arial"/>
            </a:endParaRPr>
          </a:p>
          <a:p>
            <a:pPr algn="l">
              <a:spcAft>
                <a:spcPts val="400"/>
              </a:spcAft>
            </a:pPr>
            <a:r>
              <a:rPr sz="1050" b="0" dirty="0">
                <a:solidFill>
                  <a:srgbClr val="3B2A54"/>
                </a:solidFill>
                <a:latin typeface="Arial"/>
              </a:rPr>
              <a:t>Opinion at gate 1; meeting patterns unchanged; no early signing (Tax).</a:t>
            </a:r>
          </a:p>
        </p:txBody>
      </p:sp>
      <p:sp>
        <p:nvSpPr>
          <p:cNvPr id="10" name="Rounded Rectangle 9"/>
          <p:cNvSpPr/>
          <p:nvPr/>
        </p:nvSpPr>
        <p:spPr>
          <a:xfrm>
            <a:off x="422452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334256" y="5111496"/>
            <a:ext cx="3300984" cy="960120"/>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Officer approval runs late</a:t>
            </a:r>
          </a:p>
          <a:p>
            <a:pPr algn="l">
              <a:spcAft>
                <a:spcPts val="400"/>
              </a:spcAft>
            </a:pPr>
            <a:r>
              <a:rPr sz="1050" b="0" dirty="0">
                <a:solidFill>
                  <a:srgbClr val="3B2A54"/>
                </a:solidFill>
                <a:latin typeface="Arial"/>
              </a:rPr>
              <a:t>Files at gate 1; no activation before approval; the lease long-stop moves with it (Legal, People).</a:t>
            </a:r>
          </a:p>
        </p:txBody>
      </p:sp>
      <p:sp>
        <p:nvSpPr>
          <p:cNvPr id="12" name="Rounded Rectangle 11"/>
          <p:cNvSpPr/>
          <p:nvPr/>
        </p:nvSpPr>
        <p:spPr>
          <a:xfrm>
            <a:off x="783640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46136" y="5111496"/>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Dependence on </a:t>
            </a:r>
            <a:r>
              <a:rPr lang="en-US" sz="1200" b="1" dirty="0">
                <a:solidFill>
                  <a:srgbClr val="11052C"/>
                </a:solidFill>
                <a:latin typeface="Arial"/>
              </a:rPr>
              <a:t>the </a:t>
            </a:r>
            <a:r>
              <a:rPr lang="en-US" sz="1200" b="1" dirty="0" err="1">
                <a:solidFill>
                  <a:srgbClr val="11052C"/>
                </a:solidFill>
                <a:latin typeface="Arial"/>
              </a:rPr>
              <a:t>CoS</a:t>
            </a:r>
            <a:endParaRPr sz="1200" b="1" dirty="0">
              <a:solidFill>
                <a:srgbClr val="11052C"/>
              </a:solidFill>
              <a:latin typeface="Arial"/>
            </a:endParaRPr>
          </a:p>
          <a:p>
            <a:pPr algn="l">
              <a:spcAft>
                <a:spcPts val="400"/>
              </a:spcAft>
            </a:pPr>
            <a:r>
              <a:rPr sz="1050" b="0" dirty="0">
                <a:solidFill>
                  <a:srgbClr val="3B2A54"/>
                </a:solidFill>
                <a:latin typeface="Arial"/>
              </a:rPr>
              <a:t>A named deputy</a:t>
            </a:r>
            <a:r>
              <a:rPr lang="en-US" sz="1050" b="0" dirty="0">
                <a:solidFill>
                  <a:srgbClr val="3B2A54"/>
                </a:solidFill>
                <a:latin typeface="Arial"/>
              </a:rPr>
              <a:t> is the de facto #2 in command of the project;</a:t>
            </a:r>
            <a:r>
              <a:rPr sz="1050" b="0" dirty="0">
                <a:solidFill>
                  <a:srgbClr val="3B2A54"/>
                </a:solidFill>
                <a:latin typeface="Arial"/>
              </a:rPr>
              <a:t> the </a:t>
            </a:r>
            <a:r>
              <a:rPr lang="en-US" sz="1050" b="0" dirty="0">
                <a:solidFill>
                  <a:srgbClr val="3B2A54"/>
                </a:solidFill>
                <a:latin typeface="Arial"/>
              </a:rPr>
              <a:t>data, documents and </a:t>
            </a:r>
            <a:r>
              <a:rPr sz="1050" b="0" dirty="0">
                <a:solidFill>
                  <a:srgbClr val="3B2A54"/>
                </a:solidFill>
                <a:latin typeface="Arial"/>
              </a:rPr>
              <a:t>decision log</a:t>
            </a:r>
            <a:r>
              <a:rPr lang="en-US" sz="1050" b="0" dirty="0">
                <a:solidFill>
                  <a:srgbClr val="3B2A54"/>
                </a:solidFill>
                <a:latin typeface="Arial"/>
              </a:rPr>
              <a:t> exist in cloud shared environments</a:t>
            </a:r>
            <a:endParaRPr sz="1050" b="0" dirty="0">
              <a:solidFill>
                <a:srgbClr val="3B2A54"/>
              </a:solidFill>
              <a:latin typeface="Arial"/>
            </a:endParaRPr>
          </a:p>
        </p:txBody>
      </p:sp>
      <p:sp>
        <p:nvSpPr>
          <p:cNvPr id="14" name="TextBox 13"/>
          <p:cNvSpPr txBox="1"/>
          <p:nvPr/>
        </p:nvSpPr>
        <p:spPr>
          <a:xfrm>
            <a:off x="612648" y="6263640"/>
            <a:ext cx="10515600" cy="411480"/>
          </a:xfrm>
          <a:prstGeom prst="rect">
            <a:avLst/>
          </a:prstGeom>
          <a:noFill/>
        </p:spPr>
        <p:txBody>
          <a:bodyPr wrap="square" anchor="t">
            <a:spAutoFit/>
          </a:bodyPr>
          <a:lstStyle/>
          <a:p>
            <a:pPr algn="l"/>
            <a:r>
              <a:rPr sz="900" b="0">
                <a:solidFill>
                  <a:srgbClr val="6B5B82"/>
                </a:solidFill>
                <a:latin typeface="Arial"/>
              </a:rPr>
              <a:t>Signing limits and the delegation model are proposals. If the hub sits inside an existing licensed entity, gate 3 shrinks to a powers-of-attorney update (backup B). Full HQ risk register and site scorecard: backup </a:t>
            </a:r>
            <a:r>
              <a:rPr lang="en-US" sz="900" b="0">
                <a:solidFill>
                  <a:srgbClr val="6B5B82"/>
                </a:solidFill>
                <a:latin typeface="Arial"/>
              </a:rPr>
              <a:t>J</a:t>
            </a:r>
            <a:r>
              <a:rPr sz="900" b="0">
                <a:solidFill>
                  <a:srgbClr val="6B5B82"/>
                </a:solidFill>
                <a:latin typeface="Arial"/>
              </a:rPr>
              <a:t>.</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12</a:t>
            </a:r>
            <a:endParaRPr sz="900" b="0">
              <a:solidFill>
                <a:srgbClr val="6B5B82"/>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Proposal: </a:t>
            </a:r>
            <a:r>
              <a:rPr sz="2400" b="1" dirty="0">
                <a:solidFill>
                  <a:srgbClr val="11052C"/>
                </a:solidFill>
                <a:latin typeface="Arial"/>
              </a:rPr>
              <a:t>Four decision gates in 120 days; nothing signed between them</a:t>
            </a:r>
          </a:p>
        </p:txBody>
      </p:sp>
      <p:graphicFrame>
        <p:nvGraphicFramePr>
          <p:cNvPr id="4" name="Table 3"/>
          <p:cNvGraphicFramePr>
            <a:graphicFrameLocks noGrp="1"/>
          </p:cNvGraphicFramePr>
          <p:nvPr>
            <p:extLst>
              <p:ext uri="{D42A27DB-BD31-4B8C-83A1-F6EECF244321}">
                <p14:modId xmlns:p14="http://schemas.microsoft.com/office/powerpoint/2010/main" val="1398294443"/>
              </p:ext>
            </p:extLst>
          </p:nvPr>
        </p:nvGraphicFramePr>
        <p:xfrm>
          <a:off x="612648" y="1240012"/>
          <a:ext cx="10789920" cy="3304555"/>
        </p:xfrm>
        <a:graphic>
          <a:graphicData uri="http://schemas.openxmlformats.org/drawingml/2006/table">
            <a:tbl>
              <a:tblPr>
                <a:tableStyleId>{5C22544A-7EE6-4342-B048-85BDC9FD1C3A}</a:tableStyleId>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05284">
                <a:tc>
                  <a:txBody>
                    <a:bodyPr/>
                    <a:lstStyle/>
                    <a:p>
                      <a:r>
                        <a:rPr sz="1100" b="1" dirty="0">
                          <a:solidFill>
                            <a:srgbClr val="FFFFFF"/>
                          </a:solidFill>
                          <a:latin typeface="Arial"/>
                        </a:rPr>
                        <a:t>Gate</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tc>
                  <a:txBody>
                    <a:bodyPr/>
                    <a:lstStyle/>
                    <a:p>
                      <a:r>
                        <a:rPr sz="1100" b="1">
                          <a:solidFill>
                            <a:srgbClr val="FFFFFF"/>
                          </a:solidFill>
                          <a:latin typeface="Arial"/>
                        </a:rPr>
                        <a:t>What we negotiate</a:t>
                      </a:r>
                    </a:p>
                  </a:txBody>
                  <a:tcPr marL="64008" marR="64008" marT="36576" marB="36576" anchor="ctr">
                    <a:solidFill>
                      <a:srgbClr val="820AD1"/>
                    </a:solidFill>
                  </a:tcPr>
                </a:tc>
                <a:tc>
                  <a:txBody>
                    <a:bodyPr/>
                    <a:lstStyle/>
                    <a:p>
                      <a:r>
                        <a:rPr sz="1100" b="1">
                          <a:solidFill>
                            <a:srgbClr val="FFFFFF"/>
                          </a:solidFill>
                          <a:latin typeface="Arial"/>
                        </a:rPr>
                        <a:t>Exit test</a:t>
                      </a:r>
                    </a:p>
                  </a:txBody>
                  <a:tcPr marL="64008" marR="64008" marT="36576" marB="36576" anchor="ctr">
                    <a:solidFill>
                      <a:srgbClr val="820AD1"/>
                    </a:solidFill>
                  </a:tcPr>
                </a:tc>
                <a:tc>
                  <a:txBody>
                    <a:bodyPr/>
                    <a:lstStyle/>
                    <a:p>
                      <a:r>
                        <a:rPr sz="1100" b="1">
                          <a:solidFill>
                            <a:srgbClr val="FFFFFF"/>
                          </a:solidFill>
                          <a:latin typeface="Arial"/>
                        </a:rPr>
                        <a:t>Walk-away</a:t>
                      </a:r>
                    </a:p>
                  </a:txBody>
                  <a:tcPr marL="64008" marR="64008" marT="36576" marB="36576" anchor="ctr">
                    <a:solidFill>
                      <a:srgbClr val="820AD1"/>
                    </a:solidFill>
                  </a:tcPr>
                </a:tc>
                <a:extLst>
                  <a:ext uri="{0D108BD9-81ED-4DB2-BD59-A6C34878D82A}">
                    <a16:rowId xmlns:a16="http://schemas.microsoft.com/office/drawing/2014/main" val="10000"/>
                  </a:ext>
                </a:extLst>
              </a:tr>
              <a:tr h="611393">
                <a:tc>
                  <a:txBody>
                    <a:bodyPr/>
                    <a:lstStyle/>
                    <a:p>
                      <a:r>
                        <a:rPr sz="1050" b="1">
                          <a:solidFill>
                            <a:srgbClr val="11052C"/>
                          </a:solidFill>
                          <a:latin typeface="Arial"/>
                        </a:rPr>
                        <a:t>Gate 1, D+30: can we?</a:t>
                      </a:r>
                      <a:r>
                        <a:rPr sz="1050" b="0">
                          <a:solidFill>
                            <a:srgbClr val="11052C"/>
                          </a:solidFill>
                          <a:latin typeface="Arial"/>
                        </a:rPr>
                        <a:t>
Tax and residence</a:t>
                      </a:r>
                    </a:p>
                  </a:txBody>
                  <a:tcPr marL="64008" marR="64008" marT="36576" marB="36576" anchor="ctr">
                    <a:solidFill>
                      <a:srgbClr val="FFFFFF"/>
                    </a:solidFill>
                  </a:tcPr>
                </a:tc>
                <a:tc>
                  <a:txBody>
                    <a:bodyPr/>
                    <a:lstStyle/>
                    <a:p>
                      <a:r>
                        <a:rPr sz="1050" b="0">
                          <a:solidFill>
                            <a:srgbClr val="3B2A54"/>
                          </a:solidFill>
                          <a:latin typeface="Arial"/>
                        </a:rPr>
                        <a:t>Tax, with Compliance</a:t>
                      </a:r>
                    </a:p>
                  </a:txBody>
                  <a:tcPr marL="64008" marR="64008" marT="36576" marB="36576" anchor="ctr">
                    <a:solidFill>
                      <a:srgbClr val="FFFFFF"/>
                    </a:solidFill>
                  </a:tcPr>
                </a:tc>
                <a:tc>
                  <a:txBody>
                    <a:bodyPr/>
                    <a:lstStyle/>
                    <a:p>
                      <a:r>
                        <a:rPr sz="1050" b="0">
                          <a:solidFill>
                            <a:srgbClr val="3B2A54"/>
                          </a:solidFill>
                          <a:latin typeface="Arial"/>
                        </a:rPr>
                        <a:t>Nothing yet: internal</a:t>
                      </a:r>
                    </a:p>
                  </a:txBody>
                  <a:tcPr marL="64008" marR="64008" marT="36576" marB="36576" anchor="ctr">
                    <a:solidFill>
                      <a:srgbClr val="FFFFFF"/>
                    </a:solidFill>
                  </a:tcPr>
                </a:tc>
                <a:tc>
                  <a:txBody>
                    <a:bodyPr/>
                    <a:lstStyle/>
                    <a:p>
                      <a:r>
                        <a:rPr sz="1050" b="0">
                          <a:solidFill>
                            <a:srgbClr val="3B2A54"/>
                          </a:solidFill>
                          <a:latin typeface="Arial"/>
                        </a:rPr>
                        <a:t>Tax-residence and taxable-presence opinion for both sites; modeled tax rate holds under Pillar Two; Compliance confirms permission</a:t>
                      </a:r>
                    </a:p>
                  </a:txBody>
                  <a:tcPr marL="64008" marR="64008" marT="36576" marB="36576" anchor="ctr">
                    <a:solidFill>
                      <a:srgbClr val="FFFFFF"/>
                    </a:solidFill>
                  </a:tcPr>
                </a:tc>
                <a:tc>
                  <a:txBody>
                    <a:bodyPr/>
                    <a:lstStyle/>
                    <a:p>
                      <a:r>
                        <a:rPr sz="1050" b="0">
                          <a:solidFill>
                            <a:srgbClr val="3B2A54"/>
                          </a:solidFill>
                          <a:latin typeface="Arial"/>
                        </a:rPr>
                        <a:t>Any site where residence or a taxable presence moves, whatever the incentive</a:t>
                      </a:r>
                    </a:p>
                  </a:txBody>
                  <a:tcPr marL="64008" marR="64008" marT="36576" marB="36576" anchor="ctr">
                    <a:solidFill>
                      <a:srgbClr val="FFFFFF"/>
                    </a:solidFill>
                  </a:tcPr>
                </a:tc>
                <a:extLst>
                  <a:ext uri="{0D108BD9-81ED-4DB2-BD59-A6C34878D82A}">
                    <a16:rowId xmlns:a16="http://schemas.microsoft.com/office/drawing/2014/main" val="10001"/>
                  </a:ext>
                </a:extLst>
              </a:tr>
              <a:tr h="788243">
                <a:tc>
                  <a:txBody>
                    <a:bodyPr/>
                    <a:lstStyle/>
                    <a:p>
                      <a:r>
                        <a:rPr sz="1050" b="1">
                          <a:solidFill>
                            <a:srgbClr val="11052C"/>
                          </a:solidFill>
                          <a:latin typeface="Arial"/>
                        </a:rPr>
                        <a:t>Gate 2, D+60: what may we offer?</a:t>
                      </a:r>
                      <a:r>
                        <a:rPr sz="1050" b="0">
                          <a:solidFill>
                            <a:srgbClr val="11052C"/>
                          </a:solidFill>
                          <a:latin typeface="Arial"/>
                        </a:rPr>
                        <a:t>
Regulatory and grant terms</a:t>
                      </a:r>
                    </a:p>
                  </a:txBody>
                  <a:tcPr marL="64008" marR="64008" marT="36576" marB="36576" anchor="ctr">
                    <a:solidFill>
                      <a:srgbClr val="F7F2FD"/>
                    </a:solidFill>
                  </a:tcPr>
                </a:tc>
                <a:tc>
                  <a:txBody>
                    <a:bodyPr/>
                    <a:lstStyle/>
                    <a:p>
                      <a:r>
                        <a:rPr sz="1050" b="0">
                          <a:solidFill>
                            <a:srgbClr val="3B2A54"/>
                          </a:solidFill>
                          <a:latin typeface="Arial"/>
                        </a:rPr>
                        <a:t>Legal, with Tax</a:t>
                      </a:r>
                    </a:p>
                  </a:txBody>
                  <a:tcPr marL="64008" marR="64008" marT="36576" marB="36576" anchor="ctr">
                    <a:solidFill>
                      <a:srgbClr val="F7F2FD"/>
                    </a:solidFill>
                  </a:tcPr>
                </a:tc>
                <a:tc>
                  <a:txBody>
                    <a:bodyPr/>
                    <a:lstStyle/>
                    <a:p>
                      <a:r>
                        <a:rPr lang="en-US" sz="1050" b="0" dirty="0">
                          <a:solidFill>
                            <a:srgbClr val="3B2A54"/>
                          </a:solidFill>
                          <a:latin typeface="Arial"/>
                        </a:rPr>
                        <a:t>I</a:t>
                      </a:r>
                      <a:r>
                        <a:rPr sz="1050" b="0" dirty="0">
                          <a:solidFill>
                            <a:srgbClr val="3B2A54"/>
                          </a:solidFill>
                          <a:latin typeface="Arial"/>
                        </a:rPr>
                        <a:t>ncentive agreement </a:t>
                      </a:r>
                      <a:r>
                        <a:rPr lang="en-US" sz="1050" b="0" dirty="0">
                          <a:solidFill>
                            <a:srgbClr val="3B2A54"/>
                          </a:solidFill>
                          <a:latin typeface="Arial"/>
                        </a:rPr>
                        <a:t>with prospects</a:t>
                      </a:r>
                      <a:r>
                        <a:rPr sz="1050" b="0" dirty="0">
                          <a:solidFill>
                            <a:srgbClr val="3B2A54"/>
                          </a:solidFill>
                          <a:latin typeface="Arial"/>
                        </a:rPr>
                        <a:t>; commitments only inside the published plan</a:t>
                      </a:r>
                    </a:p>
                  </a:txBody>
                  <a:tcPr marL="64008" marR="64008" marT="36576" marB="36576" anchor="ctr">
                    <a:solidFill>
                      <a:srgbClr val="F7F2FD"/>
                    </a:solidFill>
                  </a:tcPr>
                </a:tc>
                <a:tc>
                  <a:txBody>
                    <a:bodyPr/>
                    <a:lstStyle/>
                    <a:p>
                      <a:r>
                        <a:rPr sz="1050" b="0" dirty="0">
                          <a:solidFill>
                            <a:srgbClr val="3B2A54"/>
                          </a:solidFill>
                          <a:latin typeface="Arial"/>
                        </a:rPr>
                        <a:t>Signed term sheet: </a:t>
                      </a:r>
                      <a:r>
                        <a:rPr lang="en-US" sz="1050" b="0" dirty="0">
                          <a:solidFill>
                            <a:srgbClr val="3B2A54"/>
                          </a:solidFill>
                          <a:latin typeface="Arial"/>
                        </a:rPr>
                        <a:t>negotiate 12-</a:t>
                      </a:r>
                      <a:r>
                        <a:rPr sz="1050" b="0" dirty="0">
                          <a:solidFill>
                            <a:srgbClr val="3B2A54"/>
                          </a:solidFill>
                          <a:latin typeface="Arial"/>
                        </a:rPr>
                        <a:t>24 months' grace; one site dropped</a:t>
                      </a:r>
                      <a:r>
                        <a:rPr lang="en-US" sz="1050" b="0" dirty="0">
                          <a:solidFill>
                            <a:srgbClr val="3B2A54"/>
                          </a:solidFill>
                          <a:latin typeface="Arial"/>
                        </a:rPr>
                        <a:t> by elimination criteria</a:t>
                      </a:r>
                      <a:endParaRPr sz="1050" b="0" dirty="0">
                        <a:solidFill>
                          <a:srgbClr val="3B2A54"/>
                        </a:solidFill>
                        <a:latin typeface="Arial"/>
                      </a:endParaRPr>
                    </a:p>
                  </a:txBody>
                  <a:tcPr marL="64008" marR="64008" marT="36576" marB="36576" anchor="ctr">
                    <a:solidFill>
                      <a:srgbClr val="F7F2FD"/>
                    </a:solidFill>
                  </a:tcPr>
                </a:tc>
                <a:tc>
                  <a:txBody>
                    <a:bodyPr/>
                    <a:lstStyle/>
                    <a:p>
                      <a:r>
                        <a:rPr sz="1050" b="0">
                          <a:solidFill>
                            <a:srgbClr val="3B2A54"/>
                          </a:solidFill>
                          <a:latin typeface="Arial"/>
                        </a:rPr>
                        <a:t>A cliff-edge clawback; a headcount commitment above plan; terms that bind other markets</a:t>
                      </a:r>
                    </a:p>
                  </a:txBody>
                  <a:tcPr marL="64008" marR="64008" marT="36576" marB="36576" anchor="ctr">
                    <a:solidFill>
                      <a:srgbClr val="F7F2FD"/>
                    </a:solidFill>
                  </a:tcPr>
                </a:tc>
                <a:extLst>
                  <a:ext uri="{0D108BD9-81ED-4DB2-BD59-A6C34878D82A}">
                    <a16:rowId xmlns:a16="http://schemas.microsoft.com/office/drawing/2014/main" val="10002"/>
                  </a:ext>
                </a:extLst>
              </a:tr>
              <a:tr h="788242">
                <a:tc>
                  <a:txBody>
                    <a:bodyPr/>
                    <a:lstStyle/>
                    <a:p>
                      <a:r>
                        <a:rPr sz="1050" b="1">
                          <a:solidFill>
                            <a:srgbClr val="11052C"/>
                          </a:solidFill>
                          <a:latin typeface="Arial"/>
                        </a:rPr>
                        <a:t>Gate 3, D+90: who may bind Nu?</a:t>
                      </a:r>
                      <a:r>
                        <a:rPr sz="1050" b="0">
                          <a:solidFill>
                            <a:srgbClr val="11052C"/>
                          </a:solidFill>
                          <a:latin typeface="Arial"/>
                        </a:rPr>
                        <a:t>
Officers and signing</a:t>
                      </a:r>
                    </a:p>
                  </a:txBody>
                  <a:tcPr marL="64008" marR="64008" marT="36576" marB="36576" anchor="ctr">
                    <a:solidFill>
                      <a:srgbClr val="FFFFFF"/>
                    </a:solidFill>
                  </a:tcPr>
                </a:tc>
                <a:tc>
                  <a:txBody>
                    <a:bodyPr/>
                    <a:lstStyle/>
                    <a:p>
                      <a:r>
                        <a:rPr sz="1050" b="0">
                          <a:solidFill>
                            <a:srgbClr val="3B2A54"/>
                          </a:solidFill>
                          <a:latin typeface="Arial"/>
                        </a:rPr>
                        <a:t>Legal and People</a:t>
                      </a:r>
                    </a:p>
                  </a:txBody>
                  <a:tcPr marL="64008" marR="64008" marT="36576" marB="36576" anchor="ctr">
                    <a:solidFill>
                      <a:srgbClr val="FFFFFF"/>
                    </a:solidFill>
                  </a:tcPr>
                </a:tc>
                <a:tc>
                  <a:txBody>
                    <a:bodyPr/>
                    <a:lstStyle/>
                    <a:p>
                      <a:r>
                        <a:rPr sz="1050" b="0">
                          <a:solidFill>
                            <a:srgbClr val="3B2A54"/>
                          </a:solidFill>
                          <a:latin typeface="Arial"/>
                        </a:rPr>
                        <a:t>Nothing external: Nu's own governance</a:t>
                      </a:r>
                    </a:p>
                  </a:txBody>
                  <a:tcPr marL="64008" marR="64008" marT="36576" marB="36576" anchor="ctr">
                    <a:solidFill>
                      <a:srgbClr val="FFFFFF"/>
                    </a:solidFill>
                  </a:tcPr>
                </a:tc>
                <a:tc>
                  <a:txBody>
                    <a:bodyPr/>
                    <a:lstStyle/>
                    <a:p>
                      <a:r>
                        <a:rPr sz="1050" b="0" dirty="0">
                          <a:solidFill>
                            <a:srgbClr val="3B2A54"/>
                          </a:solidFill>
                          <a:latin typeface="Arial"/>
                        </a:rPr>
                        <a:t>Officers named from licensed executives; fit-and-proper files in (started at gate 1); signing matrix and powers of attorney approved</a:t>
                      </a:r>
                    </a:p>
                  </a:txBody>
                  <a:tcPr marL="64008" marR="64008" marT="36576" marB="36576" anchor="ctr">
                    <a:solidFill>
                      <a:srgbClr val="FFFFFF"/>
                    </a:solidFill>
                  </a:tcPr>
                </a:tc>
                <a:tc>
                  <a:txBody>
                    <a:bodyPr/>
                    <a:lstStyle/>
                    <a:p>
                      <a:r>
                        <a:rPr sz="1050" b="0" dirty="0">
                          <a:solidFill>
                            <a:srgbClr val="3B2A54"/>
                          </a:solidFill>
                          <a:latin typeface="Arial"/>
                        </a:rPr>
                        <a:t>Any appointment without </a:t>
                      </a:r>
                      <a:r>
                        <a:rPr lang="en-US" sz="1050" b="0" dirty="0">
                          <a:solidFill>
                            <a:srgbClr val="3B2A54"/>
                          </a:solidFill>
                          <a:latin typeface="Arial"/>
                        </a:rPr>
                        <a:t>Compliance/Legal </a:t>
                      </a:r>
                      <a:r>
                        <a:rPr sz="1050" b="0" dirty="0">
                          <a:solidFill>
                            <a:srgbClr val="3B2A54"/>
                          </a:solidFill>
                          <a:latin typeface="Arial"/>
                        </a:rPr>
                        <a:t>cover or regulator approval</a:t>
                      </a:r>
                    </a:p>
                  </a:txBody>
                  <a:tcPr marL="64008" marR="64008" marT="36576" marB="36576" anchor="ctr">
                    <a:solidFill>
                      <a:srgbClr val="FFFFFF"/>
                    </a:solidFill>
                  </a:tcPr>
                </a:tc>
                <a:extLst>
                  <a:ext uri="{0D108BD9-81ED-4DB2-BD59-A6C34878D82A}">
                    <a16:rowId xmlns:a16="http://schemas.microsoft.com/office/drawing/2014/main" val="10003"/>
                  </a:ext>
                </a:extLst>
              </a:tr>
              <a:tr h="611393">
                <a:tc>
                  <a:txBody>
                    <a:bodyPr/>
                    <a:lstStyle/>
                    <a:p>
                      <a:r>
                        <a:rPr sz="1050" b="1">
                          <a:solidFill>
                            <a:srgbClr val="11052C"/>
                          </a:solidFill>
                          <a:latin typeface="Arial"/>
                        </a:rPr>
                        <a:t>Gate 4, D+120: do we commit?</a:t>
                      </a:r>
                      <a:r>
                        <a:rPr sz="1050" b="0">
                          <a:solidFill>
                            <a:srgbClr val="11052C"/>
                          </a:solidFill>
                          <a:latin typeface="Arial"/>
                        </a:rPr>
                        <a:t>
Lease and campus</a:t>
                      </a:r>
                    </a:p>
                  </a:txBody>
                  <a:tcPr marL="64008" marR="64008" marT="36576" marB="36576" anchor="ctr">
                    <a:solidFill>
                      <a:srgbClr val="F7F2FD"/>
                    </a:solidFill>
                  </a:tcPr>
                </a:tc>
                <a:tc>
                  <a:txBody>
                    <a:bodyPr/>
                    <a:lstStyle/>
                    <a:p>
                      <a:r>
                        <a:rPr sz="1050" b="0">
                          <a:solidFill>
                            <a:srgbClr val="3B2A54"/>
                          </a:solidFill>
                          <a:latin typeface="Arial"/>
                        </a:rPr>
                        <a:t>Workplace, with Legal</a:t>
                      </a:r>
                    </a:p>
                  </a:txBody>
                  <a:tcPr marL="64008" marR="64008" marT="36576" marB="36576" anchor="ctr">
                    <a:solidFill>
                      <a:srgbClr val="F7F2FD"/>
                    </a:solidFill>
                  </a:tcPr>
                </a:tc>
                <a:tc>
                  <a:txBody>
                    <a:bodyPr/>
                    <a:lstStyle/>
                    <a:p>
                      <a:r>
                        <a:rPr sz="1050" b="0">
                          <a:solidFill>
                            <a:srgbClr val="3B2A54"/>
                          </a:solidFill>
                          <a:latin typeface="Arial"/>
                        </a:rPr>
                        <a:t>Lease or build-to-suit, fit-out, utilities, infrastructure contribution</a:t>
                      </a:r>
                    </a:p>
                  </a:txBody>
                  <a:tcPr marL="64008" marR="64008" marT="36576" marB="36576" anchor="ctr">
                    <a:solidFill>
                      <a:srgbClr val="F7F2FD"/>
                    </a:solidFill>
                  </a:tcPr>
                </a:tc>
                <a:tc>
                  <a:txBody>
                    <a:bodyPr/>
                    <a:lstStyle/>
                    <a:p>
                      <a:r>
                        <a:rPr sz="1050" b="0">
                          <a:solidFill>
                            <a:srgbClr val="3B2A54"/>
                          </a:solidFill>
                          <a:latin typeface="Arial"/>
                        </a:rPr>
                        <a:t>Lease inside the FY27 plan, cost phased, a break option matched to the grant's grace, a long-stop date tied to gate 2</a:t>
                      </a:r>
                    </a:p>
                  </a:txBody>
                  <a:tcPr marL="64008" marR="64008" marT="36576" marB="36576" anchor="ctr">
                    <a:solidFill>
                      <a:srgbClr val="F7F2FD"/>
                    </a:solidFill>
                  </a:tcPr>
                </a:tc>
                <a:tc>
                  <a:txBody>
                    <a:bodyPr/>
                    <a:lstStyle/>
                    <a:p>
                      <a:r>
                        <a:rPr sz="1050" b="0" dirty="0">
                          <a:solidFill>
                            <a:srgbClr val="3B2A54"/>
                          </a:solidFill>
                          <a:latin typeface="Arial"/>
                        </a:rPr>
                        <a:t>No break option, or cost committed before the incentive is signed</a:t>
                      </a:r>
                    </a:p>
                  </a:txBody>
                  <a:tcPr marL="64008" marR="64008" marT="36576" marB="36576" anchor="ctr">
                    <a:solidFill>
                      <a:srgbClr val="F7F2FD"/>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612648" y="4681728"/>
            <a:ext cx="10789920" cy="10972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95528" y="4956269"/>
            <a:ext cx="10424160" cy="584775"/>
          </a:xfrm>
          <a:prstGeom prst="rect">
            <a:avLst/>
          </a:prstGeom>
          <a:noFill/>
        </p:spPr>
        <p:txBody>
          <a:bodyPr wrap="square" anchor="ctr">
            <a:spAutoFit/>
          </a:bodyPr>
          <a:lstStyle/>
          <a:p>
            <a:pPr algn="l"/>
            <a:r>
              <a:rPr lang="en-US" sz="1600" b="1">
                <a:solidFill>
                  <a:srgbClr val="FFFFFF"/>
                </a:solidFill>
                <a:latin typeface="Arial"/>
              </a:rPr>
              <a:t>CoS &amp; CG acts as the PMO / project lead to gather inputs from involved stakeholders, establish progress tracking, provide assessments and recommendations, and support MTeam decision-making discussions.</a:t>
            </a:r>
            <a:endParaRPr sz="1600" b="0" dirty="0">
              <a:solidFill>
                <a:srgbClr val="FFFFFF"/>
              </a:solidFill>
              <a:latin typeface="Arial"/>
            </a:endParaRP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13</a:t>
            </a:r>
            <a:endParaRPr sz="900" b="0">
              <a:solidFill>
                <a:srgbClr val="6B5B82"/>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457200"/>
          </a:xfrm>
          <a:prstGeom prst="rect">
            <a:avLst/>
          </a:prstGeom>
          <a:noFill/>
        </p:spPr>
        <p:txBody>
          <a:bodyPr wrap="square" anchor="t">
            <a:spAutoFit/>
          </a:bodyPr>
          <a:lstStyle/>
          <a:p>
            <a:pPr algn="l"/>
            <a:r>
              <a:rPr lang="en-US" sz="2400" b="1">
                <a:solidFill>
                  <a:srgbClr val="11052C"/>
                </a:solidFill>
                <a:latin typeface="Arial"/>
              </a:rPr>
              <a:t>Leadership approach</a:t>
            </a:r>
            <a:r>
              <a:rPr sz="2400" b="1">
                <a:solidFill>
                  <a:srgbClr val="11052C"/>
                </a:solidFill>
                <a:latin typeface="Arial"/>
              </a:rPr>
              <a:t>: </a:t>
            </a:r>
            <a:r>
              <a:rPr lang="en-US" sz="2400" b="1">
                <a:solidFill>
                  <a:srgbClr val="11052C"/>
                </a:solidFill>
                <a:latin typeface="Arial"/>
              </a:rPr>
              <a:t>trust</a:t>
            </a:r>
            <a:r>
              <a:rPr sz="2400" b="1">
                <a:solidFill>
                  <a:srgbClr val="11052C"/>
                </a:solidFill>
                <a:latin typeface="Arial"/>
              </a:rPr>
              <a:t>, </a:t>
            </a:r>
            <a:r>
              <a:rPr lang="en-US" sz="2400" b="1">
                <a:solidFill>
                  <a:srgbClr val="11052C"/>
                </a:solidFill>
                <a:latin typeface="Arial"/>
              </a:rPr>
              <a:t>accountability </a:t>
            </a:r>
            <a:r>
              <a:rPr sz="2400" b="1">
                <a:solidFill>
                  <a:srgbClr val="11052C"/>
                </a:solidFill>
                <a:latin typeface="Arial"/>
              </a:rPr>
              <a:t>and </a:t>
            </a:r>
            <a:r>
              <a:rPr lang="en-US" sz="2400" b="1">
                <a:solidFill>
                  <a:srgbClr val="11052C"/>
                </a:solidFill>
                <a:latin typeface="Arial"/>
              </a:rPr>
              <a:t>follow-through</a:t>
            </a:r>
            <a:endParaRPr sz="2400" b="1">
              <a:solidFill>
                <a:srgbClr val="11052C"/>
              </a:solidFill>
              <a:latin typeface="Arial"/>
            </a:endParaRPr>
          </a:p>
        </p:txBody>
      </p:sp>
      <p:sp>
        <p:nvSpPr>
          <p:cNvPr id="12" name="TextBox 11"/>
          <p:cNvSpPr txBox="1"/>
          <p:nvPr/>
        </p:nvSpPr>
        <p:spPr>
          <a:xfrm>
            <a:off x="612648" y="6172200"/>
            <a:ext cx="10515600" cy="230832"/>
          </a:xfrm>
          <a:prstGeom prst="rect">
            <a:avLst/>
          </a:prstGeom>
          <a:noFill/>
        </p:spPr>
        <p:txBody>
          <a:bodyPr wrap="square" anchor="t">
            <a:spAutoFit/>
          </a:bodyPr>
          <a:lstStyle/>
          <a:p>
            <a:pPr algn="l"/>
            <a:r>
              <a:rPr lang="en-US" sz="900" b="0">
                <a:solidFill>
                  <a:srgbClr val="6B5B82"/>
                </a:solidFill>
                <a:latin typeface="Arial"/>
              </a:rPr>
              <a:t>Proposed approach. Fair process: Kim and Mauborgne (HBR).</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14</a:t>
            </a:r>
          </a:p>
        </p:txBody>
      </p:sp>
      <p:sp>
        <p:nvSpPr>
          <p:cNvPr id="10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TRUST</a:t>
            </a:r>
          </a:p>
          <a:p>
            <a:pPr algn="l">
              <a:spcAft>
                <a:spcPts val="600"/>
              </a:spcAft>
            </a:pPr>
            <a:r>
              <a:rPr sz="1600" b="1">
                <a:solidFill>
                  <a:srgbClr val="11052C"/>
                </a:solidFill>
                <a:latin typeface="Arial"/>
              </a:rPr>
              <a:t>Business partnership</a:t>
            </a:r>
          </a:p>
          <a:p>
            <a:pPr algn="l">
              <a:spcAft>
                <a:spcPts val="400"/>
              </a:spcAft>
            </a:pPr>
            <a:r>
              <a:rPr lang="en-US" sz="1400" b="0">
                <a:solidFill>
                  <a:srgbClr val="3B2A54"/>
                </a:solidFill>
                <a:latin typeface="Arial"/>
              </a:rPr>
              <a:t>Understand GM priorities through private conversations. Work with Country and BU teams, engage their experts and develop recommendations together.</a:t>
            </a:r>
            <a:endParaRPr sz="1400" b="0">
              <a:solidFill>
                <a:srgbClr val="3B2A54"/>
              </a:solidFill>
              <a:latin typeface="Arial"/>
            </a:endParaRPr>
          </a:p>
        </p:txBody>
      </p:sp>
      <p:sp>
        <p:nvSpPr>
          <p:cNvPr id="10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ALIGNMENT</a:t>
            </a:r>
          </a:p>
          <a:p>
            <a:pPr algn="l">
              <a:spcAft>
                <a:spcPts val="600"/>
              </a:spcAft>
            </a:pPr>
            <a:r>
              <a:rPr sz="1600" b="1">
                <a:solidFill>
                  <a:srgbClr val="11052C"/>
                </a:solidFill>
                <a:latin typeface="Arial"/>
              </a:rPr>
              <a:t>Clear recommendations</a:t>
            </a:r>
          </a:p>
          <a:p>
            <a:pPr algn="l">
              <a:spcAft>
                <a:spcPts val="400"/>
              </a:spcAft>
            </a:pPr>
            <a:r>
              <a:rPr sz="1400" b="0">
                <a:solidFill>
                  <a:srgbClr val="3B2A54"/>
                </a:solidFill>
                <a:latin typeface="Arial"/>
              </a:rPr>
              <a:t>Make criteria explicit before decisions. Resolve differences privately. Bring unresolved trade-offs to the CFO with a recommendation and a record of dissent.</a:t>
            </a:r>
          </a:p>
        </p:txBody>
      </p:sp>
      <p:sp>
        <p:nvSpPr>
          <p:cNvPr id="10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a:solidFill>
                  <a:srgbClr val="820AD1"/>
                </a:solidFill>
                <a:latin typeface="Arial"/>
              </a:rPr>
              <a:t>EXECUTION</a:t>
            </a:r>
          </a:p>
          <a:p>
            <a:pPr algn="l">
              <a:spcAft>
                <a:spcPts val="600"/>
              </a:spcAft>
            </a:pPr>
            <a:r>
              <a:rPr lang="en-US" sz="1600" b="1">
                <a:solidFill>
                  <a:srgbClr val="11052C"/>
                </a:solidFill>
                <a:latin typeface="Arial"/>
              </a:rPr>
              <a:t>Visible accountability</a:t>
            </a:r>
            <a:endParaRPr sz="1600" b="1">
              <a:solidFill>
                <a:srgbClr val="11052C"/>
              </a:solidFill>
              <a:latin typeface="Arial"/>
            </a:endParaRPr>
          </a:p>
          <a:p>
            <a:pPr algn="l">
              <a:spcAft>
                <a:spcPts val="400"/>
              </a:spcAft>
            </a:pPr>
            <a:r>
              <a:rPr lang="en-US" sz="1400" b="0">
                <a:solidFill>
                  <a:srgbClr val="3B2A54"/>
                </a:solidFill>
                <a:latin typeface="Arial"/>
              </a:rPr>
              <a:t>The lead aligns executives. The team runs the calendar, prepares briefs and tracks actions. Every commitment has an owner and date. AI supports analysis, people validate it.</a:t>
            </a:r>
            <a:endParaRPr sz="1400" b="0">
              <a:solidFill>
                <a:srgbClr val="3B2A54"/>
              </a:solidFill>
              <a:latin typeface="Arial"/>
            </a:endParaRPr>
          </a:p>
        </p:txBody>
      </p:sp>
      <p:sp>
        <p:nvSpPr>
          <p:cNvPr id="1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a:solidFill>
                  <a:srgbClr val="820AD1"/>
                </a:solidFill>
                <a:latin typeface="Arial"/>
              </a:rPr>
              <a:t>LEARNING</a:t>
            </a:r>
          </a:p>
          <a:p>
            <a:pPr algn="l">
              <a:spcAft>
                <a:spcPts val="600"/>
              </a:spcAft>
            </a:pPr>
            <a:r>
              <a:rPr lang="en-US" sz="1600" b="1">
                <a:solidFill>
                  <a:srgbClr val="11052C"/>
                </a:solidFill>
                <a:latin typeface="Arial"/>
              </a:rPr>
              <a:t>Regular course correction</a:t>
            </a:r>
            <a:endParaRPr sz="1600" b="1">
              <a:solidFill>
                <a:srgbClr val="11052C"/>
              </a:solidFill>
              <a:latin typeface="Arial"/>
            </a:endParaRPr>
          </a:p>
          <a:p>
            <a:pPr algn="l">
              <a:spcAft>
                <a:spcPts val="400"/>
              </a:spcAft>
            </a:pPr>
            <a:r>
              <a:rPr lang="en-US" sz="1400" b="0">
                <a:solidFill>
                  <a:srgbClr val="3B2A54"/>
                </a:solidFill>
                <a:latin typeface="Arial"/>
              </a:rPr>
              <a:t>Start with a clear proposal and review date. Use quarterly reviews to assess results and change what is not working. Seek GM feedback twice a year.</a:t>
            </a:r>
            <a:endParaRPr sz="1400" b="0">
              <a:solidFill>
                <a:srgbClr val="3B2A54"/>
              </a:solidFill>
              <a:latin typeface="Arial"/>
            </a:endParaRPr>
          </a:p>
        </p:txBody>
      </p:sp>
      <p:sp>
        <p:nvSpPr>
          <p:cNvPr id="1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2"/>
          <p:cNvSpPr txBox="1"/>
          <p:nvPr/>
        </p:nvSpPr>
        <p:spPr>
          <a:xfrm>
            <a:off x="795528" y="4668900"/>
            <a:ext cx="10424160" cy="1077218"/>
          </a:xfrm>
          <a:prstGeom prst="rect">
            <a:avLst/>
          </a:prstGeom>
          <a:noFill/>
        </p:spPr>
        <p:txBody>
          <a:bodyPr wrap="square" anchor="ctr">
            <a:spAutoFit/>
          </a:bodyPr>
          <a:lstStyle/>
          <a:p>
            <a:r>
              <a:rPr sz="1600" b="1">
                <a:solidFill>
                  <a:srgbClr val="FFFFFF"/>
                </a:solidFill>
                <a:latin typeface="Arial"/>
              </a:rPr>
              <a:t>Working discipline: weekly CFO alignment, monthly GM discussions and Board preparation against agreed deadlines.</a:t>
            </a:r>
          </a:p>
          <a:p>
            <a:r>
              <a:rPr sz="1600" b="1">
                <a:solidFill>
                  <a:srgbClr val="FFFFFF"/>
                </a:solidFill>
                <a:latin typeface="Arial"/>
              </a:rPr>
              <a:t>Track actions after each Board. Escalate material issues promptly. Keep local decision rights and specialist governance intact.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Working with the markets: who owns what, and how we learn</a:t>
            </a:r>
          </a:p>
        </p:txBody>
      </p:sp>
      <p:graphicFrame>
        <p:nvGraphicFramePr>
          <p:cNvPr id="4" name="Table 3"/>
          <p:cNvGraphicFramePr>
            <a:graphicFrameLocks noGrp="1"/>
          </p:cNvGraphicFramePr>
          <p:nvPr>
            <p:extLst>
              <p:ext uri="{D42A27DB-BD31-4B8C-83A1-F6EECF244321}">
                <p14:modId xmlns:p14="http://schemas.microsoft.com/office/powerpoint/2010/main" val="1362494170"/>
              </p:ext>
            </p:extLst>
          </p:nvPr>
        </p:nvGraphicFramePr>
        <p:xfrm>
          <a:off x="612648" y="1600200"/>
          <a:ext cx="10789920" cy="2831592"/>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685800">
                <a:tc>
                  <a:txBody>
                    <a:bodyPr/>
                    <a:lstStyle/>
                    <a:p>
                      <a:r>
                        <a:rPr lang="en-US" sz="1150" b="1" dirty="0">
                          <a:solidFill>
                            <a:srgbClr val="FFFFFF"/>
                          </a:solidFill>
                          <a:latin typeface="Arial"/>
                        </a:rPr>
                        <a:t>Topic</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owns</a:t>
                      </a: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influence</a:t>
                      </a:r>
                      <a:r>
                        <a:rPr lang="en-US" sz="1150" b="1" dirty="0">
                          <a:solidFill>
                            <a:srgbClr val="FFFFFF"/>
                          </a:solidFill>
                          <a:latin typeface="Arial"/>
                        </a:rPr>
                        <a:t>s</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a:solidFill>
                            <a:srgbClr val="FFFFFF"/>
                          </a:solidFill>
                          <a:latin typeface="Arial"/>
                        </a:rPr>
                        <a:t>GMs </a:t>
                      </a:r>
                      <a:r>
                        <a:rPr sz="1150" b="1" dirty="0">
                          <a:solidFill>
                            <a:srgbClr val="FFFFFF"/>
                          </a:solidFill>
                          <a:latin typeface="Arial"/>
                        </a:rPr>
                        <a:t>and </a:t>
                      </a:r>
                      <a:r>
                        <a:rPr lang="en-US" sz="1150" b="1" dirty="0">
                          <a:solidFill>
                            <a:srgbClr val="FFFFFF"/>
                          </a:solidFill>
                          <a:latin typeface="Arial"/>
                        </a:rPr>
                        <a:t>Local/BU CFOs </a:t>
                      </a:r>
                      <a:r>
                        <a:rPr sz="1150" b="1" dirty="0">
                          <a:solidFill>
                            <a:srgbClr val="FFFFFF"/>
                          </a:solidFill>
                          <a:latin typeface="Arial"/>
                        </a:rPr>
                        <a:t>own</a:t>
                      </a:r>
                    </a:p>
                  </a:txBody>
                  <a:tcPr marL="64008" marR="64008" marT="36576" marB="36576" anchor="ctr">
                    <a:solidFill>
                      <a:srgbClr val="820AD1"/>
                    </a:solidFill>
                  </a:tcPr>
                </a:tc>
                <a:extLst>
                  <a:ext uri="{0D108BD9-81ED-4DB2-BD59-A6C34878D82A}">
                    <a16:rowId xmlns:a16="http://schemas.microsoft.com/office/drawing/2014/main" val="10000"/>
                  </a:ext>
                </a:extLst>
              </a:tr>
              <a:tr h="685800">
                <a:tc>
                  <a:txBody>
                    <a:bodyPr/>
                    <a:lstStyle/>
                    <a:p>
                      <a:r>
                        <a:rPr lang="en-US" sz="1150" b="1">
                          <a:solidFill>
                            <a:srgbClr val="11052C"/>
                          </a:solidFill>
                          <a:latin typeface="Arial"/>
                        </a:rPr>
                        <a:t>Planning</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One working model; alignment with Geographies and Functions; the investment business case requirements and template; a read of every first-release case before the lock</a:t>
                      </a:r>
                      <a:endParaRPr lang="en-US"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GM</a:t>
                      </a:r>
                      <a:r>
                        <a:rPr lang="en-US" sz="1150" b="0" dirty="0">
                          <a:solidFill>
                            <a:srgbClr val="3B2A54"/>
                          </a:solidFill>
                          <a:latin typeface="Arial"/>
                        </a:rPr>
                        <a:t>/CFO</a:t>
                      </a:r>
                      <a:r>
                        <a:rPr sz="1150" b="0" dirty="0">
                          <a:solidFill>
                            <a:srgbClr val="3B2A54"/>
                          </a:solidFill>
                          <a:latin typeface="Arial"/>
                        </a:rPr>
                        <a:t> one-to-ones; the </a:t>
                      </a:r>
                      <a:r>
                        <a:rPr lang="en-US" sz="1150" b="0" dirty="0">
                          <a:solidFill>
                            <a:srgbClr val="3B2A54"/>
                          </a:solidFill>
                          <a:latin typeface="Arial"/>
                        </a:rPr>
                        <a:t>Board prep </a:t>
                      </a:r>
                      <a:r>
                        <a:rPr sz="1150" b="0" dirty="0">
                          <a:solidFill>
                            <a:srgbClr val="3B2A54"/>
                          </a:solidFill>
                          <a:latin typeface="Arial"/>
                        </a:rPr>
                        <a:t>with the CEO and CFO; </a:t>
                      </a:r>
                      <a:r>
                        <a:rPr lang="en-US" sz="1150" b="0" dirty="0">
                          <a:solidFill>
                            <a:srgbClr val="3B2A54"/>
                          </a:solidFill>
                          <a:latin typeface="Arial"/>
                        </a:rPr>
                        <a:t>IR and Investor day prep</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The </a:t>
                      </a:r>
                      <a:r>
                        <a:rPr lang="en-US" sz="1150" b="0" dirty="0">
                          <a:solidFill>
                            <a:srgbClr val="3B2A54"/>
                          </a:solidFill>
                          <a:latin typeface="Arial"/>
                        </a:rPr>
                        <a:t>P&amp;L </a:t>
                      </a:r>
                      <a:r>
                        <a:rPr sz="1150" b="0" dirty="0">
                          <a:solidFill>
                            <a:srgbClr val="3B2A54"/>
                          </a:solidFill>
                          <a:latin typeface="Arial"/>
                        </a:rPr>
                        <a:t>numbers </a:t>
                      </a:r>
                      <a:r>
                        <a:rPr lang="en-US" sz="1150" b="0" dirty="0">
                          <a:solidFill>
                            <a:srgbClr val="3B2A54"/>
                          </a:solidFill>
                          <a:latin typeface="Arial"/>
                        </a:rPr>
                        <a:t>and drivers; rationale and data behind asks; </a:t>
                      </a:r>
                      <a:r>
                        <a:rPr sz="1150" b="0" dirty="0">
                          <a:solidFill>
                            <a:srgbClr val="3B2A54"/>
                          </a:solidFill>
                          <a:latin typeface="Arial"/>
                        </a:rPr>
                        <a:t>local</a:t>
                      </a:r>
                      <a:r>
                        <a:rPr lang="en-US" sz="1150" b="0" dirty="0">
                          <a:solidFill>
                            <a:srgbClr val="3B2A54"/>
                          </a:solidFill>
                          <a:latin typeface="Arial"/>
                        </a:rPr>
                        <a:t> </a:t>
                      </a:r>
                      <a:r>
                        <a:rPr sz="1150" b="0" dirty="0">
                          <a:solidFill>
                            <a:srgbClr val="3B2A54"/>
                          </a:solidFill>
                          <a:latin typeface="Arial"/>
                        </a:rPr>
                        <a:t>CFO</a:t>
                      </a:r>
                      <a:r>
                        <a:rPr lang="en-US" sz="1150" b="0" dirty="0">
                          <a:solidFill>
                            <a:srgbClr val="3B2A54"/>
                          </a:solidFill>
                          <a:latin typeface="Arial"/>
                        </a:rPr>
                        <a:t>-level</a:t>
                      </a:r>
                      <a:r>
                        <a:rPr sz="1150" b="0" dirty="0">
                          <a:solidFill>
                            <a:srgbClr val="3B2A54"/>
                          </a:solidFill>
                          <a:latin typeface="Arial"/>
                        </a:rPr>
                        <a:t> decision rights</a:t>
                      </a:r>
                    </a:p>
                  </a:txBody>
                  <a:tcPr marL="64008" marR="64008" marT="36576" marB="36576" anchor="ctr">
                    <a:solidFill>
                      <a:srgbClr val="FFFFFF"/>
                    </a:solidFill>
                  </a:tcPr>
                </a:tc>
                <a:extLst>
                  <a:ext uri="{0D108BD9-81ED-4DB2-BD59-A6C34878D82A}">
                    <a16:rowId xmlns:a16="http://schemas.microsoft.com/office/drawing/2014/main" val="10001"/>
                  </a:ext>
                </a:extLst>
              </a:tr>
              <a:tr h="685800">
                <a:tc>
                  <a:txBody>
                    <a:bodyPr/>
                    <a:lstStyle/>
                    <a:p>
                      <a:r>
                        <a:rPr lang="en-US" sz="1150" b="1">
                          <a:solidFill>
                            <a:srgbClr val="11052C"/>
                          </a:solidFill>
                          <a:latin typeface="Arial"/>
                        </a:rPr>
                        <a:t>Board</a:t>
                      </a:r>
                      <a:endParaRPr lang="en-US" sz="1150" b="1" dirty="0">
                        <a:solidFill>
                          <a:srgbClr val="11052C"/>
                        </a:solidFill>
                        <a:latin typeface="Arial"/>
                      </a:endParaRPr>
                    </a:p>
                  </a:txBody>
                  <a:tcPr marL="64008" marR="64008" marT="36576" marB="36576" anchor="ctr">
                    <a:solidFill>
                      <a:srgbClr val="F7F2FD"/>
                    </a:solidFill>
                  </a:tcPr>
                </a:tc>
                <a:tc>
                  <a:txBody>
                    <a:bodyPr/>
                    <a:lstStyle/>
                    <a:p>
                      <a:r>
                        <a:rPr lang="en-US" sz="1150" b="0">
                          <a:solidFill>
                            <a:srgbClr val="3B2A54"/>
                          </a:solidFill>
                          <a:latin typeface="Arial"/>
                        </a:rPr>
                        <a:t>The board prep timeline and schedule; the coordination with stakeholders; tracking topics and projects; reporting results and outcomes</a:t>
                      </a:r>
                      <a:endParaRPr lang="en-US" sz="1150" b="0" dirty="0">
                        <a:solidFill>
                          <a:srgbClr val="3B2A54"/>
                        </a:solidFill>
                        <a:latin typeface="Arial"/>
                      </a:endParaRPr>
                    </a:p>
                  </a:txBody>
                  <a:tcPr marL="64008" marR="64008" marT="36576" marB="36576" anchor="ctr">
                    <a:solidFill>
                      <a:srgbClr val="F7F2FD"/>
                    </a:solidFill>
                  </a:tcPr>
                </a:tc>
                <a:tc>
                  <a:txBody>
                    <a:bodyPr/>
                    <a:lstStyle/>
                    <a:p>
                      <a:r>
                        <a:rPr lang="en-US" sz="1150" b="0" dirty="0" err="1">
                          <a:solidFill>
                            <a:srgbClr val="3B2A54"/>
                          </a:solidFill>
                          <a:latin typeface="Arial"/>
                        </a:rPr>
                        <a:t>MTeam</a:t>
                      </a:r>
                      <a:r>
                        <a:rPr lang="en-US" sz="1150" b="0" dirty="0">
                          <a:solidFill>
                            <a:srgbClr val="3B2A54"/>
                          </a:solidFill>
                          <a:latin typeface="Arial"/>
                        </a:rPr>
                        <a:t> alignment; prioritization; business case for capital asks</a:t>
                      </a:r>
                      <a:endParaRPr sz="1150" b="0" dirty="0">
                        <a:solidFill>
                          <a:srgbClr val="3B2A54"/>
                        </a:solidFill>
                        <a:latin typeface="Arial"/>
                      </a:endParaRPr>
                    </a:p>
                  </a:txBody>
                  <a:tcPr marL="64008" marR="64008" marT="36576" marB="36576" anchor="ctr">
                    <a:solidFill>
                      <a:srgbClr val="F7F2FD"/>
                    </a:solidFill>
                  </a:tcPr>
                </a:tc>
                <a:tc>
                  <a:txBody>
                    <a:bodyPr/>
                    <a:lstStyle/>
                    <a:p>
                      <a:r>
                        <a:rPr sz="1150" b="0" dirty="0">
                          <a:solidFill>
                            <a:srgbClr val="3B2A54"/>
                          </a:solidFill>
                          <a:latin typeface="Arial"/>
                        </a:rPr>
                        <a:t>The </a:t>
                      </a:r>
                      <a:r>
                        <a:rPr lang="en-US" sz="1150" b="0" dirty="0">
                          <a:solidFill>
                            <a:srgbClr val="3B2A54"/>
                          </a:solidFill>
                          <a:latin typeface="Arial"/>
                        </a:rPr>
                        <a:t>narrative and positioning; supporting </a:t>
                      </a:r>
                      <a:r>
                        <a:rPr sz="1150" b="0" dirty="0">
                          <a:solidFill>
                            <a:srgbClr val="3B2A54"/>
                          </a:solidFill>
                          <a:latin typeface="Arial"/>
                        </a:rPr>
                        <a:t>the </a:t>
                      </a:r>
                      <a:r>
                        <a:rPr lang="en-US" sz="1150" b="0" dirty="0">
                          <a:solidFill>
                            <a:srgbClr val="3B2A54"/>
                          </a:solidFill>
                          <a:latin typeface="Arial"/>
                        </a:rPr>
                        <a:t>Board/</a:t>
                      </a:r>
                      <a:r>
                        <a:rPr sz="1150" b="0" dirty="0">
                          <a:solidFill>
                            <a:srgbClr val="3B2A54"/>
                          </a:solidFill>
                          <a:latin typeface="Arial"/>
                        </a:rPr>
                        <a:t>IR calendar</a:t>
                      </a:r>
                      <a:r>
                        <a:rPr lang="en-US" sz="1150" b="0" dirty="0">
                          <a:solidFill>
                            <a:srgbClr val="3B2A54"/>
                          </a:solidFill>
                          <a:latin typeface="Arial"/>
                        </a:rPr>
                        <a:t> with data; adhering to the timeline and schedule</a:t>
                      </a:r>
                      <a:endParaRPr sz="11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685800">
                <a:tc>
                  <a:txBody>
                    <a:bodyPr/>
                    <a:lstStyle/>
                    <a:p>
                      <a:r>
                        <a:rPr lang="en-US" sz="1150" b="1">
                          <a:solidFill>
                            <a:srgbClr val="11052C"/>
                          </a:solidFill>
                          <a:latin typeface="Arial"/>
                        </a:rPr>
                        <a:t>HQ Project</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The SteerCo cadence and materials; consolidation and driving the agenda with SMEs; the decision log and the site scorecard prioritization</a:t>
                      </a:r>
                      <a:endParaRPr lang="en-US" sz="1150" b="0" dirty="0">
                        <a:solidFill>
                          <a:srgbClr val="3B2A54"/>
                        </a:solidFill>
                        <a:latin typeface="Arial"/>
                      </a:endParaRPr>
                    </a:p>
                  </a:txBody>
                  <a:tcPr marL="64008" marR="64008" marT="36576" marB="36576" anchor="ctr">
                    <a:solidFill>
                      <a:srgbClr val="FFFFFF"/>
                    </a:solidFill>
                  </a:tcPr>
                </a:tc>
                <a:tc>
                  <a:txBody>
                    <a:bodyPr/>
                    <a:lstStyle/>
                    <a:p>
                      <a:r>
                        <a:rPr lang="en-US" sz="1150" b="0" dirty="0">
                          <a:solidFill>
                            <a:srgbClr val="3B2A54"/>
                          </a:solidFill>
                          <a:latin typeface="Arial"/>
                        </a:rPr>
                        <a:t>Discussions and insights for executive assessment</a:t>
                      </a:r>
                      <a:r>
                        <a:rPr sz="1150" b="0" dirty="0">
                          <a:solidFill>
                            <a:srgbClr val="3B2A54"/>
                          </a:solidFill>
                          <a:latin typeface="Arial"/>
                        </a:rPr>
                        <a:t>; CFO</a:t>
                      </a:r>
                      <a:r>
                        <a:rPr lang="en-US" sz="1150" b="0" dirty="0">
                          <a:solidFill>
                            <a:srgbClr val="3B2A54"/>
                          </a:solidFill>
                          <a:latin typeface="Arial"/>
                        </a:rPr>
                        <a:t>/</a:t>
                      </a:r>
                      <a:r>
                        <a:rPr sz="1150" b="0" dirty="0">
                          <a:solidFill>
                            <a:srgbClr val="3B2A54"/>
                          </a:solidFill>
                          <a:latin typeface="Arial"/>
                        </a:rPr>
                        <a:t>CEO </a:t>
                      </a:r>
                      <a:r>
                        <a:rPr lang="en-US" sz="1150" b="0" dirty="0">
                          <a:solidFill>
                            <a:srgbClr val="3B2A54"/>
                          </a:solidFill>
                          <a:latin typeface="Arial"/>
                        </a:rPr>
                        <a:t>decision-making support</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Technical judgment (Legal, Tax, Compliance); signing (licensed executives)</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612648" y="4572000"/>
            <a:ext cx="10789920" cy="13258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89432" y="4791563"/>
            <a:ext cx="10424160" cy="923330"/>
          </a:xfrm>
          <a:prstGeom prst="rect">
            <a:avLst/>
          </a:prstGeom>
          <a:noFill/>
        </p:spPr>
        <p:txBody>
          <a:bodyPr wrap="square" anchor="ctr">
            <a:spAutoFit/>
          </a:bodyPr>
          <a:lstStyle/>
          <a:p>
            <a:pPr algn="l"/>
            <a:r>
              <a:rPr b="1" dirty="0">
                <a:solidFill>
                  <a:srgbClr val="FFFFFF"/>
                </a:solidFill>
                <a:latin typeface="Arial"/>
              </a:rPr>
              <a:t>Propose, implement, assess. </a:t>
            </a:r>
            <a:r>
              <a:rPr b="0" dirty="0">
                <a:solidFill>
                  <a:srgbClr val="FFFFFF"/>
                </a:solidFill>
                <a:latin typeface="Arial"/>
              </a:rPr>
              <a:t>Each quarter </a:t>
            </a:r>
            <a:r>
              <a:rPr lang="en-US" b="0" dirty="0" err="1">
                <a:solidFill>
                  <a:srgbClr val="FFFFFF"/>
                </a:solidFill>
                <a:latin typeface="Arial"/>
              </a:rPr>
              <a:t>CoS</a:t>
            </a:r>
            <a:r>
              <a:rPr lang="en-US" b="0" dirty="0">
                <a:solidFill>
                  <a:srgbClr val="FFFFFF"/>
                </a:solidFill>
                <a:latin typeface="Arial"/>
              </a:rPr>
              <a:t> &amp; CG </a:t>
            </a:r>
            <a:r>
              <a:rPr b="0" dirty="0">
                <a:solidFill>
                  <a:srgbClr val="FFFFFF"/>
                </a:solidFill>
                <a:latin typeface="Arial"/>
              </a:rPr>
              <a:t>and the </a:t>
            </a:r>
            <a:r>
              <a:rPr lang="en-US" b="0" dirty="0">
                <a:solidFill>
                  <a:srgbClr val="FFFFFF"/>
                </a:solidFill>
                <a:latin typeface="Arial"/>
              </a:rPr>
              <a:t>CFO </a:t>
            </a:r>
            <a:r>
              <a:rPr b="0" dirty="0">
                <a:solidFill>
                  <a:srgbClr val="FFFFFF"/>
                </a:solidFill>
                <a:latin typeface="Arial"/>
              </a:rPr>
              <a:t>review what</a:t>
            </a:r>
            <a:r>
              <a:rPr lang="en-US" b="0" dirty="0">
                <a:solidFill>
                  <a:srgbClr val="FFFFFF"/>
                </a:solidFill>
                <a:latin typeface="Arial"/>
              </a:rPr>
              <a:t>’s </a:t>
            </a:r>
            <a:r>
              <a:rPr b="0" dirty="0">
                <a:solidFill>
                  <a:srgbClr val="FFFFFF"/>
                </a:solidFill>
                <a:latin typeface="Arial"/>
              </a:rPr>
              <a:t>work</a:t>
            </a:r>
            <a:r>
              <a:rPr lang="en-US" b="0" dirty="0">
                <a:solidFill>
                  <a:srgbClr val="FFFFFF"/>
                </a:solidFill>
                <a:latin typeface="Arial"/>
              </a:rPr>
              <a:t>ing and what can be improved: </a:t>
            </a:r>
            <a:r>
              <a:rPr b="0" dirty="0">
                <a:solidFill>
                  <a:srgbClr val="FFFFFF"/>
                </a:solidFill>
                <a:latin typeface="Arial"/>
              </a:rPr>
              <a:t>kee</a:t>
            </a:r>
            <a:r>
              <a:rPr lang="en-US" b="0" dirty="0">
                <a:solidFill>
                  <a:srgbClr val="FFFFFF"/>
                </a:solidFill>
                <a:latin typeface="Arial"/>
              </a:rPr>
              <a:t>p</a:t>
            </a:r>
            <a:r>
              <a:rPr b="0" dirty="0">
                <a:solidFill>
                  <a:srgbClr val="FFFFFF"/>
                </a:solidFill>
                <a:latin typeface="Arial"/>
              </a:rPr>
              <a:t>, fix or drop. The function earns its place with the markets instead of ruling from HQ</a:t>
            </a:r>
            <a:r>
              <a:rPr lang="en-US" dirty="0">
                <a:solidFill>
                  <a:srgbClr val="FFFFFF"/>
                </a:solidFill>
                <a:latin typeface="Arial"/>
              </a:rPr>
              <a:t> and contributes to better alignment and discipline without compromising speed.</a:t>
            </a:r>
            <a:endParaRPr b="0" dirty="0">
              <a:solidFill>
                <a:srgbClr val="FFFFFF"/>
              </a:solidFill>
              <a:latin typeface="Arial"/>
            </a:endParaRPr>
          </a:p>
        </p:txBody>
      </p:sp>
      <p:sp>
        <p:nvSpPr>
          <p:cNvPr id="7" name="TextBox 6"/>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Backup</a:t>
            </a:r>
          </a:p>
        </p:txBody>
      </p:sp>
      <p:sp>
        <p:nvSpPr>
          <p:cNvPr id="3" name="TextBox 2"/>
          <p:cNvSpPr txBox="1"/>
          <p:nvPr/>
        </p:nvSpPr>
        <p:spPr>
          <a:xfrm>
            <a:off x="1097280" y="3383280"/>
            <a:ext cx="9966960" cy="1463040"/>
          </a:xfrm>
          <a:prstGeom prst="rect">
            <a:avLst/>
          </a:prstGeom>
          <a:noFill/>
        </p:spPr>
        <p:txBody>
          <a:bodyPr wrap="square" anchor="t">
            <a:spAutoFit/>
          </a:bodyPr>
          <a:lstStyle/>
          <a:p>
            <a:pPr algn="ctr"/>
            <a:r>
              <a:rPr lang="en-US" sz="1400" b="0">
                <a:solidFill>
                  <a:srgbClr val="3B2A54"/>
                </a:solidFill>
                <a:latin typeface="Arial"/>
              </a:rPr>
              <a:t>A  Key assumptions   |   B  Statutory entity model   |   D  Sources</a:t>
            </a:r>
          </a:p>
          <a:p>
            <a:pPr algn="ctr"/>
            <a:r>
              <a:rPr lang="en-US" sz="1400" b="0">
                <a:solidFill>
                  <a:srgbClr val="3B2A54"/>
                </a:solidFill>
                <a:latin typeface="Arial"/>
              </a:rPr>
              <a:t>F  Day-by-day timeline   |   H  AI support   |   J  HQ site scorecard and risk register   |   K  How AI was used</a:t>
            </a:r>
          </a:p>
          <a:p>
            <a:pPr algn="ctr"/>
            <a:r>
              <a:rPr lang="en-US" sz="1400" b="0">
                <a:solidFill>
                  <a:srgbClr val="3B2A54"/>
                </a:solidFill>
                <a:latin typeface="Arial"/>
              </a:rPr>
              <a:t/>
            </a:r>
          </a:p>
        </p:txBody>
      </p:sp>
      <p:sp>
        <p:nvSpPr>
          <p:cNvPr id="4" name="TextBox 3"/>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16</a:t>
            </a:r>
            <a:endParaRPr sz="900" b="0">
              <a:solidFill>
                <a:srgbClr val="6B5B82"/>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Key assumptions and the facts they are based on</a:t>
            </a:r>
            <a:endParaRPr sz="2400" b="1" dirty="0">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851003017"/>
              </p:ext>
            </p:extLst>
          </p:nvPr>
        </p:nvGraphicFramePr>
        <p:xfrm>
          <a:off x="612648" y="1280160"/>
          <a:ext cx="10469880" cy="4956050"/>
        </p:xfrm>
        <a:graphic>
          <a:graphicData uri="http://schemas.openxmlformats.org/drawingml/2006/table">
            <a:tbl>
              <a:tblPr>
                <a:tableStyleId>{5C22544A-7EE6-4342-B048-85BDC9FD1C3A}</a:tableStyleId>
              </a:tblPr>
              <a:tblGrid>
                <a:gridCol w="6903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47658">
                <a:tc>
                  <a:txBody>
                    <a:bodyPr/>
                    <a:lstStyle/>
                    <a:p>
                      <a:r>
                        <a:rPr sz="1000" b="1">
                          <a:solidFill>
                            <a:srgbClr val="FFFFFF"/>
                          </a:solidFill>
                          <a:latin typeface="Arial"/>
                        </a:rPr>
                        <a:t>Statement</a:t>
                      </a:r>
                    </a:p>
                  </a:txBody>
                  <a:tcPr marL="64008" marR="64008" marT="36576" marB="36576" anchor="ctr">
                    <a:solidFill>
                      <a:srgbClr val="820AD1"/>
                    </a:solidFill>
                  </a:tcPr>
                </a:tc>
                <a:tc>
                  <a:txBody>
                    <a:bodyPr/>
                    <a:lstStyle/>
                    <a:p>
                      <a:r>
                        <a:rPr sz="1000" b="1">
                          <a:solidFill>
                            <a:srgbClr val="FFFFFF"/>
                          </a:solidFill>
                          <a:latin typeface="Arial"/>
                        </a:rPr>
                        <a:t>Class</a:t>
                      </a:r>
                    </a:p>
                  </a:txBody>
                  <a:tcPr marL="64008" marR="64008" marT="36576" marB="36576" anchor="ctr">
                    <a:solidFill>
                      <a:srgbClr val="820AD1"/>
                    </a:solidFill>
                  </a:tcPr>
                </a:tc>
                <a:tc>
                  <a:txBody>
                    <a:bodyPr/>
                    <a:lstStyle/>
                    <a:p>
                      <a:r>
                        <a:rPr sz="1000" b="1">
                          <a:solidFill>
                            <a:srgbClr val="FFFFFF"/>
                          </a:solidFill>
                          <a:latin typeface="Arial"/>
                        </a:rPr>
                        <a:t>Basis</a:t>
                      </a:r>
                    </a:p>
                  </a:txBody>
                  <a:tcPr marL="64008" marR="64008" marT="36576" marB="36576" anchor="ctr">
                    <a:solidFill>
                      <a:srgbClr val="820AD1"/>
                    </a:solidFill>
                  </a:tcPr>
                </a:tc>
                <a:extLst>
                  <a:ext uri="{0D108BD9-81ED-4DB2-BD59-A6C34878D82A}">
                    <a16:rowId xmlns:a16="http://schemas.microsoft.com/office/drawing/2014/main" val="10000"/>
                  </a:ext>
                </a:extLst>
              </a:tr>
              <a:tr h="347658">
                <a:tc>
                  <a:txBody>
                    <a:bodyPr/>
                    <a:lstStyle/>
                    <a:p>
                      <a:r>
                        <a:rPr lang="en-US" sz="950" b="0">
                          <a:solidFill>
                            <a:srgbClr val="3B2A54"/>
                          </a:solidFill>
                          <a:latin typeface="Arial"/>
                        </a:rPr>
                        <a:t>Nu Q2'26: 138.9M customers, monthly ARPAC $17.1, cost to serve $1.0, efficiency ratio 19.5%, ROE 33%, net income $1.06B.</a:t>
                      </a:r>
                    </a:p>
                  </a:txBody>
                  <a:tcPr marL="64008" marR="64008" marT="36576" marB="36576" anchor="ctr">
                    <a:solidFill>
                      <a:schemeClr val="bg1"/>
                    </a:solidFill>
                  </a:tcPr>
                </a:tc>
                <a:tc>
                  <a:txBody>
                    <a:bodyPr/>
                    <a:lstStyle/>
                    <a:p>
                      <a:r>
                        <a:rPr sz="950" b="0">
                          <a:solidFill>
                            <a:srgbClr val="3B2A54"/>
                          </a:solidFill>
                          <a:latin typeface="Arial"/>
                        </a:rPr>
                        <a:t>FACT</a:t>
                      </a:r>
                    </a:p>
                  </a:txBody>
                  <a:tcPr marL="64008" marR="64008" marT="36576" marB="36576" anchor="ctr">
                    <a:solidFill>
                      <a:schemeClr val="bg1"/>
                    </a:solidFill>
                  </a:tcPr>
                </a:tc>
                <a:tc>
                  <a:txBody>
                    <a:bodyPr/>
                    <a:lstStyle/>
                    <a:p>
                      <a:r>
                        <a:rPr sz="950" b="0">
                          <a:solidFill>
                            <a:srgbClr val="3B2A54"/>
                          </a:solidFill>
                          <a:latin typeface="Arial"/>
                        </a:rPr>
                        <a:t>Q2'26 release and 6-K</a:t>
                      </a:r>
                    </a:p>
                  </a:txBody>
                  <a:tcPr marL="64008" marR="64008" marT="36576" marB="36576" anchor="ctr">
                    <a:solidFill>
                      <a:schemeClr val="bg1"/>
                    </a:solidFill>
                  </a:tcPr>
                </a:tc>
                <a:extLst>
                  <a:ext uri="{0D108BD9-81ED-4DB2-BD59-A6C34878D82A}">
                    <a16:rowId xmlns:a16="http://schemas.microsoft.com/office/drawing/2014/main" val="10001"/>
                  </a:ext>
                </a:extLst>
              </a:tr>
              <a:tr h="459680">
                <a:tc>
                  <a:txBody>
                    <a:bodyPr/>
                    <a:lstStyle/>
                    <a:p>
                      <a:r>
                        <a:rPr lang="en-US" sz="950" b="0">
                          <a:solidFill>
                            <a:srgbClr val="3B2A54"/>
                          </a:solidFill>
                          <a:latin typeface="Arial"/>
                        </a:rPr>
                        <a:t>FY26 efficiency ratio near 20%; the US entry kept within about 100 bps of efficiency-ratio impact.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(management guidance)</a:t>
                      </a:r>
                    </a:p>
                  </a:txBody>
                  <a:tcPr marL="64008" marR="64008" marT="36576" marB="36576" anchor="ctr">
                    <a:solidFill>
                      <a:schemeClr val="bg1"/>
                    </a:solidFill>
                  </a:tcPr>
                </a:tc>
                <a:tc>
                  <a:txBody>
                    <a:bodyPr/>
                    <a:lstStyle/>
                    <a:p>
                      <a:r>
                        <a:rPr sz="950" b="0">
                          <a:solidFill>
                            <a:srgbClr val="3B2A54"/>
                          </a:solidFill>
                          <a:latin typeface="Arial"/>
                        </a:rPr>
                        <a:t>Q2'26 call, 13 Aug 2026</a:t>
                      </a:r>
                    </a:p>
                  </a:txBody>
                  <a:tcPr marL="64008" marR="64008" marT="36576" marB="36576" anchor="ctr">
                    <a:solidFill>
                      <a:schemeClr val="bg1"/>
                    </a:solidFill>
                  </a:tcPr>
                </a:tc>
                <a:extLst>
                  <a:ext uri="{0D108BD9-81ED-4DB2-BD59-A6C34878D82A}">
                    <a16:rowId xmlns:a16="http://schemas.microsoft.com/office/drawing/2014/main" val="10002"/>
                  </a:ext>
                </a:extLst>
              </a:tr>
              <a:tr h="459680">
                <a:tc>
                  <a:txBody>
                    <a:bodyPr/>
                    <a:lstStyle/>
                    <a:p>
                      <a:r>
                        <a:rPr lang="en-US" sz="950" b="0">
                          <a:solidFill>
                            <a:srgbClr val="3B2A54"/>
                          </a:solidFill>
                          <a:latin typeface="Arial"/>
                        </a:rPr>
                        <a:t>The $60M asks and $25M cap are the case's figures. $35M is about 15 bps of annualized revenue, about 1.1% of opex and about 0.2 points of efficiency ratio ($25M: about 0.15).</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 + CALCULATION</a:t>
                      </a:r>
                    </a:p>
                  </a:txBody>
                  <a:tcPr marL="64008" marR="64008" marT="36576" marB="36576" anchor="ctr">
                    <a:solidFill>
                      <a:schemeClr val="bg1"/>
                    </a:solidFill>
                  </a:tcPr>
                </a:tc>
                <a:tc>
                  <a:txBody>
                    <a:bodyPr/>
                    <a:lstStyle/>
                    <a:p>
                      <a:r>
                        <a:rPr sz="950" b="0">
                          <a:solidFill>
                            <a:srgbClr val="3B2A54"/>
                          </a:solidFill>
                          <a:latin typeface="Arial"/>
                        </a:rPr>
                        <a:t>Case brief; Q2'26 figures</a:t>
                      </a:r>
                    </a:p>
                  </a:txBody>
                  <a:tcPr marL="64008" marR="64008" marT="36576" marB="36576" anchor="ctr">
                    <a:solidFill>
                      <a:schemeClr val="bg1"/>
                    </a:solidFill>
                  </a:tcPr>
                </a:tc>
                <a:extLst>
                  <a:ext uri="{0D108BD9-81ED-4DB2-BD59-A6C34878D82A}">
                    <a16:rowId xmlns:a16="http://schemas.microsoft.com/office/drawing/2014/main" val="10003"/>
                  </a:ext>
                </a:extLst>
              </a:tr>
              <a:tr h="347658">
                <a:tc>
                  <a:txBody>
                    <a:bodyPr/>
                    <a:lstStyle/>
                    <a:p>
                      <a:r>
                        <a:rPr lang="en-US" sz="950" b="0">
                          <a:solidFill>
                            <a:srgbClr val="3B2A54"/>
                          </a:solidFill>
                          <a:latin typeface="Arial"/>
                        </a:rPr>
                        <a:t>The MTeam dispute is about the growth-opex envelope (core vs new bets), not regulatory capital by entity.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04"/>
                  </a:ext>
                </a:extLst>
              </a:tr>
              <a:tr h="459680">
                <a:tc>
                  <a:txBody>
                    <a:bodyPr/>
                    <a:lstStyle/>
                    <a:p>
                      <a:r>
                        <a:rPr lang="en-US" sz="950" b="0">
                          <a:solidFill>
                            <a:srgbClr val="3B2A54"/>
                          </a:solidFill>
                          <a:latin typeface="Arial"/>
                        </a:rPr>
                        <a:t>Spend above $25M only from H1 profit above plan, inside the efficiency-ratio guide in force, NPL 90+ on plan; CFO decides, Risk can block, IR sets disclosure.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RULE (proposed)</a:t>
                      </a:r>
                    </a:p>
                  </a:txBody>
                  <a:tcPr marL="64008" marR="64008" marT="36576" marB="36576" anchor="ctr">
                    <a:solidFill>
                      <a:schemeClr val="bg1"/>
                    </a:solidFill>
                  </a:tcPr>
                </a:tc>
                <a:tc>
                  <a:txBody>
                    <a:bodyPr/>
                    <a:lstStyle/>
                    <a:p>
                      <a:r>
                        <a:rPr sz="950" b="0" dirty="0">
                          <a:solidFill>
                            <a:srgbClr val="3B2A54"/>
                          </a:solidFill>
                          <a:latin typeface="Arial"/>
                        </a:rPr>
                        <a:t>To agree with the CFO</a:t>
                      </a:r>
                    </a:p>
                  </a:txBody>
                  <a:tcPr marL="64008" marR="64008" marT="36576" marB="36576" anchor="ctr">
                    <a:solidFill>
                      <a:schemeClr val="bg1"/>
                    </a:solidFill>
                  </a:tcPr>
                </a:tc>
                <a:extLst>
                  <a:ext uri="{0D108BD9-81ED-4DB2-BD59-A6C34878D82A}">
                    <a16:rowId xmlns:a16="http://schemas.microsoft.com/office/drawing/2014/main" val="10006"/>
                  </a:ext>
                </a:extLst>
              </a:tr>
              <a:tr h="459680">
                <a:tc>
                  <a:txBody>
                    <a:bodyPr/>
                    <a:lstStyle/>
                    <a:p>
                      <a:r>
                        <a:rPr lang="en-US" sz="950" b="0">
                          <a:solidFill>
                            <a:srgbClr val="3B2A54"/>
                          </a:solidFill>
                          <a:latin typeface="Arial"/>
                        </a:rPr>
                        <a:t>Board in 4 weeks (assumed Tue 17 Nov); Investor Day 8 Dec 2026; the Board approves the capital plan before the Investor Day story is set.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(dates) + ASSUMPTION</a:t>
                      </a:r>
                    </a:p>
                  </a:txBody>
                  <a:tcPr marL="64008" marR="64008" marT="36576" marB="36576" anchor="ctr">
                    <a:solidFill>
                      <a:schemeClr val="bg1"/>
                    </a:solidFill>
                  </a:tcPr>
                </a:tc>
                <a:tc>
                  <a:txBody>
                    <a:bodyPr/>
                    <a:lstStyle/>
                    <a:p>
                      <a:r>
                        <a:rPr sz="950" b="0">
                          <a:solidFill>
                            <a:srgbClr val="3B2A54"/>
                          </a:solidFill>
                          <a:latin typeface="Arial"/>
                        </a:rPr>
                        <a:t>Case brief; Nu IR</a:t>
                      </a:r>
                    </a:p>
                  </a:txBody>
                  <a:tcPr marL="64008" marR="64008" marT="36576" marB="36576" anchor="ctr">
                    <a:solidFill>
                      <a:schemeClr val="bg1"/>
                    </a:solidFill>
                  </a:tcPr>
                </a:tc>
                <a:extLst>
                  <a:ext uri="{0D108BD9-81ED-4DB2-BD59-A6C34878D82A}">
                    <a16:rowId xmlns:a16="http://schemas.microsoft.com/office/drawing/2014/main" val="10007"/>
                  </a:ext>
                </a:extLst>
              </a:tr>
              <a:tr h="459680">
                <a:tc>
                  <a:txBody>
                    <a:bodyPr/>
                    <a:lstStyle/>
                    <a:p>
                      <a:r>
                        <a:rPr lang="en-US" sz="950" b="0">
                          <a:solidFill>
                            <a:srgbClr val="3B2A54"/>
                          </a:solidFill>
                          <a:latin typeface="Arial"/>
                        </a:rPr>
                        <a:t>HQ jurisdiction open. Nu is above the EUR 750M Pillar Two threshold; 2026 carve-out 9.4% of payroll, 7.4% of tangible assets.</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(rule) + ASSUMPTION (site)</a:t>
                      </a:r>
                    </a:p>
                  </a:txBody>
                  <a:tcPr marL="64008" marR="64008" marT="36576" marB="36576" anchor="ctr">
                    <a:solidFill>
                      <a:schemeClr val="bg1"/>
                    </a:solidFill>
                  </a:tcPr>
                </a:tc>
                <a:tc>
                  <a:txBody>
                    <a:bodyPr/>
                    <a:lstStyle/>
                    <a:p>
                      <a:r>
                        <a:rPr sz="950" b="0">
                          <a:solidFill>
                            <a:srgbClr val="3B2A54"/>
                          </a:solidFill>
                          <a:latin typeface="Arial"/>
                        </a:rPr>
                        <a:t>OECD GloBE rules</a:t>
                      </a:r>
                    </a:p>
                  </a:txBody>
                  <a:tcPr marL="64008" marR="64008" marT="36576" marB="36576" anchor="ctr">
                    <a:solidFill>
                      <a:schemeClr val="bg1"/>
                    </a:solidFill>
                  </a:tcPr>
                </a:tc>
                <a:extLst>
                  <a:ext uri="{0D108BD9-81ED-4DB2-BD59-A6C34878D82A}">
                    <a16:rowId xmlns:a16="http://schemas.microsoft.com/office/drawing/2014/main" val="10008"/>
                  </a:ext>
                </a:extLst>
              </a:tr>
              <a:tr h="347658">
                <a:tc>
                  <a:txBody>
                    <a:bodyPr/>
                    <a:lstStyle/>
                    <a:p>
                      <a:r>
                        <a:rPr lang="en-US" sz="950" b="0">
                          <a:solidFill>
                            <a:srgbClr val="3B2A54"/>
                          </a:solidFill>
                          <a:latin typeface="Arial"/>
                        </a:rPr>
                        <a:t>Option scores and weights are our judgment; third-party benchmarks are context only.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lang="en-US" sz="950" b="0">
                          <a:solidFill>
                            <a:srgbClr val="3B2A54"/>
                          </a:solidFill>
                          <a:latin typeface="Arial"/>
                        </a:rPr>
                        <a:t>Slide 5; backup D</a:t>
                      </a:r>
                    </a:p>
                  </a:txBody>
                  <a:tcPr marL="64008" marR="64008" marT="36576" marB="36576" anchor="ctr">
                    <a:solidFill>
                      <a:schemeClr val="bg1"/>
                    </a:solidFill>
                  </a:tcPr>
                </a:tc>
                <a:extLst>
                  <a:ext uri="{0D108BD9-81ED-4DB2-BD59-A6C34878D82A}">
                    <a16:rowId xmlns:a16="http://schemas.microsoft.com/office/drawing/2014/main" val="10009"/>
                  </a:ext>
                </a:extLst>
              </a:tr>
              <a:tr h="459680">
                <a:tc>
                  <a:txBody>
                    <a:bodyPr/>
                    <a:lstStyle/>
                    <a:p>
                      <a:r>
                        <a:rPr lang="en-US" sz="950" b="0">
                          <a:solidFill>
                            <a:srgbClr val="3B2A54"/>
                          </a:solidFill>
                          <a:latin typeface="Arial"/>
                        </a:rPr>
                        <a:t>FY27 envelope: first release 1 Jan 2027, second at Q1 close (decided on Q1 data), 2H checkpoint (up to $25M) and reserve ($10M) at H1 close. Hub of 4-6 people.</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Calendar fiscal year; sizing is ours</a:t>
                      </a:r>
                    </a:p>
                  </a:txBody>
                  <a:tcPr marL="64008" marR="64008" marT="36576" marB="36576" anchor="ctr">
                    <a:solidFill>
                      <a:schemeClr val="bg1"/>
                    </a:solidFill>
                  </a:tcPr>
                </a:tc>
                <a:extLst>
                  <a:ext uri="{0D108BD9-81ED-4DB2-BD59-A6C34878D82A}">
                    <a16:rowId xmlns:a16="http://schemas.microsoft.com/office/drawing/2014/main" val="10010"/>
                  </a:ext>
                </a:extLst>
              </a:tr>
              <a:tr h="459680">
                <a:tc>
                  <a:txBody>
                    <a:bodyPr/>
                    <a:lstStyle/>
                    <a:p>
                      <a:r>
                        <a:rPr lang="en-US" sz="950" b="0">
                          <a:solidFill>
                            <a:srgbClr val="3B2A54"/>
                          </a:solidFill>
                          <a:latin typeface="Arial"/>
                        </a:rPr>
                        <a:t>The hub can run Nu-approved AI tools inside Nu's environment; Security and Risk approve data access before the agents go live.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To confirm with Security and Risk</a:t>
                      </a:r>
                    </a:p>
                  </a:txBody>
                  <a:tcPr marL="64008" marR="64008" marT="36576" marB="36576" anchor="ctr">
                    <a:solidFill>
                      <a:schemeClr val="bg1"/>
                    </a:solidFill>
                  </a:tcPr>
                </a:tc>
                <a:extLst>
                  <a:ext uri="{0D108BD9-81ED-4DB2-BD59-A6C34878D82A}">
                    <a16:rowId xmlns:a16="http://schemas.microsoft.com/office/drawing/2014/main" val="10011"/>
                  </a:ext>
                </a:extLst>
              </a:tr>
              <a:tr h="347658">
                <a:tc>
                  <a:txBody>
                    <a:bodyPr/>
                    <a:lstStyle/>
                    <a:p>
                      <a:r>
                        <a:rPr lang="en-US" sz="950" b="0">
                          <a:solidFill>
                            <a:srgbClr val="3B2A54"/>
                          </a:solidFill>
                          <a:latin typeface="Arial"/>
                        </a:rPr>
                        <a:t>HQ jurisdiction open; two candidate sites go to term sheet; the site scorecard weights are our judgment (backup J).</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dirty="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17</a:t>
            </a:r>
            <a:endParaRPr sz="900" b="0">
              <a:solidFill>
                <a:srgbClr val="6B5B82"/>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B</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Open an entity only when a license or tax substance requires it; officers and signing follow the stage</a:t>
            </a:r>
          </a:p>
        </p:txBody>
      </p:sp>
      <p:graphicFrame>
        <p:nvGraphicFramePr>
          <p:cNvPr id="4" name="Table 3"/>
          <p:cNvGraphicFramePr>
            <a:graphicFrameLocks noGrp="1"/>
          </p:cNvGraphicFramePr>
          <p:nvPr/>
        </p:nvGraphicFramePr>
        <p:xfrm>
          <a:off x="612648" y="1600200"/>
          <a:ext cx="10972800" cy="2688336"/>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457200">
                <a:tc>
                  <a:txBody>
                    <a:bodyPr/>
                    <a:lstStyle/>
                    <a:p>
                      <a:r>
                        <a:rPr sz="1100" b="1">
                          <a:solidFill>
                            <a:srgbClr val="FFFFFF"/>
                          </a:solidFill>
                          <a:latin typeface="Arial"/>
                        </a:rPr>
                        <a:t>Stage</a:t>
                      </a:r>
                    </a:p>
                  </a:txBody>
                  <a:tcPr marL="64008" marR="64008" marT="36576" marB="36576" anchor="ctr">
                    <a:solidFill>
                      <a:srgbClr val="820AD1"/>
                    </a:solidFill>
                  </a:tcPr>
                </a:tc>
                <a:tc>
                  <a:txBody>
                    <a:bodyPr/>
                    <a:lstStyle/>
                    <a:p>
                      <a:r>
                        <a:rPr sz="1100" b="1">
                          <a:solidFill>
                            <a:srgbClr val="FFFFFF"/>
                          </a:solidFill>
                          <a:latin typeface="Arial"/>
                        </a:rPr>
                        <a:t>Trigger for a local entity</a:t>
                      </a:r>
                    </a:p>
                  </a:txBody>
                  <a:tcPr marL="64008" marR="64008" marT="36576" marB="36576" anchor="ctr">
                    <a:solidFill>
                      <a:srgbClr val="820AD1"/>
                    </a:solidFill>
                  </a:tcPr>
                </a:tc>
                <a:tc>
                  <a:txBody>
                    <a:bodyPr/>
                    <a:lstStyle/>
                    <a:p>
                      <a:r>
                        <a:rPr sz="1100" b="1">
                          <a:solidFill>
                            <a:srgbClr val="FFFFFF"/>
                          </a:solidFill>
                          <a:latin typeface="Arial"/>
                        </a:rPr>
                        <a:t>Setup</a:t>
                      </a:r>
                    </a:p>
                  </a:txBody>
                  <a:tcPr marL="64008" marR="64008" marT="36576" marB="36576" anchor="ctr">
                    <a:solidFill>
                      <a:srgbClr val="820AD1"/>
                    </a:solidFill>
                  </a:tcPr>
                </a:tc>
                <a:tc>
                  <a:txBody>
                    <a:bodyPr/>
                    <a:lstStyle/>
                    <a:p>
                      <a:r>
                        <a:rPr sz="1100" b="1">
                          <a:solidFill>
                            <a:srgbClr val="FFFFFF"/>
                          </a:solidFill>
                          <a:latin typeface="Arial"/>
                        </a:rPr>
                        <a:t>Officers, signing and insurance</a:t>
                      </a:r>
                    </a:p>
                  </a:txBody>
                  <a:tcPr marL="64008" marR="64008" marT="36576" marB="36576" anchor="ctr">
                    <a:solidFill>
                      <a:srgbClr val="820AD1"/>
                    </a:solidFill>
                  </a:tcPr>
                </a:tc>
                <a:extLst>
                  <a:ext uri="{0D108BD9-81ED-4DB2-BD59-A6C34878D82A}">
                    <a16:rowId xmlns:a16="http://schemas.microsoft.com/office/drawing/2014/main" val="10000"/>
                  </a:ext>
                </a:extLst>
              </a:tr>
              <a:tr h="743711">
                <a:tc>
                  <a:txBody>
                    <a:bodyPr/>
                    <a:lstStyle/>
                    <a:p>
                      <a:r>
                        <a:rPr sz="1100" b="1">
                          <a:solidFill>
                            <a:srgbClr val="11052C"/>
                          </a:solidFill>
                          <a:latin typeface="Arial"/>
                        </a:rPr>
                        <a:t>1. Market test</a:t>
                      </a:r>
                      <a:r>
                        <a:rPr sz="1100" b="0">
                          <a:solidFill>
                            <a:srgbClr val="11052C"/>
                          </a:solidFill>
                          <a:latin typeface="Arial"/>
                        </a:rPr>
                        <a:t> (new countries)</a:t>
                      </a:r>
                    </a:p>
                  </a:txBody>
                  <a:tcPr marL="64008" marR="64008" marT="36576" marB="36576" anchor="ctr">
                    <a:solidFill>
                      <a:srgbClr val="FFFFFF"/>
                    </a:solidFill>
                  </a:tcPr>
                </a:tc>
                <a:tc>
                  <a:txBody>
                    <a:bodyPr/>
                    <a:lstStyle/>
                    <a:p>
                      <a:r>
                        <a:rPr sz="1100" b="0">
                          <a:solidFill>
                            <a:srgbClr val="3B2A54"/>
                          </a:solidFill>
                          <a:latin typeface="Arial"/>
                        </a:rPr>
                        <a:t>No local license needed and no taxable presence; served from an existing licensed entity or a partner bank (as the US is today, through Lead Bank, since 10 Sep 2026).</a:t>
                      </a:r>
                    </a:p>
                  </a:txBody>
                  <a:tcPr marL="64008" marR="64008" marT="36576" marB="36576" anchor="ctr">
                    <a:solidFill>
                      <a:srgbClr val="FFFFFF"/>
                    </a:solidFill>
                  </a:tcPr>
                </a:tc>
                <a:tc>
                  <a:txBody>
                    <a:bodyPr/>
                    <a:lstStyle/>
                    <a:p>
                      <a:r>
                        <a:rPr sz="1100" b="0">
                          <a:solidFill>
                            <a:srgbClr val="3B2A54"/>
                          </a:solidFill>
                          <a:latin typeface="Arial"/>
                        </a:rPr>
                        <a:t>No local entity. Cross-border or partner model.</a:t>
                      </a:r>
                    </a:p>
                  </a:txBody>
                  <a:tcPr marL="64008" marR="64008" marT="36576" marB="36576" anchor="ctr">
                    <a:solidFill>
                      <a:srgbClr val="FFFFFF"/>
                    </a:solidFill>
                  </a:tcPr>
                </a:tc>
                <a:tc>
                  <a:txBody>
                    <a:bodyPr/>
                    <a:lstStyle/>
                    <a:p>
                      <a:r>
                        <a:rPr sz="1100" b="0">
                          <a:solidFill>
                            <a:srgbClr val="3B2A54"/>
                          </a:solidFill>
                          <a:latin typeface="Arial"/>
                        </a:rPr>
                        <a:t>Central signing only. No local director. Prevents an accidental permanent establishment.</a:t>
                      </a:r>
                    </a:p>
                  </a:txBody>
                  <a:tcPr marL="64008" marR="64008" marT="36576" marB="36576" anchor="ctr">
                    <a:solidFill>
                      <a:srgbClr val="FFFFFF"/>
                    </a:solidFill>
                  </a:tcPr>
                </a:tc>
                <a:extLst>
                  <a:ext uri="{0D108BD9-81ED-4DB2-BD59-A6C34878D82A}">
                    <a16:rowId xmlns:a16="http://schemas.microsoft.com/office/drawing/2014/main" val="10001"/>
                  </a:ext>
                </a:extLst>
              </a:tr>
              <a:tr h="576072">
                <a:tc>
                  <a:txBody>
                    <a:bodyPr/>
                    <a:lstStyle/>
                    <a:p>
                      <a:r>
                        <a:rPr sz="1100" b="1">
                          <a:solidFill>
                            <a:srgbClr val="11052C"/>
                          </a:solidFill>
                          <a:latin typeface="Arial"/>
                        </a:rPr>
                        <a:t>2. Licensed scale-up</a:t>
                      </a:r>
                      <a:r>
                        <a:rPr sz="1100" b="0">
                          <a:solidFill>
                            <a:srgbClr val="11052C"/>
                          </a:solidFill>
                          <a:latin typeface="Arial"/>
                        </a:rPr>
                        <a:t> (US charter, new verticals)</a:t>
                      </a:r>
                    </a:p>
                  </a:txBody>
                  <a:tcPr marL="64008" marR="64008" marT="36576" marB="36576" anchor="ctr">
                    <a:solidFill>
                      <a:srgbClr val="F7F2FD"/>
                    </a:solidFill>
                  </a:tcPr>
                </a:tc>
                <a:tc>
                  <a:txBody>
                    <a:bodyPr/>
                    <a:lstStyle/>
                    <a:p>
                      <a:r>
                        <a:rPr sz="1100" b="0">
                          <a:solidFill>
                            <a:srgbClr val="3B2A54"/>
                          </a:solidFill>
                          <a:latin typeface="Arial"/>
                        </a:rPr>
                        <a:t>A regulator requires a local licensed entity (deposits, lending, custody), or substance rules require local payroll and assets.</a:t>
                      </a:r>
                    </a:p>
                  </a:txBody>
                  <a:tcPr marL="64008" marR="64008" marT="36576" marB="36576" anchor="ctr">
                    <a:solidFill>
                      <a:srgbClr val="F7F2FD"/>
                    </a:solidFill>
                  </a:tcPr>
                </a:tc>
                <a:tc>
                  <a:txBody>
                    <a:bodyPr/>
                    <a:lstStyle/>
                    <a:p>
                      <a:r>
                        <a:rPr sz="1100" b="0">
                          <a:solidFill>
                            <a:srgbClr val="3B2A54"/>
                          </a:solidFill>
                          <a:latin typeface="Arial"/>
                        </a:rPr>
                        <a:t>Dedicated licensed entity with its own capital plan and headroom.</a:t>
                      </a:r>
                    </a:p>
                  </a:txBody>
                  <a:tcPr marL="64008" marR="64008" marT="36576" marB="36576" anchor="ctr">
                    <a:solidFill>
                      <a:srgbClr val="F7F2FD"/>
                    </a:solidFill>
                  </a:tcPr>
                </a:tc>
                <a:tc>
                  <a:txBody>
                    <a:bodyPr/>
                    <a:lstStyle/>
                    <a:p>
                      <a:r>
                        <a:rPr sz="1100" b="0">
                          <a:solidFill>
                            <a:srgbClr val="3B2A54"/>
                          </a:solidFill>
                          <a:latin typeface="Arial"/>
                        </a:rPr>
                        <a:t>Fit-and-proper directors; two central officers plus one local leader; dual signature above a set limit; D&amp;O before activation.</a:t>
                      </a:r>
                    </a:p>
                  </a:txBody>
                  <a:tcPr marL="64008" marR="64008" marT="36576" marB="36576" anchor="ctr">
                    <a:solidFill>
                      <a:srgbClr val="F7F2FD"/>
                    </a:solidFill>
                  </a:tcPr>
                </a:tc>
                <a:extLst>
                  <a:ext uri="{0D108BD9-81ED-4DB2-BD59-A6C34878D82A}">
                    <a16:rowId xmlns:a16="http://schemas.microsoft.com/office/drawing/2014/main" val="10002"/>
                  </a:ext>
                </a:extLst>
              </a:tr>
              <a:tr h="911351">
                <a:tc>
                  <a:txBody>
                    <a:bodyPr/>
                    <a:lstStyle/>
                    <a:p>
                      <a:r>
                        <a:rPr sz="1100" b="1">
                          <a:solidFill>
                            <a:srgbClr val="11052C"/>
                          </a:solidFill>
                          <a:latin typeface="Arial"/>
                        </a:rPr>
                        <a:t>3. Core hub</a:t>
                      </a:r>
                      <a:r>
                        <a:rPr sz="1100" b="0">
                          <a:solidFill>
                            <a:srgbClr val="11052C"/>
                          </a:solidFill>
                          <a:latin typeface="Arial"/>
                        </a:rPr>
                        <a:t> (Mexico, a bank since Aug 2026; Colombia; the HQ)</a:t>
                      </a:r>
                    </a:p>
                  </a:txBody>
                  <a:tcPr marL="64008" marR="64008" marT="36576" marB="36576" anchor="ctr">
                    <a:solidFill>
                      <a:srgbClr val="FFFFFF"/>
                    </a:solidFill>
                  </a:tcPr>
                </a:tc>
                <a:tc>
                  <a:txBody>
                    <a:bodyPr/>
                    <a:lstStyle/>
                    <a:p>
                      <a:r>
                        <a:rPr sz="1100" b="0">
                          <a:solidFill>
                            <a:srgbClr val="3B2A54"/>
                          </a:solidFill>
                          <a:latin typeface="Arial"/>
                        </a:rPr>
                        <a:t>Full banking or fintech license in force; local CFO in place (already so in Mexico and Colombia).</a:t>
                      </a:r>
                    </a:p>
                  </a:txBody>
                  <a:tcPr marL="64008" marR="64008" marT="36576" marB="36576" anchor="ctr">
                    <a:solidFill>
                      <a:srgbClr val="FFFFFF"/>
                    </a:solidFill>
                  </a:tcPr>
                </a:tc>
                <a:tc>
                  <a:txBody>
                    <a:bodyPr/>
                    <a:lstStyle/>
                    <a:p>
                      <a:r>
                        <a:rPr sz="1100" b="0">
                          <a:solidFill>
                            <a:srgbClr val="3B2A54"/>
                          </a:solidFill>
                          <a:latin typeface="Arial"/>
                        </a:rPr>
                        <a:t>Full licensed entity; regional campus where the HQ lands.</a:t>
                      </a:r>
                    </a:p>
                  </a:txBody>
                  <a:tcPr marL="64008" marR="64008" marT="36576" marB="36576" anchor="ctr">
                    <a:solidFill>
                      <a:srgbClr val="FFFFFF"/>
                    </a:solidFill>
                  </a:tcPr>
                </a:tc>
                <a:tc>
                  <a:txBody>
                    <a:bodyPr/>
                    <a:lstStyle/>
                    <a:p>
                      <a:r>
                        <a:rPr sz="1100" b="0">
                          <a:solidFill>
                            <a:srgbClr val="3B2A54"/>
                          </a:solidFill>
                          <a:latin typeface="Arial"/>
                        </a:rPr>
                        <a:t>Audit and Risk Committee oversight; dual signature above limits set by category; director liability insurance; annual review of powers of attorney. If the HQ sits inside an existing licensed entity: a powers-of-attorney update only.</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12648" y="5760720"/>
            <a:ext cx="10515600" cy="457200"/>
          </a:xfrm>
          <a:prstGeom prst="rect">
            <a:avLst/>
          </a:prstGeom>
          <a:noFill/>
        </p:spPr>
        <p:txBody>
          <a:bodyPr wrap="square" anchor="t">
            <a:spAutoFit/>
          </a:bodyPr>
          <a:lstStyle/>
          <a:p>
            <a:pPr algn="l"/>
            <a:r>
              <a:rPr sz="900" b="0">
                <a:solidFill>
                  <a:srgbClr val="6B5B82"/>
                </a:solidFill>
                <a:latin typeface="Arial"/>
              </a:rPr>
              <a:t>Sources: Nu announcements (US launch via Lead Bank, 10 Sep 2026; OCC conditional approval, 29 Jan 2026; Mexico bank authorization, 10 Jul 2026; local finance leadership per the CFO appointment release). Signing limits are proposals.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18</a:t>
            </a:r>
            <a:endParaRPr sz="900" b="0">
              <a:solidFill>
                <a:srgbClr val="6B5B82"/>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D</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Every number is a sourced fact, a labeled assumption or context</a:t>
            </a:r>
          </a:p>
        </p:txBody>
      </p:sp>
      <p:graphicFrame>
        <p:nvGraphicFramePr>
          <p:cNvPr id="4" name="Table 3"/>
          <p:cNvGraphicFramePr>
            <a:graphicFrameLocks noGrp="1"/>
          </p:cNvGraphicFramePr>
          <p:nvPr>
            <p:extLst>
              <p:ext uri="{D42A27DB-BD31-4B8C-83A1-F6EECF244321}">
                <p14:modId xmlns:p14="http://schemas.microsoft.com/office/powerpoint/2010/main" val="2123518809"/>
              </p:ext>
            </p:extLst>
          </p:nvPr>
        </p:nvGraphicFramePr>
        <p:xfrm>
          <a:off x="612648" y="1325880"/>
          <a:ext cx="10972800" cy="399288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Topic</a:t>
                      </a:r>
                    </a:p>
                  </a:txBody>
                  <a:tcPr marL="64008" marR="64008" marT="36576" marB="36576" anchor="ctr">
                    <a:solidFill>
                      <a:srgbClr val="820AD1"/>
                    </a:solidFill>
                  </a:tcPr>
                </a:tc>
                <a:tc>
                  <a:txBody>
                    <a:bodyPr/>
                    <a:lstStyle/>
                    <a:p>
                      <a:r>
                        <a:rPr sz="1050" b="1">
                          <a:solidFill>
                            <a:srgbClr val="FFFFFF"/>
                          </a:solidFill>
                          <a:latin typeface="Arial"/>
                        </a:rPr>
                        <a:t>Source and class</a:t>
                      </a:r>
                    </a:p>
                  </a:txBody>
                  <a:tcPr marL="64008" marR="64008" marT="36576" marB="36576" anchor="ctr">
                    <a:solidFill>
                      <a:srgbClr val="820AD1"/>
                    </a:solidFill>
                  </a:tcPr>
                </a:tc>
                <a:tc>
                  <a:txBody>
                    <a:bodyPr/>
                    <a:lstStyle/>
                    <a:p>
                      <a:r>
                        <a:rPr sz="1050" b="1">
                          <a:solidFill>
                            <a:srgbClr val="FFFFFF"/>
                          </a:solidFill>
                          <a:latin typeface="Arial"/>
                        </a:rPr>
                        <a:t>Data point</a:t>
                      </a:r>
                    </a:p>
                  </a:txBody>
                  <a:tcPr marL="64008" marR="64008" marT="36576" marB="36576" anchor="ctr">
                    <a:solidFill>
                      <a:srgbClr val="820AD1"/>
                    </a:solidFill>
                  </a:tcPr>
                </a:tc>
                <a:tc>
                  <a:txBody>
                    <a:bodyPr/>
                    <a:lstStyle/>
                    <a:p>
                      <a:r>
                        <a:rPr sz="1050" b="1">
                          <a:solidFill>
                            <a:srgbClr val="FFFFFF"/>
                          </a:solidFill>
                          <a:latin typeface="Arial"/>
                        </a:rPr>
                        <a:t>Where it is used</a:t>
                      </a:r>
                    </a:p>
                  </a:txBody>
                  <a:tcPr marL="64008" marR="64008" marT="36576" marB="36576" anchor="ctr">
                    <a:solidFill>
                      <a:srgbClr val="820AD1"/>
                    </a:solidFill>
                  </a:tcPr>
                </a:tc>
                <a:extLst>
                  <a:ext uri="{0D108BD9-81ED-4DB2-BD59-A6C34878D82A}">
                    <a16:rowId xmlns:a16="http://schemas.microsoft.com/office/drawing/2014/main" val="10000"/>
                  </a:ext>
                </a:extLst>
              </a:tr>
              <a:tr h="530352">
                <a:tc>
                  <a:txBody>
                    <a:bodyPr/>
                    <a:lstStyle/>
                    <a:p>
                      <a:r>
                        <a:rPr sz="1000" b="1">
                          <a:solidFill>
                            <a:srgbClr val="11052C"/>
                          </a:solidFill>
                          <a:latin typeface="Arial"/>
                        </a:rPr>
                        <a:t>Nu scale and efficiency</a:t>
                      </a:r>
                    </a:p>
                  </a:txBody>
                  <a:tcPr marL="64008" marR="64008" marT="36576" marB="36576" anchor="ctr">
                    <a:solidFill>
                      <a:srgbClr val="FFFFFF"/>
                    </a:solidFill>
                  </a:tcPr>
                </a:tc>
                <a:tc>
                  <a:txBody>
                    <a:bodyPr/>
                    <a:lstStyle/>
                    <a:p>
                      <a:r>
                        <a:rPr sz="1000" b="0">
                          <a:solidFill>
                            <a:srgbClr val="3B2A54"/>
                          </a:solidFill>
                          <a:latin typeface="Arial"/>
                        </a:rPr>
                        <a:t>Nu Q2'26 release and 6-K; Form 20-F  |  FACT</a:t>
                      </a:r>
                    </a:p>
                  </a:txBody>
                  <a:tcPr marL="64008" marR="64008" marT="36576" marB="36576" anchor="ctr">
                    <a:solidFill>
                      <a:srgbClr val="FFFFFF"/>
                    </a:solidFill>
                  </a:tcPr>
                </a:tc>
                <a:tc>
                  <a:txBody>
                    <a:bodyPr/>
                    <a:lstStyle/>
                    <a:p>
                      <a:r>
                        <a:rPr sz="1000" b="0">
                          <a:solidFill>
                            <a:srgbClr val="3B2A54"/>
                          </a:solidFill>
                          <a:latin typeface="Arial"/>
                        </a:rPr>
                        <a:t>138.9M customers; ARPAC $17.1; cost to serve $1.0 ($0.8 a year earlier); efficiency ratio 19.5% (17.6% in Q1; ~20% FY26 per the call); ROE 33%; net income $1.06B; opex $806.2M; net revenue ~$4.1B; low-and-grow underwriting.</a:t>
                      </a:r>
                    </a:p>
                  </a:txBody>
                  <a:tcPr marL="64008" marR="64008" marT="36576" marB="36576" anchor="ctr">
                    <a:solidFill>
                      <a:srgbClr val="FFFFFF"/>
                    </a:solidFill>
                  </a:tcPr>
                </a:tc>
                <a:tc>
                  <a:txBody>
                    <a:bodyPr/>
                    <a:lstStyle/>
                    <a:p>
                      <a:r>
                        <a:rPr lang="en-US" sz="1000" b="0">
                          <a:solidFill>
                            <a:srgbClr val="3B2A54"/>
                          </a:solidFill>
                          <a:latin typeface="Arial"/>
                        </a:rPr>
                        <a:t>Slides 5, 7; backup A</a:t>
                      </a:r>
                    </a:p>
                  </a:txBody>
                  <a:tcPr marL="64008" marR="64008" marT="36576" marB="36576" anchor="ctr">
                    <a:solidFill>
                      <a:srgbClr val="FFFFFF"/>
                    </a:solidFill>
                  </a:tcPr>
                </a:tc>
                <a:extLst>
                  <a:ext uri="{0D108BD9-81ED-4DB2-BD59-A6C34878D82A}">
                    <a16:rowId xmlns:a16="http://schemas.microsoft.com/office/drawing/2014/main" val="10001"/>
                  </a:ext>
                </a:extLst>
              </a:tr>
              <a:tr h="682751">
                <a:tc>
                  <a:txBody>
                    <a:bodyPr/>
                    <a:lstStyle/>
                    <a:p>
                      <a:r>
                        <a:rPr sz="1000" b="1">
                          <a:solidFill>
                            <a:srgbClr val="11052C"/>
                          </a:solidFill>
                          <a:latin typeface="Arial"/>
                        </a:rPr>
                        <a:t>Corporate events</a:t>
                      </a:r>
                    </a:p>
                  </a:txBody>
                  <a:tcPr marL="64008" marR="64008" marT="36576" marB="36576" anchor="ctr">
                    <a:solidFill>
                      <a:srgbClr val="F7F2FD"/>
                    </a:solidFill>
                  </a:tcPr>
                </a:tc>
                <a:tc>
                  <a:txBody>
                    <a:bodyPr/>
                    <a:lstStyle/>
                    <a:p>
                      <a:r>
                        <a:rPr sz="1000" b="0">
                          <a:solidFill>
                            <a:srgbClr val="3B2A54"/>
                          </a:solidFill>
                          <a:latin typeface="Arial"/>
                        </a:rPr>
                        <a:t>Nu announcements; OCC; Nu IR  |  FACT</a:t>
                      </a:r>
                    </a:p>
                  </a:txBody>
                  <a:tcPr marL="64008" marR="64008" marT="36576" marB="36576" anchor="ctr">
                    <a:solidFill>
                      <a:srgbClr val="F7F2FD"/>
                    </a:solidFill>
                  </a:tcPr>
                </a:tc>
                <a:tc>
                  <a:txBody>
                    <a:bodyPr/>
                    <a:lstStyle/>
                    <a:p>
                      <a:r>
                        <a:rPr sz="1000" b="0">
                          <a:solidFill>
                            <a:srgbClr val="3B2A54"/>
                          </a:solidFill>
                          <a:latin typeface="Arial"/>
                        </a:rPr>
                        <a:t>Mexico bank authorization 10 Jul 2026 (operating from 6 Aug), $4.2B plan to 2030; OCC conditional approval 29 Jan 2026 (capital within 12 months); US launch via Lead Bank 10 Sep 2026; buyback up to $1.0B (4 Jun 2026); CFO since 13 Jul 2026; Q3'26 results 12 Nov; Investor Day 8 Dec 2026.</a:t>
                      </a:r>
                    </a:p>
                  </a:txBody>
                  <a:tcPr marL="64008" marR="64008" marT="36576" marB="36576" anchor="ctr">
                    <a:solidFill>
                      <a:srgbClr val="F7F2FD"/>
                    </a:solidFill>
                  </a:tcPr>
                </a:tc>
                <a:tc>
                  <a:txBody>
                    <a:bodyPr/>
                    <a:lstStyle/>
                    <a:p>
                      <a:r>
                        <a:rPr lang="en-US" sz="1000" b="0">
                          <a:solidFill>
                            <a:srgbClr val="3B2A54"/>
                          </a:solidFill>
                          <a:latin typeface="Arial"/>
                        </a:rPr>
                        <a:t>Slides 9, 13; backup B</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00" b="1">
                          <a:solidFill>
                            <a:srgbClr val="11052C"/>
                          </a:solidFill>
                          <a:latin typeface="Arial"/>
                        </a:rPr>
                        <a:t>Cohorts</a:t>
                      </a:r>
                    </a:p>
                  </a:txBody>
                  <a:tcPr marL="64008" marR="64008" marT="36576" marB="36576" anchor="ctr">
                    <a:solidFill>
                      <a:srgbClr val="FFFFFF"/>
                    </a:solidFill>
                  </a:tcPr>
                </a:tc>
                <a:tc>
                  <a:txBody>
                    <a:bodyPr/>
                    <a:lstStyle/>
                    <a:p>
                      <a:r>
                        <a:rPr sz="1000" b="0">
                          <a:solidFill>
                            <a:srgbClr val="3B2A54"/>
                          </a:solidFill>
                          <a:latin typeface="Arial"/>
                        </a:rPr>
                        <a:t>Q1'26 earnings presentation  |  FACT</a:t>
                      </a:r>
                    </a:p>
                  </a:txBody>
                  <a:tcPr marL="64008" marR="64008" marT="36576" marB="36576" anchor="ctr">
                    <a:solidFill>
                      <a:srgbClr val="FFFFFF"/>
                    </a:solidFill>
                  </a:tcPr>
                </a:tc>
                <a:tc>
                  <a:txBody>
                    <a:bodyPr/>
                    <a:lstStyle/>
                    <a:p>
                      <a:r>
                        <a:rPr sz="1000" b="0">
                          <a:solidFill>
                            <a:srgbClr val="3B2A54"/>
                          </a:solidFill>
                          <a:latin typeface="Arial"/>
                        </a:rPr>
                        <a:t>$30.8 monthly ARPAC at 96 months since origination vs $15.9 total.</a:t>
                      </a:r>
                    </a:p>
                  </a:txBody>
                  <a:tcPr marL="64008" marR="64008" marT="36576" marB="36576" anchor="ctr">
                    <a:solidFill>
                      <a:srgbClr val="FFFFFF"/>
                    </a:solidFill>
                  </a:tcPr>
                </a:tc>
                <a:tc>
                  <a:txBody>
                    <a:bodyPr/>
                    <a:lstStyle/>
                    <a:p>
                      <a:r>
                        <a:rPr lang="en-US" sz="1000" b="0">
                          <a:solidFill>
                            <a:srgbClr val="3B2A54"/>
                          </a:solidFill>
                          <a:latin typeface="Arial"/>
                        </a:rPr>
                        <a:t>Slide 7 (70/30 split)</a:t>
                      </a:r>
                    </a:p>
                  </a:txBody>
                  <a:tcPr marL="64008" marR="64008" marT="36576" marB="36576" anchor="ctr">
                    <a:solidFill>
                      <a:srgbClr val="FFFFFF"/>
                    </a:solidFill>
                  </a:tcPr>
                </a:tc>
                <a:extLst>
                  <a:ext uri="{0D108BD9-81ED-4DB2-BD59-A6C34878D82A}">
                    <a16:rowId xmlns:a16="http://schemas.microsoft.com/office/drawing/2014/main" val="10003"/>
                  </a:ext>
                </a:extLst>
              </a:tr>
              <a:tr h="377952">
                <a:tc>
                  <a:txBody>
                    <a:bodyPr/>
                    <a:lstStyle/>
                    <a:p>
                      <a:r>
                        <a:rPr sz="1000" b="1">
                          <a:solidFill>
                            <a:srgbClr val="11052C"/>
                          </a:solidFill>
                          <a:latin typeface="Arial"/>
                        </a:rPr>
                        <a:t>HQ tax rules</a:t>
                      </a:r>
                    </a:p>
                  </a:txBody>
                  <a:tcPr marL="64008" marR="64008" marT="36576" marB="36576" anchor="ctr">
                    <a:solidFill>
                      <a:srgbClr val="F7F2FD"/>
                    </a:solidFill>
                  </a:tcPr>
                </a:tc>
                <a:tc>
                  <a:txBody>
                    <a:bodyPr/>
                    <a:lstStyle/>
                    <a:p>
                      <a:r>
                        <a:rPr sz="1000" b="0">
                          <a:solidFill>
                            <a:srgbClr val="3B2A54"/>
                          </a:solidFill>
                          <a:latin typeface="Arial"/>
                        </a:rPr>
                        <a:t>OECD GloBE Model Rules; Form 20-F  |  FACT (rule)</a:t>
                      </a:r>
                    </a:p>
                  </a:txBody>
                  <a:tcPr marL="64008" marR="64008" marT="36576" marB="36576" anchor="ctr">
                    <a:solidFill>
                      <a:srgbClr val="F7F2FD"/>
                    </a:solidFill>
                  </a:tcPr>
                </a:tc>
                <a:tc>
                  <a:txBody>
                    <a:bodyPr/>
                    <a:lstStyle/>
                    <a:p>
                      <a:r>
                        <a:rPr sz="1000" b="0">
                          <a:solidFill>
                            <a:srgbClr val="3B2A54"/>
                          </a:solidFill>
                          <a:latin typeface="Arial"/>
                        </a:rPr>
                        <a:t>EUR 750M threshold; 15% minimum; 2026 transitional carve-out 9.4% of payroll and 7.4% of tangible assets (Art. 5.3, 9.2); Nu Holdings is Cayman-incorporated.</a:t>
                      </a:r>
                    </a:p>
                  </a:txBody>
                  <a:tcPr marL="64008" marR="64008" marT="36576" marB="36576" anchor="ctr">
                    <a:solidFill>
                      <a:srgbClr val="F7F2FD"/>
                    </a:solidFill>
                  </a:tcPr>
                </a:tc>
                <a:tc>
                  <a:txBody>
                    <a:bodyPr/>
                    <a:lstStyle/>
                    <a:p>
                      <a:r>
                        <a:rPr lang="en-US" sz="1000" b="0">
                          <a:solidFill>
                            <a:srgbClr val="3B2A54"/>
                          </a:solidFill>
                          <a:latin typeface="Arial"/>
                        </a:rPr>
                        <a:t>Slide 11</a:t>
                      </a:r>
                    </a:p>
                  </a:txBody>
                  <a:tcPr marL="64008" marR="64008" marT="36576" marB="36576" anchor="ctr">
                    <a:solidFill>
                      <a:srgbClr val="F7F2FD"/>
                    </a:solidFill>
                  </a:tcPr>
                </a:tc>
                <a:extLst>
                  <a:ext uri="{0D108BD9-81ED-4DB2-BD59-A6C34878D82A}">
                    <a16:rowId xmlns:a16="http://schemas.microsoft.com/office/drawing/2014/main" val="10004"/>
                  </a:ext>
                </a:extLst>
              </a:tr>
              <a:tr h="682751">
                <a:tc>
                  <a:txBody>
                    <a:bodyPr/>
                    <a:lstStyle/>
                    <a:p>
                      <a:r>
                        <a:rPr sz="1000" b="1" dirty="0">
                          <a:solidFill>
                            <a:srgbClr val="11052C"/>
                          </a:solidFill>
                          <a:latin typeface="Arial"/>
                        </a:rPr>
                        <a:t>Context only</a:t>
                      </a:r>
                    </a:p>
                  </a:txBody>
                  <a:tcPr marL="64008" marR="64008" marT="36576" marB="36576" anchor="ctr">
                    <a:solidFill>
                      <a:srgbClr val="FFFFFF"/>
                    </a:solidFill>
                  </a:tcPr>
                </a:tc>
                <a:tc>
                  <a:txBody>
                    <a:bodyPr/>
                    <a:lstStyle/>
                    <a:p>
                      <a:r>
                        <a:rPr sz="1000" b="0" dirty="0">
                          <a:solidFill>
                            <a:srgbClr val="3B2A54"/>
                          </a:solidFill>
                          <a:latin typeface="Arial"/>
                        </a:rPr>
                        <a:t>Hackett, McKinsey, Gartner, HBR, NACD, Deloitte, Baker McKenzie; three-horizons framing (Baghai, Coley and White)  |  CONTEXT</a:t>
                      </a:r>
                    </a:p>
                  </a:txBody>
                  <a:tcPr marL="64008" marR="64008" marT="36576" marB="36576" anchor="ctr">
                    <a:solidFill>
                      <a:srgbClr val="FFFFFF"/>
                    </a:solidFill>
                  </a:tcPr>
                </a:tc>
                <a:tc>
                  <a:txBody>
                    <a:bodyPr/>
                    <a:lstStyle/>
                    <a:p>
                      <a:r>
                        <a:rPr sz="1000" b="0" dirty="0">
                          <a:solidFill>
                            <a:srgbClr val="3B2A54"/>
                          </a:solidFill>
                          <a:latin typeface="Arial"/>
                        </a:rPr>
                        <a:t>Central hubs shorten planning cycles; active reallocators earn higher returns; fair process wins acceptance; Board books at T-7.</a:t>
                      </a:r>
                    </a:p>
                  </a:txBody>
                  <a:tcPr marL="64008" marR="64008" marT="36576" marB="36576" anchor="ctr">
                    <a:solidFill>
                      <a:srgbClr val="FFFFFF"/>
                    </a:solidFill>
                  </a:tcPr>
                </a:tc>
                <a:tc>
                  <a:txBody>
                    <a:bodyPr/>
                    <a:lstStyle/>
                    <a:p>
                      <a:r>
                        <a:rPr lang="en-US" sz="1000" b="0">
                          <a:solidFill>
                            <a:srgbClr val="3B2A54"/>
                          </a:solidFill>
                          <a:latin typeface="Arial"/>
                        </a:rPr>
                        <a:t>Footers and talk only</a:t>
                      </a:r>
                      <a:endParaRPr lang="en-US" sz="10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r h="530352">
                <a:tc>
                  <a:txBody>
                    <a:bodyPr/>
                    <a:lstStyle/>
                    <a:p>
                      <a:r>
                        <a:rPr sz="1000" b="1">
                          <a:solidFill>
                            <a:srgbClr val="11052C"/>
                          </a:solidFill>
                          <a:latin typeface="Arial"/>
                        </a:rPr>
                        <a:t>AI in operations</a:t>
                      </a:r>
                    </a:p>
                  </a:txBody>
                  <a:tcPr marL="64008" marR="64008" marT="36576" marB="36576" anchor="ctr">
                    <a:solidFill>
                      <a:srgbClr val="F7F2FD"/>
                    </a:solidFill>
                  </a:tcPr>
                </a:tc>
                <a:tc>
                  <a:txBody>
                    <a:bodyPr/>
                    <a:lstStyle/>
                    <a:p>
                      <a:r>
                        <a:rPr sz="1000" b="0">
                          <a:solidFill>
                            <a:srgbClr val="3B2A54"/>
                          </a:solidFill>
                          <a:latin typeface="Arial"/>
                        </a:rPr>
                        <a:t>Nu Q2'26 release; Nu newsroom (Hyperplane, Jun 2024)  |  FACT. Gartner; PMI; Science; HBS/BCG  |  CONTEXT</a:t>
                      </a:r>
                    </a:p>
                  </a:txBody>
                  <a:tcPr marL="64008" marR="64008" marT="36576" marB="36576" anchor="ctr">
                    <a:solidFill>
                      <a:srgbClr val="F7F2FD"/>
                    </a:solidFill>
                  </a:tcPr>
                </a:tc>
                <a:tc>
                  <a:txBody>
                    <a:bodyPr/>
                    <a:lstStyle/>
                    <a:p>
                      <a:r>
                        <a:rPr lang="en-US" sz="1000" b="0">
                          <a:solidFill>
                            <a:srgbClr val="3B2A54"/>
                          </a:solidFill>
                          <a:latin typeface="Arial"/>
                        </a:rPr>
                        <a:t>AI agents handle more than 60% of support chats in Brazil; AI-first strategy. Studies and surveys on AI in project reporting, writing and finance (backup H).</a:t>
                      </a:r>
                      <a:endParaRPr lang="en-US" sz="1000" b="0" dirty="0">
                        <a:solidFill>
                          <a:srgbClr val="3B2A54"/>
                        </a:solidFill>
                        <a:latin typeface="Arial"/>
                      </a:endParaRPr>
                    </a:p>
                  </a:txBody>
                  <a:tcPr marL="64008" marR="64008" marT="36576" marB="36576" anchor="ctr">
                    <a:solidFill>
                      <a:srgbClr val="F7F2FD"/>
                    </a:solidFill>
                  </a:tcPr>
                </a:tc>
                <a:tc>
                  <a:txBody>
                    <a:bodyPr/>
                    <a:lstStyle/>
                    <a:p>
                      <a:r>
                        <a:rPr lang="en-US" sz="1000" b="0">
                          <a:solidFill>
                            <a:srgbClr val="3B2A54"/>
                          </a:solidFill>
                          <a:latin typeface="Arial"/>
                        </a:rPr>
                        <a:t>Slides 2, 3, 8, 14; backup H</a:t>
                      </a:r>
                      <a:endParaRPr lang="en-US" sz="10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6"/>
                  </a:ext>
                </a:extLst>
              </a:tr>
              <a:tr h="530352">
                <a:tc>
                  <a:txBody>
                    <a:bodyPr/>
                    <a:lstStyle/>
                    <a:p>
                      <a:r>
                        <a:rPr lang="en-US" sz="1000" b="1" dirty="0">
                          <a:solidFill>
                            <a:srgbClr val="11052C"/>
                          </a:solidFill>
                          <a:latin typeface="Arial"/>
                        </a:rPr>
                        <a:t>Spend prioritization methodology</a:t>
                      </a:r>
                      <a:endParaRPr sz="1000" b="1" dirty="0">
                        <a:solidFill>
                          <a:srgbClr val="11052C"/>
                        </a:solidFill>
                        <a:latin typeface="Arial"/>
                      </a:endParaRPr>
                    </a:p>
                  </a:txBody>
                  <a:tcPr marL="64008" marR="64008" marT="36576" marB="36576" anchor="ctr">
                    <a:solidFill>
                      <a:schemeClr val="bg1"/>
                    </a:solidFill>
                  </a:tcPr>
                </a:tc>
                <a:tc>
                  <a:txBody>
                    <a:bodyPr/>
                    <a:lstStyle/>
                    <a:p>
                      <a:pPr marL="0" algn="l" defTabSz="457200" rtl="0" eaLnBrk="1" latinLnBrk="0" hangingPunct="1"/>
                      <a:r>
                        <a:rPr lang="en-US" sz="1000" b="0" kern="1200">
                          <a:solidFill>
                            <a:srgbClr val="3B2A54"/>
                          </a:solidFill>
                          <a:latin typeface="Arial"/>
                          <a:ea typeface="+mn-ea"/>
                          <a:cs typeface="+mn-cs"/>
                        </a:rPr>
                        <a:t>McKinsey, Deloitte</a:t>
                      </a:r>
                      <a:endParaRPr lang="en-US"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000" b="0" kern="1200" dirty="0">
                          <a:solidFill>
                            <a:srgbClr val="3B2A54"/>
                          </a:solidFill>
                          <a:latin typeface="Arial"/>
                          <a:ea typeface="+mn-ea"/>
                          <a:cs typeface="+mn-cs"/>
                        </a:rPr>
                        <a:t>Studies support strategic initiative alignment, streamlined financial planning, compact schedules and regular in-year resource reallocation, with strategy-driven, granular allocation and clear senior decision rights.</a:t>
                      </a:r>
                      <a:endParaRPr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algn="l" defTabSz="457200" rtl="0" eaLnBrk="1" latinLnBrk="0" hangingPunct="1"/>
                      <a:r>
                        <a:rPr lang="en-US" sz="1000" b="0" kern="1200" dirty="0">
                          <a:solidFill>
                            <a:srgbClr val="3B2A54"/>
                          </a:solidFill>
                          <a:latin typeface="Arial"/>
                          <a:ea typeface="+mn-ea"/>
                          <a:cs typeface="+mn-cs"/>
                        </a:rPr>
                        <a:t>Slide 6</a:t>
                      </a:r>
                      <a:endParaRPr sz="1000" b="0" kern="1200" dirty="0">
                        <a:solidFill>
                          <a:srgbClr val="3B2A54"/>
                        </a:solidFill>
                        <a:latin typeface="Arial"/>
                        <a:ea typeface="+mn-ea"/>
                        <a:cs typeface="+mn-cs"/>
                      </a:endParaRPr>
                    </a:p>
                  </a:txBody>
                  <a:tcPr marL="64008" marR="64008" marT="36576" marB="36576" anchor="ctr">
                    <a:solidFill>
                      <a:schemeClr val="bg1"/>
                    </a:solidFill>
                  </a:tcPr>
                </a:tc>
                <a:extLst>
                  <a:ext uri="{0D108BD9-81ED-4DB2-BD59-A6C34878D82A}">
                    <a16:rowId xmlns:a16="http://schemas.microsoft.com/office/drawing/2014/main" val="3408021697"/>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sz="900" b="0" dirty="0">
                <a:solidFill>
                  <a:srgbClr val="6B5B82"/>
                </a:solidFill>
                <a:latin typeface="Arial"/>
              </a:rPr>
              <a:t>Research assisted by AI tools</a:t>
            </a:r>
            <a:r>
              <a:rPr lang="en-US" sz="900" b="0" dirty="0">
                <a:solidFill>
                  <a:srgbClr val="6B5B82"/>
                </a:solidFill>
                <a:latin typeface="Arial"/>
              </a:rPr>
              <a:t>, with</a:t>
            </a:r>
            <a:r>
              <a:rPr sz="900" b="0" dirty="0">
                <a:solidFill>
                  <a:srgbClr val="6B5B82"/>
                </a:solidFill>
                <a:latin typeface="Arial"/>
              </a:rPr>
              <a:t> every figure, calculation and recommendation </a:t>
            </a:r>
            <a:r>
              <a:rPr lang="en-US" sz="900" b="0" dirty="0">
                <a:solidFill>
                  <a:srgbClr val="6B5B82"/>
                </a:solidFill>
                <a:latin typeface="Arial"/>
              </a:rPr>
              <a:t>c</a:t>
            </a:r>
            <a:r>
              <a:rPr sz="900" b="0" dirty="0">
                <a:solidFill>
                  <a:srgbClr val="6B5B82"/>
                </a:solidFill>
                <a:latin typeface="Arial"/>
              </a:rPr>
              <a:t>hecked </a:t>
            </a:r>
            <a:r>
              <a:rPr lang="en-US" sz="900" b="0" dirty="0">
                <a:solidFill>
                  <a:srgbClr val="6B5B82"/>
                </a:solidFill>
                <a:latin typeface="Arial"/>
              </a:rPr>
              <a:t>personally</a:t>
            </a:r>
            <a:r>
              <a:rPr sz="900" b="0" dirty="0">
                <a:solidFill>
                  <a:srgbClr val="6B5B82"/>
                </a:solidFill>
                <a:latin typeface="Arial"/>
              </a:rPr>
              <a:t>.</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19</a:t>
            </a:r>
            <a:endParaRPr sz="900" b="0">
              <a:solidFill>
                <a:srgbClr val="6B5B82"/>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F</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One timeline: tenure days, Board countdown and HQ gates</a:t>
            </a:r>
          </a:p>
        </p:txBody>
      </p:sp>
      <p:graphicFrame>
        <p:nvGraphicFramePr>
          <p:cNvPr id="4" name="Table 3"/>
          <p:cNvGraphicFramePr>
            <a:graphicFrameLocks noGrp="1"/>
          </p:cNvGraphicFramePr>
          <p:nvPr>
            <p:extLst>
              <p:ext uri="{D42A27DB-BD31-4B8C-83A1-F6EECF244321}">
                <p14:modId xmlns:p14="http://schemas.microsoft.com/office/powerpoint/2010/main" val="4122371258"/>
              </p:ext>
            </p:extLst>
          </p:nvPr>
        </p:nvGraphicFramePr>
        <p:xfrm>
          <a:off x="612648" y="1371600"/>
          <a:ext cx="10972800" cy="468172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50292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Tenure day</a:t>
                      </a:r>
                    </a:p>
                  </a:txBody>
                  <a:tcPr marL="64008" marR="64008" marT="36576" marB="36576" anchor="ctr">
                    <a:solidFill>
                      <a:srgbClr val="820AD1"/>
                    </a:solidFill>
                  </a:tcPr>
                </a:tc>
                <a:tc>
                  <a:txBody>
                    <a:bodyPr/>
                    <a:lstStyle/>
                    <a:p>
                      <a:r>
                        <a:rPr sz="1050" b="1">
                          <a:solidFill>
                            <a:srgbClr val="FFFFFF"/>
                          </a:solidFill>
                          <a:latin typeface="Arial"/>
                        </a:rPr>
                        <a:t>Date</a:t>
                      </a:r>
                    </a:p>
                  </a:txBody>
                  <a:tcPr marL="64008" marR="64008" marT="36576" marB="36576" anchor="ctr">
                    <a:solidFill>
                      <a:srgbClr val="820AD1"/>
                    </a:solidFill>
                  </a:tcPr>
                </a:tc>
                <a:tc>
                  <a:txBody>
                    <a:bodyPr/>
                    <a:lstStyle/>
                    <a:p>
                      <a:r>
                        <a:rPr sz="1050" b="1">
                          <a:solidFill>
                            <a:srgbClr val="FFFFFF"/>
                          </a:solidFill>
                          <a:latin typeface="Arial"/>
                        </a:rPr>
                        <a:t>Board countdown / HQ gate</a:t>
                      </a:r>
                    </a:p>
                  </a:txBody>
                  <a:tcPr marL="64008" marR="64008" marT="36576" marB="36576" anchor="ctr">
                    <a:solidFill>
                      <a:srgbClr val="820AD1"/>
                    </a:solidFill>
                  </a:tcPr>
                </a:tc>
                <a:tc>
                  <a:txBody>
                    <a:bodyPr/>
                    <a:lstStyle/>
                    <a:p>
                      <a:r>
                        <a:rPr sz="1050" b="1">
                          <a:solidFill>
                            <a:srgbClr val="FFFFFF"/>
                          </a:solidFill>
                          <a:latin typeface="Arial"/>
                        </a:rPr>
                        <a:t>What happens</a:t>
                      </a:r>
                    </a:p>
                  </a:txBody>
                  <a:tcPr marL="64008" marR="64008" marT="36576" marB="36576" anchor="ctr">
                    <a:solidFill>
                      <a:srgbClr val="820AD1"/>
                    </a:solidFill>
                  </a:tcPr>
                </a:tc>
                <a:extLst>
                  <a:ext uri="{0D108BD9-81ED-4DB2-BD59-A6C34878D82A}">
                    <a16:rowId xmlns:a16="http://schemas.microsoft.com/office/drawing/2014/main" val="10000"/>
                  </a:ext>
                </a:extLst>
              </a:tr>
              <a:tr h="329184">
                <a:tc>
                  <a:txBody>
                    <a:bodyPr/>
                    <a:lstStyle/>
                    <a:p>
                      <a:r>
                        <a:rPr sz="1050" b="1">
                          <a:solidFill>
                            <a:srgbClr val="11052C"/>
                          </a:solidFill>
                          <a:latin typeface="Arial"/>
                        </a:rPr>
                        <a:t>Day 60</a:t>
                      </a:r>
                    </a:p>
                  </a:txBody>
                  <a:tcPr marL="64008" marR="64008" marT="36576" marB="36576" anchor="ctr">
                    <a:solidFill>
                      <a:srgbClr val="FFFFFF"/>
                    </a:solidFill>
                  </a:tcPr>
                </a:tc>
                <a:tc>
                  <a:txBody>
                    <a:bodyPr/>
                    <a:lstStyle/>
                    <a:p>
                      <a:r>
                        <a:rPr sz="1050" b="0">
                          <a:solidFill>
                            <a:srgbClr val="3B2A54"/>
                          </a:solidFill>
                          <a:latin typeface="Arial"/>
                        </a:rPr>
                        <a:t>Tue 20 Oct</a:t>
                      </a:r>
                    </a:p>
                  </a:txBody>
                  <a:tcPr marL="64008" marR="64008" marT="36576" marB="36576" anchor="ctr">
                    <a:solidFill>
                      <a:srgbClr val="FFFFFF"/>
                    </a:solidFill>
                  </a:tcPr>
                </a:tc>
                <a:tc>
                  <a:txBody>
                    <a:bodyPr/>
                    <a:lstStyle/>
                    <a:p>
                      <a:r>
                        <a:rPr sz="1050" b="0">
                          <a:solidFill>
                            <a:srgbClr val="3B2A54"/>
                          </a:solidFill>
                          <a:latin typeface="Arial"/>
                        </a:rPr>
                        <a:t>T-28  |  HQ D+0</a:t>
                      </a:r>
                    </a:p>
                  </a:txBody>
                  <a:tcPr marL="64008" marR="64008" marT="36576" marB="36576" anchor="ctr">
                    <a:solidFill>
                      <a:srgbClr val="FFFFFF"/>
                    </a:solidFill>
                  </a:tcPr>
                </a:tc>
                <a:tc>
                  <a:txBody>
                    <a:bodyPr/>
                    <a:lstStyle/>
                    <a:p>
                      <a:r>
                        <a:rPr sz="1050" b="0">
                          <a:solidFill>
                            <a:srgbClr val="3B2A54"/>
                          </a:solidFill>
                          <a:latin typeface="Arial"/>
                        </a:rPr>
                        <a:t>Board outline out; HQ charter signed; tax gate launched</a:t>
                      </a:r>
                    </a:p>
                  </a:txBody>
                  <a:tcPr marL="64008" marR="64008" marT="36576" marB="36576" anchor="ctr">
                    <a:solidFill>
                      <a:srgbClr val="FFFFFF"/>
                    </a:solidFill>
                  </a:tcPr>
                </a:tc>
                <a:extLst>
                  <a:ext uri="{0D108BD9-81ED-4DB2-BD59-A6C34878D82A}">
                    <a16:rowId xmlns:a16="http://schemas.microsoft.com/office/drawing/2014/main" val="10001"/>
                  </a:ext>
                </a:extLst>
              </a:tr>
              <a:tr h="329184">
                <a:tc>
                  <a:txBody>
                    <a:bodyPr/>
                    <a:lstStyle/>
                    <a:p>
                      <a:r>
                        <a:rPr sz="1050" b="1">
                          <a:solidFill>
                            <a:srgbClr val="11052C"/>
                          </a:solidFill>
                          <a:latin typeface="Arial"/>
                        </a:rPr>
                        <a:t>Day 67</a:t>
                      </a:r>
                    </a:p>
                  </a:txBody>
                  <a:tcPr marL="64008" marR="64008" marT="36576" marB="36576" anchor="ctr">
                    <a:solidFill>
                      <a:srgbClr val="F7F2FD"/>
                    </a:solidFill>
                  </a:tcPr>
                </a:tc>
                <a:tc>
                  <a:txBody>
                    <a:bodyPr/>
                    <a:lstStyle/>
                    <a:p>
                      <a:r>
                        <a:rPr sz="1050" b="0">
                          <a:solidFill>
                            <a:srgbClr val="3B2A54"/>
                          </a:solidFill>
                          <a:latin typeface="Arial"/>
                        </a:rPr>
                        <a:t>Tue 27 Oct</a:t>
                      </a:r>
                    </a:p>
                  </a:txBody>
                  <a:tcPr marL="64008" marR="64008" marT="36576" marB="36576" anchor="ctr">
                    <a:solidFill>
                      <a:srgbClr val="F7F2FD"/>
                    </a:solidFill>
                  </a:tcPr>
                </a:tc>
                <a:tc>
                  <a:txBody>
                    <a:bodyPr/>
                    <a:lstStyle/>
                    <a:p>
                      <a:r>
                        <a:rPr sz="1050" b="0">
                          <a:solidFill>
                            <a:srgbClr val="3B2A54"/>
                          </a:solidFill>
                          <a:latin typeface="Arial"/>
                        </a:rPr>
                        <a:t>T-21</a:t>
                      </a:r>
                    </a:p>
                  </a:txBody>
                  <a:tcPr marL="64008" marR="64008" marT="36576" marB="36576" anchor="ctr">
                    <a:solidFill>
                      <a:srgbClr val="F7F2FD"/>
                    </a:solidFill>
                  </a:tcPr>
                </a:tc>
                <a:tc>
                  <a:txBody>
                    <a:bodyPr/>
                    <a:lstStyle/>
                    <a:p>
                      <a:r>
                        <a:rPr sz="1050" b="0">
                          <a:solidFill>
                            <a:srgbClr val="3B2A54"/>
                          </a:solidFill>
                          <a:latin typeface="Arial"/>
                        </a:rPr>
                        <a:t>One-to-ones with each executive</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50" b="1">
                          <a:solidFill>
                            <a:srgbClr val="11052C"/>
                          </a:solidFill>
                          <a:latin typeface="Arial"/>
                        </a:rPr>
                        <a:t>Day 72</a:t>
                      </a:r>
                    </a:p>
                  </a:txBody>
                  <a:tcPr marL="64008" marR="64008" marT="36576" marB="36576" anchor="ctr">
                    <a:solidFill>
                      <a:srgbClr val="FFFFFF"/>
                    </a:solidFill>
                  </a:tcPr>
                </a:tc>
                <a:tc>
                  <a:txBody>
                    <a:bodyPr/>
                    <a:lstStyle/>
                    <a:p>
                      <a:r>
                        <a:rPr sz="1050" b="0">
                          <a:solidFill>
                            <a:srgbClr val="3B2A54"/>
                          </a:solidFill>
                          <a:latin typeface="Arial"/>
                        </a:rPr>
                        <a:t>Early Nov</a:t>
                      </a:r>
                    </a:p>
                  </a:txBody>
                  <a:tcPr marL="64008" marR="64008" marT="36576" marB="36576" anchor="ctr">
                    <a:solidFill>
                      <a:srgbClr val="FFFFFF"/>
                    </a:solidFill>
                  </a:tcPr>
                </a:tc>
                <a:tc>
                  <a:txBody>
                    <a:bodyPr/>
                    <a:lstStyle/>
                    <a:p>
                      <a:r>
                        <a:rPr sz="1050" b="0">
                          <a:solidFill>
                            <a:srgbClr val="3B2A54"/>
                          </a:solidFill>
                          <a:latin typeface="Arial"/>
                        </a:rPr>
                        <a:t>T-16</a:t>
                      </a:r>
                    </a:p>
                  </a:txBody>
                  <a:tcPr marL="64008" marR="64008" marT="36576" marB="36576" anchor="ctr">
                    <a:solidFill>
                      <a:srgbClr val="FFFFFF"/>
                    </a:solidFill>
                  </a:tcPr>
                </a:tc>
                <a:tc>
                  <a:txBody>
                    <a:bodyPr/>
                    <a:lstStyle/>
                    <a:p>
                      <a:r>
                        <a:rPr sz="1050" b="0">
                          <a:solidFill>
                            <a:srgbClr val="3B2A54"/>
                          </a:solidFill>
                          <a:latin typeface="Arial"/>
                        </a:rPr>
                        <a:t>Capital options lock with CEO, CFO and MTeam</a:t>
                      </a:r>
                    </a:p>
                  </a:txBody>
                  <a:tcPr marL="64008" marR="64008" marT="36576" marB="36576" anchor="ctr">
                    <a:solidFill>
                      <a:srgbClr val="FFFFFF"/>
                    </a:solidFill>
                  </a:tcPr>
                </a:tc>
                <a:extLst>
                  <a:ext uri="{0D108BD9-81ED-4DB2-BD59-A6C34878D82A}">
                    <a16:rowId xmlns:a16="http://schemas.microsoft.com/office/drawing/2014/main" val="10003"/>
                  </a:ext>
                </a:extLst>
              </a:tr>
              <a:tr h="329184">
                <a:tc>
                  <a:txBody>
                    <a:bodyPr/>
                    <a:lstStyle/>
                    <a:p>
                      <a:r>
                        <a:rPr sz="1050" b="1">
                          <a:solidFill>
                            <a:srgbClr val="11052C"/>
                          </a:solidFill>
                          <a:latin typeface="Arial"/>
                        </a:rPr>
                        <a:t>Day 78-81</a:t>
                      </a:r>
                    </a:p>
                  </a:txBody>
                  <a:tcPr marL="64008" marR="64008" marT="36576" marB="36576" anchor="ctr">
                    <a:solidFill>
                      <a:srgbClr val="F7F2FD"/>
                    </a:solidFill>
                  </a:tcPr>
                </a:tc>
                <a:tc>
                  <a:txBody>
                    <a:bodyPr/>
                    <a:lstStyle/>
                    <a:p>
                      <a:r>
                        <a:rPr sz="1050" b="0">
                          <a:solidFill>
                            <a:srgbClr val="3B2A54"/>
                          </a:solidFill>
                          <a:latin typeface="Arial"/>
                        </a:rPr>
                        <a:t>Early Nov</a:t>
                      </a:r>
                    </a:p>
                  </a:txBody>
                  <a:tcPr marL="64008" marR="64008" marT="36576" marB="36576" anchor="ctr">
                    <a:solidFill>
                      <a:srgbClr val="F7F2FD"/>
                    </a:solidFill>
                  </a:tcPr>
                </a:tc>
                <a:tc>
                  <a:txBody>
                    <a:bodyPr/>
                    <a:lstStyle/>
                    <a:p>
                      <a:r>
                        <a:rPr sz="1050" b="0">
                          <a:solidFill>
                            <a:srgbClr val="3B2A54"/>
                          </a:solidFill>
                          <a:latin typeface="Arial"/>
                        </a:rPr>
                        <a:t>T-10 to T-7</a:t>
                      </a:r>
                    </a:p>
                  </a:txBody>
                  <a:tcPr marL="64008" marR="64008" marT="36576" marB="36576" anchor="ctr">
                    <a:solidFill>
                      <a:srgbClr val="F7F2FD"/>
                    </a:solidFill>
                  </a:tcPr>
                </a:tc>
                <a:tc>
                  <a:txBody>
                    <a:bodyPr/>
                    <a:lstStyle/>
                    <a:p>
                      <a:r>
                        <a:rPr sz="1050" b="0">
                          <a:solidFill>
                            <a:srgbClr val="3B2A54"/>
                          </a:solidFill>
                          <a:latin typeface="Arial"/>
                        </a:rPr>
                        <a:t>Inputs freeze; chairs briefed (T-9); book on portal (T-7)</a:t>
                      </a:r>
                    </a:p>
                  </a:txBody>
                  <a:tcPr marL="64008" marR="64008" marT="36576" marB="36576" anchor="ctr">
                    <a:solidFill>
                      <a:srgbClr val="F7F2FD"/>
                    </a:solidFill>
                  </a:tcPr>
                </a:tc>
                <a:extLst>
                  <a:ext uri="{0D108BD9-81ED-4DB2-BD59-A6C34878D82A}">
                    <a16:rowId xmlns:a16="http://schemas.microsoft.com/office/drawing/2014/main" val="10004"/>
                  </a:ext>
                </a:extLst>
              </a:tr>
              <a:tr h="329184">
                <a:tc>
                  <a:txBody>
                    <a:bodyPr/>
                    <a:lstStyle/>
                    <a:p>
                      <a:r>
                        <a:rPr sz="1050" b="1">
                          <a:solidFill>
                            <a:srgbClr val="11052C"/>
                          </a:solidFill>
                          <a:latin typeface="Arial"/>
                        </a:rPr>
                        <a:t>Day 88</a:t>
                      </a:r>
                    </a:p>
                  </a:txBody>
                  <a:tcPr marL="64008" marR="64008" marT="36576" marB="36576" anchor="ctr">
                    <a:solidFill>
                      <a:srgbClr val="FFFFFF"/>
                    </a:solidFill>
                  </a:tcPr>
                </a:tc>
                <a:tc>
                  <a:txBody>
                    <a:bodyPr/>
                    <a:lstStyle/>
                    <a:p>
                      <a:r>
                        <a:rPr sz="1050" b="0">
                          <a:solidFill>
                            <a:srgbClr val="3B2A54"/>
                          </a:solidFill>
                          <a:latin typeface="Arial"/>
                        </a:rPr>
                        <a:t>Tue 17 Nov (assumed)</a:t>
                      </a:r>
                    </a:p>
                  </a:txBody>
                  <a:tcPr marL="64008" marR="64008" marT="36576" marB="36576" anchor="ctr">
                    <a:solidFill>
                      <a:srgbClr val="FFFFFF"/>
                    </a:solidFill>
                  </a:tcPr>
                </a:tc>
                <a:tc>
                  <a:txBody>
                    <a:bodyPr/>
                    <a:lstStyle/>
                    <a:p>
                      <a:r>
                        <a:rPr sz="1050" b="0">
                          <a:solidFill>
                            <a:srgbClr val="3B2A54"/>
                          </a:solidFill>
                          <a:latin typeface="Arial"/>
                        </a:rPr>
                        <a:t>T-0</a:t>
                      </a:r>
                    </a:p>
                  </a:txBody>
                  <a:tcPr marL="64008" marR="64008" marT="36576" marB="36576" anchor="ctr">
                    <a:solidFill>
                      <a:srgbClr val="FFFFFF"/>
                    </a:solidFill>
                  </a:tcPr>
                </a:tc>
                <a:tc>
                  <a:txBody>
                    <a:bodyPr/>
                    <a:lstStyle/>
                    <a:p>
                      <a:r>
                        <a:rPr sz="1050" b="0">
                          <a:solidFill>
                            <a:srgbClr val="3B2A54"/>
                          </a:solidFill>
                          <a:latin typeface="Arial"/>
                        </a:rPr>
                        <a:t>Board approves FY27 plan; first-release allocation published</a:t>
                      </a:r>
                    </a:p>
                  </a:txBody>
                  <a:tcPr marL="64008" marR="64008" marT="36576" marB="36576" anchor="ctr">
                    <a:solidFill>
                      <a:srgbClr val="FFFFFF"/>
                    </a:solidFill>
                  </a:tcPr>
                </a:tc>
                <a:extLst>
                  <a:ext uri="{0D108BD9-81ED-4DB2-BD59-A6C34878D82A}">
                    <a16:rowId xmlns:a16="http://schemas.microsoft.com/office/drawing/2014/main" val="10005"/>
                  </a:ext>
                </a:extLst>
              </a:tr>
              <a:tr h="329184">
                <a:tc>
                  <a:txBody>
                    <a:bodyPr/>
                    <a:lstStyle/>
                    <a:p>
                      <a:r>
                        <a:rPr sz="1050" b="1">
                          <a:solidFill>
                            <a:srgbClr val="11052C"/>
                          </a:solidFill>
                          <a:latin typeface="Arial"/>
                        </a:rPr>
                        <a:t>Day 90</a:t>
                      </a:r>
                    </a:p>
                  </a:txBody>
                  <a:tcPr marL="64008" marR="64008" marT="36576" marB="36576" anchor="ctr">
                    <a:solidFill>
                      <a:srgbClr val="F7F2FD"/>
                    </a:solidFill>
                  </a:tcPr>
                </a:tc>
                <a:tc>
                  <a:txBody>
                    <a:bodyPr/>
                    <a:lstStyle/>
                    <a:p>
                      <a:r>
                        <a:rPr sz="1050" b="0">
                          <a:solidFill>
                            <a:srgbClr val="3B2A54"/>
                          </a:solidFill>
                          <a:latin typeface="Arial"/>
                        </a:rPr>
                        <a:t>Thu 19 Nov</a:t>
                      </a:r>
                    </a:p>
                  </a:txBody>
                  <a:tcPr marL="64008" marR="64008" marT="36576" marB="36576" anchor="ctr">
                    <a:solidFill>
                      <a:srgbClr val="F7F2FD"/>
                    </a:solidFill>
                  </a:tcPr>
                </a:tc>
                <a:tc>
                  <a:txBody>
                    <a:bodyPr/>
                    <a:lstStyle/>
                    <a:p>
                      <a:r>
                        <a:rPr sz="1050" b="0">
                          <a:solidFill>
                            <a:srgbClr val="3B2A54"/>
                          </a:solidFill>
                          <a:latin typeface="Arial"/>
                        </a:rPr>
                        <a:t>HQ D+30</a:t>
                      </a:r>
                    </a:p>
                  </a:txBody>
                  <a:tcPr marL="64008" marR="64008" marT="36576" marB="36576" anchor="ctr">
                    <a:solidFill>
                      <a:srgbClr val="F7F2FD"/>
                    </a:solidFill>
                  </a:tcPr>
                </a:tc>
                <a:tc>
                  <a:txBody>
                    <a:bodyPr/>
                    <a:lstStyle/>
                    <a:p>
                      <a:r>
                        <a:rPr sz="1050" b="0">
                          <a:solidFill>
                            <a:srgbClr val="3B2A54"/>
                          </a:solidFill>
                          <a:latin typeface="Arial"/>
                        </a:rPr>
                        <a:t>Gate 1: tax and residence opinion; two sites to term sheet</a:t>
                      </a:r>
                    </a:p>
                  </a:txBody>
                  <a:tcPr marL="64008" marR="64008" marT="36576" marB="36576" anchor="ctr">
                    <a:solidFill>
                      <a:srgbClr val="F7F2FD"/>
                    </a:solidFill>
                  </a:tcPr>
                </a:tc>
                <a:extLst>
                  <a:ext uri="{0D108BD9-81ED-4DB2-BD59-A6C34878D82A}">
                    <a16:rowId xmlns:a16="http://schemas.microsoft.com/office/drawing/2014/main" val="10006"/>
                  </a:ext>
                </a:extLst>
              </a:tr>
              <a:tr h="329184">
                <a:tc>
                  <a:txBody>
                    <a:bodyPr/>
                    <a:lstStyle/>
                    <a:p>
                      <a:r>
                        <a:rPr sz="1050" b="1">
                          <a:solidFill>
                            <a:srgbClr val="11052C"/>
                          </a:solidFill>
                          <a:latin typeface="Arial"/>
                        </a:rPr>
                        <a:t>Day 95</a:t>
                      </a:r>
                    </a:p>
                  </a:txBody>
                  <a:tcPr marL="64008" marR="64008" marT="36576" marB="36576" anchor="ctr">
                    <a:solidFill>
                      <a:srgbClr val="FFFFFF"/>
                    </a:solidFill>
                  </a:tcPr>
                </a:tc>
                <a:tc>
                  <a:txBody>
                    <a:bodyPr/>
                    <a:lstStyle/>
                    <a:p>
                      <a:r>
                        <a:rPr sz="1050" b="0">
                          <a:solidFill>
                            <a:srgbClr val="3B2A54"/>
                          </a:solidFill>
                          <a:latin typeface="Arial"/>
                        </a:rPr>
                        <a:t>Late Nov</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lang="en-US" sz="1050" b="0">
                          <a:solidFill>
                            <a:srgbClr val="3B2A54"/>
                          </a:solidFill>
                          <a:latin typeface="Arial"/>
                        </a:rPr>
                        <a:t>Hub in place; market and vertical finance teams aligned</a:t>
                      </a:r>
                    </a:p>
                  </a:txBody>
                  <a:tcPr marL="64008" marR="64008" marT="36576" marB="36576" anchor="ctr">
                    <a:solidFill>
                      <a:srgbClr val="FFFFFF"/>
                    </a:solidFill>
                  </a:tcPr>
                </a:tc>
                <a:extLst>
                  <a:ext uri="{0D108BD9-81ED-4DB2-BD59-A6C34878D82A}">
                    <a16:rowId xmlns:a16="http://schemas.microsoft.com/office/drawing/2014/main" val="10007"/>
                  </a:ext>
                </a:extLst>
              </a:tr>
              <a:tr h="329184">
                <a:tc>
                  <a:txBody>
                    <a:bodyPr/>
                    <a:lstStyle/>
                    <a:p>
                      <a:r>
                        <a:rPr sz="1050" b="1">
                          <a:solidFill>
                            <a:srgbClr val="11052C"/>
                          </a:solidFill>
                          <a:latin typeface="Arial"/>
                        </a:rPr>
                        <a:t>Day 105</a:t>
                      </a:r>
                    </a:p>
                  </a:txBody>
                  <a:tcPr marL="64008" marR="64008" marT="36576" marB="36576" anchor="ctr">
                    <a:solidFill>
                      <a:srgbClr val="F7F2FD"/>
                    </a:solidFill>
                  </a:tcPr>
                </a:tc>
                <a:tc>
                  <a:txBody>
                    <a:bodyPr/>
                    <a:lstStyle/>
                    <a:p>
                      <a:r>
                        <a:rPr sz="1050" b="0">
                          <a:solidFill>
                            <a:srgbClr val="3B2A54"/>
                          </a:solidFill>
                          <a:latin typeface="Arial"/>
                        </a:rPr>
                        <a:t>Early Dec</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lang="en-US" sz="1050" b="0">
                          <a:solidFill>
                            <a:srgbClr val="3B2A54"/>
                          </a:solidFill>
                          <a:latin typeface="Arial"/>
                        </a:rPr>
                        <a:t>Bi-weekly stand-ups running; business cases in review</a:t>
                      </a:r>
                    </a:p>
                  </a:txBody>
                  <a:tcPr marL="64008" marR="64008" marT="36576" marB="36576" anchor="ctr">
                    <a:solidFill>
                      <a:srgbClr val="F7F2FD"/>
                    </a:solidFill>
                  </a:tcPr>
                </a:tc>
                <a:extLst>
                  <a:ext uri="{0D108BD9-81ED-4DB2-BD59-A6C34878D82A}">
                    <a16:rowId xmlns:a16="http://schemas.microsoft.com/office/drawing/2014/main" val="10008"/>
                  </a:ext>
                </a:extLst>
              </a:tr>
              <a:tr h="329184">
                <a:tc>
                  <a:txBody>
                    <a:bodyPr/>
                    <a:lstStyle/>
                    <a:p>
                      <a:r>
                        <a:rPr sz="1050" b="1">
                          <a:solidFill>
                            <a:srgbClr val="11052C"/>
                          </a:solidFill>
                          <a:latin typeface="Arial"/>
                        </a:rPr>
                        <a:t>Day 120</a:t>
                      </a:r>
                    </a:p>
                  </a:txBody>
                  <a:tcPr marL="64008" marR="64008" marT="36576" marB="36576" anchor="ctr">
                    <a:solidFill>
                      <a:srgbClr val="FFFFFF"/>
                    </a:solidFill>
                  </a:tcPr>
                </a:tc>
                <a:tc>
                  <a:txBody>
                    <a:bodyPr/>
                    <a:lstStyle/>
                    <a:p>
                      <a:r>
                        <a:rPr sz="1050" b="0">
                          <a:solidFill>
                            <a:srgbClr val="3B2A54"/>
                          </a:solidFill>
                          <a:latin typeface="Arial"/>
                        </a:rPr>
                        <a:t>Mid-Dec</a:t>
                      </a:r>
                    </a:p>
                  </a:txBody>
                  <a:tcPr marL="64008" marR="64008" marT="36576" marB="36576" anchor="ctr">
                    <a:solidFill>
                      <a:srgbClr val="FFFFFF"/>
                    </a:solidFill>
                  </a:tcPr>
                </a:tc>
                <a:tc>
                  <a:txBody>
                    <a:bodyPr/>
                    <a:lstStyle/>
                    <a:p>
                      <a:r>
                        <a:rPr sz="1050" b="0">
                          <a:solidFill>
                            <a:srgbClr val="3B2A54"/>
                          </a:solidFill>
                          <a:latin typeface="Arial"/>
                        </a:rPr>
                        <a:t>HQ D+60</a:t>
                      </a:r>
                    </a:p>
                  </a:txBody>
                  <a:tcPr marL="64008" marR="64008" marT="36576" marB="36576" anchor="ctr">
                    <a:solidFill>
                      <a:srgbClr val="FFFFFF"/>
                    </a:solidFill>
                  </a:tcPr>
                </a:tc>
                <a:tc>
                  <a:txBody>
                    <a:bodyPr/>
                    <a:lstStyle/>
                    <a:p>
                      <a:r>
                        <a:rPr sz="1050" b="0">
                          <a:solidFill>
                            <a:srgbClr val="3B2A54"/>
                          </a:solidFill>
                          <a:latin typeface="Arial"/>
                        </a:rPr>
                        <a:t>Gate 2: grant terms (12-24 months' grace); one site dropped</a:t>
                      </a:r>
                    </a:p>
                  </a:txBody>
                  <a:tcPr marL="64008" marR="64008" marT="36576" marB="36576" anchor="ctr">
                    <a:solidFill>
                      <a:srgbClr val="FFFFFF"/>
                    </a:solidFill>
                  </a:tcPr>
                </a:tc>
                <a:extLst>
                  <a:ext uri="{0D108BD9-81ED-4DB2-BD59-A6C34878D82A}">
                    <a16:rowId xmlns:a16="http://schemas.microsoft.com/office/drawing/2014/main" val="10009"/>
                  </a:ext>
                </a:extLst>
              </a:tr>
              <a:tr h="329184">
                <a:tc>
                  <a:txBody>
                    <a:bodyPr/>
                    <a:lstStyle/>
                    <a:p>
                      <a:r>
                        <a:rPr sz="1050" b="1">
                          <a:solidFill>
                            <a:srgbClr val="11052C"/>
                          </a:solidFill>
                          <a:latin typeface="Arial"/>
                        </a:rPr>
                        <a:t>Day 133</a:t>
                      </a:r>
                    </a:p>
                  </a:txBody>
                  <a:tcPr marL="64008" marR="64008" marT="36576" marB="36576" anchor="ctr">
                    <a:solidFill>
                      <a:srgbClr val="F7F2FD"/>
                    </a:solidFill>
                  </a:tcPr>
                </a:tc>
                <a:tc>
                  <a:txBody>
                    <a:bodyPr/>
                    <a:lstStyle/>
                    <a:p>
                      <a:r>
                        <a:rPr sz="1050" b="0">
                          <a:solidFill>
                            <a:srgbClr val="3B2A54"/>
                          </a:solidFill>
                          <a:latin typeface="Arial"/>
                        </a:rPr>
                        <a:t>Fri 1 Jan 2027</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sz="1050" b="0">
                          <a:solidFill>
                            <a:srgbClr val="3B2A54"/>
                          </a:solidFill>
                          <a:latin typeface="Arial"/>
                        </a:rPr>
                        <a:t>FY27 starts; $15M first release</a:t>
                      </a:r>
                    </a:p>
                  </a:txBody>
                  <a:tcPr marL="64008" marR="64008" marT="36576" marB="36576" anchor="ctr">
                    <a:solidFill>
                      <a:srgbClr val="F7F2FD"/>
                    </a:solidFill>
                  </a:tcPr>
                </a:tc>
                <a:extLst>
                  <a:ext uri="{0D108BD9-81ED-4DB2-BD59-A6C34878D82A}">
                    <a16:rowId xmlns:a16="http://schemas.microsoft.com/office/drawing/2014/main" val="10010"/>
                  </a:ext>
                </a:extLst>
              </a:tr>
              <a:tr h="329184">
                <a:tc>
                  <a:txBody>
                    <a:bodyPr/>
                    <a:lstStyle/>
                    <a:p>
                      <a:r>
                        <a:rPr sz="1050" b="1">
                          <a:solidFill>
                            <a:srgbClr val="11052C"/>
                          </a:solidFill>
                          <a:latin typeface="Arial"/>
                        </a:rPr>
                        <a:t>Day 150</a:t>
                      </a:r>
                    </a:p>
                  </a:txBody>
                  <a:tcPr marL="64008" marR="64008" marT="36576" marB="36576" anchor="ctr">
                    <a:solidFill>
                      <a:srgbClr val="FFFFFF"/>
                    </a:solidFill>
                  </a:tcPr>
                </a:tc>
                <a:tc>
                  <a:txBody>
                    <a:bodyPr/>
                    <a:lstStyle/>
                    <a:p>
                      <a:r>
                        <a:rPr sz="1050" b="0">
                          <a:solidFill>
                            <a:srgbClr val="3B2A54"/>
                          </a:solidFill>
                          <a:latin typeface="Arial"/>
                        </a:rPr>
                        <a:t>Mid-Jan</a:t>
                      </a:r>
                    </a:p>
                  </a:txBody>
                  <a:tcPr marL="64008" marR="64008" marT="36576" marB="36576" anchor="ctr">
                    <a:solidFill>
                      <a:srgbClr val="FFFFFF"/>
                    </a:solidFill>
                  </a:tcPr>
                </a:tc>
                <a:tc>
                  <a:txBody>
                    <a:bodyPr/>
                    <a:lstStyle/>
                    <a:p>
                      <a:r>
                        <a:rPr sz="1050" b="0">
                          <a:solidFill>
                            <a:srgbClr val="3B2A54"/>
                          </a:solidFill>
                          <a:latin typeface="Arial"/>
                        </a:rPr>
                        <a:t>HQ D+90</a:t>
                      </a:r>
                    </a:p>
                  </a:txBody>
                  <a:tcPr marL="64008" marR="64008" marT="36576" marB="36576" anchor="ctr">
                    <a:solidFill>
                      <a:srgbClr val="FFFFFF"/>
                    </a:solidFill>
                  </a:tcPr>
                </a:tc>
                <a:tc>
                  <a:txBody>
                    <a:bodyPr/>
                    <a:lstStyle/>
                    <a:p>
                      <a:r>
                        <a:rPr sz="1050" b="0">
                          <a:solidFill>
                            <a:srgbClr val="3B2A54"/>
                          </a:solidFill>
                          <a:latin typeface="Arial"/>
                        </a:rPr>
                        <a:t>Gate 3: officers and D&amp;O; 90-day report to the CFO</a:t>
                      </a:r>
                    </a:p>
                  </a:txBody>
                  <a:tcPr marL="64008" marR="64008" marT="36576" marB="36576" anchor="ctr">
                    <a:solidFill>
                      <a:srgbClr val="FFFFFF"/>
                    </a:solidFill>
                  </a:tcPr>
                </a:tc>
                <a:extLst>
                  <a:ext uri="{0D108BD9-81ED-4DB2-BD59-A6C34878D82A}">
                    <a16:rowId xmlns:a16="http://schemas.microsoft.com/office/drawing/2014/main" val="10011"/>
                  </a:ext>
                </a:extLst>
              </a:tr>
              <a:tr h="329184">
                <a:tc>
                  <a:txBody>
                    <a:bodyPr/>
                    <a:lstStyle/>
                    <a:p>
                      <a:r>
                        <a:rPr sz="1050" b="1">
                          <a:solidFill>
                            <a:srgbClr val="11052C"/>
                          </a:solidFill>
                          <a:latin typeface="Arial"/>
                        </a:rPr>
                        <a:t>Day 180</a:t>
                      </a:r>
                    </a:p>
                  </a:txBody>
                  <a:tcPr marL="64008" marR="64008" marT="36576" marB="36576" anchor="ctr">
                    <a:solidFill>
                      <a:srgbClr val="F7F2FD"/>
                    </a:solidFill>
                  </a:tcPr>
                </a:tc>
                <a:tc>
                  <a:txBody>
                    <a:bodyPr/>
                    <a:lstStyle/>
                    <a:p>
                      <a:r>
                        <a:rPr sz="1050" b="0">
                          <a:solidFill>
                            <a:srgbClr val="3B2A54"/>
                          </a:solidFill>
                          <a:latin typeface="Arial"/>
                        </a:rPr>
                        <a:t>Mid-Feb</a:t>
                      </a:r>
                    </a:p>
                  </a:txBody>
                  <a:tcPr marL="64008" marR="64008" marT="36576" marB="36576" anchor="ctr">
                    <a:solidFill>
                      <a:srgbClr val="F7F2FD"/>
                    </a:solidFill>
                  </a:tcPr>
                </a:tc>
                <a:tc>
                  <a:txBody>
                    <a:bodyPr/>
                    <a:lstStyle/>
                    <a:p>
                      <a:r>
                        <a:rPr sz="1050" b="0">
                          <a:solidFill>
                            <a:srgbClr val="3B2A54"/>
                          </a:solidFill>
                          <a:latin typeface="Arial"/>
                        </a:rPr>
                        <a:t>HQ D+120</a:t>
                      </a:r>
                    </a:p>
                  </a:txBody>
                  <a:tcPr marL="64008" marR="64008" marT="36576" marB="36576" anchor="ctr">
                    <a:solidFill>
                      <a:srgbClr val="F7F2FD"/>
                    </a:solidFill>
                  </a:tcPr>
                </a:tc>
                <a:tc>
                  <a:txBody>
                    <a:bodyPr/>
                    <a:lstStyle/>
                    <a:p>
                      <a:r>
                        <a:rPr sz="1050" b="0">
                          <a:solidFill>
                            <a:srgbClr val="3B2A54"/>
                          </a:solidFill>
                          <a:latin typeface="Arial"/>
                        </a:rPr>
                        <a:t>Gate 4: lease</a:t>
                      </a:r>
                    </a:p>
                  </a:txBody>
                  <a:tcPr marL="64008" marR="64008" marT="36576" marB="36576" anchor="ctr">
                    <a:solidFill>
                      <a:srgbClr val="F7F2FD"/>
                    </a:solidFill>
                  </a:tcPr>
                </a:tc>
                <a:extLst>
                  <a:ext uri="{0D108BD9-81ED-4DB2-BD59-A6C34878D82A}">
                    <a16:rowId xmlns:a16="http://schemas.microsoft.com/office/drawing/2014/main" val="10012"/>
                  </a:ext>
                </a:extLst>
              </a:tr>
              <a:tr h="329184">
                <a:tc>
                  <a:txBody>
                    <a:bodyPr/>
                    <a:lstStyle/>
                    <a:p>
                      <a:r>
                        <a:rPr sz="1050" b="1">
                          <a:solidFill>
                            <a:srgbClr val="11052C"/>
                          </a:solidFill>
                          <a:latin typeface="Arial"/>
                        </a:rPr>
                        <a:t>Day 222</a:t>
                      </a:r>
                    </a:p>
                  </a:txBody>
                  <a:tcPr marL="64008" marR="64008" marT="36576" marB="36576" anchor="ctr">
                    <a:solidFill>
                      <a:srgbClr val="FFFFFF"/>
                    </a:solidFill>
                  </a:tcPr>
                </a:tc>
                <a:tc>
                  <a:txBody>
                    <a:bodyPr/>
                    <a:lstStyle/>
                    <a:p>
                      <a:r>
                        <a:rPr sz="1050" b="0">
                          <a:solidFill>
                            <a:srgbClr val="3B2A54"/>
                          </a:solidFill>
                          <a:latin typeface="Arial"/>
                        </a:rPr>
                        <a:t>Wed 31 Mar</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sz="1050" b="0">
                          <a:solidFill>
                            <a:srgbClr val="3B2A54"/>
                          </a:solidFill>
                          <a:latin typeface="Arial"/>
                        </a:rPr>
                        <a:t>Q1 close; second release ($10M) decided on Q1 data in early April</a:t>
                      </a:r>
                    </a:p>
                  </a:txBody>
                  <a:tcPr marL="64008" marR="64008" marT="36576" marB="36576" anchor="ctr">
                    <a:solidFill>
                      <a:srgbClr val="FFFFFF"/>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20</a:t>
            </a:r>
            <a:endParaRPr sz="900" b="0">
              <a:solidFill>
                <a:srgbClr val="6B5B82"/>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H</a:t>
            </a:r>
            <a:endParaRPr sz="1000" b="1">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Proposed AI support across the four deliverables</a:t>
            </a:r>
            <a:endParaRPr sz="2400" b="1">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339830327"/>
              </p:ext>
            </p:extLst>
          </p:nvPr>
        </p:nvGraphicFramePr>
        <p:xfrm>
          <a:off x="612648" y="1325880"/>
          <a:ext cx="10972800" cy="4233672"/>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438912">
                <a:tc>
                  <a:txBody>
                    <a:bodyPr/>
                    <a:lstStyle/>
                    <a:p>
                      <a:r>
                        <a:rPr lang="en-US" sz="1150" b="1" kern="1200" dirty="0">
                          <a:solidFill>
                            <a:srgbClr val="FFFFFF"/>
                          </a:solidFill>
                          <a:latin typeface="Arial"/>
                          <a:ea typeface="+mn-ea"/>
                          <a:cs typeface="+mn-cs"/>
                        </a:rPr>
                        <a:t>Deliverable</a:t>
                      </a:r>
                    </a:p>
                  </a:txBody>
                  <a:tcPr marL="64008" marR="64008" marT="36576" marB="36576" anchor="ctr">
                    <a:solidFill>
                      <a:srgbClr val="820AD1"/>
                    </a:solidFill>
                  </a:tcPr>
                </a:tc>
                <a:tc>
                  <a:txBody>
                    <a:bodyPr/>
                    <a:lstStyle/>
                    <a:p>
                      <a:r>
                        <a:rPr lang="en-US" sz="1150" b="1">
                          <a:solidFill>
                            <a:srgbClr val="FFFFFF"/>
                          </a:solidFill>
                          <a:latin typeface="Arial"/>
                        </a:rPr>
                        <a:t>PMO agent: coordination</a:t>
                      </a:r>
                      <a:endParaRPr lang="en-US" sz="1150" b="1" dirty="0">
                        <a:solidFill>
                          <a:srgbClr val="FFFFFF"/>
                        </a:solidFill>
                        <a:latin typeface="Arial"/>
                      </a:endParaRPr>
                    </a:p>
                  </a:txBody>
                  <a:tcPr marL="64008" marR="64008" marT="36576" marB="36576" anchor="ctr">
                    <a:solidFill>
                      <a:srgbClr val="820AD1"/>
                    </a:solidFill>
                  </a:tcPr>
                </a:tc>
                <a:tc>
                  <a:txBody>
                    <a:bodyPr/>
                    <a:lstStyle/>
                    <a:p>
                      <a:r>
                        <a:rPr lang="en-US" sz="1150" b="1">
                          <a:solidFill>
                            <a:srgbClr val="FFFFFF"/>
                          </a:solidFill>
                          <a:latin typeface="Arial"/>
                        </a:rPr>
                        <a:t>Review agent: decision support</a:t>
                      </a:r>
                    </a:p>
                  </a:txBody>
                  <a:tcPr marL="64008" marR="64008" marT="36576" marB="36576" anchor="ctr">
                    <a:solidFill>
                      <a:srgbClr val="820AD1"/>
                    </a:solidFill>
                  </a:tcPr>
                </a:tc>
                <a:extLst>
                  <a:ext uri="{0D108BD9-81ED-4DB2-BD59-A6C34878D82A}">
                    <a16:rowId xmlns:a16="http://schemas.microsoft.com/office/drawing/2014/main" val="10000"/>
                  </a:ext>
                </a:extLst>
              </a:tr>
              <a:tr h="758952">
                <a:tc>
                  <a:txBody>
                    <a:bodyPr/>
                    <a:lstStyle/>
                    <a:p>
                      <a:r>
                        <a:rPr lang="en-US" sz="1100" b="1">
                          <a:solidFill>
                            <a:srgbClr val="11052C"/>
                          </a:solidFill>
                          <a:latin typeface="Arial"/>
                        </a:rPr>
                        <a:t>1  Planning &amp; spend</a:t>
                      </a:r>
                    </a:p>
                  </a:txBody>
                  <a:tcPr marL="64008" marR="64008" marT="36576" marB="36576" anchor="ctr">
                    <a:solidFill>
                      <a:srgbClr val="FFFFFF"/>
                    </a:solidFill>
                  </a:tcPr>
                </a:tc>
                <a:tc>
                  <a:txBody>
                    <a:bodyPr/>
                    <a:lstStyle/>
                    <a:p>
                      <a:r>
                        <a:rPr lang="en-US" sz="1100" b="0">
                          <a:solidFill>
                            <a:srgbClr val="3B2A54"/>
                          </a:solidFill>
                          <a:latin typeface="Arial"/>
                        </a:rPr>
                        <a:t>Track case submissions, funding gates and monthly spend. Prepare status for quarterly GM reviews.</a:t>
                      </a:r>
                    </a:p>
                  </a:txBody>
                  <a:tcPr marL="64008" marR="64008" marT="36576" marB="36576" anchor="ctr">
                    <a:solidFill>
                      <a:srgbClr val="FFFFFF"/>
                    </a:solidFill>
                  </a:tcPr>
                </a:tc>
                <a:tc>
                  <a:txBody>
                    <a:bodyPr/>
                    <a:lstStyle/>
                    <a:p>
                      <a:r>
                        <a:rPr lang="en-US" sz="1100" b="0">
                          <a:solidFill>
                            <a:srgbClr val="3B2A54"/>
                          </a:solidFill>
                          <a:latin typeface="Arial"/>
                        </a:rPr>
                        <a:t>Check cases against the scorecard and source data. Flag assumption gaps and spend variances for Finance review.</a:t>
                      </a:r>
                    </a:p>
                  </a:txBody>
                  <a:tcPr marL="64008" marR="64008" marT="36576" marB="36576" anchor="ctr">
                    <a:solidFill>
                      <a:srgbClr val="FFFFFF"/>
                    </a:solidFill>
                  </a:tcPr>
                </a:tc>
                <a:extLst>
                  <a:ext uri="{0D108BD9-81ED-4DB2-BD59-A6C34878D82A}">
                    <a16:rowId xmlns:a16="http://schemas.microsoft.com/office/drawing/2014/main" val="10001"/>
                  </a:ext>
                </a:extLst>
              </a:tr>
              <a:tr h="758952">
                <a:tc>
                  <a:txBody>
                    <a:bodyPr/>
                    <a:lstStyle/>
                    <a:p>
                      <a:r>
                        <a:rPr lang="en-US" sz="1100" b="1">
                          <a:solidFill>
                            <a:srgbClr val="11052C"/>
                          </a:solidFill>
                          <a:latin typeface="Arial"/>
                        </a:rPr>
                        <a:t>2  C-suite &amp; Board</a:t>
                      </a:r>
                    </a:p>
                  </a:txBody>
                  <a:tcPr marL="64008" marR="64008" marT="36576" marB="36576" anchor="ctr">
                    <a:solidFill>
                      <a:srgbClr val="F7F2FD"/>
                    </a:solidFill>
                  </a:tcPr>
                </a:tc>
                <a:tc>
                  <a:txBody>
                    <a:bodyPr/>
                    <a:lstStyle/>
                    <a:p>
                      <a:r>
                        <a:rPr lang="en-US" sz="1100" b="0">
                          <a:solidFill>
                            <a:srgbClr val="3B2A54"/>
                          </a:solidFill>
                          <a:latin typeface="Arial"/>
                        </a:rPr>
                        <a:t>Maintain the agenda and preparation tracker. Draft action updates for weekly CFO and monthly GM discussions.</a:t>
                      </a:r>
                    </a:p>
                  </a:txBody>
                  <a:tcPr marL="64008" marR="64008" marT="36576" marB="36576" anchor="ctr">
                    <a:solidFill>
                      <a:srgbClr val="F7F2FD"/>
                    </a:solidFill>
                  </a:tcPr>
                </a:tc>
                <a:tc>
                  <a:txBody>
                    <a:bodyPr/>
                    <a:lstStyle/>
                    <a:p>
                      <a:r>
                        <a:rPr lang="en-US" sz="1100" b="0">
                          <a:solidFill>
                            <a:srgbClr val="3B2A54"/>
                          </a:solidFill>
                          <a:latin typeface="Arial"/>
                        </a:rPr>
                        <a:t>Check papers against agreed decisions and source tables. Draft briefs and responses for executive sign-off before publication.</a:t>
                      </a:r>
                    </a:p>
                  </a:txBody>
                  <a:tcPr marL="64008" marR="64008" marT="36576" marB="36576" anchor="ctr">
                    <a:solidFill>
                      <a:srgbClr val="F7F2FD"/>
                    </a:solidFill>
                  </a:tcPr>
                </a:tc>
                <a:extLst>
                  <a:ext uri="{0D108BD9-81ED-4DB2-BD59-A6C34878D82A}">
                    <a16:rowId xmlns:a16="http://schemas.microsoft.com/office/drawing/2014/main" val="10002"/>
                  </a:ext>
                </a:extLst>
              </a:tr>
              <a:tr h="758952">
                <a:tc>
                  <a:txBody>
                    <a:bodyPr/>
                    <a:lstStyle/>
                    <a:p>
                      <a:r>
                        <a:rPr lang="en-US" sz="1100" b="1">
                          <a:solidFill>
                            <a:srgbClr val="11052C"/>
                          </a:solidFill>
                          <a:latin typeface="Arial"/>
                        </a:rPr>
                        <a:t>3  HQ project</a:t>
                      </a:r>
                    </a:p>
                  </a:txBody>
                  <a:tcPr marL="64008" marR="64008" marT="36576" marB="36576" anchor="ctr">
                    <a:solidFill>
                      <a:srgbClr val="FFFFFF"/>
                    </a:solidFill>
                  </a:tcPr>
                </a:tc>
                <a:tc>
                  <a:txBody>
                    <a:bodyPr/>
                    <a:lstStyle/>
                    <a:p>
                      <a:r>
                        <a:rPr lang="en-US" sz="1100" b="0">
                          <a:solidFill>
                            <a:srgbClr val="3B2A54"/>
                          </a:solidFill>
                          <a:latin typeface="Arial"/>
                        </a:rPr>
                        <a:t>Track workstreams, gate dependencies and decisions. Prepare weekly updates and monthly SteerCo packs.</a:t>
                      </a:r>
                    </a:p>
                  </a:txBody>
                  <a:tcPr marL="64008" marR="64008" marT="36576" marB="36576" anchor="ctr">
                    <a:solidFill>
                      <a:srgbClr val="FFFFFF"/>
                    </a:solidFill>
                  </a:tcPr>
                </a:tc>
                <a:tc>
                  <a:txBody>
                    <a:bodyPr/>
                    <a:lstStyle/>
                    <a:p>
                      <a:r>
                        <a:rPr lang="en-US" sz="1100" b="0">
                          <a:solidFill>
                            <a:srgbClr val="3B2A54"/>
                          </a:solidFill>
                          <a:latin typeface="Arial"/>
                        </a:rPr>
                        <a:t>Check gate packs for missing approvals, conflicting inputs and open risks. Route technical conclusions to the relevant SMEs.</a:t>
                      </a:r>
                    </a:p>
                  </a:txBody>
                  <a:tcPr marL="64008" marR="64008" marT="36576" marB="36576" anchor="ctr">
                    <a:solidFill>
                      <a:srgbClr val="FFFFFF"/>
                    </a:solidFill>
                  </a:tcPr>
                </a:tc>
                <a:extLst>
                  <a:ext uri="{0D108BD9-81ED-4DB2-BD59-A6C34878D82A}">
                    <a16:rowId xmlns:a16="http://schemas.microsoft.com/office/drawing/2014/main" val="10003"/>
                  </a:ext>
                </a:extLst>
              </a:tr>
              <a:tr h="758952">
                <a:tc>
                  <a:txBody>
                    <a:bodyPr/>
                    <a:lstStyle/>
                    <a:p>
                      <a:r>
                        <a:rPr lang="en-US" sz="1100" b="1">
                          <a:solidFill>
                            <a:srgbClr val="11052C"/>
                          </a:solidFill>
                          <a:latin typeface="Arial"/>
                        </a:rPr>
                        <a:t>4  Leadership &amp; team</a:t>
                      </a:r>
                    </a:p>
                  </a:txBody>
                  <a:tcPr marL="64008" marR="64008" marT="36576" marB="36576" anchor="ctr">
                    <a:solidFill>
                      <a:srgbClr val="F7F2FD"/>
                    </a:solidFill>
                  </a:tcPr>
                </a:tc>
                <a:tc>
                  <a:txBody>
                    <a:bodyPr/>
                    <a:lstStyle/>
                    <a:p>
                      <a:r>
                        <a:rPr lang="en-US" sz="1100" b="0">
                          <a:solidFill>
                            <a:srgbClr val="3B2A54"/>
                          </a:solidFill>
                          <a:latin typeface="Arial"/>
                        </a:rPr>
                        <a:t>Track commitments across Country and BU teams. Compile overdue actions and review feedback.</a:t>
                      </a:r>
                    </a:p>
                  </a:txBody>
                  <a:tcPr marL="64008" marR="64008" marT="36576" marB="36576" anchor="ctr">
                    <a:solidFill>
                      <a:srgbClr val="F7F2FD"/>
                    </a:solidFill>
                  </a:tcPr>
                </a:tc>
                <a:tc>
                  <a:txBody>
                    <a:bodyPr/>
                    <a:lstStyle/>
                    <a:p>
                      <a:r>
                        <a:rPr lang="en-US" sz="1100" b="0">
                          <a:solidFill>
                            <a:srgbClr val="3B2A54"/>
                          </a:solidFill>
                          <a:latin typeface="Arial"/>
                        </a:rPr>
                        <a:t>Consolidate lessons and draft improvement options. Named owners validate analysis and recommendations.</a:t>
                      </a:r>
                    </a:p>
                  </a:txBody>
                  <a:tcPr marL="64008" marR="64008" marT="36576" marB="36576" anchor="ctr">
                    <a:solidFill>
                      <a:srgbClr val="F7F2FD"/>
                    </a:solidFill>
                  </a:tcPr>
                </a:tc>
                <a:extLst>
                  <a:ext uri="{0D108BD9-81ED-4DB2-BD59-A6C34878D82A}">
                    <a16:rowId xmlns:a16="http://schemas.microsoft.com/office/drawing/2014/main" val="10004"/>
                  </a:ext>
                </a:extLst>
              </a:tr>
              <a:tr h="758952">
                <a:tc>
                  <a:txBody>
                    <a:bodyPr/>
                    <a:lstStyle/>
                    <a:p>
                      <a:r>
                        <a:rPr lang="en-US" sz="1100" b="1">
                          <a:solidFill>
                            <a:srgbClr val="11052C"/>
                          </a:solidFill>
                          <a:latin typeface="Arial"/>
                        </a:rPr>
                        <a:t>Human control</a:t>
                      </a:r>
                    </a:p>
                  </a:txBody>
                  <a:tcPr marL="64008" marR="64008" marT="36576" marB="36576" anchor="ctr">
                    <a:solidFill>
                      <a:srgbClr val="FFFFFF"/>
                    </a:solidFill>
                  </a:tcPr>
                </a:tc>
                <a:tc>
                  <a:txBody>
                    <a:bodyPr/>
                    <a:lstStyle/>
                    <a:p>
                      <a:r>
                        <a:rPr lang="en-US" sz="1100" b="0">
                          <a:solidFill>
                            <a:srgbClr val="3B2A54"/>
                          </a:solidFill>
                          <a:latin typeface="Arial"/>
                        </a:rPr>
                        <a:t>Owners confirm status. People approve changes to dates and decisions. CoS &amp; CG owns escalation to the CFO.</a:t>
                      </a:r>
                    </a:p>
                  </a:txBody>
                  <a:tcPr marL="64008" marR="64008" marT="36576" marB="36576" anchor="ctr">
                    <a:solidFill>
                      <a:srgbClr val="FFFFFF"/>
                    </a:solidFill>
                  </a:tcPr>
                </a:tc>
                <a:tc>
                  <a:txBody>
                    <a:bodyPr/>
                    <a:lstStyle/>
                    <a:p>
                      <a:r>
                        <a:rPr lang="en-US" sz="1100" b="0">
                          <a:solidFill>
                            <a:srgbClr val="3B2A54"/>
                          </a:solidFill>
                          <a:latin typeface="Arial"/>
                        </a:rPr>
                        <a:t>Use approved tools and source-linked inputs. Finance, executives and SMEs sign off. Agents never approve funding or commitments.</a:t>
                      </a:r>
                      <a:endParaRPr lang="en-US" sz="11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lang="en-US" sz="900" b="0">
                <a:solidFill>
                  <a:srgbClr val="6B5B82"/>
                </a:solidFill>
                <a:latin typeface="Arial"/>
              </a:rPr>
              <a:t>Pilot measures: reporting hours saved, on-time papers and gate packs, errors caught before sign-off, and overdue actions. Establish baselines before setting targets.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21</a:t>
            </a:r>
            <a:endParaRPr sz="900" b="0">
              <a:solidFill>
                <a:srgbClr val="6B5B82"/>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J</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HQ site scorecard and risk register: hard tests first, then weights</a:t>
            </a:r>
          </a:p>
        </p:txBody>
      </p:sp>
      <p:sp>
        <p:nvSpPr>
          <p:cNvPr id="4" name="TextBox 3"/>
          <p:cNvSpPr txBox="1"/>
          <p:nvPr/>
        </p:nvSpPr>
        <p:spPr>
          <a:xfrm>
            <a:off x="612648" y="1463040"/>
            <a:ext cx="5394960" cy="685800"/>
          </a:xfrm>
          <a:prstGeom prst="rect">
            <a:avLst/>
          </a:prstGeom>
          <a:noFill/>
        </p:spPr>
        <p:txBody>
          <a:bodyPr wrap="square" anchor="t">
            <a:spAutoFit/>
          </a:bodyPr>
          <a:lstStyle/>
          <a:p>
            <a:pPr algn="l"/>
            <a:r>
              <a:rPr sz="1100" b="1">
                <a:solidFill>
                  <a:srgbClr val="11052C"/>
                </a:solidFill>
                <a:latin typeface="Arial"/>
              </a:rPr>
              <a:t>Hard tests first, pass or fail: </a:t>
            </a:r>
            <a:r>
              <a:rPr sz="1100" b="0">
                <a:solidFill>
                  <a:srgbClr val="11052C"/>
                </a:solidFill>
                <a:latin typeface="Arial"/>
              </a:rPr>
              <a:t>license, tax residence and taxable presence, fit-and-proper officers, real payroll and assets. Only sites that pass are scored.</a:t>
            </a:r>
          </a:p>
        </p:txBody>
      </p:sp>
      <p:graphicFrame>
        <p:nvGraphicFramePr>
          <p:cNvPr id="5" name="Table 4"/>
          <p:cNvGraphicFramePr>
            <a:graphicFrameLocks noGrp="1"/>
          </p:cNvGraphicFramePr>
          <p:nvPr/>
        </p:nvGraphicFramePr>
        <p:xfrm>
          <a:off x="612648" y="2240280"/>
          <a:ext cx="5394960" cy="2350008"/>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Criterion</a:t>
                      </a:r>
                    </a:p>
                  </a:txBody>
                  <a:tcPr marL="64008" marR="64008" marT="36576" marB="36576" anchor="ctr">
                    <a:solidFill>
                      <a:srgbClr val="820AD1"/>
                    </a:solidFill>
                  </a:tcPr>
                </a:tc>
                <a:tc>
                  <a:txBody>
                    <a:bodyPr/>
                    <a:lstStyle/>
                    <a:p>
                      <a:r>
                        <a:rPr sz="1100" b="1">
                          <a:solidFill>
                            <a:srgbClr val="FFFFFF"/>
                          </a:solidFill>
                          <a:latin typeface="Arial"/>
                        </a:rPr>
                        <a:t>Weight</a:t>
                      </a:r>
                    </a:p>
                  </a:txBody>
                  <a:tcPr marL="64008" marR="64008" marT="36576" marB="36576" anchor="ctr">
                    <a:solidFill>
                      <a:srgbClr val="820AD1"/>
                    </a:solidFill>
                  </a:tcPr>
                </a:tc>
                <a:tc>
                  <a:txBody>
                    <a:bodyPr/>
                    <a:lstStyle/>
                    <a:p>
                      <a:r>
                        <a:rPr sz="1100" b="1">
                          <a:solidFill>
                            <a:srgbClr val="FFFFFF"/>
                          </a:solidFill>
                          <a:latin typeface="Arial"/>
                        </a:rPr>
                        <a:t>Evidence and 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Talent pool and wage cost</a:t>
                      </a:r>
                    </a:p>
                  </a:txBody>
                  <a:tcPr marL="64008" marR="64008" marT="36576" marB="36576" anchor="ctr">
                    <a:solidFill>
                      <a:srgbClr val="FFFFFF"/>
                    </a:solidFill>
                  </a:tcPr>
                </a:tc>
                <a:tc>
                  <a:txBody>
                    <a:bodyPr/>
                    <a:lstStyle/>
                    <a:p>
                      <a:r>
                        <a:rPr sz="1050" b="0">
                          <a:solidFill>
                            <a:srgbClr val="3B2A54"/>
                          </a:solidFill>
                          <a:latin typeface="Arial"/>
                        </a:rPr>
                        <a:t>30</a:t>
                      </a:r>
                    </a:p>
                  </a:txBody>
                  <a:tcPr marL="64008" marR="64008" marT="36576" marB="36576" anchor="ctr">
                    <a:solidFill>
                      <a:srgbClr val="FFFFFF"/>
                    </a:solidFill>
                  </a:tcPr>
                </a:tc>
                <a:tc>
                  <a:txBody>
                    <a:bodyPr/>
                    <a:lstStyle/>
                    <a:p>
                      <a:r>
                        <a:rPr sz="1050" b="0">
                          <a:solidFill>
                            <a:srgbClr val="3B2A54"/>
                          </a:solidFill>
                          <a:latin typeface="Arial"/>
                        </a:rPr>
                        <a:t>Hiring data and wage benchmarks (People)</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Incentive value net of clawback</a:t>
                      </a:r>
                    </a:p>
                  </a:txBody>
                  <a:tcPr marL="64008" marR="64008" marT="36576" marB="36576" anchor="ctr">
                    <a:solidFill>
                      <a:srgbClr val="F7F2FD"/>
                    </a:solidFill>
                  </a:tcPr>
                </a:tc>
                <a:tc>
                  <a:txBody>
                    <a:bodyPr/>
                    <a:lstStyle/>
                    <a:p>
                      <a:r>
                        <a:rPr sz="1050" b="0">
                          <a:solidFill>
                            <a:srgbClr val="3B2A54"/>
                          </a:solidFill>
                          <a:latin typeface="Arial"/>
                        </a:rPr>
                        <a:t>20</a:t>
                      </a:r>
                    </a:p>
                  </a:txBody>
                  <a:tcPr marL="64008" marR="64008" marT="36576" marB="36576" anchor="ctr">
                    <a:solidFill>
                      <a:srgbClr val="F7F2FD"/>
                    </a:solidFill>
                  </a:tcPr>
                </a:tc>
                <a:tc>
                  <a:txBody>
                    <a:bodyPr/>
                    <a:lstStyle/>
                    <a:p>
                      <a:r>
                        <a:rPr sz="1050" b="0">
                          <a:solidFill>
                            <a:srgbClr val="3B2A54"/>
                          </a:solidFill>
                          <a:latin typeface="Arial"/>
                        </a:rPr>
                        <a:t>Draft terms with the clawback modeled (Legal, Tax)</a:t>
                      </a: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sz="1050" b="1">
                          <a:solidFill>
                            <a:srgbClr val="11052C"/>
                          </a:solidFill>
                          <a:latin typeface="Arial"/>
                        </a:rPr>
                        <a:t>Campus cost, flexibility and timing</a:t>
                      </a:r>
                    </a:p>
                  </a:txBody>
                  <a:tcPr marL="64008" marR="64008" marT="36576" marB="36576" anchor="ctr">
                    <a:solidFill>
                      <a:srgbClr val="FFFFFF"/>
                    </a:solidFill>
                  </a:tcPr>
                </a:tc>
                <a:tc>
                  <a:txBody>
                    <a:bodyPr/>
                    <a:lstStyle/>
                    <a:p>
                      <a:r>
                        <a:rPr sz="1050" b="0">
                          <a:solidFill>
                            <a:srgbClr val="3B2A54"/>
                          </a:solidFill>
                          <a:latin typeface="Arial"/>
                        </a:rPr>
                        <a:t>20</a:t>
                      </a:r>
                    </a:p>
                  </a:txBody>
                  <a:tcPr marL="64008" marR="64008" marT="36576" marB="36576" anchor="ctr">
                    <a:solidFill>
                      <a:srgbClr val="FFFFFF"/>
                    </a:solidFill>
                  </a:tcPr>
                </a:tc>
                <a:tc>
                  <a:txBody>
                    <a:bodyPr/>
                    <a:lstStyle/>
                    <a:p>
                      <a:r>
                        <a:rPr sz="1050" b="0">
                          <a:solidFill>
                            <a:srgbClr val="3B2A54"/>
                          </a:solidFill>
                          <a:latin typeface="Arial"/>
                        </a:rPr>
                        <a:t>Lease options, break clauses, fit-out time (Workplace)</a:t>
                      </a:r>
                    </a:p>
                  </a:txBody>
                  <a:tcPr marL="64008" marR="64008" marT="36576" marB="36576" anchor="ctr">
                    <a:solidFill>
                      <a:srgbClr val="FFFFFF"/>
                    </a:solidFill>
                  </a:tcPr>
                </a:tc>
                <a:extLst>
                  <a:ext uri="{0D108BD9-81ED-4DB2-BD59-A6C34878D82A}">
                    <a16:rowId xmlns:a16="http://schemas.microsoft.com/office/drawing/2014/main" val="10003"/>
                  </a:ext>
                </a:extLst>
              </a:tr>
              <a:tr h="393192">
                <a:tc>
                  <a:txBody>
                    <a:bodyPr/>
                    <a:lstStyle/>
                    <a:p>
                      <a:r>
                        <a:rPr sz="1050" b="1">
                          <a:solidFill>
                            <a:srgbClr val="11052C"/>
                          </a:solidFill>
                          <a:latin typeface="Arial"/>
                        </a:rPr>
                        <a:t>Modeled tax rate under Pillar Two, including any domestic top-up</a:t>
                      </a:r>
                    </a:p>
                  </a:txBody>
                  <a:tcPr marL="64008" marR="64008" marT="36576" marB="36576" anchor="ctr">
                    <a:solidFill>
                      <a:srgbClr val="F7F2FD"/>
                    </a:solidFill>
                  </a:tcPr>
                </a:tc>
                <a:tc>
                  <a:txBody>
                    <a:bodyPr/>
                    <a:lstStyle/>
                    <a:p>
                      <a:r>
                        <a:rPr sz="1050" b="0">
                          <a:solidFill>
                            <a:srgbClr val="3B2A54"/>
                          </a:solidFill>
                          <a:latin typeface="Arial"/>
                        </a:rPr>
                        <a:t>15</a:t>
                      </a:r>
                    </a:p>
                  </a:txBody>
                  <a:tcPr marL="64008" marR="64008" marT="36576" marB="36576" anchor="ctr">
                    <a:solidFill>
                      <a:srgbClr val="F7F2FD"/>
                    </a:solidFill>
                  </a:tcPr>
                </a:tc>
                <a:tc>
                  <a:txBody>
                    <a:bodyPr/>
                    <a:lstStyle/>
                    <a:p>
                      <a:r>
                        <a:rPr sz="1050" b="0">
                          <a:solidFill>
                            <a:srgbClr val="3B2A54"/>
                          </a:solidFill>
                          <a:latin typeface="Arial"/>
                        </a:rPr>
                        <a:t>The gate 1 model (Tax)</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Political and reputational risk</a:t>
                      </a:r>
                    </a:p>
                  </a:txBody>
                  <a:tcPr marL="64008" marR="64008" marT="36576" marB="36576" anchor="ctr">
                    <a:solidFill>
                      <a:srgbClr val="FFFFFF"/>
                    </a:solidFill>
                  </a:tcPr>
                </a:tc>
                <a:tc>
                  <a:txBody>
                    <a:bodyPr/>
                    <a:lstStyle/>
                    <a:p>
                      <a:r>
                        <a:rPr sz="1050" b="0">
                          <a:solidFill>
                            <a:srgbClr val="3B2A54"/>
                          </a:solidFill>
                          <a:latin typeface="Arial"/>
                        </a:rPr>
                        <a:t>15</a:t>
                      </a:r>
                    </a:p>
                  </a:txBody>
                  <a:tcPr marL="64008" marR="64008" marT="36576" marB="36576" anchor="ctr">
                    <a:solidFill>
                      <a:srgbClr val="FFFFFF"/>
                    </a:solidFill>
                  </a:tcPr>
                </a:tc>
                <a:tc>
                  <a:txBody>
                    <a:bodyPr/>
                    <a:lstStyle/>
                    <a:p>
                      <a:r>
                        <a:rPr sz="1050" b="0">
                          <a:solidFill>
                            <a:srgbClr val="3B2A54"/>
                          </a:solidFill>
                          <a:latin typeface="Arial"/>
                        </a:rPr>
                        <a:t>Local stakeholder map (Legal, Comms)</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nvGraphicFramePr>
        <p:xfrm>
          <a:off x="6217920" y="1463040"/>
          <a:ext cx="5212080" cy="2670048"/>
        </p:xfrm>
        <a:graphic>
          <a:graphicData uri="http://schemas.openxmlformats.org/drawingml/2006/table">
            <a:tbl>
              <a:tblPr>
                <a:tableStyleId>{5C22544A-7EE6-4342-B048-85BDC9FD1C3A}</a:tableStyleId>
              </a:tblPr>
              <a:tblGrid>
                <a:gridCol w="1783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Risk</a:t>
                      </a:r>
                    </a:p>
                  </a:txBody>
                  <a:tcPr marL="64008" marR="64008" marT="36576" marB="36576" anchor="ctr">
                    <a:solidFill>
                      <a:srgbClr val="820AD1"/>
                    </a:solidFill>
                  </a:tcPr>
                </a:tc>
                <a:tc>
                  <a:txBody>
                    <a:bodyPr/>
                    <a:lstStyle/>
                    <a:p>
                      <a:r>
                        <a:rPr sz="1100" b="1">
                          <a:solidFill>
                            <a:srgbClr val="FFFFFF"/>
                          </a:solidFill>
                          <a:latin typeface="Arial"/>
                        </a:rPr>
                        <a:t>Mitigation</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Tax residence or a taxable presence moves</a:t>
                      </a:r>
                    </a:p>
                  </a:txBody>
                  <a:tcPr marL="64008" marR="64008" marT="36576" marB="36576" anchor="ctr">
                    <a:solidFill>
                      <a:srgbClr val="FFFFFF"/>
                    </a:solidFill>
                  </a:tcPr>
                </a:tc>
                <a:tc>
                  <a:txBody>
                    <a:bodyPr/>
                    <a:lstStyle/>
                    <a:p>
                      <a:r>
                        <a:rPr sz="1050" b="0">
                          <a:solidFill>
                            <a:srgbClr val="3B2A54"/>
                          </a:solidFill>
                          <a:latin typeface="Arial"/>
                        </a:rPr>
                        <a:t>Opinion at gate 1; meeting patterns unchanged; no early signing</a:t>
                      </a:r>
                    </a:p>
                  </a:txBody>
                  <a:tcPr marL="64008" marR="64008" marT="36576" marB="36576" anchor="ctr">
                    <a:solidFill>
                      <a:srgbClr val="FFFFFF"/>
                    </a:solidFill>
                  </a:tcPr>
                </a:tc>
                <a:tc>
                  <a:txBody>
                    <a:bodyPr/>
                    <a:lstStyle/>
                    <a:p>
                      <a:r>
                        <a:rPr sz="1050" b="0">
                          <a:solidFill>
                            <a:srgbClr val="3B2A54"/>
                          </a:solidFill>
                          <a:latin typeface="Arial"/>
                        </a:rPr>
                        <a:t>Tax</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Grant clawback</a:t>
                      </a:r>
                    </a:p>
                  </a:txBody>
                  <a:tcPr marL="64008" marR="64008" marT="36576" marB="36576" anchor="ctr">
                    <a:solidFill>
                      <a:srgbClr val="F7F2FD"/>
                    </a:solidFill>
                  </a:tcPr>
                </a:tc>
                <a:tc>
                  <a:txBody>
                    <a:bodyPr/>
                    <a:lstStyle/>
                    <a:p>
                      <a:r>
                        <a:rPr sz="1050" b="0">
                          <a:solidFill>
                            <a:srgbClr val="3B2A54"/>
                          </a:solidFill>
                          <a:latin typeface="Arial"/>
                        </a:rPr>
                        <a:t>Proportional scaling and 12-24 months' grace; walk away from cliff-edge terms</a:t>
                      </a:r>
                    </a:p>
                  </a:txBody>
                  <a:tcPr marL="64008" marR="64008" marT="36576" marB="36576" anchor="ctr">
                    <a:solidFill>
                      <a:srgbClr val="F7F2FD"/>
                    </a:solidFill>
                  </a:tcPr>
                </a:tc>
                <a:tc>
                  <a:txBody>
                    <a:bodyPr/>
                    <a:lstStyle/>
                    <a:p>
                      <a:r>
                        <a:rPr sz="1050" b="0">
                          <a:solidFill>
                            <a:srgbClr val="3B2A54"/>
                          </a:solidFill>
                          <a:latin typeface="Arial"/>
                        </a:rPr>
                        <a:t>Legal</a:t>
                      </a:r>
                    </a:p>
                  </a:txBody>
                  <a:tcPr marL="64008" marR="64008" marT="36576" marB="36576" anchor="ctr">
                    <a:solidFill>
                      <a:srgbClr val="F7F2FD"/>
                    </a:solidFill>
                  </a:tcPr>
                </a:tc>
                <a:extLst>
                  <a:ext uri="{0D108BD9-81ED-4DB2-BD59-A6C34878D82A}">
                    <a16:rowId xmlns:a16="http://schemas.microsoft.com/office/drawing/2014/main" val="10002"/>
                  </a:ext>
                </a:extLst>
              </a:tr>
              <a:tr h="553211">
                <a:tc>
                  <a:txBody>
                    <a:bodyPr/>
                    <a:lstStyle/>
                    <a:p>
                      <a:r>
                        <a:rPr sz="1050" b="1">
                          <a:solidFill>
                            <a:srgbClr val="11052C"/>
                          </a:solidFill>
                          <a:latin typeface="Arial"/>
                        </a:rPr>
                        <a:t>Officer approval runs late</a:t>
                      </a:r>
                    </a:p>
                  </a:txBody>
                  <a:tcPr marL="64008" marR="64008" marT="36576" marB="36576" anchor="ctr">
                    <a:solidFill>
                      <a:srgbClr val="FFFFFF"/>
                    </a:solidFill>
                  </a:tcPr>
                </a:tc>
                <a:tc>
                  <a:txBody>
                    <a:bodyPr/>
                    <a:lstStyle/>
                    <a:p>
                      <a:r>
                        <a:rPr sz="1050" b="0">
                          <a:solidFill>
                            <a:srgbClr val="3B2A54"/>
                          </a:solidFill>
                          <a:latin typeface="Arial"/>
                        </a:rPr>
                        <a:t>Files at gate 1; no activation before approval; the lease long-stop moves with it</a:t>
                      </a:r>
                    </a:p>
                  </a:txBody>
                  <a:tcPr marL="64008" marR="64008" marT="36576" marB="36576" anchor="ctr">
                    <a:solidFill>
                      <a:srgbClr val="FFFFFF"/>
                    </a:solidFill>
                  </a:tcPr>
                </a:tc>
                <a:tc>
                  <a:txBody>
                    <a:bodyPr/>
                    <a:lstStyle/>
                    <a:p>
                      <a:r>
                        <a:rPr sz="1050" b="0">
                          <a:solidFill>
                            <a:srgbClr val="3B2A54"/>
                          </a:solidFill>
                          <a:latin typeface="Arial"/>
                        </a:rPr>
                        <a:t>Legal, People</a:t>
                      </a:r>
                    </a:p>
                  </a:txBody>
                  <a:tcPr marL="64008" marR="64008" marT="36576" marB="36576" anchor="ctr">
                    <a:solidFill>
                      <a:srgbClr val="FFFFFF"/>
                    </a:solidFill>
                  </a:tcPr>
                </a:tc>
                <a:extLst>
                  <a:ext uri="{0D108BD9-81ED-4DB2-BD59-A6C34878D82A}">
                    <a16:rowId xmlns:a16="http://schemas.microsoft.com/office/drawing/2014/main" val="10003"/>
                  </a:ext>
                </a:extLst>
              </a:tr>
              <a:tr h="553211">
                <a:tc>
                  <a:txBody>
                    <a:bodyPr/>
                    <a:lstStyle/>
                    <a:p>
                      <a:r>
                        <a:rPr sz="1050" b="1">
                          <a:solidFill>
                            <a:srgbClr val="11052C"/>
                          </a:solidFill>
                          <a:latin typeface="Arial"/>
                        </a:rPr>
                        <a:t>Site politics and disclosure</a:t>
                      </a:r>
                    </a:p>
                  </a:txBody>
                  <a:tcPr marL="64008" marR="64008" marT="36576" marB="36576" anchor="ctr">
                    <a:solidFill>
                      <a:srgbClr val="F7F2FD"/>
                    </a:solidFill>
                  </a:tcPr>
                </a:tc>
                <a:tc>
                  <a:txBody>
                    <a:bodyPr/>
                    <a:lstStyle/>
                    <a:p>
                      <a:r>
                        <a:rPr sz="1050" b="0">
                          <a:solidFill>
                            <a:srgbClr val="3B2A54"/>
                          </a:solidFill>
                          <a:latin typeface="Arial"/>
                        </a:rPr>
                        <a:t>No public contact before the scorecard; one spokesperson (Comms); IR decides what is disclosed and when</a:t>
                      </a:r>
                    </a:p>
                  </a:txBody>
                  <a:tcPr marL="64008" marR="64008" marT="36576" marB="36576" anchor="ctr">
                    <a:solidFill>
                      <a:srgbClr val="F7F2FD"/>
                    </a:solidFill>
                  </a:tcPr>
                </a:tc>
                <a:tc>
                  <a:txBody>
                    <a:bodyPr/>
                    <a:lstStyle/>
                    <a:p>
                      <a:r>
                        <a:rPr sz="1050" b="0">
                          <a:solidFill>
                            <a:srgbClr val="3B2A54"/>
                          </a:solidFill>
                          <a:latin typeface="Arial"/>
                        </a:rPr>
                        <a:t>Comms, IR</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Dependence on the CoS</a:t>
                      </a:r>
                    </a:p>
                  </a:txBody>
                  <a:tcPr marL="64008" marR="64008" marT="36576" marB="36576" anchor="ctr">
                    <a:solidFill>
                      <a:srgbClr val="FFFFFF"/>
                    </a:solidFill>
                  </a:tcPr>
                </a:tc>
                <a:tc>
                  <a:txBody>
                    <a:bodyPr/>
                    <a:lstStyle/>
                    <a:p>
                      <a:r>
                        <a:rPr sz="1050" b="0">
                          <a:solidFill>
                            <a:srgbClr val="3B2A54"/>
                          </a:solidFill>
                          <a:latin typeface="Arial"/>
                        </a:rPr>
                        <a:t>A named deputy, the decision log, gate packs the CFO can decide on without the lead</a:t>
                      </a:r>
                    </a:p>
                  </a:txBody>
                  <a:tcPr marL="64008" marR="64008" marT="36576" marB="36576" anchor="ctr">
                    <a:solidFill>
                      <a:srgbClr val="FFFFFF"/>
                    </a:solidFill>
                  </a:tcPr>
                </a:tc>
                <a:tc>
                  <a:txBody>
                    <a:bodyPr/>
                    <a:lstStyle/>
                    <a:p>
                      <a:r>
                        <a:rPr sz="1050" b="0">
                          <a:solidFill>
                            <a:srgbClr val="3B2A54"/>
                          </a:solidFill>
                          <a:latin typeface="Arial"/>
                        </a:rPr>
                        <a:t>CoS &amp; CG</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12648" y="6126480"/>
            <a:ext cx="10515600" cy="320040"/>
          </a:xfrm>
          <a:prstGeom prst="rect">
            <a:avLst/>
          </a:prstGeom>
          <a:noFill/>
        </p:spPr>
        <p:txBody>
          <a:bodyPr wrap="square" anchor="t">
            <a:spAutoFit/>
          </a:bodyPr>
          <a:lstStyle/>
          <a:p>
            <a:pPr algn="l"/>
            <a:r>
              <a:rPr sz="900" b="0">
                <a:solidFill>
                  <a:srgbClr val="6B5B82"/>
                </a:solidFill>
                <a:latin typeface="Arial"/>
              </a:rPr>
              <a:t>Weights and mitigations are our proposals. No savings figure until a site is chosen.</a:t>
            </a:r>
            <a:r>
              <a:rPr lang="en-US" sz="900" b="0">
                <a:solidFill>
                  <a:srgbClr val="6B5B82"/>
                </a:solidFill>
                <a:latin typeface="Arial"/>
              </a:rPr>
              <a:t/>
            </a:r>
            <a:r>
              <a:rPr sz="900" b="0">
                <a:solidFill>
                  <a:srgbClr val="6B5B82"/>
                </a:solidFill>
                <a:latin typeface="Arial"/>
              </a:rPr>
              <a:t/>
            </a:r>
            <a:r>
              <a:rPr lang="en-US" sz="900" b="0">
                <a:solidFill>
                  <a:srgbClr val="6B5B82"/>
                </a:solidFill>
                <a:latin typeface="Arial"/>
              </a:rPr>
              <a:t/>
            </a:r>
            <a:r>
              <a:rPr sz="900" b="0">
                <a:solidFill>
                  <a:srgbClr val="6B5B82"/>
                </a:solidFill>
                <a:latin typeface="Arial"/>
              </a:rPr>
              <a:t/>
            </a: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22</a:t>
            </a:r>
            <a:endParaRPr sz="900" b="0">
              <a:solidFill>
                <a:srgbClr val="6B5B82"/>
              </a:solidFill>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TEAM</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Hub of 4-6: 2-3 in the countries, 2-3 central in the US, in two waves</a:t>
            </a:r>
          </a:p>
        </p:txBody>
      </p:sp>
      <p:graphicFrame>
        <p:nvGraphicFramePr>
          <p:cNvPr id="4" name="Table 3"/>
          <p:cNvGraphicFramePr>
            <a:graphicFrameLocks noGrp="1"/>
          </p:cNvGraphicFramePr>
          <p:nvPr/>
        </p:nvGraphicFramePr>
        <p:xfrm>
          <a:off x="612648" y="1554480"/>
          <a:ext cx="11064240" cy="3017520"/>
        </p:xfrm>
        <a:graphic>
          <a:graphicData uri="http://schemas.openxmlformats.org/drawingml/2006/table">
            <a:tbl>
              <a:tblPr>
                <a:tableStyleId>{5C22544A-7EE6-4342-B048-85BDC9FD1C3A}</a:tableStyleId>
              </a:tblPr>
              <a:tblGrid>
                <a:gridCol w="4206240"/>
                <a:gridCol w="1737360"/>
                <a:gridCol w="1188720"/>
                <a:gridCol w="2377440"/>
                <a:gridCol w="1554480"/>
              </a:tblGrid>
              <a:tr h="329184">
                <a:tc>
                  <a:txBody>
                    <a:bodyPr/>
                    <a:lstStyle/>
                    <a:p>
                      <a:r>
                        <a:rPr sz="1100" b="1">
                          <a:solidFill>
                            <a:srgbClr val="FFFFFF"/>
                          </a:solidFill>
                          <a:latin typeface="Arial"/>
                        </a:rPr>
                        <a:t>Role</a:t>
                      </a:r>
                    </a:p>
                  </a:txBody>
                  <a:tcPr marL="73152" marR="73152" marT="36576" marB="36576" anchor="ctr">
                    <a:solidFill>
                      <a:srgbClr val="820AD1"/>
                    </a:solidFill>
                  </a:tcPr>
                </a:tc>
                <a:tc>
                  <a:txBody>
                    <a:bodyPr/>
                    <a:lstStyle/>
                    <a:p>
                      <a:r>
                        <a:rPr sz="1100" b="1">
                          <a:solidFill>
                            <a:srgbClr val="FFFFFF"/>
                          </a:solidFill>
                          <a:latin typeface="Arial"/>
                        </a:rPr>
                        <a:t>Level (proposal)</a:t>
                      </a:r>
                    </a:p>
                  </a:txBody>
                  <a:tcPr marL="73152" marR="73152" marT="36576" marB="36576" anchor="ctr">
                    <a:solidFill>
                      <a:srgbClr val="820AD1"/>
                    </a:solidFill>
                  </a:tcPr>
                </a:tc>
                <a:tc>
                  <a:txBody>
                    <a:bodyPr/>
                    <a:lstStyle/>
                    <a:p>
                      <a:r>
                        <a:rPr sz="1100" b="1">
                          <a:solidFill>
                            <a:srgbClr val="FFFFFF"/>
                          </a:solidFill>
                          <a:latin typeface="Arial"/>
                        </a:rPr>
                        <a:t>Where</a:t>
                      </a:r>
                    </a:p>
                  </a:txBody>
                  <a:tcPr marL="73152" marR="73152" marT="36576" marB="36576" anchor="ctr">
                    <a:solidFill>
                      <a:srgbClr val="820AD1"/>
                    </a:solidFill>
                  </a:tcPr>
                </a:tc>
                <a:tc>
                  <a:txBody>
                    <a:bodyPr/>
                    <a:lstStyle/>
                    <a:p>
                      <a:r>
                        <a:rPr sz="1100" b="1">
                          <a:solidFill>
                            <a:srgbClr val="FFFFFF"/>
                          </a:solidFill>
                          <a:latin typeface="Arial"/>
                        </a:rPr>
                        <a:t>Reports to</a:t>
                      </a:r>
                    </a:p>
                  </a:txBody>
                  <a:tcPr marL="73152" marR="73152" marT="36576" marB="36576" anchor="ctr">
                    <a:solidFill>
                      <a:srgbClr val="820AD1"/>
                    </a:solidFill>
                  </a:tcPr>
                </a:tc>
                <a:tc>
                  <a:txBody>
                    <a:bodyPr/>
                    <a:lstStyle/>
                    <a:p>
                      <a:r>
                        <a:rPr sz="1100" b="1">
                          <a:solidFill>
                            <a:srgbClr val="FFFFFF"/>
                          </a:solidFill>
                          <a:latin typeface="Arial"/>
                        </a:rPr>
                        <a:t>Wave</a:t>
                      </a:r>
                    </a:p>
                  </a:txBody>
                  <a:tcPr marL="73152" marR="73152" marT="36576" marB="36576" anchor="ctr">
                    <a:solidFill>
                      <a:srgbClr val="820AD1"/>
                    </a:solidFill>
                  </a:tcPr>
                </a:tc>
              </a:tr>
              <a:tr h="384048">
                <a:tc>
                  <a:txBody>
                    <a:bodyPr/>
                    <a:lstStyle/>
                    <a:p>
                      <a:r>
                        <a:rPr sz="1050" b="1">
                          <a:solidFill>
                            <a:srgbClr val="11052C"/>
                          </a:solidFill>
                          <a:latin typeface="Arial"/>
                        </a:rPr>
                        <a:t>Hub lead: CoS &amp; Corporate Governance</a:t>
                      </a:r>
                    </a:p>
                  </a:txBody>
                  <a:tcPr marL="73152" marR="73152" marT="36576" marB="36576" anchor="ctr">
                    <a:solidFill>
                      <a:srgbClr val="FFFFFF"/>
                    </a:solidFill>
                  </a:tcPr>
                </a:tc>
                <a:tc>
                  <a:txBody>
                    <a:bodyPr/>
                    <a:lstStyle/>
                    <a:p>
                      <a:r>
                        <a:rPr sz="1050" b="0">
                          <a:solidFill>
                            <a:srgbClr val="3B2A54"/>
                          </a:solidFill>
                          <a:latin typeface="Arial"/>
                        </a:rPr>
                        <a:t>Existing role</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CFO</a:t>
                      </a:r>
                    </a:p>
                  </a:txBody>
                  <a:tcPr marL="73152" marR="73152" marT="36576" marB="36576" anchor="ctr">
                    <a:solidFill>
                      <a:srgbClr val="FFFFFF"/>
                    </a:solidFill>
                  </a:tcPr>
                </a:tc>
                <a:tc>
                  <a:txBody>
                    <a:bodyPr/>
                    <a:lstStyle/>
                    <a:p>
                      <a:r>
                        <a:rPr sz="1050" b="0">
                          <a:solidFill>
                            <a:srgbClr val="3B2A54"/>
                          </a:solidFill>
                          <a:latin typeface="Arial"/>
                        </a:rPr>
                        <a:t>In place</a:t>
                      </a:r>
                    </a:p>
                  </a:txBody>
                  <a:tcPr marL="73152" marR="73152" marT="36576" marB="36576" anchor="ctr">
                    <a:solidFill>
                      <a:srgbClr val="FFFFFF"/>
                    </a:solidFill>
                  </a:tcPr>
                </a:tc>
              </a:tr>
              <a:tr h="384048">
                <a:tc>
                  <a:txBody>
                    <a:bodyPr/>
                    <a:lstStyle/>
                    <a:p>
                      <a:r>
                        <a:rPr sz="1050" b="1">
                          <a:solidFill>
                            <a:srgbClr val="11052C"/>
                          </a:solidFill>
                          <a:latin typeface="Arial"/>
                        </a:rPr>
                        <a:t>Global planning manager: owns the model, the case template and the release packs</a:t>
                      </a:r>
                    </a:p>
                  </a:txBody>
                  <a:tcPr marL="73152" marR="73152" marT="36576" marB="36576" anchor="ctr">
                    <a:solidFill>
                      <a:srgbClr val="F5F0FC"/>
                    </a:solidFill>
                  </a:tcPr>
                </a:tc>
                <a:tc>
                  <a:txBody>
                    <a:bodyPr/>
                    <a:lstStyle/>
                    <a:p>
                      <a:r>
                        <a:rPr sz="1050" b="0">
                          <a:solidFill>
                            <a:srgbClr val="3B2A54"/>
                          </a:solidFill>
                          <a:latin typeface="Arial"/>
                        </a:rPr>
                        <a:t>Senior manager</a:t>
                      </a:r>
                    </a:p>
                  </a:txBody>
                  <a:tcPr marL="73152" marR="73152" marT="36576" marB="36576" anchor="ctr">
                    <a:solidFill>
                      <a:srgbClr val="F5F0FC"/>
                    </a:solidFill>
                  </a:tcPr>
                </a:tc>
                <a:tc>
                  <a:txBody>
                    <a:bodyPr/>
                    <a:lstStyle/>
                    <a:p>
                      <a:r>
                        <a:rPr sz="1050" b="0">
                          <a:solidFill>
                            <a:srgbClr val="3B2A54"/>
                          </a:solidFill>
                          <a:latin typeface="Arial"/>
                        </a:rPr>
                        <a:t>US (central)</a:t>
                      </a:r>
                    </a:p>
                  </a:txBody>
                  <a:tcPr marL="73152" marR="73152" marT="36576" marB="36576" anchor="ctr">
                    <a:solidFill>
                      <a:srgbClr val="F5F0FC"/>
                    </a:solidFill>
                  </a:tcPr>
                </a:tc>
                <a:tc>
                  <a:txBody>
                    <a:bodyPr/>
                    <a:lstStyle/>
                    <a:p>
                      <a:r>
                        <a:rPr sz="1050" b="0">
                          <a:solidFill>
                            <a:srgbClr val="3B2A54"/>
                          </a:solidFill>
                          <a:latin typeface="Arial"/>
                        </a:rPr>
                        <a:t>Hub lead</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Finance partner, Brazil: cases and drivers with the GMs and the Brazil CFO</a:t>
                      </a:r>
                    </a:p>
                  </a:txBody>
                  <a:tcPr marL="73152" marR="73152" marT="36576" marB="36576" anchor="ctr">
                    <a:solidFill>
                      <a:srgbClr val="FFFFFF"/>
                    </a:solidFill>
                  </a:tcPr>
                </a:tc>
                <a:tc>
                  <a:txBody>
                    <a:bodyPr/>
                    <a:lstStyle/>
                    <a:p>
                      <a:r>
                        <a:rPr sz="1050" b="0">
                          <a:solidFill>
                            <a:srgbClr val="3B2A54"/>
                          </a:solidFill>
                          <a:latin typeface="Arial"/>
                        </a:rPr>
                        <a:t>Manager / senior manager</a:t>
                      </a:r>
                    </a:p>
                  </a:txBody>
                  <a:tcPr marL="73152" marR="73152" marT="36576" marB="36576" anchor="ctr">
                    <a:solidFill>
                      <a:srgbClr val="FFFFFF"/>
                    </a:solidFill>
                  </a:tcPr>
                </a:tc>
                <a:tc>
                  <a:txBody>
                    <a:bodyPr/>
                    <a:lstStyle/>
                    <a:p>
                      <a:r>
                        <a:rPr sz="1050" b="0">
                          <a:solidFill>
                            <a:srgbClr val="3B2A54"/>
                          </a:solidFill>
                          <a:latin typeface="Arial"/>
                        </a:rPr>
                        <a:t>Brazil</a:t>
                      </a:r>
                    </a:p>
                  </a:txBody>
                  <a:tcPr marL="73152" marR="73152" marT="36576" marB="36576" anchor="ctr">
                    <a:solidFill>
                      <a:srgbClr val="FFFFFF"/>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FFFFF"/>
                    </a:solidFill>
                  </a:tcPr>
                </a:tc>
                <a:tc>
                  <a:txBody>
                    <a:bodyPr/>
                    <a:lstStyle/>
                    <a:p>
                      <a:r>
                        <a:rPr sz="1050" b="0">
                          <a:solidFill>
                            <a:srgbClr val="3B2A54"/>
                          </a:solidFill>
                          <a:latin typeface="Arial"/>
                        </a:rPr>
                        <a:t>1: by Q2'27</a:t>
                      </a:r>
                    </a:p>
                  </a:txBody>
                  <a:tcPr marL="73152" marR="73152" marT="36576" marB="36576" anchor="ctr">
                    <a:solidFill>
                      <a:srgbClr val="FFFFFF"/>
                    </a:solidFill>
                  </a:tcPr>
                </a:tc>
              </a:tr>
              <a:tr h="384048">
                <a:tc>
                  <a:txBody>
                    <a:bodyPr/>
                    <a:lstStyle/>
                    <a:p>
                      <a:r>
                        <a:rPr sz="1050" b="1">
                          <a:solidFill>
                            <a:srgbClr val="11052C"/>
                          </a:solidFill>
                          <a:latin typeface="Arial"/>
                        </a:rPr>
                        <a:t>Finance partner, Mexico: same role for Mexico (and Colombia until wave 2)</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Mexico</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Decision-support analyst: data platform, AI agents, consolidation</a:t>
                      </a:r>
                    </a:p>
                  </a:txBody>
                  <a:tcPr marL="73152" marR="73152" marT="36576" marB="36576" anchor="ctr">
                    <a:solidFill>
                      <a:srgbClr val="FFFFFF"/>
                    </a:solidFill>
                  </a:tcPr>
                </a:tc>
                <a:tc>
                  <a:txBody>
                    <a:bodyPr/>
                    <a:lstStyle/>
                    <a:p>
                      <a:r>
                        <a:rPr sz="1050" b="0">
                          <a:solidFill>
                            <a:srgbClr val="3B2A54"/>
                          </a:solidFill>
                          <a:latin typeface="Arial"/>
                        </a:rPr>
                        <a:t>Senior 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r h="384048">
                <a:tc>
                  <a:txBody>
                    <a:bodyPr/>
                    <a:lstStyle/>
                    <a:p>
                      <a:r>
                        <a:rPr sz="1050" b="1">
                          <a:solidFill>
                            <a:srgbClr val="11052C"/>
                          </a:solidFill>
                          <a:latin typeface="Arial"/>
                        </a:rPr>
                        <a:t>Finance partner, Colombia</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Colombia</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2: by Q4'27, if gates pass</a:t>
                      </a:r>
                    </a:p>
                  </a:txBody>
                  <a:tcPr marL="73152" marR="73152" marT="36576" marB="36576" anchor="ctr">
                    <a:solidFill>
                      <a:srgbClr val="F5F0FC"/>
                    </a:solidFill>
                  </a:tcPr>
                </a:tc>
              </a:tr>
              <a:tr h="384048">
                <a:tc>
                  <a:txBody>
                    <a:bodyPr/>
                    <a:lstStyle/>
                    <a:p>
                      <a:r>
                        <a:rPr sz="1050" b="1">
                          <a:solidFill>
                            <a:srgbClr val="11052C"/>
                          </a:solidFill>
                          <a:latin typeface="Arial"/>
                        </a:rPr>
                        <a:t>Second central analyst (only if volume requires)</a:t>
                      </a:r>
                    </a:p>
                  </a:txBody>
                  <a:tcPr marL="73152" marR="73152" marT="36576" marB="36576" anchor="ctr">
                    <a:solidFill>
                      <a:srgbClr val="FFFFFF"/>
                    </a:solidFill>
                  </a:tcPr>
                </a:tc>
                <a:tc>
                  <a:txBody>
                    <a:bodyPr/>
                    <a:lstStyle/>
                    <a:p>
                      <a:r>
                        <a:rPr sz="1050" b="0">
                          <a:solidFill>
                            <a:srgbClr val="3B2A54"/>
                          </a:solidFill>
                          <a:latin typeface="Arial"/>
                        </a:rPr>
                        <a:t>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bl>
          </a:graphicData>
        </a:graphic>
      </p:graphicFrame>
      <p:sp>
        <p:nvSpPr>
          <p:cNvPr id="5" name="Rounded Rectangle 4"/>
          <p:cNvSpPr/>
          <p:nvPr/>
        </p:nvSpPr>
        <p:spPr>
          <a:xfrm>
            <a:off x="612648" y="4800600"/>
            <a:ext cx="10789920" cy="105156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4892040"/>
            <a:ext cx="10424160" cy="896112"/>
          </a:xfrm>
          <a:prstGeom prst="rect">
            <a:avLst/>
          </a:prstGeom>
          <a:noFill/>
        </p:spPr>
        <p:txBody>
          <a:bodyPr wrap="square" anchor="ctr">
            <a:spAutoFit/>
          </a:bodyPr>
          <a:lstStyle/>
          <a:p>
            <a:pPr algn="l"/>
            <a:r>
              <a:rPr sz="1150" b="1">
                <a:solidFill>
                  <a:srgbClr val="11052C"/>
                </a:solidFill>
                <a:latin typeface="Arial"/>
              </a:rPr>
              <a:t>Quality gates for wave 2 (checked at the H1 close): </a:t>
            </a:r>
            <a:r>
              <a:rPr sz="1150" b="0">
                <a:solidFill>
                  <a:srgbClr val="11052C"/>
                </a:solidFill>
                <a:latin typeface="Arial"/>
              </a:rPr>
              <a:t>wave 1 in seat and onboarded; cycle time under 40 days on the Q1'27 release; 100% of first-release spend with an approved case; forecast-accuracy baseline set in Q1 and improving in Q2; mid-year GM feedback positive. If a gate fails, wave 2 waits and the gap is fixed first.</a:t>
            </a:r>
          </a:p>
        </p:txBody>
      </p:sp>
      <p:sp>
        <p:nvSpPr>
          <p:cNvPr id="7" name="TextBox 6"/>
          <p:cNvSpPr txBox="1"/>
          <p:nvPr/>
        </p:nvSpPr>
        <p:spPr>
          <a:xfrm>
            <a:off x="612648" y="5989320"/>
            <a:ext cx="10515600" cy="411480"/>
          </a:xfrm>
          <a:prstGeom prst="rect">
            <a:avLst/>
          </a:prstGeom>
          <a:noFill/>
        </p:spPr>
        <p:txBody>
          <a:bodyPr wrap="square" anchor="t">
            <a:spAutoFit/>
          </a:bodyPr>
          <a:lstStyle/>
          <a:p>
            <a:pPr algn="l"/>
            <a:r>
              <a:rPr sz="900" b="0">
                <a:solidFill>
                  <a:srgbClr val="6B5B82"/>
                </a:solidFill>
                <a:latin typeface="Arial"/>
              </a:rPr>
              <a:t>Proposal. CoS &amp; CG partners with Global Finance / FP&amp;A to stand up the CoE; the central roles sit with Global Finance in the US. Levels map to Nu's leveling at hire. Country partners are market hires, not relocations. Hiring cost is central opex and counts against the $25M cap. Wave 1 recruiting starts after the Board; wave 2 only on the gates above.</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4</a:t>
            </a:r>
            <a:endParaRPr sz="900" b="0">
              <a:solidFill>
                <a:srgbClr val="6B5B82"/>
              </a:solidFill>
              <a:latin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K</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How AI was used: an AI-supported case, not an AI-driven one</a:t>
            </a:r>
          </a:p>
        </p:txBody>
      </p:sp>
      <p:sp>
        <p:nvSpPr>
          <p:cNvPr id="4" name="Rounded Rectangle 3"/>
          <p:cNvSpPr/>
          <p:nvPr/>
        </p:nvSpPr>
        <p:spPr>
          <a:xfrm>
            <a:off x="6126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AI SUPPORTED</a:t>
            </a:r>
          </a:p>
          <a:p>
            <a:pPr>
              <a:spcAft>
                <a:spcPts val="600"/>
              </a:spcAft>
            </a:pPr>
            <a:r>
              <a:rPr sz="1500" b="1">
                <a:solidFill>
                  <a:srgbClr val="11052C"/>
                </a:solidFill>
                <a:latin typeface="Arial"/>
              </a:rPr>
              <a:t>Research, checking and tidying</a:t>
            </a:r>
          </a:p>
          <a:p>
            <a:pPr>
              <a:spcAft>
                <a:spcPts val="400"/>
              </a:spcAft>
            </a:pPr>
            <a:r>
              <a:rPr sz="1200" b="0">
                <a:solidFill>
                  <a:srgbClr val="3B2A54"/>
                </a:solidFill>
                <a:latin typeface="Arial"/>
              </a:rPr>
              <a:t>Research on Nu's public data, filings and announcements, and on planning and governance practices.</a:t>
            </a:r>
          </a:p>
          <a:p>
            <a:pPr>
              <a:spcAft>
                <a:spcPts val="400"/>
              </a:spcAft>
            </a:pPr>
            <a:r>
              <a:rPr sz="1200" b="0">
                <a:solidFill>
                  <a:srgbClr val="3B2A54"/>
                </a:solidFill>
                <a:latin typeface="Arial"/>
              </a:rPr>
              <a:t>Numbers: calculations re-run and cross-checked against the sources.</a:t>
            </a:r>
          </a:p>
          <a:p>
            <a:pPr>
              <a:spcAft>
                <a:spcPts val="400"/>
              </a:spcAft>
            </a:pPr>
            <a:r>
              <a:rPr sz="1200" b="0">
                <a:solidFill>
                  <a:srgbClr val="3B2A54"/>
                </a:solidFill>
                <a:latin typeface="Arial"/>
              </a:rPr>
              <a:t>References and best practices: sources found, read and summarized.</a:t>
            </a:r>
          </a:p>
          <a:p>
            <a:pPr>
              <a:spcAft>
                <a:spcPts val="400"/>
              </a:spcAft>
            </a:pPr>
            <a:r>
              <a:rPr sz="1200" b="0">
                <a:solidFill>
                  <a:srgbClr val="3B2A54"/>
                </a:solidFill>
                <a:latin typeface="Arial"/>
              </a:rPr>
              <a:t>Minor formatting of slides and tables.</a:t>
            </a:r>
          </a:p>
          <a:p>
            <a:pPr>
              <a:spcAft>
                <a:spcPts val="400"/>
              </a:spcAft>
            </a:pPr>
            <a:r>
              <a:rPr sz="1200" b="0">
                <a:solidFill>
                  <a:srgbClr val="3B2A54"/>
                </a:solidFill>
                <a:latin typeface="Arial"/>
              </a:rPr>
              <a:t>Testing some of the assumptions and scenarios (for example the option-weight sensitivity).</a:t>
            </a:r>
          </a:p>
        </p:txBody>
      </p:sp>
      <p:sp>
        <p:nvSpPr>
          <p:cNvPr id="6" name="Rounded Rectangle 5"/>
          <p:cNvSpPr/>
          <p:nvPr/>
        </p:nvSpPr>
        <p:spPr>
          <a:xfrm>
            <a:off x="60990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087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WAS HUMAN-BUILT</a:t>
            </a:r>
          </a:p>
          <a:p>
            <a:pPr>
              <a:spcAft>
                <a:spcPts val="600"/>
              </a:spcAft>
            </a:pPr>
            <a:r>
              <a:rPr sz="1500" b="1">
                <a:solidFill>
                  <a:srgbClr val="11052C"/>
                </a:solidFill>
                <a:latin typeface="Arial"/>
              </a:rPr>
              <a:t>The thinking, the writing and the calls</a:t>
            </a:r>
          </a:p>
          <a:p>
            <a:pPr>
              <a:spcAft>
                <a:spcPts val="400"/>
              </a:spcAft>
            </a:pPr>
            <a:r>
              <a:rPr sz="1200" b="0">
                <a:solidFill>
                  <a:srgbClr val="3B2A54"/>
                </a:solidFill>
                <a:latin typeface="Arial"/>
              </a:rPr>
              <a:t>The ideas, recommendations and judgments, and all the writing.</a:t>
            </a:r>
          </a:p>
          <a:p>
            <a:pPr>
              <a:spcAft>
                <a:spcPts val="400"/>
              </a:spcAft>
            </a:pPr>
            <a:r>
              <a:rPr sz="1200" b="0">
                <a:solidFill>
                  <a:srgbClr val="3B2A54"/>
                </a:solidFill>
                <a:latin typeface="Arial"/>
              </a:rPr>
              <a:t>The structure, the storyline and the framing of each deliverable.</a:t>
            </a:r>
          </a:p>
          <a:p>
            <a:pPr>
              <a:spcAft>
                <a:spcPts val="400"/>
              </a:spcAft>
            </a:pPr>
            <a:r>
              <a:rPr sz="1200" b="0">
                <a:solidFill>
                  <a:srgbClr val="3B2A54"/>
                </a:solidFill>
                <a:latin typeface="Arial"/>
              </a:rPr>
              <a:t>The assumptions, their classification as fact or assumption, and the trade-offs taken.</a:t>
            </a:r>
          </a:p>
          <a:p>
            <a:pPr>
              <a:spcAft>
                <a:spcPts val="400"/>
              </a:spcAft>
            </a:pPr>
            <a:r>
              <a:rPr sz="1200" b="0">
                <a:solidFill>
                  <a:srgbClr val="3B2A54"/>
                </a:solidFill>
                <a:latin typeface="Arial"/>
              </a:rPr>
              <a:t>The final review of every figure, reference and recommendation.</a:t>
            </a:r>
          </a:p>
          <a:p>
            <a:pPr>
              <a:spcAft>
                <a:spcPts val="400"/>
              </a:spcAft>
            </a:pPr>
            <a:r>
              <a:rPr sz="1200" b="0">
                <a:solidFill>
                  <a:srgbClr val="3B2A54"/>
                </a:solidFill>
                <a:latin typeface="Arial"/>
              </a:rPr>
              <a:t>The decision to present this as an AI-supported case rather than let AI drive it.</a:t>
            </a:r>
          </a:p>
        </p:txBody>
      </p:sp>
      <p:sp>
        <p:nvSpPr>
          <p:cNvPr id="8" name="Rounded Rectangle 7"/>
          <p:cNvSpPr/>
          <p:nvPr/>
        </p:nvSpPr>
        <p:spPr>
          <a:xfrm>
            <a:off x="612648" y="4846320"/>
            <a:ext cx="10789920" cy="109728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4937760"/>
            <a:ext cx="10424160" cy="914400"/>
          </a:xfrm>
          <a:prstGeom prst="rect">
            <a:avLst/>
          </a:prstGeom>
          <a:noFill/>
        </p:spPr>
        <p:txBody>
          <a:bodyPr wrap="square" anchor="ctr">
            <a:spAutoFit/>
          </a:bodyPr>
          <a:lstStyle/>
          <a:p>
            <a:pPr algn="l"/>
            <a:r>
              <a:rPr sz="1150" b="1">
                <a:solidFill>
                  <a:srgbClr val="11052C"/>
                </a:solidFill>
                <a:latin typeface="Arial"/>
              </a:rPr>
              <a:t>Tools: </a:t>
            </a:r>
            <a:r>
              <a:rPr sz="1150" b="0">
                <a:solidFill>
                  <a:srgbClr val="11052C"/>
                </a:solidFill>
                <a:latin typeface="Arial"/>
              </a:rPr>
              <a:t>Claude, Gemini and Copilot were used, each for different aspects of the work; no single tool produced the case. </a:t>
            </a:r>
            <a:r>
              <a:rPr sz="1150" b="1">
                <a:solidFill>
                  <a:srgbClr val="11052C"/>
                </a:solidFill>
                <a:latin typeface="Arial"/>
              </a:rPr>
              <a:t>Looking ahead: </a:t>
            </a:r>
            <a:r>
              <a:rPr sz="1150" b="0">
                <a:solidFill>
                  <a:srgbClr val="11052C"/>
                </a:solidFill>
                <a:latin typeface="Arial"/>
              </a:rPr>
              <a:t>the AI agents proposed for the planning hub and the Board and HQ work (slide 3, backup H) can be set up in any LLM Nubank enables, inside Nu's environment and on approved tools, with people owning every number and decision.</a:t>
            </a:r>
          </a:p>
        </p:txBody>
      </p:sp>
      <p:sp>
        <p:nvSpPr>
          <p:cNvPr id="10" name="TextBox 9"/>
          <p:cNvSpPr txBox="1"/>
          <p:nvPr/>
        </p:nvSpPr>
        <p:spPr>
          <a:xfrm>
            <a:off x="612648" y="6053328"/>
            <a:ext cx="10515600" cy="365760"/>
          </a:xfrm>
          <a:prstGeom prst="rect">
            <a:avLst/>
          </a:prstGeom>
          <a:noFill/>
        </p:spPr>
        <p:txBody>
          <a:bodyPr wrap="square" anchor="t">
            <a:spAutoFit/>
          </a:bodyPr>
          <a:lstStyle/>
          <a:p>
            <a:pPr algn="l"/>
            <a:r>
              <a:rPr sz="900" b="0">
                <a:solidFill>
                  <a:srgbClr val="6B5B82"/>
                </a:solidFill>
                <a:latin typeface="Arial"/>
              </a:rPr>
              <a:t>Every figure, calculation, reference and recommendation in this deck was reviewed and is owned by the author.</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23</a:t>
            </a:r>
            <a:endParaRPr sz="900" b="0">
              <a:solidFill>
                <a:srgbClr val="6B5B82"/>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5733</Words>
  <Application>Microsoft Office PowerPoint</Application>
  <PresentationFormat>Widescreen</PresentationFormat>
  <Paragraphs>556</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C M</cp:lastModifiedBy>
  <cp:revision>3</cp:revision>
  <dcterms:created xsi:type="dcterms:W3CDTF">2013-01-27T09:14:16Z</dcterms:created>
  <dcterms:modified xsi:type="dcterms:W3CDTF">2026-10-20T22:35:32Z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0f89cb5-682d-4be4-b0e0-739c9b4a93d4_Enabled">
    <vt:lpwstr>true</vt:lpwstr>
  </property>
  <property fmtid="{D5CDD505-2E9C-101B-9397-08002B2CF9AE}" pid="3" name="MSIP_Label_a0f89cb5-682d-4be4-b0e0-739c9b4a93d4_SetDate">
    <vt:lpwstr>2026-10-20T19:34:08Z</vt:lpwstr>
  </property>
  <property fmtid="{D5CDD505-2E9C-101B-9397-08002B2CF9AE}" pid="4" name="MSIP_Label_a0f89cb5-682d-4be4-b0e0-739c9b4a93d4_Method">
    <vt:lpwstr>Standard</vt:lpwstr>
  </property>
  <property fmtid="{D5CDD505-2E9C-101B-9397-08002B2CF9AE}" pid="5" name="MSIP_Label_a0f89cb5-682d-4be4-b0e0-739c9b4a93d4_Name">
    <vt:lpwstr>Not Classified</vt:lpwstr>
  </property>
  <property fmtid="{D5CDD505-2E9C-101B-9397-08002B2CF9AE}" pid="6" name="MSIP_Label_a0f89cb5-682d-4be4-b0e0-739c9b4a93d4_SiteId">
    <vt:lpwstr>38305e12-e15d-4ee8-88b9-c4db1c477d76</vt:lpwstr>
  </property>
  <property fmtid="{D5CDD505-2E9C-101B-9397-08002B2CF9AE}" pid="7" name="MSIP_Label_a0f89cb5-682d-4be4-b0e0-739c9b4a93d4_ActionId">
    <vt:lpwstr>c227899a-4557-4060-b9e6-3adf680b6656</vt:lpwstr>
  </property>
  <property fmtid="{D5CDD505-2E9C-101B-9397-08002B2CF9AE}" pid="8" name="MSIP_Label_a0f89cb5-682d-4be4-b0e0-739c9b4a93d4_ContentBits">
    <vt:lpwstr>0</vt:lpwstr>
  </property>
  <property fmtid="{D5CDD505-2E9C-101B-9397-08002B2CF9AE}" pid="9" name="MSIP_Label_a0f89cb5-682d-4be4-b0e0-739c9b4a93d4_Tag">
    <vt:lpwstr>10, 3, 0, 1</vt:lpwstr>
  </property>
</Properties>
</file>