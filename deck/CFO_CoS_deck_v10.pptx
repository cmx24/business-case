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2" r:id="rId4"/>
    <p:sldId id="259" r:id="rId5"/>
    <p:sldId id="283" r:id="rId6"/>
    <p:sldId id="260" r:id="rId7"/>
    <p:sldId id="284" r:id="rId8"/>
    <p:sldId id="264" r:id="rId9"/>
    <p:sldId id="263" r:id="rId10"/>
    <p:sldId id="265" r:id="rId11"/>
    <p:sldId id="267" r:id="rId12"/>
    <p:sldId id="266" r:id="rId13"/>
    <p:sldId id="268" r:id="rId14"/>
    <p:sldId id="269" r:id="rId15"/>
    <p:sldId id="271" r:id="rId16"/>
    <p:sldId id="272" r:id="rId17"/>
    <p:sldId id="273" r:id="rId18"/>
    <p:sldId id="275" r:id="rId19"/>
    <p:sldId id="277" r:id="rId20"/>
    <p:sldId id="279" r:id="rId21"/>
    <p:sldId id="28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035" autoAdjust="0"/>
  </p:normalViewPr>
  <p:slideViewPr>
    <p:cSldViewPr snapToGrid="0" snapToObjects="1">
      <p:cViewPr varScale="1">
        <p:scale>
          <a:sx n="74" d="100"/>
          <a:sy n="74" d="100"/>
        </p:scale>
        <p:origin x="38" y="2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Sheet1!$A$2:$A$6</c:f>
              <c:strCache>
                <c:ptCount val="5"/>
                <c:pt idx="0">
                  <c:v>GM asks</c:v>
                </c:pt>
                <c:pt idx="1">
                  <c:v>Reserve</c:v>
                </c:pt>
                <c:pt idx="2">
                  <c:v>2H Checkpoint</c:v>
                </c:pt>
                <c:pt idx="3">
                  <c:v>Second release</c:v>
                </c:pt>
                <c:pt idx="4">
                  <c:v>Fund now: first release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50</c:v>
                </c:pt>
                <c:pt idx="2">
                  <c:v>25</c:v>
                </c:pt>
                <c:pt idx="3">
                  <c:v>15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16-48F4-A961-B3B7E7760B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5B4B7A"/>
              </a:solidFill>
            </c:spPr>
            <c:extLst>
              <c:ext xmlns:c16="http://schemas.microsoft.com/office/drawing/2014/chart" uri="{C3380CC4-5D6E-409C-BE32-E72D297353CC}">
                <c16:uniqueId val="{00000002-D816-48F4-A961-B3B7E7760B90}"/>
              </c:ext>
            </c:extLst>
          </c:dPt>
          <c:dPt>
            <c:idx val="1"/>
            <c:invertIfNegative val="1"/>
            <c:bubble3D val="0"/>
            <c:spPr>
              <a:solidFill>
                <a:srgbClr val="8B5CF6"/>
              </a:solidFill>
            </c:spPr>
            <c:extLst>
              <c:ext xmlns:c16="http://schemas.microsoft.com/office/drawing/2014/chart" uri="{C3380CC4-5D6E-409C-BE32-E72D297353CC}">
                <c16:uniqueId val="{00000004-D816-48F4-A961-B3B7E7760B90}"/>
              </c:ext>
            </c:extLst>
          </c:dPt>
          <c:dPt>
            <c:idx val="2"/>
            <c:invertIfNegative val="1"/>
            <c:bubble3D val="0"/>
            <c:spPr>
              <a:solidFill>
                <a:srgbClr val="8B5CF6"/>
              </a:solidFill>
            </c:spPr>
            <c:extLst>
              <c:ext xmlns:c16="http://schemas.microsoft.com/office/drawing/2014/chart" uri="{C3380CC4-5D6E-409C-BE32-E72D297353CC}">
                <c16:uniqueId val="{00000006-D816-48F4-A961-B3B7E7760B90}"/>
              </c:ext>
            </c:extLst>
          </c:dPt>
          <c:dPt>
            <c:idx val="3"/>
            <c:invertIfNegative val="1"/>
            <c:bubble3D val="0"/>
            <c:spPr>
              <a:solidFill>
                <a:srgbClr val="D97706"/>
              </a:solidFill>
            </c:spPr>
            <c:extLst>
              <c:ext xmlns:c16="http://schemas.microsoft.com/office/drawing/2014/chart" uri="{C3380CC4-5D6E-409C-BE32-E72D297353CC}">
                <c16:uniqueId val="{00000008-D816-48F4-A961-B3B7E7760B90}"/>
              </c:ext>
            </c:extLst>
          </c:dPt>
          <c:dPt>
            <c:idx val="4"/>
            <c:invertIfNegative val="1"/>
            <c:bubble3D val="0"/>
            <c:spPr>
              <a:solidFill>
                <a:srgbClr val="820AD1"/>
              </a:solidFill>
            </c:spPr>
            <c:extLst>
              <c:ext xmlns:c16="http://schemas.microsoft.com/office/drawing/2014/chart" uri="{C3380CC4-5D6E-409C-BE32-E72D297353CC}">
                <c16:uniqueId val="{0000000A-D816-48F4-A961-B3B7E7760B9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$60M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816-48F4-A961-B3B7E7760B9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$10M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816-48F4-A961-B3B7E7760B9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$25M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816-48F4-A961-B3B7E7760B9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$10M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816-48F4-A961-B3B7E7760B9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00" b="1">
                        <a:solidFill>
                          <a:srgbClr val="FFFFFF"/>
                        </a:solidFill>
                        <a:latin typeface="Arial"/>
                      </a:rPr>
                      <a:t>$15M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816-48F4-A961-B3B7E7760B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GM asks</c:v>
                </c:pt>
                <c:pt idx="1">
                  <c:v>Reserve</c:v>
                </c:pt>
                <c:pt idx="2">
                  <c:v>2H Checkpoint</c:v>
                </c:pt>
                <c:pt idx="3">
                  <c:v>Second release</c:v>
                </c:pt>
                <c:pt idx="4">
                  <c:v>Fund now: first release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</c:v>
                </c:pt>
                <c:pt idx="1">
                  <c:v>10</c:v>
                </c:pt>
                <c:pt idx="2">
                  <c:v>25</c:v>
                </c:pt>
                <c:pt idx="3">
                  <c:v>10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D816-48F4-A961-B3B7E7760B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11052C"/>
                </a:solidFill>
                <a:latin typeface="Arial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61"/>
        </c:scaling>
        <c:delete val="1"/>
        <c:axPos val="t"/>
        <c:numFmt formatCode="General" sourceLinked="1"/>
        <c:majorTickMark val="out"/>
        <c:minorTickMark val="none"/>
        <c:tickLblPos val="nextTo"/>
        <c:crossAx val="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242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385BE-FAEA-6C01-8970-C3D4FF0C7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1D5042-EFAE-36AD-AB98-4FFCF1A8F5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F9BB1-4945-4395-9694-224015D6F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B567F-5F21-365E-0C5F-F7A0AD3A3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67472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0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685800"/>
            <a:ext cx="1097280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50" b="1" dirty="0">
                <a:solidFill>
                  <a:srgbClr val="C084FC"/>
                </a:solidFill>
                <a:latin typeface="Arial"/>
              </a:rPr>
              <a:t>NUBANK // BUSINESS CASE</a:t>
            </a:r>
            <a:endParaRPr sz="1050" b="1" dirty="0">
              <a:solidFill>
                <a:srgbClr val="C084FC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6852181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FFFFFF"/>
                </a:solidFill>
                <a:latin typeface="Arial"/>
              </a:rPr>
              <a:t>Chief of Staff to the CFO</a:t>
            </a:r>
            <a:r>
              <a:rPr lang="en-US" sz="3600" b="1" dirty="0">
                <a:solidFill>
                  <a:srgbClr val="FFFFFF"/>
                </a:solidFill>
                <a:latin typeface="Arial"/>
              </a:rPr>
              <a:t> &amp; Global Corporate Governance</a:t>
            </a:r>
            <a:endParaRPr sz="36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2240280"/>
            <a:ext cx="96012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E9D5FF"/>
                </a:solidFill>
                <a:latin typeface="Arial"/>
              </a:rPr>
              <a:t>Cassio Modelli</a:t>
            </a:r>
            <a:r>
              <a:rPr lang="en-US" sz="1500" b="0" dirty="0">
                <a:solidFill>
                  <a:srgbClr val="E9D5FF"/>
                </a:solidFill>
                <a:latin typeface="Arial"/>
              </a:rPr>
              <a:t> -</a:t>
            </a:r>
            <a:r>
              <a:rPr sz="1500" b="0" dirty="0">
                <a:solidFill>
                  <a:srgbClr val="E9D5FF"/>
                </a:solidFill>
                <a:latin typeface="Arial"/>
              </a:rPr>
              <a:t> October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3154680"/>
            <a:ext cx="3474720" cy="1600200"/>
          </a:xfrm>
          <a:prstGeom prst="roundRect">
            <a:avLst>
              <a:gd name="adj" fmla="val 5000"/>
            </a:avLst>
          </a:prstGeom>
          <a:solidFill>
            <a:srgbClr val="2A0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3264408"/>
            <a:ext cx="3255263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950" b="1" dirty="0">
                <a:solidFill>
                  <a:srgbClr val="C084FC"/>
                </a:solidFill>
                <a:latin typeface="Arial"/>
              </a:rPr>
              <a:t>1 | IN-HOUSING </a:t>
            </a:r>
            <a:r>
              <a:rPr sz="950" b="1" dirty="0">
                <a:solidFill>
                  <a:srgbClr val="C084FC"/>
                </a:solidFill>
                <a:latin typeface="Arial"/>
              </a:rPr>
              <a:t>PLANNING</a:t>
            </a:r>
            <a:r>
              <a:rPr lang="en-US" sz="950" b="1" dirty="0">
                <a:solidFill>
                  <a:srgbClr val="C084FC"/>
                </a:solidFill>
                <a:latin typeface="Arial"/>
              </a:rPr>
              <a:t> &amp; BUDGET TRADE-OFFS</a:t>
            </a:r>
            <a:endParaRPr sz="950" b="1" dirty="0">
              <a:solidFill>
                <a:srgbClr val="C084FC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FFFFFF"/>
                </a:solidFill>
                <a:latin typeface="Arial"/>
              </a:rPr>
              <a:t>$60M of asks</a:t>
            </a:r>
            <a:r>
              <a:rPr lang="en-US" sz="1500" b="1" dirty="0">
                <a:solidFill>
                  <a:srgbClr val="FFFFFF"/>
                </a:solidFill>
                <a:latin typeface="Arial"/>
              </a:rPr>
              <a:t> vs.</a:t>
            </a:r>
            <a:r>
              <a:rPr sz="1500" b="1" dirty="0">
                <a:solidFill>
                  <a:srgbClr val="FFFFFF"/>
                </a:solidFill>
                <a:latin typeface="Arial"/>
              </a:rPr>
              <a:t> a $25M cap</a:t>
            </a:r>
          </a:p>
          <a:p>
            <a:pPr algn="l">
              <a:spcAft>
                <a:spcPts val="400"/>
              </a:spcAft>
            </a:pPr>
            <a:r>
              <a:rPr lang="en-US" sz="1300" dirty="0">
                <a:solidFill>
                  <a:srgbClr val="E9D5FF"/>
                </a:solidFill>
                <a:latin typeface="Arial"/>
              </a:rPr>
              <a:t>Centralizing </a:t>
            </a:r>
            <a:r>
              <a:rPr sz="1300" b="0" dirty="0">
                <a:solidFill>
                  <a:srgbClr val="E9D5FF"/>
                </a:solidFill>
                <a:latin typeface="Arial"/>
              </a:rPr>
              <a:t>planning </a:t>
            </a:r>
            <a:r>
              <a:rPr lang="en-US" sz="1300" b="0" dirty="0">
                <a:solidFill>
                  <a:srgbClr val="E9D5FF"/>
                </a:solidFill>
                <a:latin typeface="Arial"/>
              </a:rPr>
              <a:t>to improve alignment and coordination</a:t>
            </a:r>
            <a:r>
              <a:rPr lang="en-US" sz="1300" dirty="0">
                <a:solidFill>
                  <a:srgbClr val="E9D5FF"/>
                </a:solidFill>
                <a:latin typeface="Arial"/>
              </a:rPr>
              <a:t>, while driving investment/expense discipline and methodology</a:t>
            </a:r>
            <a:endParaRPr sz="1300" b="0" dirty="0">
              <a:solidFill>
                <a:srgbClr val="E9D5FF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15968" y="3154680"/>
            <a:ext cx="3474720" cy="1600200"/>
          </a:xfrm>
          <a:prstGeom prst="roundRect">
            <a:avLst>
              <a:gd name="adj" fmla="val 5000"/>
            </a:avLst>
          </a:prstGeom>
          <a:solidFill>
            <a:srgbClr val="2A0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25696" y="3264408"/>
            <a:ext cx="3255263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950" b="1" dirty="0">
                <a:solidFill>
                  <a:srgbClr val="C084FC"/>
                </a:solidFill>
                <a:latin typeface="Arial"/>
              </a:rPr>
              <a:t>2 | C-SUITE ALIGNMENT &amp; BOARD GOVERNANCE</a:t>
            </a:r>
            <a:endParaRPr sz="950" b="1" dirty="0">
              <a:solidFill>
                <a:srgbClr val="C084FC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FFFFFF"/>
                </a:solidFill>
                <a:latin typeface="Arial"/>
              </a:rPr>
              <a:t>Board </a:t>
            </a:r>
            <a:r>
              <a:rPr lang="en-US" sz="1500" b="1" dirty="0">
                <a:solidFill>
                  <a:srgbClr val="FFFFFF"/>
                </a:solidFill>
                <a:latin typeface="Arial"/>
              </a:rPr>
              <a:t>meeting cadence and prep</a:t>
            </a:r>
            <a:endParaRPr sz="1500" b="1" dirty="0">
              <a:solidFill>
                <a:srgbClr val="FFFFFF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300" b="0" dirty="0">
                <a:solidFill>
                  <a:srgbClr val="E9D5FF"/>
                </a:solidFill>
                <a:latin typeface="Arial"/>
              </a:rPr>
              <a:t>Establishing agenda rhythm and material preparation efficiency + ways of working to navigate executive priorities and support alignment</a:t>
            </a:r>
            <a:endParaRPr sz="1300" b="0" dirty="0">
              <a:solidFill>
                <a:srgbClr val="E9D5FF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19288" y="3154680"/>
            <a:ext cx="3474720" cy="1600200"/>
          </a:xfrm>
          <a:prstGeom prst="roundRect">
            <a:avLst>
              <a:gd name="adj" fmla="val 5000"/>
            </a:avLst>
          </a:prstGeom>
          <a:solidFill>
            <a:srgbClr val="2A0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29015" y="3264408"/>
            <a:ext cx="3255263" cy="11849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950" b="1" dirty="0">
                <a:solidFill>
                  <a:srgbClr val="C084FC"/>
                </a:solidFill>
                <a:latin typeface="Arial"/>
              </a:rPr>
              <a:t>3 | </a:t>
            </a:r>
            <a:r>
              <a:rPr sz="950" b="1" dirty="0">
                <a:solidFill>
                  <a:srgbClr val="C084FC"/>
                </a:solidFill>
                <a:latin typeface="Arial"/>
              </a:rPr>
              <a:t>SPECIAL PROJECT</a:t>
            </a:r>
            <a:r>
              <a:rPr lang="en-US" sz="950" b="1" dirty="0">
                <a:solidFill>
                  <a:srgbClr val="C084FC"/>
                </a:solidFill>
                <a:latin typeface="Arial"/>
              </a:rPr>
              <a:t> NEGOTIATION</a:t>
            </a:r>
            <a:endParaRPr sz="950" b="1" dirty="0">
              <a:solidFill>
                <a:srgbClr val="C084FC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FFFFFF"/>
                </a:solidFill>
                <a:latin typeface="Arial"/>
              </a:rPr>
              <a:t>A new </a:t>
            </a:r>
            <a:r>
              <a:rPr lang="en-US" sz="1500" b="1" dirty="0">
                <a:solidFill>
                  <a:srgbClr val="FFFFFF"/>
                </a:solidFill>
                <a:latin typeface="Arial"/>
              </a:rPr>
              <a:t>HQ: complex workstreams</a:t>
            </a:r>
            <a:endParaRPr sz="1500" b="1" dirty="0">
              <a:solidFill>
                <a:srgbClr val="FFFFFF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300" b="0" dirty="0">
                <a:solidFill>
                  <a:srgbClr val="E9D5FF"/>
                </a:solidFill>
                <a:latin typeface="Arial"/>
              </a:rPr>
              <a:t>Leading cross-functional engagement without hierarchy to incorporate specialist input and lead to better outcomes</a:t>
            </a:r>
            <a:endParaRPr sz="1300" b="0" dirty="0">
              <a:solidFill>
                <a:srgbClr val="E9D5FF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2648" y="4983480"/>
            <a:ext cx="10881360" cy="868680"/>
          </a:xfrm>
          <a:prstGeom prst="roundRect">
            <a:avLst>
              <a:gd name="adj" fmla="val 8000"/>
            </a:avLst>
          </a:prstGeom>
          <a:solidFill>
            <a:srgbClr val="F7F2FD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9" y="5189886"/>
            <a:ext cx="10835432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300" b="1" dirty="0">
                <a:solidFill>
                  <a:srgbClr val="11052C"/>
                </a:solidFill>
                <a:latin typeface="Arial"/>
              </a:rPr>
              <a:t>THE FOUNDATION: FINANCE &amp; GOVERNANCE AS GROWTH LEVERS AND BUSINESS ENABLERS, SUPPORTING NUBANK’S GROWTH AMBITIONS BY ESTABLISHING WAYS OF WORKING TO REMAIN AGILE WHILE ADDING RIGOR REQUIRED BY SCALE.</a:t>
            </a:r>
            <a:endParaRPr sz="1300" b="0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C084F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rgbClr val="820AD1"/>
                </a:solidFill>
                <a:latin typeface="Arial"/>
              </a:rPr>
              <a:t>PROPOSED APPROACH</a:t>
            </a:r>
            <a:endParaRPr sz="1000" b="1" dirty="0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Establishing principle-based structure for each deliverable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1280160"/>
            <a:ext cx="107899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250" b="1" dirty="0">
                <a:solidFill>
                  <a:srgbClr val="11052C"/>
                </a:solidFill>
                <a:latin typeface="Arial"/>
              </a:rPr>
              <a:t>OWNERSHIP as a core principle guiding </a:t>
            </a:r>
            <a:r>
              <a:rPr sz="1250" b="1" dirty="0">
                <a:solidFill>
                  <a:srgbClr val="11052C"/>
                </a:solidFill>
                <a:latin typeface="Arial"/>
              </a:rPr>
              <a:t>all </a:t>
            </a:r>
            <a:r>
              <a:rPr lang="en-US" sz="1250" b="1" dirty="0">
                <a:solidFill>
                  <a:srgbClr val="11052C"/>
                </a:solidFill>
                <a:latin typeface="Arial"/>
              </a:rPr>
              <a:t>four topics: </a:t>
            </a:r>
            <a:r>
              <a:rPr lang="en-US" sz="1250" b="0" dirty="0">
                <a:solidFill>
                  <a:srgbClr val="11052C"/>
                </a:solidFill>
                <a:latin typeface="Arial"/>
              </a:rPr>
              <a:t>Proposing methodology</a:t>
            </a:r>
            <a:r>
              <a:rPr lang="en-US" sz="1250" dirty="0">
                <a:solidFill>
                  <a:srgbClr val="11052C"/>
                </a:solidFill>
                <a:latin typeface="Arial"/>
              </a:rPr>
              <a:t>, gathering data/viewpoints, providing recommendations and options, </a:t>
            </a:r>
            <a:r>
              <a:rPr lang="en-US" sz="1250" b="0" dirty="0">
                <a:solidFill>
                  <a:srgbClr val="11052C"/>
                </a:solidFill>
                <a:latin typeface="Arial"/>
              </a:rPr>
              <a:t>establishing decision management criteria</a:t>
            </a:r>
            <a:r>
              <a:rPr sz="1250" b="0" dirty="0">
                <a:solidFill>
                  <a:srgbClr val="11052C"/>
                </a:solidFill>
                <a:latin typeface="Arial"/>
              </a:rPr>
              <a:t>. </a:t>
            </a:r>
            <a:r>
              <a:rPr lang="en-US" sz="1250" b="0" dirty="0">
                <a:solidFill>
                  <a:srgbClr val="11052C"/>
                </a:solidFill>
                <a:latin typeface="Arial"/>
              </a:rPr>
              <a:t>D</a:t>
            </a:r>
            <a:r>
              <a:rPr sz="1250" b="0" dirty="0">
                <a:solidFill>
                  <a:srgbClr val="11052C"/>
                </a:solidFill>
                <a:latin typeface="Arial"/>
              </a:rPr>
              <a:t>ecision</a:t>
            </a:r>
            <a:r>
              <a:rPr lang="en-US" sz="1250" b="0" dirty="0">
                <a:solidFill>
                  <a:srgbClr val="11052C"/>
                </a:solidFill>
                <a:latin typeface="Arial"/>
              </a:rPr>
              <a:t>s</a:t>
            </a:r>
            <a:r>
              <a:rPr sz="1250" b="0" dirty="0">
                <a:solidFill>
                  <a:srgbClr val="11052C"/>
                </a:solidFill>
                <a:latin typeface="Arial"/>
              </a:rPr>
              <a:t>, rationale and dissent are recorded</a:t>
            </a:r>
            <a:r>
              <a:rPr lang="en-US" sz="1250" b="0" dirty="0">
                <a:solidFill>
                  <a:srgbClr val="11052C"/>
                </a:solidFill>
                <a:latin typeface="Arial"/>
              </a:rPr>
              <a:t> </a:t>
            </a:r>
            <a:r>
              <a:rPr lang="en-US" sz="1250" dirty="0">
                <a:solidFill>
                  <a:srgbClr val="11052C"/>
                </a:solidFill>
                <a:latin typeface="Arial"/>
              </a:rPr>
              <a:t>for processes and outcome </a:t>
            </a:r>
            <a:r>
              <a:rPr lang="en-US" sz="1250" b="0" dirty="0">
                <a:solidFill>
                  <a:srgbClr val="11052C"/>
                </a:solidFill>
                <a:latin typeface="Arial"/>
              </a:rPr>
              <a:t>continuous improvement</a:t>
            </a:r>
            <a:endParaRPr sz="1250" b="0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2648" y="201168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2092316"/>
            <a:ext cx="2340863" cy="20467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DELIVERABLE 1  //  PLANNING</a:t>
            </a:r>
          </a:p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11052C"/>
                </a:solidFill>
                <a:latin typeface="Arial"/>
              </a:rPr>
              <a:t>Global Planning Hub + spend discipline</a:t>
            </a:r>
          </a:p>
          <a:p>
            <a:pPr algn="l">
              <a:spcAft>
                <a:spcPts val="6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Standing up a Planning </a:t>
            </a:r>
            <a:r>
              <a:rPr lang="en-US" sz="1250" b="0" dirty="0" err="1">
                <a:solidFill>
                  <a:srgbClr val="3B2A54"/>
                </a:solidFill>
                <a:latin typeface="Arial"/>
              </a:rPr>
              <a:t>CoE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 that works with the Countries and GMs/CFOs: one Nubank</a:t>
            </a:r>
          </a:p>
          <a:p>
            <a:pPr algn="l">
              <a:spcAft>
                <a:spcPts val="6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B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usiness case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 methodology for spend prioritization + proposed funding </a:t>
            </a:r>
            <a:r>
              <a:rPr lang="en-US" sz="1250" dirty="0">
                <a:solidFill>
                  <a:srgbClr val="3B2A54"/>
                </a:solidFill>
                <a:latin typeface="Arial"/>
              </a:rPr>
              <a:t>schedule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201168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65576" y="2092316"/>
            <a:ext cx="2340863" cy="20723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DELIVERABLE 2  //  BOARD</a:t>
            </a:r>
          </a:p>
          <a:p>
            <a:pPr algn="l">
              <a:spcAft>
                <a:spcPts val="600"/>
              </a:spcAft>
            </a:pPr>
            <a:r>
              <a:rPr lang="en-US" sz="1500" b="1" dirty="0">
                <a:solidFill>
                  <a:srgbClr val="11052C"/>
                </a:solidFill>
                <a:latin typeface="Arial"/>
              </a:rPr>
              <a:t>Establishing cadence and ownership</a:t>
            </a:r>
            <a:endParaRPr sz="15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Agenda topics are living </a:t>
            </a:r>
            <a:r>
              <a:rPr lang="en-US" sz="1250" dirty="0">
                <a:solidFill>
                  <a:srgbClr val="3B2A54"/>
                </a:solidFill>
                <a:latin typeface="Arial"/>
              </a:rPr>
              <a:t>concepts – updates are key. </a:t>
            </a:r>
          </a:p>
          <a:p>
            <a:pPr>
              <a:spcAft>
                <a:spcPts val="400"/>
              </a:spcAft>
            </a:pPr>
            <a:r>
              <a:rPr lang="en-US" sz="1250" dirty="0">
                <a:solidFill>
                  <a:srgbClr val="3B2A54"/>
                </a:solidFill>
                <a:latin typeface="Arial"/>
              </a:rPr>
              <a:t>The book ships 7 days before the Board, every quarter.</a:t>
            </a:r>
          </a:p>
          <a:p>
            <a:pPr algn="l">
              <a:spcAft>
                <a:spcPts val="4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Decision fram</a:t>
            </a:r>
            <a:r>
              <a:rPr lang="en-US" sz="1250" dirty="0">
                <a:solidFill>
                  <a:srgbClr val="3B2A54"/>
                </a:solidFill>
                <a:latin typeface="Arial"/>
              </a:rPr>
              <a:t>ework: 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positions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, voting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 </a:t>
            </a:r>
            <a:r>
              <a:rPr lang="en-US" sz="1250" dirty="0">
                <a:solidFill>
                  <a:srgbClr val="3B2A54"/>
                </a:solidFill>
                <a:latin typeface="Arial"/>
              </a:rPr>
              <a:t>&amp; 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CEO 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arbitrage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8" y="201168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8776" y="2092316"/>
            <a:ext cx="2340863" cy="21364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DELIVERABLE 3  //  HQ</a:t>
            </a:r>
          </a:p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11052C"/>
                </a:solidFill>
                <a:latin typeface="Arial"/>
              </a:rPr>
              <a:t>120-day gated approach</a:t>
            </a:r>
            <a:r>
              <a:rPr lang="en-US" sz="1500" b="1" dirty="0">
                <a:solidFill>
                  <a:srgbClr val="11052C"/>
                </a:solidFill>
                <a:latin typeface="Arial"/>
              </a:rPr>
              <a:t/>
            </a:r>
            <a:endParaRPr sz="15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What c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an we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 do?</a:t>
            </a:r>
          </a:p>
          <a:p>
            <a:pPr algn="l">
              <a:spcAft>
                <a:spcPts val="400"/>
              </a:spcAft>
            </a:pPr>
            <a:r>
              <a:rPr lang="en-US" sz="1250" dirty="0">
                <a:solidFill>
                  <a:srgbClr val="3B2A54"/>
                </a:solidFill>
                <a:latin typeface="Arial"/>
              </a:rPr>
              <a:t>W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hat may we offer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?</a:t>
            </a:r>
          </a:p>
          <a:p>
            <a:pPr algn="l">
              <a:spcAft>
                <a:spcPts val="400"/>
              </a:spcAft>
            </a:pPr>
            <a:r>
              <a:rPr lang="en-US" sz="1250" dirty="0">
                <a:solidFill>
                  <a:srgbClr val="3B2A54"/>
                </a:solidFill>
                <a:latin typeface="Arial"/>
              </a:rPr>
              <a:t>W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ho may bind Nu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?</a:t>
            </a:r>
          </a:p>
          <a:p>
            <a:pPr algn="l">
              <a:spcAft>
                <a:spcPts val="4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D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o we commit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?</a:t>
            </a:r>
          </a:p>
          <a:p>
            <a:pPr algn="l">
              <a:spcAft>
                <a:spcPts val="4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Our team recommends; the CEO and CFO decide.</a:t>
            </a:r>
            <a:endParaRPr sz="12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842248" y="201168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51976" y="2092316"/>
            <a:ext cx="2340863" cy="20338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DELIVERABLE 4  //  LEADERSHIP</a:t>
            </a:r>
          </a:p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11052C"/>
                </a:solidFill>
                <a:latin typeface="Arial"/>
              </a:rPr>
              <a:t>Built with</a:t>
            </a:r>
            <a:r>
              <a:rPr lang="en-US" sz="1500" b="1" dirty="0">
                <a:solidFill>
                  <a:srgbClr val="11052C"/>
                </a:solidFill>
                <a:latin typeface="Arial"/>
              </a:rPr>
              <a:t>, not for</a:t>
            </a:r>
            <a:endParaRPr sz="15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250" b="0" dirty="0">
                <a:solidFill>
                  <a:srgbClr val="3B2A54"/>
                </a:solidFill>
                <a:latin typeface="Arial"/>
              </a:rPr>
              <a:t>This team will 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work inside the 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business and its 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numbers: </a:t>
            </a:r>
            <a:r>
              <a:rPr lang="en-US" sz="1250" b="0" dirty="0">
                <a:solidFill>
                  <a:srgbClr val="3B2A54"/>
                </a:solidFill>
                <a:latin typeface="Arial"/>
              </a:rPr>
              <a:t>we </a:t>
            </a:r>
            <a:r>
              <a:rPr sz="1250" b="0" dirty="0">
                <a:solidFill>
                  <a:srgbClr val="3B2A54"/>
                </a:solidFill>
                <a:latin typeface="Arial"/>
              </a:rPr>
              <a:t>propose, implement, assess, and change course fast. </a:t>
            </a:r>
            <a:endParaRPr lang="en-US" sz="1250" b="0" dirty="0">
              <a:solidFill>
                <a:srgbClr val="3B2A54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250" dirty="0">
                <a:solidFill>
                  <a:srgbClr val="3B2A54"/>
                </a:solidFill>
                <a:latin typeface="Arial"/>
              </a:rPr>
              <a:t>AI-enabled processes to support integration.</a:t>
            </a:r>
            <a:endParaRPr lang="en-US" sz="1250" b="0" dirty="0">
              <a:solidFill>
                <a:srgbClr val="3B2A54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50" b="0" dirty="0">
                <a:solidFill>
                  <a:srgbClr val="3B2A54"/>
                </a:solidFill>
                <a:latin typeface="Arial"/>
              </a:rPr>
              <a:t>The CFO owns the decision.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315968"/>
            <a:ext cx="10789920" cy="1828800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4370832"/>
            <a:ext cx="10424160" cy="1719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/>
              </a:rPr>
              <a:t>How will we measure success? </a:t>
            </a:r>
          </a:p>
          <a:p>
            <a:r>
              <a:rPr lang="en-US" sz="1500" b="1" dirty="0">
                <a:solidFill>
                  <a:srgbClr val="C084FC"/>
                </a:solidFill>
                <a:latin typeface="Arial"/>
              </a:rPr>
              <a:t>The </a:t>
            </a:r>
            <a:r>
              <a:rPr lang="en-US" sz="1500" b="1" dirty="0" err="1">
                <a:solidFill>
                  <a:srgbClr val="C084FC"/>
                </a:solidFill>
                <a:latin typeface="Arial"/>
              </a:rPr>
              <a:t>CoS</a:t>
            </a:r>
            <a:r>
              <a:rPr lang="en-US" sz="1500" b="1" dirty="0">
                <a:solidFill>
                  <a:srgbClr val="C084FC"/>
                </a:solidFill>
                <a:latin typeface="Arial"/>
              </a:rPr>
              <a:t> &amp; Governance team </a:t>
            </a:r>
            <a:r>
              <a:rPr lang="en-US" sz="1500" b="1" dirty="0">
                <a:solidFill>
                  <a:srgbClr val="FFFFFF"/>
                </a:solidFill>
                <a:latin typeface="Arial"/>
              </a:rPr>
              <a:t>acts as equal parts catalyst, facilitator and trusted advisor to drive (1) 100% of discretionary spend released against an approved case, with cycle time under 40 days; (2) a living Board agenda, with the book out 7 days before every Board; (3) HQ gates 1 and 2 cleared by mid-December, nothing signed between gates; (4) the team rated twice a year by the GMs as a growth facilitator, not corporate bureaucracy. Decisions requested today: the $25M FY27 cap and its release schedule, the Board calendar, and the HQ gates.</a:t>
            </a:r>
            <a:endParaRPr sz="15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E6684-5295-6C91-ACC7-591CAAD56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BAC111-C5EF-3C24-643D-DA0EDD66880E}"/>
              </a:ext>
            </a:extLst>
          </p:cNvPr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1  //  PLANNING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730D54-ED3F-17BD-B2FA-6CFD041109CF}"/>
              </a:ext>
            </a:extLst>
          </p:cNvPr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1052C"/>
                </a:solidFill>
                <a:latin typeface="Arial"/>
              </a:rPr>
              <a:t>A lean hub and three meetings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to centralize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planning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E8414F-1E86-1A1F-5FD2-67EBEB22B60B}"/>
              </a:ext>
            </a:extLst>
          </p:cNvPr>
          <p:cNvSpPr/>
          <p:nvPr/>
        </p:nvSpPr>
        <p:spPr>
          <a:xfrm>
            <a:off x="612648" y="1600200"/>
            <a:ext cx="420624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EE02CA-C90E-3178-3CA8-4E7B7C99D2E3}"/>
              </a:ext>
            </a:extLst>
          </p:cNvPr>
          <p:cNvSpPr txBox="1"/>
          <p:nvPr/>
        </p:nvSpPr>
        <p:spPr>
          <a:xfrm>
            <a:off x="722376" y="1664211"/>
            <a:ext cx="3986783" cy="3136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THE </a:t>
            </a:r>
            <a:r>
              <a:rPr lang="en-US" sz="950" b="1" dirty="0">
                <a:solidFill>
                  <a:srgbClr val="820AD1"/>
                </a:solidFill>
                <a:latin typeface="Arial"/>
              </a:rPr>
              <a:t>CENTRALIZED PLANNING STRUCTURE</a:t>
            </a:r>
            <a:endParaRPr sz="950" b="1" dirty="0">
              <a:solidFill>
                <a:srgbClr val="820AD1"/>
              </a:solidFill>
              <a:latin typeface="Arial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500" b="1" dirty="0">
                <a:solidFill>
                  <a:srgbClr val="11052C"/>
                </a:solidFill>
                <a:latin typeface="Arial"/>
              </a:rPr>
              <a:t>A </a:t>
            </a:r>
            <a:r>
              <a:rPr lang="en-US" sz="1500" b="1" dirty="0" err="1">
                <a:solidFill>
                  <a:srgbClr val="11052C"/>
                </a:solidFill>
                <a:latin typeface="Arial"/>
              </a:rPr>
              <a:t>CoE</a:t>
            </a:r>
            <a:r>
              <a:rPr lang="en-US" sz="1500" b="1" dirty="0">
                <a:solidFill>
                  <a:srgbClr val="11052C"/>
                </a:solidFill>
                <a:latin typeface="Arial"/>
              </a:rPr>
              <a:t> </a:t>
            </a:r>
            <a:r>
              <a:rPr sz="1500" b="1" dirty="0">
                <a:solidFill>
                  <a:srgbClr val="11052C"/>
                </a:solidFill>
                <a:latin typeface="Arial"/>
              </a:rPr>
              <a:t>hub of </a:t>
            </a:r>
            <a:r>
              <a:rPr lang="en-US" sz="1500" b="1" dirty="0">
                <a:solidFill>
                  <a:srgbClr val="11052C"/>
                </a:solidFill>
                <a:latin typeface="Arial"/>
              </a:rPr>
              <a:t>4</a:t>
            </a:r>
            <a:r>
              <a:rPr sz="1500" b="1" dirty="0">
                <a:solidFill>
                  <a:srgbClr val="11052C"/>
                </a:solidFill>
                <a:latin typeface="Arial"/>
              </a:rPr>
              <a:t>-6 people</a:t>
            </a:r>
            <a:endParaRPr lang="en-US" sz="1500" b="1" dirty="0">
              <a:solidFill>
                <a:srgbClr val="11052C"/>
              </a:solidFill>
              <a:latin typeface="Arial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lang="en-US" sz="1150" b="0" dirty="0">
                <a:solidFill>
                  <a:srgbClr val="3B2A54"/>
                </a:solidFill>
                <a:latin typeface="Arial"/>
              </a:rPr>
              <a:t>Global Planning hub and market/vertical teams report to Global Finance, with a dotted line to Country CFOs.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1" dirty="0">
                <a:solidFill>
                  <a:srgbClr val="3B2A54"/>
                </a:solidFill>
                <a:latin typeface="Arial"/>
              </a:rPr>
              <a:t>KPIs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: cycle time under 40 days, forecast accuracy, and 100% of discretionary spend with an approved case.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50" b="1" dirty="0">
                <a:solidFill>
                  <a:srgbClr val="3B2A54"/>
                </a:solidFill>
                <a:latin typeface="Arial"/>
              </a:rPr>
              <a:t>A</a:t>
            </a:r>
            <a:r>
              <a:rPr lang="en-US" sz="1150" b="1" dirty="0">
                <a:solidFill>
                  <a:srgbClr val="3B2A54"/>
                </a:solidFill>
                <a:latin typeface="Arial"/>
              </a:rPr>
              <a:t>I-enabled processes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: agents to support consolidation, tracking action items, facilitating alignment and reducing manual work. 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lang="en-US" sz="1150" b="1" dirty="0">
                <a:solidFill>
                  <a:srgbClr val="3B2A54"/>
                </a:solidFill>
                <a:latin typeface="Arial"/>
              </a:rPr>
              <a:t>Career pathways</a:t>
            </a:r>
            <a:r>
              <a:rPr lang="en-US" sz="1150" dirty="0">
                <a:solidFill>
                  <a:srgbClr val="3B2A54"/>
                </a:solidFill>
                <a:latin typeface="Arial"/>
              </a:rPr>
              <a:t>: “seeding” talent across markets.</a:t>
            </a:r>
            <a:endParaRPr sz="1150" b="0" dirty="0">
              <a:solidFill>
                <a:srgbClr val="3B2A54"/>
              </a:solidFill>
              <a:latin typeface="Arial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352F86-9452-5598-6279-6D6623718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576590"/>
              </p:ext>
            </p:extLst>
          </p:nvPr>
        </p:nvGraphicFramePr>
        <p:xfrm>
          <a:off x="5029200" y="1600200"/>
          <a:ext cx="6400800" cy="1563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</a:rPr>
                        <a:t>Meeting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Who runs it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11052C"/>
                          </a:solidFill>
                          <a:latin typeface="Arial"/>
                        </a:rPr>
                        <a:t>Stand-ups</a:t>
                      </a:r>
                      <a:r>
                        <a:rPr sz="1050" b="0" dirty="0">
                          <a:solidFill>
                            <a:srgbClr val="11052C"/>
                          </a:solidFill>
                          <a:latin typeface="Arial"/>
                        </a:rPr>
                        <a:t>, </a:t>
                      </a:r>
                      <a:r>
                        <a:rPr lang="en-US" sz="1050" b="0" dirty="0">
                          <a:solidFill>
                            <a:srgbClr val="11052C"/>
                          </a:solidFill>
                          <a:latin typeface="Arial"/>
                        </a:rPr>
                        <a:t>bi-</a:t>
                      </a:r>
                      <a:r>
                        <a:rPr sz="1050" b="0" dirty="0">
                          <a:solidFill>
                            <a:srgbClr val="11052C"/>
                          </a:solidFill>
                          <a:latin typeface="Arial"/>
                        </a:rPr>
                        <a:t>weekly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Global Planning +</a:t>
                      </a:r>
                      <a:b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</a:b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Local Finance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Data gathering, alignment on drivers, reporting best practices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11052C"/>
                          </a:solidFill>
                          <a:latin typeface="Arial"/>
                        </a:rPr>
                        <a:t>CFO 1:1s</a:t>
                      </a:r>
                      <a:r>
                        <a:rPr sz="1050" b="0" dirty="0">
                          <a:solidFill>
                            <a:srgbClr val="11052C"/>
                          </a:solidFill>
                          <a:latin typeface="Arial"/>
                        </a:rPr>
                        <a:t>, </a:t>
                      </a:r>
                      <a:r>
                        <a:rPr lang="en-US" sz="1050" b="0" dirty="0">
                          <a:solidFill>
                            <a:srgbClr val="11052C"/>
                          </a:solidFill>
                          <a:latin typeface="Arial"/>
                        </a:rPr>
                        <a:t>monthly</a:t>
                      </a:r>
                      <a:endParaRPr sz="1050" b="0" dirty="0">
                        <a:solidFill>
                          <a:srgbClr val="11052C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CoS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 &amp; CG team +</a:t>
                      </a:r>
                      <a:b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</a:b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Country CFOs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No surprises at the lock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 and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 ask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s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 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knowing 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path to 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approval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11052C"/>
                          </a:solidFill>
                          <a:latin typeface="Arial"/>
                        </a:rPr>
                        <a:t>GM R</a:t>
                      </a:r>
                      <a:r>
                        <a:rPr sz="1050" b="1" dirty="0">
                          <a:solidFill>
                            <a:srgbClr val="11052C"/>
                          </a:solidFill>
                          <a:latin typeface="Arial"/>
                        </a:rPr>
                        <a:t>eview</a:t>
                      </a:r>
                      <a:r>
                        <a:rPr lang="en-US" sz="1050" b="1" dirty="0">
                          <a:solidFill>
                            <a:srgbClr val="11052C"/>
                          </a:solidFill>
                          <a:latin typeface="Arial"/>
                        </a:rPr>
                        <a:t>s</a:t>
                      </a:r>
                      <a:r>
                        <a:rPr sz="1050" b="0" dirty="0">
                          <a:solidFill>
                            <a:srgbClr val="11052C"/>
                          </a:solidFill>
                          <a:latin typeface="Arial"/>
                        </a:rPr>
                        <a:t>, quarterly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Global 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CFO 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&amp; </a:t>
                      </a:r>
                      <a:r>
                        <a:rPr lang="en-US" sz="10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CoS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 +</a:t>
                      </a:r>
                      <a:b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</a:b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GMs/Business Leaders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Tracking of strategic projects, prioritizing spend and investments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C51ACB9-EB6E-D542-61A7-7C05646063EA}"/>
              </a:ext>
            </a:extLst>
          </p:cNvPr>
          <p:cNvSpPr/>
          <p:nvPr/>
        </p:nvSpPr>
        <p:spPr>
          <a:xfrm>
            <a:off x="5029200" y="3273552"/>
            <a:ext cx="6400800" cy="1481328"/>
          </a:xfrm>
          <a:prstGeom prst="roundRect">
            <a:avLst>
              <a:gd name="adj" fmla="val 8000"/>
            </a:avLst>
          </a:prstGeom>
          <a:solidFill>
            <a:srgbClr val="F7F2FD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10F7A-1A6A-8273-DB59-455CE9C7EBBC}"/>
              </a:ext>
            </a:extLst>
          </p:cNvPr>
          <p:cNvSpPr txBox="1"/>
          <p:nvPr/>
        </p:nvSpPr>
        <p:spPr>
          <a:xfrm>
            <a:off x="5120640" y="3273523"/>
            <a:ext cx="6236208" cy="144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200" b="1">
                <a:solidFill>
                  <a:srgbClr val="11052C"/>
                </a:solidFill>
                <a:latin typeface="Arial"/>
              </a:rPr>
              <a:t>Ways of Working: </a:t>
            </a:r>
            <a:r>
              <a:rPr lang="en-US" sz="1200" b="0">
                <a:solidFill>
                  <a:srgbClr val="11052C"/>
                </a:solidFill>
                <a:latin typeface="Arial"/>
              </a:rPr>
              <a:t>Local Finance teams own the FP&amp;A drivers and business case assumptions; CoS &amp; CG team standardizes, consolidates and provide analysis and insights; the CFO makes decisions on spend and reports results to the board.</a:t>
            </a:r>
          </a:p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11052C"/>
                </a:solidFill>
                <a:latin typeface="Arial"/>
              </a:rPr>
              <a:t>Global Planning becomes a key resource to inform Senior Management on what we are doing, what’s working or not, and how those inputs inform decision-making.</a:t>
            </a:r>
            <a:endParaRPr lang="en-US" sz="1200" b="0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9DDEC54-611E-FCFD-D031-048274AD1CB1}"/>
              </a:ext>
            </a:extLst>
          </p:cNvPr>
          <p:cNvSpPr/>
          <p:nvPr/>
        </p:nvSpPr>
        <p:spPr>
          <a:xfrm>
            <a:off x="612648" y="4919472"/>
            <a:ext cx="35204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7DF5-A727-B049-D6F8-A3A1828AF686}"/>
              </a:ext>
            </a:extLst>
          </p:cNvPr>
          <p:cNvSpPr txBox="1"/>
          <p:nvPr/>
        </p:nvSpPr>
        <p:spPr>
          <a:xfrm>
            <a:off x="722375" y="5029200"/>
            <a:ext cx="3363329" cy="1061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lang="en-US" sz="1250" b="1" dirty="0">
                <a:solidFill>
                  <a:srgbClr val="11052C"/>
                </a:solidFill>
                <a:latin typeface="Arial"/>
              </a:rPr>
              <a:t>Without Country buy-in, model can drive Local vs. Global inaccuracy/misalignment</a:t>
            </a:r>
            <a:endParaRPr sz="125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050" b="0" dirty="0">
                <a:solidFill>
                  <a:srgbClr val="3B2A54"/>
                </a:solidFill>
                <a:latin typeface="Arial"/>
              </a:rPr>
              <a:t>In-market presence and alignment with local </a:t>
            </a:r>
            <a:r>
              <a:rPr lang="en-US" sz="1050" dirty="0">
                <a:solidFill>
                  <a:srgbClr val="3B2A54"/>
                </a:solidFill>
                <a:latin typeface="Arial"/>
              </a:rPr>
              <a:t>CFO/GM agendas are crucial.</a:t>
            </a:r>
            <a:endParaRPr sz="10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6486E3-67E7-CCDF-E985-7F2A2A7A628A}"/>
              </a:ext>
            </a:extLst>
          </p:cNvPr>
          <p:cNvSpPr/>
          <p:nvPr/>
        </p:nvSpPr>
        <p:spPr>
          <a:xfrm>
            <a:off x="4224528" y="4919472"/>
            <a:ext cx="35204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F78E2-6E02-52FD-20B2-5F1A82C2C490}"/>
              </a:ext>
            </a:extLst>
          </p:cNvPr>
          <p:cNvSpPr txBox="1"/>
          <p:nvPr/>
        </p:nvSpPr>
        <p:spPr>
          <a:xfrm>
            <a:off x="4334256" y="5029200"/>
            <a:ext cx="3300984" cy="1061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lang="en-US" sz="1250" b="1" dirty="0">
                <a:solidFill>
                  <a:srgbClr val="11052C"/>
                </a:solidFill>
                <a:latin typeface="Arial"/>
              </a:rPr>
              <a:t>Mismatched job descriptions and leveling to existing structures</a:t>
            </a:r>
            <a:endParaRPr sz="125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050" b="0" dirty="0">
                <a:solidFill>
                  <a:srgbClr val="3B2A54"/>
                </a:solidFill>
                <a:latin typeface="Arial"/>
              </a:rPr>
              <a:t>Roles and responsibilities clearly established and assimilated to inform who does what</a:t>
            </a:r>
            <a:endParaRPr sz="10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9F0FF15-D922-90F6-7DB9-FB98F1B57533}"/>
              </a:ext>
            </a:extLst>
          </p:cNvPr>
          <p:cNvSpPr/>
          <p:nvPr/>
        </p:nvSpPr>
        <p:spPr>
          <a:xfrm>
            <a:off x="7836408" y="4919472"/>
            <a:ext cx="35204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434691-8E99-5AD3-8E11-590B7B6298D7}"/>
              </a:ext>
            </a:extLst>
          </p:cNvPr>
          <p:cNvSpPr txBox="1"/>
          <p:nvPr/>
        </p:nvSpPr>
        <p:spPr>
          <a:xfrm>
            <a:off x="7946136" y="5029200"/>
            <a:ext cx="3300984" cy="1061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lang="en-US" sz="1250" b="1" dirty="0">
                <a:solidFill>
                  <a:srgbClr val="11052C"/>
                </a:solidFill>
                <a:latin typeface="Arial"/>
              </a:rPr>
              <a:t>Governance can be perceived as bureaucracy and loss of speed</a:t>
            </a:r>
            <a:endParaRPr sz="125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050" b="0" dirty="0">
                <a:solidFill>
                  <a:srgbClr val="3B2A54"/>
                </a:solidFill>
                <a:latin typeface="Arial"/>
              </a:rPr>
              <a:t>Leveraging AI processes to speed up manual work helps avoid the pitfalls seen in large companies</a:t>
            </a:r>
            <a:endParaRPr sz="10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794F2C-0ABA-30C0-245C-D1141090238D}"/>
              </a:ext>
            </a:extLst>
          </p:cNvPr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3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794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820AD1"/>
                </a:solidFill>
                <a:latin typeface="Arial"/>
              </a:rPr>
              <a:t>DELIVERABLE 1  //  </a:t>
            </a:r>
            <a:r>
              <a:rPr lang="en-US" sz="1000" b="1" dirty="0">
                <a:solidFill>
                  <a:srgbClr val="820AD1"/>
                </a:solidFill>
                <a:latin typeface="Arial"/>
              </a:rPr>
              <a:t>BUDGET</a:t>
            </a:r>
            <a:endParaRPr sz="1000" b="1" dirty="0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Prioritized s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taged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deployment &gt;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flat cuts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 across the board;</a:t>
            </a:r>
          </a:p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t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he precedent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and the discipline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matter more than the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nominal asks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108960" cy="4389120"/>
          </a:xfrm>
          <a:prstGeom prst="roundRect">
            <a:avLst>
              <a:gd name="adj" fmla="val 5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8803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C084FC"/>
                </a:solidFill>
                <a:latin typeface="Arial"/>
              </a:rPr>
              <a:t>THE GAP</a:t>
            </a:r>
            <a:r>
              <a:rPr lang="en-US" sz="1000" b="1" dirty="0">
                <a:solidFill>
                  <a:srgbClr val="C084FC"/>
                </a:solidFill>
                <a:latin typeface="Arial"/>
              </a:rPr>
              <a:t> ($60M of asks vs. a $25M cap):</a:t>
            </a:r>
            <a:endParaRPr sz="1000" b="1" dirty="0">
              <a:solidFill>
                <a:srgbClr val="C084FC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880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  <a:latin typeface="Arial"/>
              </a:rPr>
              <a:t>$35M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2788920" cy="11464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0" dirty="0">
                <a:solidFill>
                  <a:srgbClr val="E9D5FF"/>
                </a:solidFill>
                <a:latin typeface="Arial"/>
              </a:rPr>
              <a:t>Equal to:</a:t>
            </a:r>
            <a:endParaRPr lang="en-US" sz="1400" dirty="0">
              <a:solidFill>
                <a:srgbClr val="E9D5FF"/>
              </a:solidFill>
              <a:latin typeface="Arial"/>
            </a:endParaRPr>
          </a:p>
          <a:p>
            <a:pPr algn="ctr">
              <a:spcAft>
                <a:spcPts val="600"/>
              </a:spcAft>
            </a:pPr>
            <a:r>
              <a:rPr lang="en-US" sz="1400" b="0" dirty="0">
                <a:solidFill>
                  <a:srgbClr val="E9D5FF"/>
                </a:solidFill>
                <a:latin typeface="Arial"/>
              </a:rPr>
              <a:t>~</a:t>
            </a:r>
            <a:r>
              <a:rPr sz="1400" b="0" dirty="0">
                <a:solidFill>
                  <a:srgbClr val="E9D5FF"/>
                </a:solidFill>
                <a:latin typeface="Arial"/>
              </a:rPr>
              <a:t>15 bps of annualized revenue</a:t>
            </a:r>
          </a:p>
          <a:p>
            <a:pPr algn="ctr">
              <a:spcAft>
                <a:spcPts val="300"/>
              </a:spcAft>
            </a:pPr>
            <a:r>
              <a:rPr lang="en-US" sz="1400" b="0" dirty="0">
                <a:solidFill>
                  <a:srgbClr val="E9D5FF"/>
                </a:solidFill>
                <a:latin typeface="Arial"/>
              </a:rPr>
              <a:t>~</a:t>
            </a:r>
            <a:r>
              <a:rPr sz="1400" b="0" dirty="0">
                <a:solidFill>
                  <a:srgbClr val="E9D5FF"/>
                </a:solidFill>
                <a:latin typeface="Arial"/>
              </a:rPr>
              <a:t>1.1% of annual </a:t>
            </a:r>
            <a:r>
              <a:rPr sz="1400" b="0" dirty="0" err="1">
                <a:solidFill>
                  <a:srgbClr val="E9D5FF"/>
                </a:solidFill>
                <a:latin typeface="Arial"/>
              </a:rPr>
              <a:t>opex</a:t>
            </a:r>
            <a:endParaRPr lang="en-US" sz="1400" b="0" dirty="0">
              <a:solidFill>
                <a:srgbClr val="E9D5FF"/>
              </a:solidFill>
              <a:latin typeface="Arial"/>
            </a:endParaRPr>
          </a:p>
          <a:p>
            <a:pPr algn="ctr">
              <a:spcAft>
                <a:spcPts val="300"/>
              </a:spcAft>
            </a:pPr>
            <a:r>
              <a:rPr lang="en-US" sz="1400" b="0" dirty="0">
                <a:solidFill>
                  <a:srgbClr val="E9D5FF"/>
                </a:solidFill>
                <a:latin typeface="Arial"/>
              </a:rPr>
              <a:t>~</a:t>
            </a:r>
            <a:r>
              <a:rPr sz="1400" b="0" dirty="0">
                <a:solidFill>
                  <a:srgbClr val="E9D5FF"/>
                </a:solidFill>
                <a:latin typeface="Arial"/>
              </a:rPr>
              <a:t>0.2 points of efficiency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2788920" cy="1031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050" b="0" dirty="0">
                <a:solidFill>
                  <a:srgbClr val="E9D5FF"/>
                </a:solidFill>
                <a:latin typeface="Arial"/>
              </a:rPr>
              <a:t>Drivers: </a:t>
            </a:r>
            <a:r>
              <a:rPr sz="1050" b="0" dirty="0">
                <a:solidFill>
                  <a:srgbClr val="E9D5FF"/>
                </a:solidFill>
                <a:latin typeface="Arial"/>
              </a:rPr>
              <a:t>Efficiency ratio 19.5% in Q2'26 (17.6% in Q1); FY26 expected near 20%. Cost to serve $1.0 a month ($0.8 a year earlier) against $17.1 of ARPAC.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554480"/>
            <a:ext cx="7498079" cy="9353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lang="en-US" sz="1400" b="1" dirty="0">
                <a:solidFill>
                  <a:srgbClr val="820AD1"/>
                </a:solidFill>
                <a:latin typeface="Arial"/>
              </a:rPr>
              <a:t>Problem statement: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Asks as number</a:t>
            </a:r>
            <a:r>
              <a:rPr lang="en-US" sz="1200" dirty="0">
                <a:solidFill>
                  <a:srgbClr val="3B2A54"/>
                </a:solidFill>
                <a:latin typeface="Arial"/>
              </a:rPr>
              <a:t>s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with no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pre-defined, globally standardized format for valuation and </a:t>
            </a:r>
            <a:r>
              <a:rPr lang="en-US" sz="1200" dirty="0">
                <a:solidFill>
                  <a:srgbClr val="3B2A54"/>
                </a:solidFill>
                <a:latin typeface="Arial"/>
              </a:rPr>
              <a:t>assessment. Establishing the approach is a tone-setter; proper discipline and decision-making support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will inform how we prepare for investment and expenditure as we scale.</a:t>
            </a:r>
            <a:endParaRPr sz="1200" b="0" dirty="0">
              <a:solidFill>
                <a:srgbClr val="3B2A54"/>
              </a:solidFill>
              <a:latin typeface="Arial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472168"/>
              </p:ext>
            </p:extLst>
          </p:nvPr>
        </p:nvGraphicFramePr>
        <p:xfrm>
          <a:off x="3931920" y="2572927"/>
          <a:ext cx="7394171" cy="17308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0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9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Three ways to close the gap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9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Equal cut</a:t>
                      </a:r>
                      <a:r>
                        <a:rPr sz="1100" b="0">
                          <a:solidFill>
                            <a:srgbClr val="11052C"/>
                          </a:solidFill>
                          <a:latin typeface="Arial"/>
                        </a:rPr>
                        <a:t> (every unit gets 42% of its ask)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Fast, </a:t>
                      </a:r>
                      <a:r>
                        <a:rPr lang="en-US" sz="1100" b="0" dirty="0">
                          <a:solidFill>
                            <a:srgbClr val="3B2A54"/>
                          </a:solidFill>
                          <a:latin typeface="Arial"/>
                        </a:rPr>
                        <a:t>but </a:t>
                      </a:r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it </a:t>
                      </a:r>
                      <a:r>
                        <a:rPr lang="en-US" sz="1100" b="0" dirty="0">
                          <a:solidFill>
                            <a:srgbClr val="3B2A54"/>
                          </a:solidFill>
                          <a:latin typeface="Arial"/>
                        </a:rPr>
                        <a:t>shows a path </a:t>
                      </a:r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to pad next year's ask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9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Core markets first</a:t>
                      </a:r>
                      <a:r>
                        <a:rPr sz="1100" b="0">
                          <a:solidFill>
                            <a:srgbClr val="11052C"/>
                          </a:solidFill>
                          <a:latin typeface="Arial"/>
                        </a:rPr>
                        <a:t> (pause new bets)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solidFill>
                            <a:srgbClr val="3B2A54"/>
                          </a:solidFill>
                          <a:latin typeface="Arial"/>
                        </a:rPr>
                        <a:t>Simple</a:t>
                      </a:r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, but new bets </a:t>
                      </a:r>
                      <a:r>
                        <a:rPr lang="en-US" sz="1100" b="0" dirty="0">
                          <a:solidFill>
                            <a:srgbClr val="3B2A54"/>
                          </a:solidFill>
                          <a:latin typeface="Arial"/>
                        </a:rPr>
                        <a:t>lack focus/funding</a:t>
                      </a:r>
                      <a:endParaRPr sz="110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996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11052C"/>
                          </a:solidFill>
                          <a:latin typeface="Arial"/>
                        </a:rPr>
                        <a:t>Business-case readiness and staged release</a:t>
                      </a:r>
                      <a:r>
                        <a:rPr sz="1100" b="0" dirty="0">
                          <a:solidFill>
                            <a:srgbClr val="11052C"/>
                          </a:solidFill>
                          <a:latin typeface="Arial"/>
                        </a:rPr>
                        <a:t> (recommended)</a:t>
                      </a:r>
                    </a:p>
                  </a:txBody>
                  <a:tcPr marL="64008" marR="64008" marT="36576" marB="36576" anchor="ctr">
                    <a:solidFill>
                      <a:srgbClr val="E9D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Wins on growth return, ownership</a:t>
                      </a:r>
                      <a:r>
                        <a:rPr lang="en-US" sz="1100" b="0" dirty="0">
                          <a:solidFill>
                            <a:srgbClr val="3B2A54"/>
                          </a:solidFill>
                          <a:latin typeface="Arial"/>
                        </a:rPr>
                        <a:t>, value creation</a:t>
                      </a:r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; </a:t>
                      </a:r>
                      <a:r>
                        <a:rPr lang="en-US" sz="1100" b="0" dirty="0">
                          <a:solidFill>
                            <a:srgbClr val="3B2A54"/>
                          </a:solidFill>
                          <a:latin typeface="Arial"/>
                        </a:rPr>
                        <a:t>trade-off </a:t>
                      </a:r>
                      <a:r>
                        <a:rPr sz="1100" b="0" dirty="0">
                          <a:solidFill>
                            <a:srgbClr val="3B2A54"/>
                          </a:solidFill>
                          <a:latin typeface="Arial"/>
                        </a:rPr>
                        <a:t>on speed</a:t>
                      </a:r>
                    </a:p>
                  </a:txBody>
                  <a:tcPr marL="64008" marR="64008" marT="36576" marB="36576" anchor="ctr">
                    <a:solidFill>
                      <a:srgbClr val="E9D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931920" y="4440936"/>
            <a:ext cx="7498079" cy="13969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dirty="0">
                <a:solidFill>
                  <a:srgbClr val="820AD1"/>
                </a:solidFill>
                <a:latin typeface="Arial"/>
              </a:rPr>
              <a:t>Budgets </a:t>
            </a:r>
            <a:r>
              <a:rPr lang="en-US" sz="1400" b="1" dirty="0">
                <a:solidFill>
                  <a:srgbClr val="820AD1"/>
                </a:solidFill>
                <a:latin typeface="Arial"/>
              </a:rPr>
              <a:t>can </a:t>
            </a:r>
            <a:r>
              <a:rPr sz="1400" b="1" dirty="0">
                <a:solidFill>
                  <a:srgbClr val="820AD1"/>
                </a:solidFill>
                <a:latin typeface="Arial"/>
              </a:rPr>
              <a:t>work like Nu's credit</a:t>
            </a:r>
            <a:r>
              <a:rPr lang="en-US" sz="1400" b="1" dirty="0">
                <a:solidFill>
                  <a:srgbClr val="820AD1"/>
                </a:solidFill>
                <a:latin typeface="Arial"/>
              </a:rPr>
              <a:t> management principles.</a:t>
            </a:r>
            <a:endParaRPr sz="1400" b="1" dirty="0">
              <a:solidFill>
                <a:srgbClr val="820AD1"/>
              </a:solidFill>
              <a:latin typeface="Arial"/>
            </a:endParaRPr>
          </a:p>
          <a:p>
            <a:pPr algn="l">
              <a:lnSpc>
                <a:spcPct val="200000"/>
              </a:lnSpc>
            </a:pPr>
            <a:r>
              <a:rPr sz="1200" b="0" dirty="0">
                <a:solidFill>
                  <a:srgbClr val="3B2A54"/>
                </a:solidFill>
                <a:latin typeface="Arial"/>
              </a:rPr>
              <a:t>Nu's 20-F </a:t>
            </a:r>
            <a:r>
              <a:rPr lang="en-US" sz="1200" dirty="0">
                <a:solidFill>
                  <a:srgbClr val="3B2A54"/>
                </a:solidFill>
                <a:latin typeface="Arial"/>
              </a:rPr>
              <a:t>Form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describes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"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low-and-grow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"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: small limits, raised on behavior. </a:t>
            </a:r>
            <a:endParaRPr lang="en-US" sz="1200" b="0" dirty="0">
              <a:solidFill>
                <a:srgbClr val="3B2A54"/>
              </a:solidFill>
              <a:latin typeface="Arial"/>
            </a:endParaRPr>
          </a:p>
          <a:p>
            <a:pPr algn="l">
              <a:lnSpc>
                <a:spcPct val="200000"/>
              </a:lnSpc>
            </a:pPr>
            <a:r>
              <a:rPr sz="1200" b="0" dirty="0">
                <a:solidFill>
                  <a:srgbClr val="3B2A54"/>
                </a:solidFill>
                <a:latin typeface="Arial"/>
              </a:rPr>
              <a:t>Budgets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should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get same test-and-learn: start small, grow when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KPIs (i.e.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activation, 30-day retention, unit cost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) can support further scaling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.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This becomes an ownership-driving, principle-based methodology.</a:t>
            </a:r>
            <a:endParaRPr sz="12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" y="6126480"/>
            <a:ext cx="10515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B5B82"/>
                </a:solidFill>
                <a:latin typeface="Arial"/>
              </a:rPr>
              <a:t>Sources: Nu Q2'26 release and 6-K (</a:t>
            </a:r>
            <a:r>
              <a:rPr sz="900" b="0" dirty="0" err="1">
                <a:solidFill>
                  <a:srgbClr val="6B5B82"/>
                </a:solidFill>
                <a:latin typeface="Arial"/>
              </a:rPr>
              <a:t>opex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 $806.2M; net revenue ~$4.1B a quarter), Q2'26 call, Form 20-F. Calculations: the 15 bps is on managerial revenue, ~$23.5B annualized; the 1.1% is on </a:t>
            </a:r>
            <a:r>
              <a:rPr sz="900" b="0" dirty="0" err="1">
                <a:solidFill>
                  <a:srgbClr val="6B5B82"/>
                </a:solidFill>
                <a:latin typeface="Arial"/>
              </a:rPr>
              <a:t>opex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, ~$3.2B annualized; the efficiency-ratio points are on Nu's denominator (NII plus fees).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1  //  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>
                <a:solidFill>
                  <a:srgbClr val="11052C"/>
                </a:solidFill>
                <a:latin typeface="Arial"/>
              </a:rPr>
              <a:t>Proposed investment and spend prioritization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28016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 dirty="0">
                <a:solidFill>
                  <a:srgbClr val="820AD1"/>
                </a:solidFill>
                <a:latin typeface="Arial"/>
              </a:rPr>
              <a:t>Mandatory obligations pass a separate gate</a:t>
            </a:r>
            <a:r>
              <a:rPr lang="en-US" sz="1400" b="1" dirty="0">
                <a:solidFill>
                  <a:srgbClr val="820AD1"/>
                </a:solidFill>
                <a:latin typeface="Arial"/>
              </a:rPr>
              <a:t>, and d</a:t>
            </a:r>
            <a:r>
              <a:rPr sz="1400" b="1" dirty="0">
                <a:solidFill>
                  <a:srgbClr val="820AD1"/>
                </a:solidFill>
                <a:latin typeface="Arial"/>
              </a:rPr>
              <a:t>iscretionary asks compete within agreed strategic envelopes.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190195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820AD1"/>
                </a:solidFill>
                <a:latin typeface="Arial"/>
              </a:rPr>
              <a:t>PROPOSED SCORECARD  //  DISCRETIONARY ASKS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644537"/>
              </p:ext>
            </p:extLst>
          </p:nvPr>
        </p:nvGraphicFramePr>
        <p:xfrm>
          <a:off x="704088" y="2340864"/>
          <a:ext cx="4846319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marL="73152" marR="54864" marT="54864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73152" marR="54864" marT="54864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Evidence required</a:t>
                      </a:r>
                    </a:p>
                  </a:txBody>
                  <a:tcPr marL="73152" marR="54864" marT="54864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Strategic contribution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2A54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Priority + measurable outcome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Economic value</a:t>
                      </a:r>
                    </a:p>
                  </a:txBody>
                  <a:tcPr marL="73152" marR="54864" marT="54864" marB="36576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2A54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73152" marR="54864" marT="54864" marB="36576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NPV, payback + downside case</a:t>
                      </a:r>
                    </a:p>
                  </a:txBody>
                  <a:tcPr marL="73152" marR="54864" marT="54864" marB="36576" anchor="ctr">
                    <a:solidFill>
                      <a:srgbClr val="F3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Customer / risk impact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2A54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Customer KPI or risk reduction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Delivery confidence</a:t>
                      </a:r>
                    </a:p>
                  </a:txBody>
                  <a:tcPr marL="73152" marR="54864" marT="54864" marB="36576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2A54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73152" marR="54864" marT="54864" marB="36576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Owner, capacity + dependencies</a:t>
                      </a:r>
                    </a:p>
                  </a:txBody>
                  <a:tcPr marL="73152" marR="54864" marT="54864" marB="36576" anchor="ctr">
                    <a:solidFill>
                      <a:srgbClr val="F3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Speed to evidence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2A54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B2A54"/>
                          </a:solidFill>
                          <a:latin typeface="Arial"/>
                        </a:rPr>
                        <a:t>Time and cost to validate</a:t>
                      </a:r>
                    </a:p>
                  </a:txBody>
                  <a:tcPr marL="73152" marR="54864" marT="54864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12648" y="5047488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Rate 1–5 against published anchors.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Score / 100 = Σ(weight × rating / 5).</a:t>
            </a:r>
          </a:p>
          <a:p>
            <a:pPr>
              <a:spcAft>
                <a:spcPts val="3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Finance tests downside assumptions and ranking sensitivity.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901952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820AD1"/>
                </a:solidFill>
                <a:latin typeface="Arial"/>
              </a:rPr>
              <a:t>DECISION PROCESS  //  CLEAR OWNERSHIP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331720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1  Intake and hard 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615184"/>
            <a:ext cx="55321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 dirty="0">
                <a:solidFill>
                  <a:srgbClr val="3B2A54"/>
                </a:solidFill>
                <a:latin typeface="Arial"/>
              </a:rPr>
              <a:t>Business + Local Finance submit one case: full cost, baseline, alternatives and benefit owner. Legal / Risk validate mandatory scope 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when applicable.</a:t>
            </a:r>
            <a:endParaRPr sz="11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97880" y="3163824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2  Challenge and 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3447288"/>
            <a:ext cx="55321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3B2A54"/>
                </a:solidFill>
                <a:latin typeface="Arial"/>
              </a:rPr>
              <a:t>Global Planning calibrates scores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across markets. Compare core and new bets </a:t>
            </a:r>
            <a:r>
              <a:rPr sz="1150" b="0">
                <a:solidFill>
                  <a:srgbClr val="3B2A54"/>
                </a:solidFill>
                <a:latin typeface="Arial"/>
              </a:rPr>
              <a:t>within agreed envelopes using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horizon-appropriate </a:t>
            </a:r>
            <a:r>
              <a:rPr sz="1150" b="0">
                <a:solidFill>
                  <a:srgbClr val="3B2A54"/>
                </a:solidFill>
                <a:latin typeface="Arial"/>
              </a:rPr>
              <a:t>KPIs.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995928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3  Decide and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4279392"/>
            <a:ext cx="55321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 dirty="0">
                <a:solidFill>
                  <a:srgbClr val="3B2A54"/>
                </a:solidFill>
                <a:latin typeface="Arial"/>
              </a:rPr>
              <a:t>CFO approves within delegation and the cap. CEO resolves strategic trade-offs. </a:t>
            </a:r>
            <a:r>
              <a:rPr lang="en-US" sz="1150" b="0" dirty="0" err="1">
                <a:solidFill>
                  <a:srgbClr val="3B2A54"/>
                </a:solidFill>
                <a:latin typeface="Arial"/>
              </a:rPr>
              <a:t>CoS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 &amp; </a:t>
            </a:r>
            <a:r>
              <a:rPr lang="en-US" sz="1150" dirty="0">
                <a:solidFill>
                  <a:srgbClr val="3B2A54"/>
                </a:solidFill>
                <a:latin typeface="Arial"/>
              </a:rPr>
              <a:t>CG 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r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ecord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s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 rationale, dissent and next-gate KPIs.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4828031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4  Track and reallocate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5111495"/>
            <a:ext cx="55321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150" b="0">
                <a:solidFill>
                  <a:srgbClr val="3B2A54"/>
                </a:solidFill>
                <a:latin typeface="Arial"/>
              </a:rPr>
              <a:t>Owners report actual spend and benefits </a:t>
            </a:r>
            <a:r>
              <a:rPr sz="1150" b="0">
                <a:solidFill>
                  <a:srgbClr val="3B2A54"/>
                </a:solidFill>
                <a:latin typeface="Arial"/>
              </a:rPr>
              <a:t>monthly.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Global Planning consolidates and reviews </a:t>
            </a:r>
            <a:r>
              <a:rPr sz="1150" b="0">
                <a:solidFill>
                  <a:srgbClr val="3B2A54"/>
                </a:solidFill>
                <a:latin typeface="Arial"/>
              </a:rPr>
              <a:t>quarterly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 with CFO, which decides further releases / deployments.</a:t>
            </a:r>
            <a:endParaRPr sz="11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2648" y="6016752"/>
            <a:ext cx="10652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900" b="0">
                <a:solidFill>
                  <a:srgbClr val="6B5B82"/>
                </a:solidFill>
                <a:latin typeface="Arial"/>
              </a:rPr>
              <a:t>Proposal: </a:t>
            </a:r>
            <a:r>
              <a:rPr sz="900" b="0">
                <a:solidFill>
                  <a:srgbClr val="6B5B82"/>
                </a:solidFill>
                <a:latin typeface="Arial"/>
              </a:rPr>
              <a:t>weights</a:t>
            </a:r>
            <a:r>
              <a:rPr lang="en-US" sz="900" b="0">
                <a:solidFill>
                  <a:srgbClr val="6B5B82"/>
                </a:solidFill>
                <a:latin typeface="Arial"/>
              </a:rPr>
              <a:t> and cadence require CFO agreement</a:t>
            </a:r>
            <a:r>
              <a:rPr sz="900" b="0">
                <a:solidFill>
                  <a:srgbClr val="6B5B82"/>
                </a:solidFill>
                <a:latin typeface="Arial"/>
              </a:rPr>
              <a:t>. Method</a:t>
            </a:r>
            <a:r>
              <a:rPr lang="en-US" sz="900" b="0">
                <a:solidFill>
                  <a:srgbClr val="6B5B82"/>
                </a:solidFill>
                <a:latin typeface="Arial"/>
              </a:rPr>
              <a:t> draws on</a:t>
            </a:r>
            <a:r>
              <a:rPr sz="900" b="0">
                <a:solidFill>
                  <a:srgbClr val="6B5B82"/>
                </a:solidFill>
                <a:latin typeface="Arial"/>
              </a:rPr>
              <a:t> 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McKinsey capital-allocation guidance (2023, </a:t>
            </a:r>
            <a:r>
              <a:rPr sz="900" b="0">
                <a:solidFill>
                  <a:srgbClr val="6B5B82"/>
                </a:solidFill>
                <a:latin typeface="Arial"/>
              </a:rPr>
              <a:t>2024).</a:t>
            </a:r>
            <a:r>
              <a:rPr lang="en-US" sz="900" b="0">
                <a:solidFill>
                  <a:srgbClr val="6B5B82"/>
                </a:solidFill>
                <a:latin typeface="Arial"/>
              </a:rPr>
              <a:t> </a:t>
            </a:r>
            <a:endParaRPr sz="900" b="0" dirty="0">
              <a:solidFill>
                <a:srgbClr val="6B5B8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9620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820AD1"/>
                </a:solidFill>
                <a:latin typeface="Arial"/>
              </a:rPr>
              <a:t>DELIVERABLE 1  //  </a:t>
            </a:r>
            <a:r>
              <a:rPr lang="en-US" sz="1000" b="1" dirty="0">
                <a:solidFill>
                  <a:srgbClr val="820AD1"/>
                </a:solidFill>
                <a:latin typeface="Arial"/>
              </a:rPr>
              <a:t>SCHEDULING</a:t>
            </a:r>
            <a:endParaRPr sz="1000" b="1" dirty="0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Proposed path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: fund now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 +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 stage,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assess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,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go/no-go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graphicFrame>
        <p:nvGraphicFramePr>
          <p:cNvPr id="4" name="Chart 3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678745"/>
              </p:ext>
            </p:extLst>
          </p:nvPr>
        </p:nvGraphicFramePr>
        <p:xfrm>
          <a:off x="457200" y="1645920"/>
          <a:ext cx="60350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675120" y="1645920"/>
            <a:ext cx="475488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84848" y="1755648"/>
            <a:ext cx="4535424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FUND NOW  //  FIRST RELEASE</a:t>
            </a:r>
            <a:r>
              <a:rPr lang="en-US" sz="950" b="1" dirty="0">
                <a:solidFill>
                  <a:srgbClr val="820AD1"/>
                </a:solidFill>
                <a:latin typeface="Arial"/>
              </a:rPr>
              <a:t> 1Q</a:t>
            </a:r>
            <a:r>
              <a:rPr sz="950" b="1" dirty="0">
                <a:solidFill>
                  <a:srgbClr val="820AD1"/>
                </a:solidFill>
                <a:latin typeface="Arial"/>
              </a:rPr>
              <a:t>27</a:t>
            </a:r>
            <a:r>
              <a:rPr lang="en-US" sz="950" b="1" dirty="0">
                <a:solidFill>
                  <a:srgbClr val="820AD1"/>
                </a:solidFill>
                <a:latin typeface="Arial"/>
              </a:rPr>
              <a:t>, SECOND RELEASE 2Q27</a:t>
            </a:r>
            <a:endParaRPr sz="950" b="1" dirty="0">
              <a:solidFill>
                <a:srgbClr val="820AD1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1052C"/>
                </a:solidFill>
                <a:latin typeface="Arial"/>
              </a:rPr>
              <a:t>$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1</a:t>
            </a:r>
            <a:r>
              <a:rPr sz="1600" b="1" dirty="0">
                <a:solidFill>
                  <a:srgbClr val="11052C"/>
                </a:solidFill>
                <a:latin typeface="Arial"/>
              </a:rPr>
              <a:t>5M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 -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$10.5M to core markets (70%) and $4.5M to new bets (30%), for cases vetted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 through the proposed methodology.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solidFill>
                  <a:srgbClr val="11052C"/>
                </a:solidFill>
                <a:latin typeface="Arial"/>
              </a:rPr>
              <a:t>$10M </a:t>
            </a:r>
            <a:r>
              <a:rPr lang="en-US" sz="1200" b="1" dirty="0">
                <a:solidFill>
                  <a:srgbClr val="3B2A54"/>
                </a:solidFill>
                <a:latin typeface="Arial"/>
              </a:rPr>
              <a:t>- </a:t>
            </a:r>
            <a:r>
              <a:rPr lang="en-US" sz="1200" dirty="0">
                <a:solidFill>
                  <a:srgbClr val="3B2A54"/>
                </a:solidFill>
                <a:latin typeface="Arial"/>
              </a:rPr>
              <a:t>Second release to asks for Business where Q1 results support additional investment, decided on Q1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3063240"/>
            <a:ext cx="475488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84848" y="3172968"/>
            <a:ext cx="4535424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820AD1"/>
                </a:solidFill>
                <a:latin typeface="Arial"/>
              </a:rPr>
              <a:t>STAGE-GATE  //  </a:t>
            </a:r>
            <a:r>
              <a:rPr lang="en-US" sz="950" b="1" dirty="0">
                <a:solidFill>
                  <a:srgbClr val="820AD1"/>
                </a:solidFill>
                <a:latin typeface="Arial"/>
              </a:rPr>
              <a:t>LATE FISCAL YEAR </a:t>
            </a:r>
            <a:r>
              <a:rPr sz="950" b="1" dirty="0">
                <a:solidFill>
                  <a:srgbClr val="820AD1"/>
                </a:solidFill>
                <a:latin typeface="Arial"/>
              </a:rPr>
              <a:t>RELEASE, </a:t>
            </a:r>
            <a:r>
              <a:rPr lang="en-US" sz="950" b="1" dirty="0">
                <a:solidFill>
                  <a:srgbClr val="820AD1"/>
                </a:solidFill>
                <a:latin typeface="Arial"/>
              </a:rPr>
              <a:t>3Q-4Q27</a:t>
            </a:r>
            <a:endParaRPr sz="950" b="1" dirty="0">
              <a:solidFill>
                <a:srgbClr val="820AD1"/>
              </a:solidFill>
              <a:latin typeface="Arial"/>
            </a:endParaRP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1052C"/>
                </a:solidFill>
                <a:latin typeface="Arial"/>
              </a:rPr>
              <a:t>$25M</a:t>
            </a:r>
            <a:endParaRPr sz="1200" b="0" dirty="0">
              <a:solidFill>
                <a:srgbClr val="3B2A54"/>
              </a:solidFill>
              <a:latin typeface="Arial"/>
            </a:endParaRPr>
            <a:r>
              <a:rPr sz="1200" b="0" dirty="0">
                <a:solidFill>
                  <a:srgbClr val="11052C"/>
                </a:solidFill>
                <a:latin typeface="Arial"/>
              </a:rPr>
              <a:t> - Released to Business units on track to beat the FY27 plan, decided at the H1 close on H1 data: only from profit above plan, inside the efficiency-ratio guide in force, with NPL 90+ on plan (the CFO decides; Risk can block). Remedial spend for units behind plan goes to the MTeam, with CFO prioritization.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937760"/>
            <a:ext cx="47548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84848" y="5047488"/>
            <a:ext cx="4535424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DEFER  //  </a:t>
            </a:r>
            <a:r>
              <a:rPr lang="en-US" sz="950" b="1" dirty="0">
                <a:solidFill>
                  <a:srgbClr val="D97706"/>
                </a:solidFill>
                <a:latin typeface="Arial"/>
              </a:rPr>
              <a:t>Q4 </a:t>
            </a:r>
            <a:r>
              <a:rPr sz="950" b="1" dirty="0">
                <a:solidFill>
                  <a:srgbClr val="D97706"/>
                </a:solidFill>
                <a:latin typeface="Arial"/>
              </a:rPr>
              <a:t>RESERVE</a:t>
            </a: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1052C"/>
                </a:solidFill>
                <a:latin typeface="Arial"/>
              </a:rPr>
              <a:t>$10M</a:t>
            </a:r>
            <a:endParaRPr sz="1200" b="0" dirty="0">
              <a:solidFill>
                <a:srgbClr val="3B2A54"/>
              </a:solidFill>
              <a:latin typeface="Arial"/>
            </a:endParaRPr>
            <a:r>
              <a:rPr sz="1200" b="0" dirty="0">
                <a:solidFill>
                  <a:srgbClr val="11052C"/>
                </a:solidFill>
                <a:latin typeface="Arial"/>
              </a:rPr>
              <a:t> - Set aside for strategic imperatives, special projects, regulatory requirements or similar extraordinary escalation factors, and deployed after MTeam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6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2648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6B5B82"/>
                </a:solidFill>
                <a:latin typeface="Arial"/>
              </a:rPr>
              <a:t>The two releases ($25M) are the cap. The 2H checkpoint (up to $25M) and the reserve ($10M) sit outside the plan and open only on the conditions stated, so every dollar of the $60M has a path. The 70/30 split follows mature cohorts: ~$31 of monthly ARPAC at eight years against $17.1 for the group (Q1'26 cohort data).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2  //  C-SUITE AND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 err="1">
                <a:solidFill>
                  <a:srgbClr val="11052C"/>
                </a:solidFill>
                <a:latin typeface="Arial"/>
              </a:rPr>
              <a:t>CoS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 &amp; CG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: Ways of Working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1116119"/>
            <a:ext cx="10789920" cy="57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The CoS &amp; CG lead drives alignment and resolves executive differences; the team registers Board decisions, tracks progress and consolidates data and insights from Business Units.</a:t>
            </a:r>
            <a:r>
              <a:rPr lang="en-US" sz="1400" b="1">
                <a:solidFill>
                  <a:srgbClr val="820AD1"/>
                </a:solidFill>
                <a:latin typeface="Arial"/>
              </a:rPr>
              <a:t/>
            </a:r>
            <a:r>
              <a:rPr sz="1400" b="1">
                <a:solidFill>
                  <a:srgbClr val="820AD1"/>
                </a:solidFill>
                <a:latin typeface="Arial"/>
              </a:rPr>
              <a:t/>
            </a:r>
            <a:r>
              <a:rPr lang="en-US" sz="1400" b="1">
                <a:solidFill>
                  <a:srgbClr val="820AD1"/>
                </a:solidFill>
                <a:latin typeface="Arial"/>
              </a:rPr>
              <a:t/>
            </a:r>
            <a:r>
              <a:rPr sz="1400" b="1">
                <a:solidFill>
                  <a:srgbClr val="820AD1"/>
                </a:solidFill>
                <a:latin typeface="Arial"/>
              </a:rPr>
              <a:t/>
            </a:r>
            <a:r>
              <a:rPr lang="en-US" sz="1400" b="1">
                <a:solidFill>
                  <a:srgbClr val="820AD1"/>
                </a:solidFill>
                <a:latin typeface="Arial"/>
              </a:rPr>
              <a:t/>
            </a:r>
            <a:r>
              <a:rPr sz="1400" b="1">
                <a:solidFill>
                  <a:srgbClr val="820AD1"/>
                </a:solidFill>
                <a:latin typeface="Arial"/>
              </a:rPr>
              <a:t/>
            </a:r>
            <a:r>
              <a:rPr lang="en-US" sz="1400" b="1">
                <a:solidFill>
                  <a:srgbClr val="820AD1"/>
                </a:solidFill>
                <a:latin typeface="Arial"/>
              </a:rPr>
              <a:t/>
            </a:r>
            <a:r>
              <a:rPr sz="1400" b="1">
                <a:solidFill>
                  <a:srgbClr val="820AD1"/>
                </a:solidFill>
                <a:latin typeface="Arial"/>
              </a:rPr>
              <a:t/>
            </a:r>
            <a:endParaRPr sz="1400" b="1" dirty="0">
              <a:solidFill>
                <a:srgbClr val="820AD1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2648" y="1917450"/>
            <a:ext cx="3383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000" b="1" dirty="0">
                <a:solidFill>
                  <a:srgbClr val="820AD1"/>
                </a:solidFill>
                <a:latin typeface="Arial"/>
              </a:rPr>
              <a:t>ACCOUNTABILITY</a:t>
            </a:r>
            <a:endParaRPr sz="1000" b="1" dirty="0">
              <a:solidFill>
                <a:srgbClr val="820AD1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2648" y="218071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CoS &amp; CG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411334"/>
            <a:ext cx="333756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150" dirty="0">
                <a:solidFill>
                  <a:srgbClr val="3B2A54"/>
                </a:solidFill>
                <a:latin typeface="Arial"/>
              </a:rPr>
              <a:t>Fosters 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alignment 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with 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executives before formal decisions. Takes unresolved 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trade-offs to the 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CFO, always with a recommendation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031110"/>
            <a:ext cx="3337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b="1">
                <a:solidFill>
                  <a:srgbClr val="820AD1"/>
                </a:solidFill>
                <a:latin typeface="Arial"/>
              </a:rPr>
              <a:t>Core team</a:t>
            </a:r>
            <a:endParaRPr sz="1400" b="1">
              <a:solidFill>
                <a:srgbClr val="820AD1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2648" y="3266892"/>
            <a:ext cx="333756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150" b="0">
                <a:solidFill>
                  <a:srgbClr val="3B2A54"/>
                </a:solidFill>
                <a:latin typeface="Arial"/>
              </a:rPr>
              <a:t>Runs the calendar. Prepares briefs and tracks actions. Leverages AI Agents for efficiency. Liaises with Country</a:t>
            </a:r>
            <a:r>
              <a:rPr lang="en-US" sz="1150" b="0" dirty="0">
                <a:solidFill>
                  <a:srgbClr val="3B2A54"/>
                </a:solidFill>
                <a:latin typeface="Arial"/>
              </a:rPr>
              <a:t>/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BU teams.</a:t>
            </a:r>
            <a:endParaRPr sz="11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2648" y="388150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820AD1"/>
                </a:solidFill>
                <a:latin typeface="Arial"/>
              </a:rPr>
              <a:t>Decision rights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096620"/>
            <a:ext cx="333756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50" b="0" dirty="0">
                <a:solidFill>
                  <a:srgbClr val="3B2A54"/>
                </a:solidFill>
                <a:latin typeface="Arial"/>
              </a:rPr>
              <a:t>Executives </a:t>
            </a:r>
            <a:r>
              <a:rPr sz="1150" b="0">
                <a:solidFill>
                  <a:srgbClr val="3B2A54"/>
                </a:solidFill>
                <a:latin typeface="Arial"/>
              </a:rPr>
              <a:t>own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the content</a:t>
            </a:r>
            <a:r>
              <a:rPr sz="1150" b="0">
                <a:solidFill>
                  <a:srgbClr val="3B2A54"/>
                </a:solidFill>
                <a:latin typeface="Arial"/>
              </a:rPr>
              <a:t>.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The </a:t>
            </a:r>
            <a:r>
              <a:rPr sz="1150" b="0">
                <a:solidFill>
                  <a:srgbClr val="3B2A54"/>
                </a:solidFill>
                <a:latin typeface="Arial"/>
              </a:rPr>
              <a:t>Chair 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approves the agenda</a:t>
            </a:r>
            <a:r>
              <a:rPr sz="1150" b="0">
                <a:solidFill>
                  <a:srgbClr val="3B2A54"/>
                </a:solidFill>
                <a:latin typeface="Arial"/>
              </a:rPr>
              <a:t>.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The </a:t>
            </a:r>
            <a:r>
              <a:rPr sz="1150" b="0">
                <a:solidFill>
                  <a:srgbClr val="3B2A54"/>
                </a:solidFill>
                <a:latin typeface="Arial"/>
              </a:rPr>
              <a:t>Secretary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manages </a:t>
            </a:r>
            <a:r>
              <a:rPr sz="1150" b="0">
                <a:solidFill>
                  <a:srgbClr val="3B2A54"/>
                </a:solidFill>
                <a:latin typeface="Arial"/>
              </a:rPr>
              <a:t>formal 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governance</a:t>
            </a:r>
            <a:r>
              <a:rPr sz="1150" b="0">
                <a:solidFill>
                  <a:srgbClr val="3B2A54"/>
                </a:solidFill>
                <a:latin typeface="Arial"/>
              </a:rPr>
              <a:t> </a:t>
            </a:r>
            <a:r>
              <a:rPr sz="1150" b="0" dirty="0">
                <a:solidFill>
                  <a:srgbClr val="3B2A54"/>
                </a:solidFill>
                <a:latin typeface="Arial"/>
              </a:rPr>
              <a:t>and </a:t>
            </a:r>
            <a:r>
              <a:rPr sz="1150" b="0">
                <a:solidFill>
                  <a:srgbClr val="3B2A54"/>
                </a:solidFill>
                <a:latin typeface="Arial"/>
              </a:rPr>
              <a:t>minutes.</a:t>
            </a:r>
            <a:r>
              <a:rPr lang="en-US" sz="1150" b="0">
                <a:solidFill>
                  <a:srgbClr val="3B2A54"/>
                </a:solidFill>
                <a:latin typeface="Arial"/>
              </a:rPr>
              <a:t> The CoS &amp; CG team reports.</a:t>
            </a:r>
            <a:endParaRPr sz="11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33672" y="1917450"/>
            <a:ext cx="71963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000" b="1">
                <a:solidFill>
                  <a:srgbClr val="820AD1"/>
                </a:solidFill>
                <a:latin typeface="Arial"/>
              </a:rPr>
              <a:t>WORKING </a:t>
            </a:r>
            <a:r>
              <a:rPr sz="1000" b="1">
                <a:solidFill>
                  <a:srgbClr val="820AD1"/>
                </a:solidFill>
                <a:latin typeface="Arial"/>
              </a:rPr>
              <a:t>CADENCE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995659"/>
              </p:ext>
            </p:extLst>
          </p:nvPr>
        </p:nvGraphicFramePr>
        <p:xfrm>
          <a:off x="4325112" y="2180718"/>
          <a:ext cx="7013448" cy="2532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5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73152" marR="73152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73152" marR="73152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FFFFFF"/>
                          </a:solidFill>
                          <a:latin typeface="Arial"/>
                        </a:rPr>
                        <a:t>Purpose / deliverable</a:t>
                      </a:r>
                    </a:p>
                  </a:txBody>
                  <a:tcPr marL="73152" marR="73152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2A54"/>
                          </a:solidFill>
                          <a:latin typeface="Arial"/>
                        </a:rPr>
                        <a:t>Weekly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CoS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&amp; CG lead + CFO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Alignment on strategic topics, Finance management agenda, </a:t>
                      </a:r>
                      <a:r>
                        <a:rPr lang="en-US" sz="11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MTeam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/ Board priorities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r>
                        <a:rPr sz="1150" b="1" dirty="0">
                          <a:solidFill>
                            <a:srgbClr val="3B2A54"/>
                          </a:solidFill>
                          <a:latin typeface="Arial"/>
                        </a:rPr>
                        <a:t>Monthly</a:t>
                      </a:r>
                    </a:p>
                  </a:txBody>
                  <a:tcPr marL="73152" marR="73152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CoS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&amp; CG lead + CFO + GMs</a:t>
                      </a:r>
                    </a:p>
                  </a:txBody>
                  <a:tcPr marL="73152" marR="73152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Discuss topics, pending points and decisions needed for the next two Board meetings.</a:t>
                      </a:r>
                    </a:p>
                  </a:txBody>
                  <a:tcPr marL="73152" marR="73152" anchor="ctr">
                    <a:solidFill>
                      <a:srgbClr val="F3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r>
                        <a:rPr lang="en-US" sz="1150" b="1" dirty="0">
                          <a:solidFill>
                            <a:srgbClr val="3B2A54"/>
                          </a:solidFill>
                          <a:latin typeface="Arial"/>
                        </a:rPr>
                        <a:t>Before Board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CoS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&amp; CG team + Finance teams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>
                          <a:solidFill>
                            <a:srgbClr val="3B2A54"/>
                          </a:solidFill>
                          <a:latin typeface="Arial"/>
                        </a:rPr>
                        <a:t>See proposed prep schedule: T−28 scope, T−16 resolve differences, T−10 final inputs, T−7 publish.</a:t>
                      </a:r>
                      <a:endParaRPr lang="en-US"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3B2A54"/>
                          </a:solidFill>
                          <a:latin typeface="Arial"/>
                        </a:rPr>
                        <a:t>After Board</a:t>
                      </a:r>
                    </a:p>
                  </a:txBody>
                  <a:tcPr marL="73152" marR="73152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CoS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&amp; CG lead + CFO</a:t>
                      </a:r>
                    </a:p>
                  </a:txBody>
                  <a:tcPr marL="73152" marR="73152" anchor="ctr">
                    <a:solidFill>
                      <a:srgbClr val="F3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Within 5 working days, confirm actions and dates, and provide progress reports on strategic items.</a:t>
                      </a:r>
                    </a:p>
                  </a:txBody>
                  <a:tcPr marL="73152" marR="73152" anchor="ctr">
                    <a:solidFill>
                      <a:srgbClr val="F3E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ounded Rectangle 11"/>
          <p:cNvSpPr/>
          <p:nvPr/>
        </p:nvSpPr>
        <p:spPr>
          <a:xfrm>
            <a:off x="612648" y="5074920"/>
            <a:ext cx="10789920" cy="868680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5250726"/>
            <a:ext cx="10424160" cy="561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Each meeting has an executive </a:t>
            </a:r>
            <a:r>
              <a:rPr sz="1400" b="1" dirty="0">
                <a:solidFill>
                  <a:srgbClr val="FFFFFF"/>
                </a:solidFill>
                <a:latin typeface="Arial"/>
              </a:rPr>
              <a:t>sponsor, </a:t>
            </a:r>
            <a:r>
              <a:rPr lang="en-US" sz="1400" b="1" dirty="0">
                <a:solidFill>
                  <a:srgbClr val="FFFFFF"/>
                </a:solidFill>
                <a:latin typeface="Arial"/>
              </a:rPr>
              <a:t>an agenda</a:t>
            </a:r>
            <a:r>
              <a:rPr sz="1400" b="1" dirty="0">
                <a:solidFill>
                  <a:srgbClr val="FFFFFF"/>
                </a:solidFill>
                <a:latin typeface="Arial"/>
              </a:rPr>
              <a:t>, </a:t>
            </a:r>
            <a:r>
              <a:rPr lang="en-US" sz="1400" b="1" dirty="0">
                <a:solidFill>
                  <a:srgbClr val="FFFFFF"/>
                </a:solidFill>
                <a:latin typeface="Arial"/>
              </a:rPr>
              <a:t>a meeting cadence and decision tracking.</a:t>
            </a:r>
          </a:p>
          <a:p>
            <a:pPr>
              <a:spcAft>
                <a:spcPts val="300"/>
              </a:spcAft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Action items have an owner and </a:t>
            </a:r>
            <a:r>
              <a:rPr sz="1400" b="1" dirty="0">
                <a:solidFill>
                  <a:srgbClr val="FFFFFF"/>
                </a:solidFill>
                <a:latin typeface="Arial"/>
              </a:rPr>
              <a:t>due date.</a:t>
            </a:r>
            <a:r>
              <a:rPr lang="en-US" sz="1400" b="1" dirty="0">
                <a:solidFill>
                  <a:srgbClr val="FFFFFF"/>
                </a:solidFill>
                <a:latin typeface="Arial"/>
              </a:rPr>
              <a:t> The team flags delays weekly; material issues get escalated </a:t>
            </a:r>
            <a:r>
              <a:rPr sz="1400" b="1" dirty="0">
                <a:solidFill>
                  <a:srgbClr val="FFFFFF"/>
                </a:solidFill>
                <a:latin typeface="Arial"/>
              </a:rPr>
              <a:t>to the CFO</a:t>
            </a:r>
            <a:r>
              <a:rPr lang="en-US" sz="1400" b="1" dirty="0">
                <a:solidFill>
                  <a:srgbClr val="FFFFFF"/>
                </a:solidFill>
                <a:latin typeface="Arial"/>
              </a:rPr>
              <a:t>.</a:t>
            </a:r>
            <a:endParaRPr sz="1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2648" y="63550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850" b="0">
                <a:solidFill>
                  <a:srgbClr val="6B5B82"/>
                </a:solidFill>
                <a:latin typeface="Arial"/>
              </a:rPr>
              <a:t>Proposed operating model</a:t>
            </a:r>
            <a:r>
              <a:rPr sz="850" b="0">
                <a:solidFill>
                  <a:srgbClr val="6B5B82"/>
                </a:solidFill>
                <a:latin typeface="Arial"/>
              </a:rPr>
              <a:t>. Advisory basis: McKinsey (2023) and DirectorPrep (2024).</a:t>
            </a:r>
            <a:r>
              <a:rPr lang="en-US" sz="850" b="0">
                <a:solidFill>
                  <a:srgbClr val="6B5B82"/>
                </a:solidFill>
                <a:latin typeface="Arial"/>
              </a:rPr>
              <a:t> T = Board meeting date.</a:t>
            </a:r>
            <a:endParaRPr sz="850" b="0">
              <a:solidFill>
                <a:srgbClr val="6B5B8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8049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2  //  C-SUITE AND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Board Prep Target: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Every quarter the book goes out 7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d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before the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28722"/>
            <a:ext cx="107899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11052C"/>
                </a:solidFill>
                <a:latin typeface="Arial"/>
              </a:rPr>
              <a:t>Hypotheses on w</a:t>
            </a:r>
            <a:r>
              <a:rPr sz="1200" b="1" dirty="0">
                <a:solidFill>
                  <a:srgbClr val="11052C"/>
                </a:solidFill>
                <a:latin typeface="Arial"/>
              </a:rPr>
              <a:t>hy the book is late: </a:t>
            </a:r>
            <a:r>
              <a:rPr sz="1200" b="0" dirty="0">
                <a:solidFill>
                  <a:srgbClr val="11052C"/>
                </a:solidFill>
                <a:latin typeface="Arial"/>
              </a:rPr>
              <a:t>no </a:t>
            </a:r>
            <a:r>
              <a:rPr lang="en-US" sz="1200" b="0" dirty="0">
                <a:solidFill>
                  <a:srgbClr val="11052C"/>
                </a:solidFill>
                <a:latin typeface="Arial"/>
              </a:rPr>
              <a:t>central ownership, </a:t>
            </a:r>
            <a:r>
              <a:rPr lang="en-US" sz="1200" dirty="0">
                <a:solidFill>
                  <a:srgbClr val="11052C"/>
                </a:solidFill>
                <a:latin typeface="Arial"/>
              </a:rPr>
              <a:t>no </a:t>
            </a:r>
            <a:r>
              <a:rPr sz="1200" b="0" dirty="0">
                <a:solidFill>
                  <a:srgbClr val="11052C"/>
                </a:solidFill>
                <a:latin typeface="Arial"/>
              </a:rPr>
              <a:t>locked outline, no standard </a:t>
            </a:r>
            <a:r>
              <a:rPr lang="en-US" sz="1200" b="0" dirty="0">
                <a:solidFill>
                  <a:srgbClr val="11052C"/>
                </a:solidFill>
                <a:latin typeface="Arial"/>
              </a:rPr>
              <a:t>formats and templates</a:t>
            </a:r>
            <a:r>
              <a:rPr sz="1200" b="0" dirty="0">
                <a:solidFill>
                  <a:srgbClr val="11052C"/>
                </a:solidFill>
                <a:latin typeface="Arial"/>
              </a:rPr>
              <a:t>, and units building </a:t>
            </a:r>
            <a:r>
              <a:rPr lang="en-US" sz="1200" b="0" dirty="0">
                <a:solidFill>
                  <a:srgbClr val="11052C"/>
                </a:solidFill>
                <a:latin typeface="Arial"/>
              </a:rPr>
              <a:t>misaligned </a:t>
            </a:r>
            <a:r>
              <a:rPr sz="1200" b="0" dirty="0">
                <a:solidFill>
                  <a:srgbClr val="11052C"/>
                </a:solidFill>
                <a:latin typeface="Arial"/>
              </a:rPr>
              <a:t>decks.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755388"/>
            <a:ext cx="256032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1865116"/>
            <a:ext cx="2340863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T-28 TO T-21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Outline locked</a:t>
            </a:r>
          </a:p>
          <a:p>
            <a:pPr algn="l">
              <a:spcAft>
                <a:spcPts val="400"/>
              </a:spcAft>
            </a:pPr>
            <a:r>
              <a:rPr lang="en-US" sz="1100" b="0">
                <a:solidFill>
                  <a:srgbClr val="3B2A54"/>
                </a:solidFill>
                <a:latin typeface="Arial"/>
              </a:rPr>
              <a:t>We issue the locked outline and standard data tables, so units stop building rival decks.</a:t>
            </a:r>
            <a:r>
              <a:rPr sz="1100" b="0">
                <a:solidFill>
                  <a:srgbClr val="3B2A54"/>
                </a:solidFill>
                <a:latin typeface="Arial"/>
              </a:rPr>
              <a:t/>
            </a:r>
            <a:r>
              <a:rPr lang="en-US" sz="1100" b="0">
                <a:solidFill>
                  <a:srgbClr val="3B2A54"/>
                </a:solidFill>
                <a:latin typeface="Arial"/>
              </a:rPr>
              <a:t/>
            </a:r>
            <a:r>
              <a:rPr sz="1100" b="0">
                <a:solidFill>
                  <a:srgbClr val="3B2A54"/>
                </a:solidFill>
                <a:latin typeface="Arial"/>
              </a:rPr>
              <a:t/>
            </a:r>
            <a:r>
              <a:rPr lang="en-US" sz="1100" b="0">
                <a:solidFill>
                  <a:srgbClr val="3B2A54"/>
                </a:solidFill>
                <a:latin typeface="Arial"/>
              </a:rPr>
              <a:t/>
            </a:r>
            <a:r>
              <a:rPr sz="1100" b="0">
                <a:solidFill>
                  <a:srgbClr val="3B2A54"/>
                </a:solidFill>
                <a:latin typeface="Arial"/>
              </a:rPr>
              <a:t/>
            </a:r>
            <a:r>
              <a:rPr lang="en-US" sz="1100" b="0">
                <a:solidFill>
                  <a:srgbClr val="3B2A54"/>
                </a:solidFill>
                <a:latin typeface="Arial"/>
              </a:rPr>
              <a:t/>
            </a:r>
            <a:r>
              <a:rPr sz="1100" b="0">
                <a:solidFill>
                  <a:srgbClr val="3B2A54"/>
                </a:solidFill>
                <a:latin typeface="Arial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755388"/>
            <a:ext cx="256032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65576" y="1865116"/>
            <a:ext cx="2340863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T-20 TO T-14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Executive lock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B2A54"/>
                </a:solidFill>
                <a:latin typeface="Arial"/>
              </a:rPr>
              <a:t>One-to-ones at T-21. The options memo settles the capital priorities and the 70/30 core / new-bets split with the CEO and CFO at T-16.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8" y="1755388"/>
            <a:ext cx="256032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8776" y="1865116"/>
            <a:ext cx="2340863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T-13 TO T-7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One pen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B2A54"/>
                </a:solidFill>
                <a:latin typeface="Arial"/>
              </a:rPr>
              <a:t>Inputs freeze at T-10. </a:t>
            </a:r>
            <a:r>
              <a:rPr lang="en-US" sz="1100" b="0">
                <a:solidFill>
                  <a:srgbClr val="3B2A54"/>
                </a:solidFill>
                <a:latin typeface="Arial"/>
              </a:rPr>
              <a:t>Committee chairs are </a:t>
            </a:r>
            <a:r>
              <a:rPr sz="1100" b="0">
                <a:solidFill>
                  <a:srgbClr val="3B2A54"/>
                </a:solidFill>
                <a:latin typeface="Arial"/>
              </a:rPr>
              <a:t>briefed </a:t>
            </a:r>
            <a:r>
              <a:rPr lang="en-US" sz="1100" b="0">
                <a:solidFill>
                  <a:srgbClr val="3B2A54"/>
                </a:solidFill>
                <a:latin typeface="Arial"/>
              </a:rPr>
              <a:t>at </a:t>
            </a:r>
            <a:r>
              <a:rPr sz="1100" b="0">
                <a:solidFill>
                  <a:srgbClr val="3B2A54"/>
                </a:solidFill>
                <a:latin typeface="Arial"/>
              </a:rPr>
              <a:t>T-9</a:t>
            </a:r>
            <a:r>
              <a:rPr lang="en-US" sz="1100" b="0">
                <a:solidFill>
                  <a:srgbClr val="3B2A54"/>
                </a:solidFill>
                <a:latin typeface="Arial"/>
              </a:rPr>
              <a:t>. The book is on the portal at</a:t>
            </a:r>
            <a:r>
              <a:rPr sz="1100" b="0">
                <a:solidFill>
                  <a:srgbClr val="3B2A54"/>
                </a:solidFill>
                <a:latin typeface="Arial"/>
              </a:rPr>
              <a:t> T-7.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2248" y="1755388"/>
            <a:ext cx="256032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51976" y="1865116"/>
            <a:ext cx="2340863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820AD1"/>
                </a:solidFill>
                <a:latin typeface="Arial"/>
              </a:rPr>
              <a:t>T-6 TO T-0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1052C"/>
                </a:solidFill>
                <a:latin typeface="Arial"/>
              </a:rPr>
              <a:t>Decisions, not read-outs</a:t>
            </a:r>
          </a:p>
          <a:p>
            <a:pPr algn="l">
              <a:spcAft>
                <a:spcPts val="400"/>
              </a:spcAft>
            </a:pPr>
            <a:r>
              <a:rPr lang="en-US" sz="1100" b="0">
                <a:solidFill>
                  <a:srgbClr val="3B2A54"/>
                </a:solidFill>
                <a:latin typeface="Arial"/>
              </a:rPr>
              <a:t>Directors' questions are answered in writing </a:t>
            </a:r>
            <a:r>
              <a:rPr sz="1100" b="0">
                <a:solidFill>
                  <a:srgbClr val="3B2A54"/>
                </a:solidFill>
                <a:latin typeface="Arial"/>
              </a:rPr>
              <a:t>by T-3</a:t>
            </a:r>
            <a:r>
              <a:rPr lang="en-US" sz="1100" b="0">
                <a:solidFill>
                  <a:srgbClr val="3B2A54"/>
                </a:solidFill>
                <a:latin typeface="Arial"/>
              </a:rPr>
              <a:t>, so the meeting goes to the capital plan</a:t>
            </a:r>
            <a:r>
              <a:rPr sz="1100" b="0">
                <a:solidFill>
                  <a:srgbClr val="3B2A54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3556756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7F2FD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679194"/>
            <a:ext cx="104241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1052C"/>
                </a:solidFill>
                <a:latin typeface="Arial"/>
              </a:rPr>
              <a:t>Two items cannot slip: </a:t>
            </a:r>
            <a:r>
              <a:rPr sz="1400" b="0">
                <a:solidFill>
                  <a:srgbClr val="11052C"/>
                </a:solidFill>
                <a:latin typeface="Arial"/>
              </a:rPr>
              <a:t>the capital plan, because this is the last Board before Investor Day on 8 Dec, and the statutory items for new entities: open an entity only when a license or tax substance requires it; officers and signing follow the stage (backup B).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438886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4498588"/>
            <a:ext cx="3300984" cy="10233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11052C"/>
                </a:solidFill>
                <a:latin typeface="Arial"/>
              </a:rPr>
              <a:t>Still no agreement at the lock</a:t>
            </a:r>
          </a:p>
          <a:p>
            <a:pPr algn="l">
              <a:spcAft>
                <a:spcPts val="400"/>
              </a:spcAft>
            </a:pPr>
            <a:r>
              <a:rPr lang="en-US" sz="1050" b="0" dirty="0">
                <a:solidFill>
                  <a:srgbClr val="3B2A54"/>
                </a:solidFill>
                <a:latin typeface="Arial"/>
              </a:rPr>
              <a:t>Dissenting </a:t>
            </a:r>
            <a:r>
              <a:rPr sz="1050" b="0" dirty="0">
                <a:solidFill>
                  <a:srgbClr val="3B2A54"/>
                </a:solidFill>
                <a:latin typeface="Arial"/>
              </a:rPr>
              <a:t>positions go in the memo; the CEO decides; the dissent is recorded, so the Board sees one recommendation.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438886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34256" y="4498588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1052C"/>
                </a:solidFill>
                <a:latin typeface="Arial"/>
              </a:rPr>
              <a:t>Materials are still late at T-10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B2A54"/>
                </a:solidFill>
                <a:latin typeface="Arial"/>
              </a:rPr>
              <a:t>The locked outline decides: anything outside it goes to the appendix or the next meeting.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36408" y="4388860"/>
            <a:ext cx="35204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46136" y="4498588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1052C"/>
                </a:solidFill>
                <a:latin typeface="Arial"/>
              </a:rPr>
              <a:t>The book holds non-public Q3 results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3B2A54"/>
                </a:solidFill>
                <a:latin typeface="Arial"/>
              </a:rPr>
              <a:t>Portal only</a:t>
            </a:r>
            <a:r>
              <a:rPr lang="en-US" sz="1050" b="0">
                <a:solidFill>
                  <a:srgbClr val="3B2A54"/>
                </a:solidFill>
                <a:latin typeface="Arial"/>
              </a:rPr>
              <a:t>; IR sets what directors may discuss</a:t>
            </a:r>
            <a:r>
              <a:rPr sz="1050" b="0">
                <a:solidFill>
                  <a:srgbClr val="3B2A54"/>
                </a:solidFill>
                <a:latin typeface="Arial"/>
              </a:rPr>
              <a:t>. </a:t>
            </a:r>
            <a:r>
              <a:rPr lang="en-US" sz="1050" b="0">
                <a:solidFill>
                  <a:srgbClr val="3B2A54"/>
                </a:solidFill>
                <a:latin typeface="Arial"/>
              </a:rPr>
              <a:t>The review agent's drafts run on Nu-approved </a:t>
            </a:r>
            <a:r>
              <a:rPr sz="1050" b="0">
                <a:solidFill>
                  <a:srgbClr val="3B2A54"/>
                </a:solidFill>
                <a:latin typeface="Arial"/>
              </a:rPr>
              <a:t>tools, </a:t>
            </a:r>
            <a:r>
              <a:rPr lang="en-US" sz="1050" b="0">
                <a:solidFill>
                  <a:srgbClr val="3B2A54"/>
                </a:solidFill>
                <a:latin typeface="Arial"/>
              </a:rPr>
              <a:t>and a named owner signs each answer</a:t>
            </a:r>
            <a:r>
              <a:rPr sz="1050" b="0">
                <a:solidFill>
                  <a:srgbClr val="3B2A54"/>
                </a:solidFill>
                <a:latin typeface="Arial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897620"/>
            <a:ext cx="105156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B5B82"/>
                </a:solidFill>
                <a:latin typeface="Arial"/>
              </a:rPr>
              <a:t>Board assumed on Tue 17 Nov, four weeks from today. Q3'26 results are due 12 Nov; Investor Day is 8 Dec 2026.</a:t>
            </a:r>
            <a:r>
              <a:rPr lang="en-US" sz="900" b="0" dirty="0">
                <a:solidFill>
                  <a:srgbClr val="6B5B82"/>
                </a:solidFill>
                <a:latin typeface="Arial"/>
              </a:rPr>
              <a:t/>
            </a:r>
            <a:r>
              <a:rPr sz="900" b="0" dirty="0">
                <a:solidFill>
                  <a:srgbClr val="6B5B82"/>
                </a:solidFill>
                <a:latin typeface="Arial"/>
              </a:rPr>
              <a:t/>
            </a:r>
            <a:r>
              <a:rPr lang="en-US" sz="900" b="0" dirty="0">
                <a:solidFill>
                  <a:srgbClr val="6B5B82"/>
                </a:solidFill>
                <a:latin typeface="Arial"/>
              </a:rPr>
              <a:t/>
            </a:r>
            <a:r>
              <a:rPr sz="900" b="0" dirty="0">
                <a:solidFill>
                  <a:srgbClr val="6B5B82"/>
                </a:solidFill>
                <a:latin typeface="Arial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39" y="632253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8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2  //  C-SUITE AND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Managing different viewpoints and friction at the executive level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26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" y="1270035"/>
            <a:ext cx="2340863" cy="25776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820AD1"/>
                </a:solidFill>
                <a:latin typeface="Arial"/>
              </a:rPr>
              <a:t>STEP 1</a:t>
            </a: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1052C"/>
                </a:solidFill>
                <a:latin typeface="Arial"/>
              </a:rPr>
              <a:t>Talk privately first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, always</a:t>
            </a:r>
            <a:endParaRPr sz="16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400" b="0" dirty="0">
                <a:solidFill>
                  <a:srgbClr val="3B2A54"/>
                </a:solidFill>
                <a:latin typeface="Arial"/>
              </a:rPr>
              <a:t>C-level access comes with earning trust and a seat at the table. Understanding the GMs’ priorities is key to drive acceptance as an advisor; the Business mus</a:t>
            </a:r>
            <a:r>
              <a:rPr lang="en-US" sz="1400" dirty="0">
                <a:solidFill>
                  <a:srgbClr val="3B2A54"/>
                </a:solidFill>
                <a:latin typeface="Arial"/>
              </a:rPr>
              <a:t>t see this role as an enabler and advisor, not a blocker.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558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65576" y="1270035"/>
            <a:ext cx="2340863" cy="25776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820AD1"/>
                </a:solidFill>
                <a:latin typeface="Arial"/>
              </a:rPr>
              <a:t>STEP 2</a:t>
            </a: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1052C"/>
                </a:solidFill>
                <a:latin typeface="Arial"/>
              </a:rPr>
              <a:t>Move 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beyond facts and numbers</a:t>
            </a:r>
            <a:endParaRPr sz="16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From "I need $25M" to "what would prove this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justifies the ask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?"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- t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he </a:t>
            </a:r>
            <a:r>
              <a:rPr lang="en-US" sz="1400" dirty="0">
                <a:solidFill>
                  <a:srgbClr val="3B2A54"/>
                </a:solidFill>
                <a:latin typeface="Arial"/>
              </a:rPr>
              <a:t>governance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sets the bar, and this team gains buy-in working as a facilitator to navigate the requirements for a path to approval.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990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08776" y="1270035"/>
            <a:ext cx="2340863" cy="2793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820AD1"/>
                </a:solidFill>
                <a:latin typeface="Arial"/>
              </a:rPr>
              <a:t>STEP 3</a:t>
            </a:r>
          </a:p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rgbClr val="11052C"/>
                </a:solidFill>
                <a:latin typeface="Arial"/>
              </a:rPr>
              <a:t>People, people, people</a:t>
            </a:r>
            <a:endParaRPr sz="16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400" b="0" dirty="0">
                <a:solidFill>
                  <a:srgbClr val="3B2A54"/>
                </a:solidFill>
                <a:latin typeface="Arial"/>
              </a:rPr>
              <a:t>Establishing access with teams, not just leaders, is a proven path to (a) acquire “finger on the pulse” insights,</a:t>
            </a:r>
            <a:r>
              <a:rPr lang="en-US" sz="1400" dirty="0">
                <a:solidFill>
                  <a:srgbClr val="3B2A54"/>
                </a:solidFill>
                <a:latin typeface="Arial"/>
              </a:rPr>
              <a:t> and (b) show executives that this is a generalist team that can navigate a multitude of topics engaging the SMEs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422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51976" y="1270035"/>
            <a:ext cx="2340863" cy="2762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820AD1"/>
                </a:solidFill>
                <a:latin typeface="Arial"/>
              </a:rPr>
              <a:t>STEP 4</a:t>
            </a:r>
          </a:p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rgbClr val="11052C"/>
                </a:solidFill>
                <a:latin typeface="Arial"/>
              </a:rPr>
              <a:t>Build with, not for</a:t>
            </a:r>
            <a:endParaRPr sz="16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400" b="0" dirty="0">
                <a:solidFill>
                  <a:srgbClr val="3B2A54"/>
                </a:solidFill>
                <a:latin typeface="Arial"/>
              </a:rPr>
              <a:t>Making GMs and teams feel part of the solution is a virtuous cycle to secure alignment and increase synergy - REAL synergy that comes from a well functioning, high-performance executive team focused on shared goals.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2648" y="4526279"/>
            <a:ext cx="10789920" cy="1458575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4668900"/>
            <a:ext cx="10424160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dirty="0">
                <a:solidFill>
                  <a:srgbClr val="FFFFFF"/>
                </a:solidFill>
                <a:latin typeface="Arial"/>
              </a:rPr>
              <a:t>Why it can work without line authority: the CoS &amp; CG can play a crucial role in selling the value of the governance and why it makes our decision-making process better. GMs don’t need to agree on everything all the time, but the rules are public on day one, the tough conversations are private, and the sign-off is joint even upon disagreement – “dissent but commit” is a solid outcome.</a:t>
            </a:r>
            <a:r>
              <a:rPr lang="en-US" sz="1600" b="1" dirty="0">
                <a:solidFill>
                  <a:srgbClr val="FFFFFF"/>
                </a:solidFill>
                <a:latin typeface="Arial"/>
              </a:rPr>
              <a:t/>
            </a:r>
            <a:r>
              <a:rPr sz="1600" b="1" dirty="0">
                <a:solidFill>
                  <a:srgbClr val="FFFFFF"/>
                </a:solidFill>
                <a:latin typeface="Arial"/>
              </a:rPr>
              <a:t/>
            </a:r>
            <a:r>
              <a:rPr lang="en-US" sz="1600" b="0" dirty="0">
                <a:solidFill>
                  <a:srgbClr val="FFFFFF"/>
                </a:solidFill>
                <a:latin typeface="Arial"/>
              </a:rPr>
              <a:t/>
            </a:r>
            <a:r>
              <a:rPr lang="en-US" sz="1600" b="0" dirty="0" err="1">
                <a:solidFill>
                  <a:srgbClr val="FFFFFF"/>
                </a:solidFill>
                <a:latin typeface="Arial"/>
              </a:rPr>
              <a:t/>
            </a:r>
            <a:r>
              <a:rPr lang="en-US" sz="1600" b="0" dirty="0">
                <a:solidFill>
                  <a:srgbClr val="FFFFFF"/>
                </a:solidFill>
                <a:latin typeface="Arial"/>
              </a:rPr>
              <a:t/>
            </a:r>
            <a:r>
              <a:rPr sz="1600" b="0" dirty="0">
                <a:solidFill>
                  <a:srgbClr val="FFFFFF"/>
                </a:solidFill>
                <a:latin typeface="Arial"/>
              </a:rPr>
              <a:t/>
            </a:r>
            <a:r>
              <a:rPr lang="en-US" sz="1600" dirty="0">
                <a:solidFill>
                  <a:srgbClr val="FFFFFF"/>
                </a:solidFill>
                <a:latin typeface="Arial"/>
              </a:rPr>
              <a:t/>
            </a:r>
            <a:r>
              <a:rPr lang="en-US" sz="1600" b="0" dirty="0">
                <a:solidFill>
                  <a:srgbClr val="FFFFFF"/>
                </a:solidFill>
                <a:latin typeface="Arial"/>
              </a:rPr>
              <a:t/>
            </a:r>
            <a:r>
              <a:rPr sz="1600" b="0" dirty="0">
                <a:solidFill>
                  <a:srgbClr val="FFFFFF"/>
                </a:solidFill>
                <a:latin typeface="Arial"/>
              </a:rPr>
              <a:t/>
            </a:r>
            <a:r>
              <a:rPr lang="en-US" sz="1600" b="0" dirty="0">
                <a:solidFill>
                  <a:srgbClr val="FFFFFF"/>
                </a:solidFill>
                <a:latin typeface="Arial"/>
              </a:rPr>
              <a:t/>
            </a:r>
            <a:r>
              <a:rPr sz="1600" b="0" dirty="0">
                <a:solidFill>
                  <a:srgbClr val="FFFFFF"/>
                </a:solidFill>
                <a:latin typeface="Arial"/>
              </a:rPr>
              <a:t/>
            </a:r>
            <a:r>
              <a:rPr lang="en-US" sz="1600" dirty="0">
                <a:solidFill>
                  <a:srgbClr val="FFFFFF"/>
                </a:solidFill>
                <a:latin typeface="Arial"/>
              </a:rPr>
              <a:t/>
            </a:r>
            <a:r>
              <a:rPr sz="1600" b="0" dirty="0">
                <a:solidFill>
                  <a:srgbClr val="FFFFFF"/>
                </a:solidFill>
                <a:latin typeface="Arial"/>
              </a:rPr>
              <a:t/>
            </a:r>
            <a:r>
              <a:rPr lang="en-US" sz="1600" b="0" dirty="0">
                <a:solidFill>
                  <a:srgbClr val="FFFFFF"/>
                </a:solidFill>
                <a:latin typeface="Arial"/>
              </a:rPr>
              <a:t/>
            </a:r>
            <a:r>
              <a:rPr sz="1600" b="0" dirty="0">
                <a:solidFill>
                  <a:srgbClr val="FFFFFF"/>
                </a:solidFill>
                <a:latin typeface="Arial"/>
              </a:rPr>
              <a:t/>
            </a:r>
            <a:r>
              <a:rPr lang="en-US" sz="1600" b="0" dirty="0">
                <a:solidFill>
                  <a:srgbClr val="FFFFFF"/>
                </a:solidFill>
                <a:latin typeface="Arial"/>
              </a:rPr>
              <a:t/>
            </a:r>
            <a:r>
              <a:rPr sz="1600" b="0" dirty="0">
                <a:solidFill>
                  <a:srgbClr val="FFFFFF"/>
                </a:solidFill>
                <a:latin typeface="Arial"/>
              </a:rPr>
              <a:t/>
            </a:r>
            <a:r>
              <a:rPr lang="en-US" sz="1600" b="0" dirty="0">
                <a:solidFill>
                  <a:srgbClr val="FFFFFF"/>
                </a:solidFill>
                <a:latin typeface="Arial"/>
              </a:rPr>
              <a:t/>
            </a:r>
            <a:r>
              <a:rPr sz="1600" b="0" dirty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16935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B5B82"/>
                </a:solidFill>
                <a:latin typeface="Arial"/>
              </a:rPr>
              <a:t>Fair process: Kim and Mauborgne, "Fair Process: Managing in the Knowledge Economy", Harvard Business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9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3  //  HQ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1052C"/>
                </a:solidFill>
                <a:latin typeface="Arial"/>
              </a:rPr>
              <a:t>The HQ is a governance project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as much as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a real-estate deal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4131"/>
            <a:ext cx="521208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1616962"/>
            <a:ext cx="4992624" cy="19312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820AD1"/>
                </a:solidFill>
                <a:latin typeface="Arial"/>
              </a:rPr>
              <a:t>THE ASSESSMENT</a:t>
            </a: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11052C"/>
                </a:solidFill>
                <a:latin typeface="Arial"/>
              </a:rPr>
              <a:t>What 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needs to be assessed before </a:t>
            </a:r>
            <a:r>
              <a:rPr sz="1600" b="1" dirty="0">
                <a:solidFill>
                  <a:srgbClr val="11052C"/>
                </a:solidFill>
                <a:latin typeface="Arial"/>
              </a:rPr>
              <a:t>a 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site is defined and a </a:t>
            </a:r>
            <a:r>
              <a:rPr sz="1600" b="1" dirty="0">
                <a:solidFill>
                  <a:srgbClr val="11052C"/>
                </a:solidFill>
                <a:latin typeface="Arial"/>
              </a:rPr>
              <a:t>lease 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/ purchase can happen</a:t>
            </a:r>
            <a:endParaRPr sz="16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A regional hub and campus, negotiated across Legal, Tax, Compliance, People and Workplace,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exists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in more than one jurisdictio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n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with no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clear owner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over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all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of them.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 This is an enterprise initiative that requires significant cross-functional work, with proper cadence and discipline to run it.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2648" y="3931403"/>
            <a:ext cx="5212080" cy="227411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4200275"/>
            <a:ext cx="4992624" cy="17363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820AD1"/>
                </a:solidFill>
                <a:latin typeface="Arial"/>
              </a:rPr>
              <a:t>WHAT IS NEGOTIATED</a:t>
            </a:r>
          </a:p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rgbClr val="11052C"/>
                </a:solidFill>
                <a:latin typeface="Arial"/>
              </a:rPr>
              <a:t>Different </a:t>
            </a:r>
            <a:r>
              <a:rPr sz="1600" b="1" dirty="0">
                <a:solidFill>
                  <a:srgbClr val="11052C"/>
                </a:solidFill>
                <a:latin typeface="Arial"/>
              </a:rPr>
              <a:t>kinds of agreement</a:t>
            </a:r>
            <a:r>
              <a:rPr lang="en-US" sz="1600" b="1" dirty="0">
                <a:solidFill>
                  <a:srgbClr val="11052C"/>
                </a:solidFill>
                <a:latin typeface="Arial"/>
              </a:rPr>
              <a:t>s</a:t>
            </a:r>
            <a:endParaRPr sz="16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Local regulatory agreements: the incentive or grant, any tax ruling, registrations and permits, work permits (Legal, Tax, Compliance, People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, Government Engagement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).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Campus infrastructure agreements: lease or build-to-suit, fit-out, utilities, land and zoning (Workplace, Legal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, Tax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338020"/>
            <a:ext cx="5440680" cy="48981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08776" y="1500753"/>
            <a:ext cx="5221224" cy="4624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050" b="1" dirty="0">
                <a:solidFill>
                  <a:srgbClr val="820AD1"/>
                </a:solidFill>
                <a:latin typeface="Arial"/>
              </a:rPr>
              <a:t>PRINCIPLES ON CHOOSING A </a:t>
            </a:r>
            <a:r>
              <a:rPr sz="1050" b="1" dirty="0">
                <a:solidFill>
                  <a:srgbClr val="820AD1"/>
                </a:solidFill>
                <a:latin typeface="Arial"/>
              </a:rPr>
              <a:t>SITE</a:t>
            </a:r>
          </a:p>
          <a:p>
            <a:pPr algn="l">
              <a:spcAft>
                <a:spcPts val="1200"/>
              </a:spcAft>
            </a:pPr>
            <a:r>
              <a:rPr b="1" dirty="0">
                <a:solidFill>
                  <a:srgbClr val="11052C"/>
                </a:solidFill>
                <a:latin typeface="Arial"/>
              </a:rPr>
              <a:t>Four hard tests, then five criteria</a:t>
            </a:r>
          </a:p>
          <a:p>
            <a:pPr algn="l">
              <a:spcAft>
                <a:spcPts val="12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1. </a:t>
            </a:r>
            <a:r>
              <a:rPr sz="1400" b="1" dirty="0">
                <a:solidFill>
                  <a:srgbClr val="3B2A54"/>
                </a:solidFill>
                <a:latin typeface="Arial"/>
              </a:rPr>
              <a:t>Regulatory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: </a:t>
            </a:r>
            <a:r>
              <a:rPr lang="en-US" sz="1400" dirty="0">
                <a:solidFill>
                  <a:srgbClr val="3B2A54"/>
                </a:solidFill>
                <a:latin typeface="Arial"/>
              </a:rPr>
              <a:t>Nu has the required licenses for what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the hub's activities 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require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(Compliance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, Legal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).</a:t>
            </a:r>
          </a:p>
          <a:p>
            <a:pPr algn="l">
              <a:spcAft>
                <a:spcPts val="12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2. </a:t>
            </a:r>
            <a:r>
              <a:rPr sz="1400" b="1" dirty="0">
                <a:solidFill>
                  <a:srgbClr val="3B2A54"/>
                </a:solidFill>
                <a:latin typeface="Arial"/>
              </a:rPr>
              <a:t>Tax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: people and decisions there do not move Nu Holdings' tax residence or create a taxable presence (Tax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, </a:t>
            </a:r>
            <a:r>
              <a:rPr lang="en-US" sz="1400" dirty="0">
                <a:solidFill>
                  <a:srgbClr val="3B2A54"/>
                </a:solidFill>
                <a:latin typeface="Arial"/>
              </a:rPr>
              <a:t>Finance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).</a:t>
            </a:r>
          </a:p>
          <a:p>
            <a:pPr algn="l">
              <a:spcAft>
                <a:spcPts val="12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3. </a:t>
            </a:r>
            <a:r>
              <a:rPr sz="1400" b="1" dirty="0">
                <a:solidFill>
                  <a:srgbClr val="3B2A54"/>
                </a:solidFill>
                <a:latin typeface="Arial"/>
              </a:rPr>
              <a:t>Officers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: Nu can field directors who pass fit-and-proper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 requirements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 (Legal, People).</a:t>
            </a:r>
          </a:p>
          <a:p>
            <a:pPr algn="l">
              <a:spcAft>
                <a:spcPts val="12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4. </a:t>
            </a:r>
            <a:r>
              <a:rPr sz="1400" b="1" dirty="0">
                <a:solidFill>
                  <a:srgbClr val="3B2A54"/>
                </a:solidFill>
                <a:latin typeface="Arial"/>
              </a:rPr>
              <a:t>Substance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: real payroll and assets, so the incentive survives Pillar Two (Tax, People).</a:t>
            </a:r>
          </a:p>
          <a:p>
            <a:pPr algn="l">
              <a:spcAft>
                <a:spcPts val="1200"/>
              </a:spcAft>
            </a:pPr>
            <a:r>
              <a:rPr sz="1400" b="0" dirty="0">
                <a:solidFill>
                  <a:srgbClr val="3B2A54"/>
                </a:solidFill>
                <a:latin typeface="Arial"/>
              </a:rPr>
              <a:t>Then five weighted criteria: talent and wage cost; incentive net of clawback; campus cost and timing; modeled tax rate; political and reputational </a:t>
            </a:r>
            <a:r>
              <a:rPr sz="1400" b="0">
                <a:solidFill>
                  <a:srgbClr val="3B2A54"/>
                </a:solidFill>
                <a:latin typeface="Arial"/>
              </a:rPr>
              <a:t>risk (</a:t>
            </a:r>
            <a:r>
              <a:rPr lang="en-US" sz="1400" b="0">
                <a:solidFill>
                  <a:srgbClr val="3B2A54"/>
                </a:solidFill>
                <a:latin typeface="Arial"/>
              </a:rPr>
              <a:t>suggested </a:t>
            </a:r>
            <a:r>
              <a:rPr sz="1400" b="0">
                <a:solidFill>
                  <a:srgbClr val="3B2A54"/>
                </a:solidFill>
                <a:latin typeface="Arial"/>
              </a:rPr>
              <a:t>weights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in </a:t>
            </a:r>
            <a:r>
              <a:rPr sz="1400" b="0">
                <a:solidFill>
                  <a:srgbClr val="3B2A54"/>
                </a:solidFill>
                <a:latin typeface="Arial"/>
              </a:rPr>
              <a:t>backup </a:t>
            </a:r>
            <a:r>
              <a:rPr lang="en-US" sz="1400" b="0">
                <a:solidFill>
                  <a:srgbClr val="3B2A54"/>
                </a:solidFill>
                <a:latin typeface="Arial"/>
              </a:rPr>
              <a:t>J</a:t>
            </a:r>
            <a:r>
              <a:rPr sz="1400" b="0">
                <a:solidFill>
                  <a:srgbClr val="3B2A54"/>
                </a:solidFill>
                <a:latin typeface="Arial"/>
              </a:rPr>
              <a:t>).</a:t>
            </a:r>
            <a:endParaRPr sz="1400" b="0" dirty="0">
              <a:solidFill>
                <a:srgbClr val="3B2A54"/>
              </a:solidFill>
              <a:latin typeface="Arial"/>
            </a:endParaRPr>
          </a:p>
          <a:p>
            <a:pPr algn="l">
              <a:spcAft>
                <a:spcPts val="1200"/>
              </a:spcAft>
            </a:pPr>
            <a:r>
              <a:rPr lang="en-US" sz="1400" b="0" dirty="0">
                <a:solidFill>
                  <a:srgbClr val="3B2A54"/>
                </a:solidFill>
                <a:latin typeface="Arial"/>
              </a:rPr>
              <a:t>Propose to 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start where Nu already has licensed substance and a local CFO (Brazil, Mexico, Colombia) or is building (the US). Two sites go to term sheet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, then</a:t>
            </a:r>
            <a:r>
              <a:rPr sz="1400" b="0" dirty="0">
                <a:solidFill>
                  <a:srgbClr val="3B2A54"/>
                </a:solidFill>
                <a:latin typeface="Arial"/>
              </a:rPr>
              <a:t> the CEO and CFO</a:t>
            </a:r>
            <a:r>
              <a:rPr lang="en-US" sz="1400" b="0" dirty="0">
                <a:solidFill>
                  <a:srgbClr val="3B2A54"/>
                </a:solidFill>
                <a:latin typeface="Arial"/>
              </a:rPr>
              <a:t> prioritize</a:t>
            </a:r>
            <a:endParaRPr sz="14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367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6B5B82"/>
                </a:solidFill>
                <a:latin typeface="Arial"/>
              </a:rPr>
              <a:t>Nu Holdings is Cayman-incorporated (Form 20-F). Nu is above the EUR 750M Pillar Two threshold; 15% minimum; the 2026 carve-out is 9.4% of payroll and 7.4% of tangible assets (OECD GloBE, Art. 5.3 and 9.2). Brazil applies a domestic minimum top-up tax from 2025. Jurisdiction open; no savings figure until a site is chosen.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3  //  HQ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SMEs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own the judgment, </a:t>
            </a:r>
            <a:r>
              <a:rPr lang="en-US" sz="2400" b="1" dirty="0" err="1">
                <a:solidFill>
                  <a:srgbClr val="11052C"/>
                </a:solidFill>
                <a:latin typeface="Arial"/>
              </a:rPr>
              <a:t>CoS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 &amp; CG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 own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s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 the process, the CFO owns </a:t>
            </a:r>
            <a:r>
              <a:rPr lang="en-US" sz="2400" b="1" dirty="0">
                <a:solidFill>
                  <a:srgbClr val="11052C"/>
                </a:solidFill>
                <a:latin typeface="Arial"/>
              </a:rPr>
              <a:t>ultimate recommendations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53035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" y="1709928"/>
            <a:ext cx="5084064" cy="2805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050" b="1" dirty="0">
                <a:solidFill>
                  <a:srgbClr val="820AD1"/>
                </a:solidFill>
                <a:latin typeface="Arial"/>
              </a:rPr>
              <a:t>STATUTORY </a:t>
            </a:r>
            <a:r>
              <a:rPr lang="en-US" sz="1050" b="1" dirty="0">
                <a:solidFill>
                  <a:srgbClr val="820AD1"/>
                </a:solidFill>
                <a:latin typeface="Arial"/>
              </a:rPr>
              <a:t>OFFICERS</a:t>
            </a:r>
            <a:endParaRPr sz="1050" b="1" dirty="0">
              <a:solidFill>
                <a:srgbClr val="820AD1"/>
              </a:solidFill>
              <a:latin typeface="Arial"/>
            </a:endParaRPr>
          </a:p>
          <a:p>
            <a:pPr algn="l">
              <a:spcAft>
                <a:spcPts val="1200"/>
              </a:spcAft>
            </a:pPr>
            <a:r>
              <a:rPr lang="en-US" b="1" dirty="0">
                <a:solidFill>
                  <a:srgbClr val="11052C"/>
                </a:solidFill>
                <a:latin typeface="Arial"/>
              </a:rPr>
              <a:t>Authority and safeguards</a:t>
            </a:r>
            <a:endParaRPr b="1" dirty="0">
              <a:solidFill>
                <a:srgbClr val="11052C"/>
              </a:solidFill>
              <a:latin typeface="Arial"/>
            </a:endParaRP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en-US" sz="1200" b="0" dirty="0">
                <a:solidFill>
                  <a:srgbClr val="3B2A54"/>
                </a:solidFill>
                <a:latin typeface="Arial"/>
              </a:rPr>
              <a:t>Gate decisions are taken at the monthly SteerCo, chaired by the CFO.</a:t>
            </a:r>
            <a:r>
              <a:rPr lang="en-US" sz="1200" b="0" dirty="0" err="1">
                <a:solidFill>
                  <a:srgbClr val="3B2A54"/>
                </a:solidFill>
                <a:latin typeface="Arial"/>
              </a:rPr>
              <a:t/>
            </a:r>
            <a:r>
              <a:rPr lang="en-US" sz="1200" dirty="0" err="1">
                <a:solidFill>
                  <a:srgbClr val="3B2A54"/>
                </a:solidFill>
                <a:latin typeface="Arial"/>
              </a:rPr>
              <a:t/>
            </a:r>
            <a:r>
              <a:rPr lang="en-US" sz="1200" dirty="0">
                <a:solidFill>
                  <a:srgbClr val="3B2A54"/>
                </a:solidFill>
                <a:latin typeface="Arial"/>
              </a:rPr>
              <a:t/>
            </a:r>
            <a:endParaRPr lang="en-US" sz="1200" b="0" dirty="0">
              <a:solidFill>
                <a:srgbClr val="3B2A54"/>
              </a:solidFill>
              <a:latin typeface="Arial"/>
            </a:endParaRP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200" b="0" dirty="0">
                <a:solidFill>
                  <a:srgbClr val="3B2A54"/>
                </a:solidFill>
                <a:latin typeface="Arial"/>
              </a:rPr>
              <a:t>Signing: central until gate 3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, then delegated limits.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en-US" sz="1200" b="0" dirty="0">
                <a:solidFill>
                  <a:srgbClr val="3B2A54"/>
                </a:solidFill>
                <a:latin typeface="Arial"/>
              </a:rPr>
              <a:t>Officers: qualified appointees, with D&amp;O cover before activation.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200" b="0" dirty="0">
                <a:solidFill>
                  <a:srgbClr val="3B2A54"/>
                </a:solidFill>
                <a:latin typeface="Arial"/>
              </a:rPr>
              <a:t>Legal confirms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personal liability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.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Regulatory filings start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at gate 1.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en-US" sz="1200" b="0" dirty="0">
                <a:solidFill>
                  <a:srgbClr val="3B2A54"/>
                </a:solidFill>
                <a:latin typeface="Arial"/>
              </a:rPr>
              <a:t>Regulated entities need </a:t>
            </a:r>
            <a:r>
              <a:rPr sz="1200" b="0" dirty="0">
                <a:solidFill>
                  <a:srgbClr val="3B2A54"/>
                </a:solidFill>
                <a:latin typeface="Arial"/>
              </a:rPr>
              <a:t>a capital plan and 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>Board oversight.</a:t>
            </a:r>
            <a:endParaRPr sz="120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99048" y="1600200"/>
            <a:ext cx="53035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08776" y="1709928"/>
            <a:ext cx="5084064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sz="1050" b="1" dirty="0">
                <a:solidFill>
                  <a:srgbClr val="820AD1"/>
                </a:solidFill>
                <a:latin typeface="Arial"/>
              </a:rPr>
              <a:t>CROSS-FUNCTIONAL LEADERSHIP</a:t>
            </a:r>
            <a:endParaRPr sz="1050" b="1" dirty="0">
              <a:solidFill>
                <a:srgbClr val="820AD1"/>
              </a:solidFill>
              <a:latin typeface="Arial"/>
            </a:endParaRPr>
          </a:p>
          <a:p>
            <a:pPr algn="l">
              <a:spcAft>
                <a:spcPts val="1200"/>
              </a:spcAft>
            </a:pPr>
            <a:r>
              <a:rPr lang="en-US" b="1" dirty="0">
                <a:solidFill>
                  <a:srgbClr val="11052C"/>
                </a:solidFill>
                <a:latin typeface="Arial"/>
              </a:rPr>
              <a:t>Accountability and escalation</a:t>
            </a:r>
            <a:endParaRPr b="1" dirty="0">
              <a:solidFill>
                <a:srgbClr val="11052C"/>
              </a:solidFill>
              <a:latin typeface="Arial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lang="en-US" sz="1200" b="0" dirty="0" err="1">
                <a:solidFill>
                  <a:srgbClr val="3B2A54"/>
                </a:solidFill>
                <a:latin typeface="Arial"/>
              </a:rPr>
              <a:t>CoS &amp; CG leads cadence and delivery; functions own the technical advice.</a:t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/>
            </a:r>
            <a:r>
              <a:rPr sz="1200" b="0" dirty="0">
                <a:solidFill>
                  <a:srgbClr val="3B2A54"/>
                </a:solidFill>
                <a:latin typeface="Arial"/>
              </a:rPr>
              <a:t/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/>
            </a:r>
            <a:r>
              <a:rPr sz="1200" b="0" dirty="0">
                <a:solidFill>
                  <a:srgbClr val="3B2A54"/>
                </a:solidFill>
                <a:latin typeface="Arial"/>
              </a:rPr>
              <a:t/>
            </a:r>
            <a:r>
              <a:rPr lang="en-US" sz="1200" b="0" dirty="0">
                <a:solidFill>
                  <a:srgbClr val="3B2A54"/>
                </a:solidFill>
                <a:latin typeface="Arial"/>
              </a:rPr>
              <a:t/>
            </a:r>
            <a:r>
              <a:rPr sz="1200" b="0" dirty="0">
                <a:solidFill>
                  <a:srgbClr val="3B2A54"/>
                </a:solidFill>
                <a:latin typeface="Arial"/>
              </a:rPr>
              <a:t/>
            </a:r>
            <a:endParaRPr lang="en-US" sz="1200" b="0" dirty="0">
              <a:solidFill>
                <a:srgbClr val="3B2A54"/>
              </a:solidFill>
              <a:latin typeface="Arial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lang="en-US" sz="1200" b="0" dirty="0">
                <a:solidFill>
                  <a:srgbClr val="3B2A54"/>
                </a:solidFill>
                <a:latin typeface="Arial"/>
              </a:rPr>
              <a:t>CFO recommends, CEO selects the site; board appoints officers.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lang="en-US" sz="1200" b="0" dirty="0">
                <a:solidFill>
                  <a:srgbClr val="3B2A54"/>
                </a:solidFill>
                <a:latin typeface="Arial"/>
              </a:rPr>
              <a:t>Weekly functional leads meeting with one decision log; monthly SteerCo.</a:t>
            </a:r>
            <a:r>
              <a:rPr lang="en-US" sz="1200" b="0">
                <a:solidFill>
                  <a:srgbClr val="3B2A54"/>
                </a:solidFill>
                <a:latin typeface="Arial"/>
              </a:rPr>
              <a:t/>
            </a:r>
            <a:endParaRPr lang="en-US" sz="1200" b="0" dirty="0">
              <a:solidFill>
                <a:srgbClr val="3B2A54"/>
              </a:solidFill>
              <a:latin typeface="Arial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lang="en-US" sz="1200" b="0" dirty="0">
                <a:solidFill>
                  <a:srgbClr val="3B2A54"/>
                </a:solidFill>
                <a:latin typeface="Arial"/>
              </a:rPr>
              <a:t>When functions disagree, both views go in the log and reach the CFO within 48 hours with a recommendation; Legal and Compliance keep legality vetoes.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5001768"/>
            <a:ext cx="35204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111496"/>
            <a:ext cx="3300984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11052C"/>
                </a:solidFill>
                <a:latin typeface="Arial"/>
              </a:rPr>
              <a:t>Tax residence </a:t>
            </a:r>
            <a:r>
              <a:rPr lang="en-US" sz="1200" b="1" dirty="0">
                <a:solidFill>
                  <a:srgbClr val="11052C"/>
                </a:solidFill>
                <a:latin typeface="Arial"/>
              </a:rPr>
              <a:t>planning changes</a:t>
            </a:r>
            <a:endParaRPr sz="12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050" b="0" dirty="0">
                <a:solidFill>
                  <a:srgbClr val="3B2A54"/>
                </a:solidFill>
                <a:latin typeface="Arial"/>
              </a:rPr>
              <a:t>Opinion at gate 1; meeting patterns unchanged; no early signing (Tax).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5001768"/>
            <a:ext cx="35204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34256" y="5111496"/>
            <a:ext cx="330098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11052C"/>
                </a:solidFill>
                <a:latin typeface="Arial"/>
              </a:rPr>
              <a:t>Officer approval runs late</a:t>
            </a:r>
          </a:p>
          <a:p>
            <a:pPr algn="l">
              <a:spcAft>
                <a:spcPts val="400"/>
              </a:spcAft>
            </a:pPr>
            <a:r>
              <a:rPr sz="1050" b="0" dirty="0">
                <a:solidFill>
                  <a:srgbClr val="3B2A54"/>
                </a:solidFill>
                <a:latin typeface="Arial"/>
              </a:rPr>
              <a:t>Files at gate 1; no activation before approval; the lease long-stop moves with it (Legal, People).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36408" y="5001768"/>
            <a:ext cx="35204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46136" y="5111496"/>
            <a:ext cx="3300984" cy="10233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dirty="0">
                <a:solidFill>
                  <a:srgbClr val="D97706"/>
                </a:solidFill>
                <a:latin typeface="Arial"/>
              </a:rPr>
              <a:t>RISK</a:t>
            </a:r>
          </a:p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11052C"/>
                </a:solidFill>
                <a:latin typeface="Arial"/>
              </a:rPr>
              <a:t>Dependence on </a:t>
            </a:r>
            <a:r>
              <a:rPr lang="en-US" sz="1200" b="1" dirty="0">
                <a:solidFill>
                  <a:srgbClr val="11052C"/>
                </a:solidFill>
                <a:latin typeface="Arial"/>
              </a:rPr>
              <a:t>the </a:t>
            </a:r>
            <a:r>
              <a:rPr lang="en-US" sz="1200" b="1" dirty="0" err="1">
                <a:solidFill>
                  <a:srgbClr val="11052C"/>
                </a:solidFill>
                <a:latin typeface="Arial"/>
              </a:rPr>
              <a:t>CoS</a:t>
            </a:r>
            <a:endParaRPr sz="1200" b="1" dirty="0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050" b="0" dirty="0">
                <a:solidFill>
                  <a:srgbClr val="3B2A54"/>
                </a:solidFill>
                <a:latin typeface="Arial"/>
              </a:rPr>
              <a:t>A named deputy</a:t>
            </a:r>
            <a:r>
              <a:rPr lang="en-US" sz="1050" b="0" dirty="0">
                <a:solidFill>
                  <a:srgbClr val="3B2A54"/>
                </a:solidFill>
                <a:latin typeface="Arial"/>
              </a:rPr>
              <a:t> is the de facto #2 in command of the project;</a:t>
            </a:r>
            <a:r>
              <a:rPr sz="1050" b="0" dirty="0">
                <a:solidFill>
                  <a:srgbClr val="3B2A54"/>
                </a:solidFill>
                <a:latin typeface="Arial"/>
              </a:rPr>
              <a:t> the </a:t>
            </a:r>
            <a:r>
              <a:rPr lang="en-US" sz="1050" b="0" dirty="0">
                <a:solidFill>
                  <a:srgbClr val="3B2A54"/>
                </a:solidFill>
                <a:latin typeface="Arial"/>
              </a:rPr>
              <a:t>data, documents and </a:t>
            </a:r>
            <a:r>
              <a:rPr sz="1050" b="0" dirty="0">
                <a:solidFill>
                  <a:srgbClr val="3B2A54"/>
                </a:solidFill>
                <a:latin typeface="Arial"/>
              </a:rPr>
              <a:t>decision log</a:t>
            </a:r>
            <a:r>
              <a:rPr lang="en-US" sz="1050" b="0" dirty="0">
                <a:solidFill>
                  <a:srgbClr val="3B2A54"/>
                </a:solidFill>
                <a:latin typeface="Arial"/>
              </a:rPr>
              <a:t> exist in cloud shared environments</a:t>
            </a:r>
            <a:endParaRPr sz="1050" b="0" dirty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2648" y="626364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Signing limits and the delegation model are proposals. If the hub sits inside an existing licensed entity, gate 3 shrinks to a powers-of-attorney update (backup B). Full HQ risk register and site scorecard: backup </a:t>
            </a:r>
            <a:r>
              <a:rPr lang="en-US" sz="900" b="0">
                <a:solidFill>
                  <a:srgbClr val="6B5B82"/>
                </a:solidFill>
                <a:latin typeface="Arial"/>
              </a:rPr>
              <a:t>J</a:t>
            </a:r>
            <a:r>
              <a:rPr sz="900" b="0">
                <a:solidFill>
                  <a:srgbClr val="6B5B82"/>
                </a:solidFill>
                <a:latin typeface="Ari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11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3  //  HQ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1052C"/>
                </a:solidFill>
                <a:latin typeface="Arial"/>
              </a:rPr>
              <a:t>Proposal: </a:t>
            </a:r>
            <a:r>
              <a:rPr sz="2400" b="1" dirty="0">
                <a:solidFill>
                  <a:srgbClr val="11052C"/>
                </a:solidFill>
                <a:latin typeface="Arial"/>
              </a:rPr>
              <a:t>Four decision gates in 120 days; nothing signed between them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294443"/>
              </p:ext>
            </p:extLst>
          </p:nvPr>
        </p:nvGraphicFramePr>
        <p:xfrm>
          <a:off x="612648" y="1240012"/>
          <a:ext cx="10789920" cy="33045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5284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</a:rPr>
                        <a:t>Gate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we negotiate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Exit test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Walk-away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39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Gate 1, D+30: can we?</a:t>
                      </a:r>
                      <a:r>
                        <a:rPr sz="1050" b="0">
                          <a:solidFill>
                            <a:srgbClr val="11052C"/>
                          </a:solidFill>
                          <a:latin typeface="Arial"/>
                        </a:rPr>
                        <a:t>
Tax and residence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Tax, with Compliance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Nothing yet: internal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Tax-residence and taxable-presence opinion for both sites; modeled tax rate holds under Pillar Two; Compliance confirms permission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Any site where residence or a taxable presence moves, whatever the incentive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24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Gate 2, D+60: what may we offer?</a:t>
                      </a:r>
                      <a:r>
                        <a:rPr sz="1050" b="0">
                          <a:solidFill>
                            <a:srgbClr val="11052C"/>
                          </a:solidFill>
                          <a:latin typeface="Arial"/>
                        </a:rPr>
                        <a:t>
Regulatory and grant terms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Legal, with Tax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I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ncentive agreement 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with prospects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; commitments only inside the published plan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Signed term sheet: 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negotiate 12-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24 months' grace; one site dropped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 by elimination criteria</a:t>
                      </a:r>
                      <a:endParaRPr sz="10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A cliff-edge clawback; a headcount commitment above plan; terms that bind other markets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24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Gate 3, D+90: who may bind Nu?</a:t>
                      </a:r>
                      <a:r>
                        <a:rPr sz="1050" b="0">
                          <a:solidFill>
                            <a:srgbClr val="11052C"/>
                          </a:solidFill>
                          <a:latin typeface="Arial"/>
                        </a:rPr>
                        <a:t>
Officers and signing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Legal and People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Nothing external: Nu's own governance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Officers named from licensed executives; fit-and-proper files in (started at gate 1); signing matrix and powers of attorney approved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Any appointment without </a:t>
                      </a:r>
                      <a:r>
                        <a:rPr lang="en-US" sz="1050" b="0" dirty="0">
                          <a:solidFill>
                            <a:srgbClr val="3B2A54"/>
                          </a:solidFill>
                          <a:latin typeface="Arial"/>
                        </a:rPr>
                        <a:t>Compliance/Legal </a:t>
                      </a:r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cover or regulator approval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39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Gate 4, D+120: do we commit?</a:t>
                      </a:r>
                      <a:r>
                        <a:rPr sz="1050" b="0">
                          <a:solidFill>
                            <a:srgbClr val="11052C"/>
                          </a:solidFill>
                          <a:latin typeface="Arial"/>
                        </a:rPr>
                        <a:t>
Lease and campus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Workplace, with Legal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Lease or build-to-suit, fit-out, utilities, infrastructure contribution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Lease inside the FY27 plan, cost phased, a break option matched to the grant's grace, a long-stop date tied to gate 2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3B2A54"/>
                          </a:solidFill>
                          <a:latin typeface="Arial"/>
                        </a:rPr>
                        <a:t>No break option, or cost committed before the incentive is signed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4681728"/>
            <a:ext cx="10789920" cy="1097280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795528" y="4956269"/>
            <a:ext cx="1042416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Arial"/>
              </a:rPr>
              <a:t>CoS &amp; CG acts as the PMO / project lead to gather inputs from involved stakeholders, establish progress tracking, provide assessments and recommendations, and support MTeam decision-making discussions.</a:t>
            </a:r>
            <a:endParaRPr sz="16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12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4  //  LEADERSHIP STYLE AND OPERATING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>
                <a:solidFill>
                  <a:srgbClr val="11052C"/>
                </a:solidFill>
                <a:latin typeface="Arial"/>
              </a:rPr>
              <a:t>Leadership approach</a:t>
            </a:r>
            <a:r>
              <a:rPr sz="2400" b="1">
                <a:solidFill>
                  <a:srgbClr val="11052C"/>
                </a:solidFill>
                <a:latin typeface="Arial"/>
              </a:rPr>
              <a:t>: </a:t>
            </a:r>
            <a:r>
              <a:rPr lang="en-US" sz="2400" b="1">
                <a:solidFill>
                  <a:srgbClr val="11052C"/>
                </a:solidFill>
                <a:latin typeface="Arial"/>
              </a:rPr>
              <a:t>trust</a:t>
            </a:r>
            <a:r>
              <a:rPr sz="2400" b="1">
                <a:solidFill>
                  <a:srgbClr val="11052C"/>
                </a:solidFill>
                <a:latin typeface="Arial"/>
              </a:rPr>
              <a:t>, </a:t>
            </a:r>
            <a:r>
              <a:rPr lang="en-US" sz="2400" b="1">
                <a:solidFill>
                  <a:srgbClr val="11052C"/>
                </a:solidFill>
                <a:latin typeface="Arial"/>
              </a:rPr>
              <a:t>accountability </a:t>
            </a:r>
            <a:r>
              <a:rPr sz="2400" b="1">
                <a:solidFill>
                  <a:srgbClr val="11052C"/>
                </a:solidFill>
                <a:latin typeface="Arial"/>
              </a:rPr>
              <a:t>and </a:t>
            </a:r>
            <a:r>
              <a:rPr lang="en-US" sz="2400" b="1">
                <a:solidFill>
                  <a:srgbClr val="11052C"/>
                </a:solidFill>
                <a:latin typeface="Arial"/>
              </a:rPr>
              <a:t>follow-through</a:t>
            </a:r>
            <a:endParaRPr sz="2400" b="1">
              <a:solidFill>
                <a:srgbClr val="11052C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2648" y="6172200"/>
            <a:ext cx="105156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900" b="0">
                <a:solidFill>
                  <a:srgbClr val="6B5B82"/>
                </a:solidFill>
                <a:latin typeface="Arial"/>
              </a:rPr>
              <a:t>Proposed approach. Fair process: Kim and Mauborgne (HBR).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13</a:t>
            </a:r>
          </a:p>
        </p:txBody>
      </p:sp>
      <p:sp>
        <p:nvSpPr>
          <p:cNvPr id="104" name="Rounded Rectangle 3"/>
          <p:cNvSpPr/>
          <p:nvPr/>
        </p:nvSpPr>
        <p:spPr>
          <a:xfrm>
            <a:off x="6126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TextBox 4"/>
          <p:cNvSpPr txBox="1"/>
          <p:nvPr/>
        </p:nvSpPr>
        <p:spPr>
          <a:xfrm>
            <a:off x="722376" y="1270035"/>
            <a:ext cx="2340863" cy="25776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820AD1"/>
                </a:solidFill>
                <a:latin typeface="Arial"/>
              </a:rPr>
              <a:t>TRUST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1052C"/>
                </a:solidFill>
                <a:latin typeface="Arial"/>
              </a:rPr>
              <a:t>Business partnership</a:t>
            </a:r>
          </a:p>
          <a:p>
            <a:pPr algn="l">
              <a:spcAft>
                <a:spcPts val="400"/>
              </a:spcAft>
            </a:pPr>
            <a:r>
              <a:rPr lang="en-US" sz="1400" b="0">
                <a:solidFill>
                  <a:srgbClr val="3B2A54"/>
                </a:solidFill>
                <a:latin typeface="Arial"/>
              </a:rPr>
              <a:t>Understand GM priorities through private conversations. Work with Country and BU teams, engage their experts and develop recommendations together.</a:t>
            </a:r>
            <a:endParaRPr sz="1400" b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06" name="Rounded Rectangle 5"/>
          <p:cNvSpPr/>
          <p:nvPr/>
        </p:nvSpPr>
        <p:spPr>
          <a:xfrm>
            <a:off x="33558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TextBox 6"/>
          <p:cNvSpPr txBox="1"/>
          <p:nvPr/>
        </p:nvSpPr>
        <p:spPr>
          <a:xfrm>
            <a:off x="3465576" y="1270035"/>
            <a:ext cx="2340863" cy="25776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820AD1"/>
                </a:solidFill>
                <a:latin typeface="Arial"/>
              </a:rPr>
              <a:t>ALIGNMENT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1052C"/>
                </a:solidFill>
                <a:latin typeface="Arial"/>
              </a:rPr>
              <a:t>Clear recommendations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B2A54"/>
                </a:solidFill>
                <a:latin typeface="Arial"/>
              </a:rPr>
              <a:t>Make criteria explicit before decisions. Resolve differences privately. Bring unresolved trade-offs to the CFO with a recommendation and a record of dissent.</a:t>
            </a:r>
          </a:p>
        </p:txBody>
      </p:sp>
      <p:sp>
        <p:nvSpPr>
          <p:cNvPr id="108" name="Rounded Rectangle 7"/>
          <p:cNvSpPr/>
          <p:nvPr/>
        </p:nvSpPr>
        <p:spPr>
          <a:xfrm>
            <a:off x="60990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TextBox 8"/>
          <p:cNvSpPr txBox="1"/>
          <p:nvPr/>
        </p:nvSpPr>
        <p:spPr>
          <a:xfrm>
            <a:off x="6208776" y="1270035"/>
            <a:ext cx="2340863" cy="2793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820AD1"/>
                </a:solidFill>
                <a:latin typeface="Arial"/>
              </a:rPr>
              <a:t>EXECUTION</a:t>
            </a:r>
          </a:p>
          <a:p>
            <a:pPr algn="l">
              <a:spcAft>
                <a:spcPts val="600"/>
              </a:spcAft>
            </a:pPr>
            <a:r>
              <a:rPr lang="en-US" sz="1600" b="1">
                <a:solidFill>
                  <a:srgbClr val="11052C"/>
                </a:solidFill>
                <a:latin typeface="Arial"/>
              </a:rPr>
              <a:t>Visible accountability</a:t>
            </a:r>
            <a:endParaRPr sz="1600" b="1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400" b="0">
                <a:solidFill>
                  <a:srgbClr val="3B2A54"/>
                </a:solidFill>
                <a:latin typeface="Arial"/>
              </a:rPr>
              <a:t>The lead aligns executives. The team runs the calendar, prepares briefs and tracks actions. Every commitment has an owner and date. AI supports analysis, people validate it.</a:t>
            </a:r>
            <a:endParaRPr sz="1400" b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10" name="Rounded Rectangle 9"/>
          <p:cNvSpPr/>
          <p:nvPr/>
        </p:nvSpPr>
        <p:spPr>
          <a:xfrm>
            <a:off x="8842248" y="1226077"/>
            <a:ext cx="2560320" cy="311732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TextBox 10"/>
          <p:cNvSpPr txBox="1"/>
          <p:nvPr/>
        </p:nvSpPr>
        <p:spPr>
          <a:xfrm>
            <a:off x="8951976" y="1270035"/>
            <a:ext cx="2340863" cy="2762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820AD1"/>
                </a:solidFill>
                <a:latin typeface="Arial"/>
              </a:rPr>
              <a:t>LEARNING</a:t>
            </a:r>
          </a:p>
          <a:p>
            <a:pPr algn="l">
              <a:spcAft>
                <a:spcPts val="600"/>
              </a:spcAft>
            </a:pPr>
            <a:r>
              <a:rPr lang="en-US" sz="1600" b="1">
                <a:solidFill>
                  <a:srgbClr val="11052C"/>
                </a:solidFill>
                <a:latin typeface="Arial"/>
              </a:rPr>
              <a:t>Regular course correction</a:t>
            </a:r>
            <a:endParaRPr sz="1600" b="1">
              <a:solidFill>
                <a:srgbClr val="11052C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lang="en-US" sz="1400" b="0">
                <a:solidFill>
                  <a:srgbClr val="3B2A54"/>
                </a:solidFill>
                <a:latin typeface="Arial"/>
              </a:rPr>
              <a:t>Start with a clear proposal and review date. Use quarterly reviews to assess results and change what is not working. Seek GM feedback twice a year.</a:t>
            </a:r>
            <a:endParaRPr sz="1400" b="0">
              <a:solidFill>
                <a:srgbClr val="3B2A54"/>
              </a:solidFill>
              <a:latin typeface="Arial"/>
            </a:endParaRPr>
          </a:p>
        </p:txBody>
      </p:sp>
      <p:sp>
        <p:nvSpPr>
          <p:cNvPr id="112" name="Rounded Rectangle 11"/>
          <p:cNvSpPr/>
          <p:nvPr/>
        </p:nvSpPr>
        <p:spPr>
          <a:xfrm>
            <a:off x="612648" y="4526279"/>
            <a:ext cx="10789920" cy="1458575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TextBox 12"/>
          <p:cNvSpPr txBox="1"/>
          <p:nvPr/>
        </p:nvSpPr>
        <p:spPr>
          <a:xfrm>
            <a:off x="795528" y="4668900"/>
            <a:ext cx="10424160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Working discipline: weekly CFO alignment, monthly GM discussions and Board preparation against agreed deadlines.</a:t>
            </a:r>
          </a:p>
          <a:p>
            <a:r>
              <a:rPr sz="1600" b="1">
                <a:solidFill>
                  <a:srgbClr val="FFFFFF"/>
                </a:solidFill>
                <a:latin typeface="Arial"/>
              </a:rPr>
              <a:t>Track actions after each Board. Escalate material issues promptly. Keep local decision rights and specialist governance intact.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DELIVERABLE 4  //  LEADERSHIP STYLE AND OPERATING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Working with the markets: who owns what, and how we learn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494170"/>
              </p:ext>
            </p:extLst>
          </p:nvPr>
        </p:nvGraphicFramePr>
        <p:xfrm>
          <a:off x="612648" y="1600200"/>
          <a:ext cx="10789920" cy="2831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  <a:endParaRPr sz="115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Arial"/>
                        </a:rPr>
                        <a:t>CoS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 &amp; CG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</a:rPr>
                        <a:t>owns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Arial"/>
                        </a:rPr>
                        <a:t>CoS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 &amp; CG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</a:rPr>
                        <a:t>influence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s</a:t>
                      </a:r>
                      <a:endParaRPr sz="115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GMs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</a:rPr>
                        <a:t>and 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/>
                        </a:rPr>
                        <a:t>Local/BU CFOs </a:t>
                      </a:r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</a:rPr>
                        <a:t>own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11052C"/>
                          </a:solidFill>
                          <a:latin typeface="Arial"/>
                        </a:rPr>
                        <a:t>Planning</a:t>
                      </a:r>
                      <a:endParaRPr lang="en-US" sz="1150" b="1" dirty="0">
                        <a:solidFill>
                          <a:srgbClr val="11052C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>
                          <a:solidFill>
                            <a:srgbClr val="3B2A54"/>
                          </a:solidFill>
                          <a:latin typeface="Arial"/>
                        </a:rPr>
                        <a:t>One working model; alignment with Geographies and Functions; the investment business case requirements and template; a read of every first-release case before the lock</a:t>
                      </a:r>
                      <a:endParaRPr lang="en-US"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GM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/CFO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one-to-ones; the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Board prep 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with the CEO and CFO;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IR and Investor day prep</a:t>
                      </a:r>
                      <a:endParaRPr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The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P&amp;L 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numbers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and drivers; rationale and data behind asks; 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local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CFO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-level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decision rights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11052C"/>
                          </a:solidFill>
                          <a:latin typeface="Arial"/>
                        </a:rPr>
                        <a:t>Board</a:t>
                      </a:r>
                      <a:endParaRPr lang="en-US" sz="1150" b="1" dirty="0">
                        <a:solidFill>
                          <a:srgbClr val="11052C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>
                          <a:solidFill>
                            <a:srgbClr val="3B2A54"/>
                          </a:solidFill>
                          <a:latin typeface="Arial"/>
                        </a:rPr>
                        <a:t>The board prep timeline and schedule; the coordination with stakeholders; tracking topics and projects; reporting results and outcomes</a:t>
                      </a:r>
                      <a:endParaRPr lang="en-US"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 err="1">
                          <a:solidFill>
                            <a:srgbClr val="3B2A54"/>
                          </a:solidFill>
                          <a:latin typeface="Arial"/>
                        </a:rPr>
                        <a:t>MTeam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alignment; prioritization; business case for capital asks</a:t>
                      </a:r>
                      <a:endParaRPr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The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narrative and positioning; supporting 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the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Board/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IR calendar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 with data; adhering to the timeline and schedule</a:t>
                      </a:r>
                      <a:endParaRPr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11052C"/>
                          </a:solidFill>
                          <a:latin typeface="Arial"/>
                        </a:rPr>
                        <a:t>HQ Project</a:t>
                      </a:r>
                      <a:endParaRPr lang="en-US" sz="1150" b="1" dirty="0">
                        <a:solidFill>
                          <a:srgbClr val="11052C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>
                          <a:solidFill>
                            <a:srgbClr val="3B2A54"/>
                          </a:solidFill>
                          <a:latin typeface="Arial"/>
                        </a:rPr>
                        <a:t>The SteerCo cadence and materials; consolidation and driving the agenda with SMEs; the decision log and the site scorecard prioritization</a:t>
                      </a:r>
                      <a:endParaRPr lang="en-US"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Discussions and insights for executive assessment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; CFO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/</a:t>
                      </a:r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CEO </a:t>
                      </a:r>
                      <a:r>
                        <a:rPr lang="en-US" sz="1150" b="0" dirty="0">
                          <a:solidFill>
                            <a:srgbClr val="3B2A54"/>
                          </a:solidFill>
                          <a:latin typeface="Arial"/>
                        </a:rPr>
                        <a:t>decision-making support</a:t>
                      </a:r>
                      <a:endParaRPr sz="11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3B2A54"/>
                          </a:solidFill>
                          <a:latin typeface="Arial"/>
                        </a:rPr>
                        <a:t>Technical judgment (Legal, Tax, Compliance); signing (licensed executives)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4572000"/>
            <a:ext cx="10789920" cy="1325880"/>
          </a:xfrm>
          <a:prstGeom prst="roundRect">
            <a:avLst>
              <a:gd name="adj" fmla="val 80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789432" y="4791563"/>
            <a:ext cx="10424160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Arial"/>
              </a:rPr>
              <a:t>Propose, implement, assess. </a:t>
            </a:r>
            <a:r>
              <a:rPr b="0" dirty="0">
                <a:solidFill>
                  <a:srgbClr val="FFFFFF"/>
                </a:solidFill>
                <a:latin typeface="Arial"/>
              </a:rPr>
              <a:t>Each quarter </a:t>
            </a:r>
            <a:r>
              <a:rPr lang="en-US" b="0" dirty="0" err="1">
                <a:solidFill>
                  <a:srgbClr val="FFFFFF"/>
                </a:solidFill>
                <a:latin typeface="Arial"/>
              </a:rPr>
              <a:t>CoS</a:t>
            </a:r>
            <a:r>
              <a:rPr lang="en-US" b="0" dirty="0">
                <a:solidFill>
                  <a:srgbClr val="FFFFFF"/>
                </a:solidFill>
                <a:latin typeface="Arial"/>
              </a:rPr>
              <a:t> &amp; CG </a:t>
            </a:r>
            <a:r>
              <a:rPr b="0" dirty="0">
                <a:solidFill>
                  <a:srgbClr val="FFFFFF"/>
                </a:solidFill>
                <a:latin typeface="Arial"/>
              </a:rPr>
              <a:t>and the </a:t>
            </a:r>
            <a:r>
              <a:rPr lang="en-US" b="0" dirty="0">
                <a:solidFill>
                  <a:srgbClr val="FFFFFF"/>
                </a:solidFill>
                <a:latin typeface="Arial"/>
              </a:rPr>
              <a:t>CFO </a:t>
            </a:r>
            <a:r>
              <a:rPr b="0" dirty="0">
                <a:solidFill>
                  <a:srgbClr val="FFFFFF"/>
                </a:solidFill>
                <a:latin typeface="Arial"/>
              </a:rPr>
              <a:t>review what</a:t>
            </a:r>
            <a:r>
              <a:rPr lang="en-US" b="0" dirty="0">
                <a:solidFill>
                  <a:srgbClr val="FFFFFF"/>
                </a:solidFill>
                <a:latin typeface="Arial"/>
              </a:rPr>
              <a:t>’s </a:t>
            </a:r>
            <a:r>
              <a:rPr b="0" dirty="0">
                <a:solidFill>
                  <a:srgbClr val="FFFFFF"/>
                </a:solidFill>
                <a:latin typeface="Arial"/>
              </a:rPr>
              <a:t>work</a:t>
            </a:r>
            <a:r>
              <a:rPr lang="en-US" b="0" dirty="0">
                <a:solidFill>
                  <a:srgbClr val="FFFFFF"/>
                </a:solidFill>
                <a:latin typeface="Arial"/>
              </a:rPr>
              <a:t>ing and what can be improved: </a:t>
            </a:r>
            <a:r>
              <a:rPr b="0" dirty="0">
                <a:solidFill>
                  <a:srgbClr val="FFFFFF"/>
                </a:solidFill>
                <a:latin typeface="Arial"/>
              </a:rPr>
              <a:t>kee</a:t>
            </a:r>
            <a:r>
              <a:rPr lang="en-US" b="0" dirty="0">
                <a:solidFill>
                  <a:srgbClr val="FFFFFF"/>
                </a:solidFill>
                <a:latin typeface="Arial"/>
              </a:rPr>
              <a:t>p</a:t>
            </a:r>
            <a:r>
              <a:rPr b="0" dirty="0">
                <a:solidFill>
                  <a:srgbClr val="FFFFFF"/>
                </a:solidFill>
                <a:latin typeface="Arial"/>
              </a:rPr>
              <a:t>, fix or drop. The function earns its place with the markets instead of ruling from HQ</a:t>
            </a:r>
            <a:r>
              <a:rPr lang="en-US" dirty="0">
                <a:solidFill>
                  <a:srgbClr val="FFFFFF"/>
                </a:solidFill>
                <a:latin typeface="Arial"/>
              </a:rPr>
              <a:t> and contributes to better alignment and discipline without compromising speed.</a:t>
            </a:r>
            <a:endParaRPr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5B8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>
                <a:solidFill>
                  <a:srgbClr val="11052C"/>
                </a:solidFill>
                <a:latin typeface="Arial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383280"/>
            <a:ext cx="9966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400" b="0">
                <a:solidFill>
                  <a:srgbClr val="3B2A54"/>
                </a:solidFill>
                <a:latin typeface="Arial"/>
              </a:rPr>
              <a:t>A  Key assumptions   |   B  Statutory entity model   |   D  Sources</a:t>
            </a:r>
          </a:p>
          <a:p>
            <a:pPr algn="ctr"/>
            <a:r>
              <a:rPr lang="en-US" sz="1400" b="0">
                <a:solidFill>
                  <a:srgbClr val="3B2A54"/>
                </a:solidFill>
                <a:latin typeface="Arial"/>
              </a:rPr>
              <a:t>F  Day-by-day timeline   |   H  AI support   |   J  HQ site scorecard and risk register</a:t>
            </a:r>
          </a:p>
          <a:p>
            <a:pPr algn="ctr"/>
            <a:r>
              <a:rPr lang="en-US" sz="1400" b="0">
                <a:solidFill>
                  <a:srgbClr val="3B2A54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15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>
                <a:solidFill>
                  <a:srgbClr val="11052C"/>
                </a:solidFill>
                <a:latin typeface="Arial"/>
              </a:rPr>
              <a:t>Key assumptions and the facts they are based on</a:t>
            </a:r>
            <a:endParaRPr sz="2400" b="1" dirty="0">
              <a:solidFill>
                <a:srgbClr val="11052C"/>
              </a:solidFill>
              <a:latin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003017"/>
              </p:ext>
            </p:extLst>
          </p:nvPr>
        </p:nvGraphicFramePr>
        <p:xfrm>
          <a:off x="612648" y="1280160"/>
          <a:ext cx="10469880" cy="4956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03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65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Statement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Basis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58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Nu Q2'26: 138.9M customers, monthly ARPAC $17.1, cost to serve $1.0, efficiency ratio 19.5%, ROE 33%, net income $1.06B.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FACT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Q2'26 release and 6-K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FY26 efficiency ratio near 20%; the US entry kept within about 100 bps of efficiency-ratio impact.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FACT (management guidance)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Q2'26 call, 13 Aug 2026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The $60M asks and $25M cap are the case's figures. $35M is about 15 bps of annualized revenue, about 1.1% of opex and about 0.2 points of efficiency ratio ($25M: about 0.15).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ASSUMPTION + CALCULATION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Case brief; Q2'26 figures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58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The MTeam dispute is about the growth-opex envelope (core vs new bets), not regulatory capital by entity.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Case brief is silent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Spend above $25M only from H1 profit above plan, inside the efficiency-ratio guide in force, NPL 90+ on plan; CFO decides, Risk can block, IR sets disclosure.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RULE (proposed)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3B2A54"/>
                          </a:solidFill>
                          <a:latin typeface="Arial"/>
                        </a:rPr>
                        <a:t>To agree with the CFO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Board in 4 weeks (assumed Tue 17 Nov); Investor Day 8 Dec 2026; the Board approves the capital plan before the Investor Day story is set.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FACT (dates) + ASSUMPTION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Case brief; Nu IR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HQ jurisdiction open. Nu is above the EUR 750M Pillar Two threshold; 2026 carve-out 9.4% of payroll, 7.4% of tangible assets.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FACT (rule) + ASSUMPTION (site)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OECD GloBE rules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658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Option scores and weights are our judgment; third-party benchmarks are context only.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Slide 4; backup D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FY27 envelope: first release 1 Jan 2027, second at Q1 close (decided on Q1 data), 2H checkpoint (up to $25M) and reserve ($10M) at H1 close. Hub of 4-6 people.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Calendar fiscal year; sizing is ours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9680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The hub can run Nu-approved AI tools inside Nu's environment; Security and Risk approve data access before the agents go live.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To confirm with Security and Risk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658"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3B2A54"/>
                          </a:solidFill>
                          <a:latin typeface="Arial"/>
                        </a:rPr>
                        <a:t>HQ jurisdiction open; two candidate sites go to term sheet; the site scorecard weights are our judgment (backup J).</a:t>
                      </a:r>
                      <a:endParaRPr lang="en-US" sz="95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B2A54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3B2A54"/>
                          </a:solidFill>
                          <a:latin typeface="Arial"/>
                        </a:rPr>
                        <a:t>Case brief is silent</a:t>
                      </a: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16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Open an entity only when a license or tax substance requires it; officers and signing follow the stage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Trigger for a local entity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Setup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Officers, signing and insurance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7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1. Market test</a:t>
                      </a:r>
                      <a:r>
                        <a:rPr sz="1100" b="0">
                          <a:solidFill>
                            <a:srgbClr val="11052C"/>
                          </a:solidFill>
                          <a:latin typeface="Arial"/>
                        </a:rPr>
                        <a:t> (new countries)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No local license needed and no taxable presence; served from an existing licensed entity or a partner bank (as the US is today, through Lead Bank, since 10 Sep 2026).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No local entity. Cross-border or partner model.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Central signing only. No local director. Prevents an accidental permanent establishment.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2. Licensed scale-up</a:t>
                      </a:r>
                      <a:r>
                        <a:rPr sz="1100" b="0">
                          <a:solidFill>
                            <a:srgbClr val="11052C"/>
                          </a:solidFill>
                          <a:latin typeface="Arial"/>
                        </a:rPr>
                        <a:t> (US charter, new verticals)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A regulator requires a local licensed entity (deposits, lending, custody), or substance rules require local payroll and assets.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Dedicated licensed entity with its own capital plan and headroom.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Fit-and-proper directors; two central officers plus one local leader; dual signature above a set limit; D&amp;O before activation.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13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1052C"/>
                          </a:solidFill>
                          <a:latin typeface="Arial"/>
                        </a:rPr>
                        <a:t>3. Core hub</a:t>
                      </a:r>
                      <a:r>
                        <a:rPr sz="1100" b="0">
                          <a:solidFill>
                            <a:srgbClr val="11052C"/>
                          </a:solidFill>
                          <a:latin typeface="Arial"/>
                        </a:rPr>
                        <a:t> (Mexico, a bank since Aug 2026; Colombia; the HQ)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Full banking or fintech license in force; local CFO in place (already so in Mexico and Colombia).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Full licensed entity; regional campus where the HQ lands.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B2A54"/>
                          </a:solidFill>
                          <a:latin typeface="Arial"/>
                        </a:rPr>
                        <a:t>Audit and Risk Committee oversight; dual signature above limits set by category; director liability insurance; annual review of powers of attorney. If the HQ sits inside an existing licensed entity: a powers-of-attorney update only.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Sources: Nu announcements (US launch via Lead Bank, 10 Sep 2026; OCC conditional approval, 29 Jan 2026; Mexico bank authorization, 10 Jul 2026; local finance leadership per the CFO appointment release). Signing limits are proposals.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17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</a:t>
            </a:r>
            <a:r>
              <a:rPr lang="en-US" sz="1000" b="1">
                <a:solidFill>
                  <a:srgbClr val="820AD1"/>
                </a:solidFill>
                <a:latin typeface="Arial"/>
              </a:rPr>
              <a:t>D</a:t>
            </a:r>
            <a:endParaRPr sz="1000" b="1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Every number is a sourced fact, a labeled assumption or context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518809"/>
              </p:ext>
            </p:extLst>
          </p:nvPr>
        </p:nvGraphicFramePr>
        <p:xfrm>
          <a:off x="612648" y="1325880"/>
          <a:ext cx="10972800" cy="3992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Source and class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Data point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Where it is used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Nu scale and efficiency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Nu Q2'26 release and 6-K; Form 20-F  |  FACT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138.9M customers; ARPAC $17.1; cost to serve $1.0 ($0.8 a year earlier); efficiency ratio 19.5% (17.6% in Q1; ~20% FY26 per the call); ROE 33%; net income $1.06B; opex $806.2M; net revenue ~$4.1B; low-and-grow underwriting.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Slides 4, 6; backup A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75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Corporate events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Nu announcements; OCC; Nu IR  |  FACT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Mexico bank authorization 10 Jul 2026 (operating from 6 Aug), $4.2B plan to 2030; OCC conditional approval 29 Jan 2026 (capital within 12 months); US launch via Lead Bank 10 Sep 2026; buyback up to $1.0B (4 Jun 2026); CFO since 13 Jul 2026; Q3'26 results 12 Nov; Investor Day 8 Dec 2026.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Slides 8, 12; backup B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Cohorts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Q1'26 earnings presentation  |  FACT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$30.8 monthly ARPAC at 96 months since origination vs $15.9 total.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Slide 6 (70/30 split)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9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HQ tax rules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OECD GloBE Model Rules; Form 20-F  |  FACT (rule)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EUR 750M threshold; 15% minimum; 2026 transitional carve-out 9.4% of payroll and 7.4% of tangible assets (Art. 5.3, 9.2); Nu Holdings is Cayman-incorporated.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Slide 10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751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11052C"/>
                          </a:solidFill>
                          <a:latin typeface="Arial"/>
                        </a:rPr>
                        <a:t>Context only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3B2A54"/>
                          </a:solidFill>
                          <a:latin typeface="Arial"/>
                        </a:rPr>
                        <a:t>Hackett, McKinsey, Gartner, HBR, NACD, Deloitte, Baker McKenzie; three-horizons framing (Baghai, Coley and White)  |  CONTEXT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3B2A54"/>
                          </a:solidFill>
                          <a:latin typeface="Arial"/>
                        </a:rPr>
                        <a:t>Central hubs shorten planning cycles; active reallocators earn higher returns; fair process wins acceptance; Board books at T-7.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Footers and talk only</a:t>
                      </a:r>
                      <a:endParaRPr lang="en-US" sz="100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1052C"/>
                          </a:solidFill>
                          <a:latin typeface="Arial"/>
                        </a:rPr>
                        <a:t>AI in operations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B2A54"/>
                          </a:solidFill>
                          <a:latin typeface="Arial"/>
                        </a:rPr>
                        <a:t>Nu Q2'26 release; Nu newsroom (Hyperplane, Jun 2024)  |  FACT. Gartner; PMI; Science; HBS/BCG  |  CONTEXT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AI agents handle more than 60% of support chats in Brazil; AI-first strategy. Studies and surveys on AI in project reporting, writing and finance (backup H).</a:t>
                      </a:r>
                      <a:endParaRPr lang="en-US" sz="100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>
                          <a:solidFill>
                            <a:srgbClr val="3B2A54"/>
                          </a:solidFill>
                          <a:latin typeface="Arial"/>
                        </a:rPr>
                        <a:t>Slides 2, 3, 7, 13; backup H</a:t>
                      </a:r>
                      <a:endParaRPr lang="en-US" sz="100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11052C"/>
                          </a:solidFill>
                          <a:latin typeface="Arial"/>
                        </a:rPr>
                        <a:t>Spend prioritization methodology</a:t>
                      </a:r>
                      <a:endParaRPr sz="1000" b="1" dirty="0">
                        <a:solidFill>
                          <a:srgbClr val="11052C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000" b="0" kern="1200">
                          <a:solidFill>
                            <a:srgbClr val="3B2A54"/>
                          </a:solidFill>
                          <a:latin typeface="Arial"/>
                          <a:ea typeface="+mn-ea"/>
                          <a:cs typeface="+mn-cs"/>
                        </a:rPr>
                        <a:t>McKinsey, Deloitte</a:t>
                      </a:r>
                      <a:endParaRPr lang="en-US" sz="1000" b="0" kern="1200" dirty="0">
                        <a:solidFill>
                          <a:srgbClr val="3B2A54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3B2A54"/>
                          </a:solidFill>
                          <a:latin typeface="Arial"/>
                          <a:ea typeface="+mn-ea"/>
                          <a:cs typeface="+mn-cs"/>
                        </a:rPr>
                        <a:t>Studies support strategic initiative alignment, streamlined financial planning, compact schedules and regular in-year resource reallocation, with strategy-driven, granular allocation and clear senior decision rights.</a:t>
                      </a:r>
                      <a:endParaRPr sz="1000" b="0" kern="1200" dirty="0">
                        <a:solidFill>
                          <a:srgbClr val="3B2A54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000" b="0" kern="1200" dirty="0">
                          <a:solidFill>
                            <a:srgbClr val="3B2A54"/>
                          </a:solidFill>
                          <a:latin typeface="Arial"/>
                          <a:ea typeface="+mn-ea"/>
                          <a:cs typeface="+mn-cs"/>
                        </a:rPr>
                        <a:t>Slide 5</a:t>
                      </a:r>
                      <a:endParaRPr sz="1000" b="0" kern="1200" dirty="0">
                        <a:solidFill>
                          <a:srgbClr val="3B2A54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4008" marR="64008" marT="36576" marB="36576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02169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035040"/>
            <a:ext cx="105156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B5B82"/>
                </a:solidFill>
                <a:latin typeface="Arial"/>
              </a:rPr>
              <a:t>Research assisted by AI tools</a:t>
            </a:r>
            <a:r>
              <a:rPr lang="en-US" sz="900" b="0" dirty="0">
                <a:solidFill>
                  <a:srgbClr val="6B5B82"/>
                </a:solidFill>
                <a:latin typeface="Arial"/>
              </a:rPr>
              <a:t>, with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 every figure, calculation and recommendation </a:t>
            </a:r>
            <a:r>
              <a:rPr lang="en-US" sz="900" b="0" dirty="0">
                <a:solidFill>
                  <a:srgbClr val="6B5B82"/>
                </a:solidFill>
                <a:latin typeface="Arial"/>
              </a:rPr>
              <a:t>c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hecked </a:t>
            </a:r>
            <a:r>
              <a:rPr lang="en-US" sz="900" b="0" dirty="0">
                <a:solidFill>
                  <a:srgbClr val="6B5B82"/>
                </a:solidFill>
                <a:latin typeface="Arial"/>
              </a:rPr>
              <a:t>personally</a:t>
            </a:r>
            <a:r>
              <a:rPr sz="900" b="0" dirty="0">
                <a:solidFill>
                  <a:srgbClr val="6B5B82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18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</a:t>
            </a:r>
            <a:r>
              <a:rPr lang="en-US" sz="1000" b="1">
                <a:solidFill>
                  <a:srgbClr val="820AD1"/>
                </a:solidFill>
                <a:latin typeface="Arial"/>
              </a:rPr>
              <a:t>F</a:t>
            </a:r>
            <a:endParaRPr sz="1000" b="1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One timeline: tenure days, Board countdown and HQ gates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371258"/>
              </p:ext>
            </p:extLst>
          </p:nvPr>
        </p:nvGraphicFramePr>
        <p:xfrm>
          <a:off x="612648" y="1371600"/>
          <a:ext cx="10972800" cy="4681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Tenure day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Board countdown / HQ gate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What happens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60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Tue 20 Oct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T-28  |  HQ D+0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Board outline out; HQ charter signed; tax gate launched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67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Tue 27 Oct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T-21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One-to-ones with each executive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72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Early Nov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T-16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Capital options lock with CEO, CFO and MTeam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78-81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Early Nov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T-10 to T-7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Inputs freeze; chairs briefed (T-9); book on portal (T-7)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88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Tue 17 Nov (assumed)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T-0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Board approves FY27 plan; first-release allocation published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90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Thu 19 Nov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HQ D+30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Gate 1: tax and residence opinion; two sites to term sheet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95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Late Nov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3B2A54"/>
                          </a:solidFill>
                          <a:latin typeface="Arial"/>
                        </a:rPr>
                        <a:t>Hub in place; market and vertical finance teams aligned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105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Early Dec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3B2A54"/>
                          </a:solidFill>
                          <a:latin typeface="Arial"/>
                        </a:rPr>
                        <a:t>Bi-weekly stand-ups running; business cases in review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120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Mid-Dec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HQ D+60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Gate 2: grant terms (12-24 months' grace); one site dropped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133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Fri 1 Jan 2027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FY27 starts; $15M first release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150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Mid-Jan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HQ D+90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Gate 3: officers and D&amp;O; 90-day report to the CFO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180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Mid-Feb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HQ D+120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Gate 4: lease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Day 222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Wed 31 Mar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Q1 close; second release ($10M) decided on Q1 data in early April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19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</a:t>
            </a:r>
            <a:r>
              <a:rPr lang="en-US" sz="1000" b="1">
                <a:solidFill>
                  <a:srgbClr val="820AD1"/>
                </a:solidFill>
                <a:latin typeface="Arial"/>
              </a:rPr>
              <a:t>H</a:t>
            </a:r>
            <a:endParaRPr sz="1000" b="1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>
                <a:solidFill>
                  <a:srgbClr val="11052C"/>
                </a:solidFill>
                <a:latin typeface="Arial"/>
              </a:rPr>
              <a:t>Proposed AI support across the four deliverables</a:t>
            </a:r>
            <a:endParaRPr sz="2400" b="1">
              <a:solidFill>
                <a:srgbClr val="11052C"/>
              </a:solidFill>
              <a:latin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30327"/>
              </p:ext>
            </p:extLst>
          </p:nvPr>
        </p:nvGraphicFramePr>
        <p:xfrm>
          <a:off x="612648" y="1325880"/>
          <a:ext cx="10972800" cy="4233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US" sz="1150" b="1" kern="1200" dirty="0">
                          <a:solidFill>
                            <a:srgbClr val="FFFFFF"/>
                          </a:solidFill>
                          <a:latin typeface="Arial"/>
                          <a:ea typeface="+mn-ea"/>
                          <a:cs typeface="+mn-cs"/>
                        </a:rPr>
                        <a:t>Deliverable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FFFFFF"/>
                          </a:solidFill>
                          <a:latin typeface="Arial"/>
                        </a:rPr>
                        <a:t>PMO agent: coordination</a:t>
                      </a:r>
                      <a:endParaRPr lang="en-US" sz="115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FFFFFF"/>
                          </a:solidFill>
                          <a:latin typeface="Arial"/>
                        </a:rPr>
                        <a:t>Review agent: decision support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1052C"/>
                          </a:solidFill>
                          <a:latin typeface="Arial"/>
                        </a:rPr>
                        <a:t>1  Planning &amp; spend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Track case submissions, funding gates and monthly spend. Prepare status for quarterly GM reviews.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Check cases against the scorecard and source data. Flag assumption gaps and spend variances for Finance review.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1052C"/>
                          </a:solidFill>
                          <a:latin typeface="Arial"/>
                        </a:rPr>
                        <a:t>2  C-suite &amp; Board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Maintain the agenda and preparation tracker. Draft action updates for weekly CFO and monthly GM discussions.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Check papers against agreed decisions and source tables. Draft briefs and responses for executive sign-off before publication.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1052C"/>
                          </a:solidFill>
                          <a:latin typeface="Arial"/>
                        </a:rPr>
                        <a:t>3  HQ project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Track workstreams, gate dependencies and decisions. Prepare weekly updates and monthly SteerCo packs.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Check gate packs for missing approvals, conflicting inputs and open risks. Route technical conclusions to the relevant SMEs.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1052C"/>
                          </a:solidFill>
                          <a:latin typeface="Arial"/>
                        </a:rPr>
                        <a:t>4  Leadership &amp; team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Track commitments across Country and BU teams. Compile overdue actions and review feedback.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Consolidate lessons and draft improvement options. Named owners validate analysis and recommendations.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11052C"/>
                          </a:solidFill>
                          <a:latin typeface="Arial"/>
                        </a:rPr>
                        <a:t>Human control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Owners confirm status. People approve changes to dates and decisions. CoS &amp; CG owns escalation to the CFO.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solidFill>
                            <a:srgbClr val="3B2A54"/>
                          </a:solidFill>
                          <a:latin typeface="Arial"/>
                        </a:rPr>
                        <a:t>Use approved tools and source-linked inputs. Finance, executives and SMEs sign off. Agents never approve funding or commitments.</a:t>
                      </a:r>
                      <a:endParaRPr lang="en-US" sz="1100" b="0" dirty="0">
                        <a:solidFill>
                          <a:srgbClr val="3B2A54"/>
                        </a:solidFill>
                        <a:latin typeface="Arial"/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035040"/>
            <a:ext cx="105156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900" b="0">
                <a:solidFill>
                  <a:srgbClr val="6B5B82"/>
                </a:solidFill>
                <a:latin typeface="Arial"/>
              </a:rPr>
              <a:t>Pilot measures: reporting hours saved, on-time papers and gate packs, errors caught before sign-off, and overdue actions. Establish baselines before setting targets.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20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474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20AD1"/>
                </a:solidFill>
                <a:latin typeface="Arial"/>
              </a:rPr>
              <a:t>BACKUP </a:t>
            </a:r>
            <a:r>
              <a:rPr lang="en-US" sz="1000" b="1">
                <a:solidFill>
                  <a:srgbClr val="820AD1"/>
                </a:solidFill>
                <a:latin typeface="Arial"/>
              </a:rPr>
              <a:t>J</a:t>
            </a:r>
            <a:endParaRPr sz="1000" b="1">
              <a:solidFill>
                <a:srgbClr val="820AD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792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052C"/>
                </a:solidFill>
                <a:latin typeface="Arial"/>
              </a:rPr>
              <a:t>HQ site scorecard and risk register: hard tests first, then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5394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1052C"/>
                </a:solidFill>
                <a:latin typeface="Arial"/>
              </a:rPr>
              <a:t>Hard tests first, pass or fail: </a:t>
            </a:r>
            <a:r>
              <a:rPr sz="1100" b="0">
                <a:solidFill>
                  <a:srgbClr val="11052C"/>
                </a:solidFill>
                <a:latin typeface="Arial"/>
              </a:rPr>
              <a:t>license, tax residence and taxable presence, fit-and-proper officers, real payroll and assets. Only sites that pass are scored.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2240280"/>
          <a:ext cx="5394960" cy="2350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Criterion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Evidence and owner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Talent pool and wage cost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Hiring data and wage benchmarks (People)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Incentive value net of clawback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Draft terms with the clawback modeled (Legal, Tax)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Campus cost, flexibility and timing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Lease options, break clauses, fit-out time (Workplace)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Modeled tax rate under Pillar Two, including any domestic top-up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The gate 1 model (Tax)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Political and reputational risk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Local stakeholder map (Legal, Comms)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463040"/>
          <a:ext cx="5212080" cy="2670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64008" marR="64008" marT="36576" marB="36576" anchor="ctr">
                    <a:solidFill>
                      <a:srgbClr val="820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Tax residence or a taxable presence moves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Opinion at gate 1; meeting patterns unchanged; no early signing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Tax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Grant clawback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Proportional scaling and 12-24 months' grace; walk away from cliff-edge terms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Legal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1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Officer approval runs late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Files at gate 1; no activation before approval; the lease long-stop moves with it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Legal, People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21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Site politics and disclosure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No public contact before the scorecard; one spokesperson (Comms); IR decides what is disclosed and when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Comms, IR</a:t>
                      </a:r>
                    </a:p>
                  </a:txBody>
                  <a:tcPr marL="64008" marR="64008" marT="36576" marB="36576" anchor="ctr">
                    <a:solidFill>
                      <a:srgbClr val="F7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052C"/>
                          </a:solidFill>
                          <a:latin typeface="Arial"/>
                        </a:rPr>
                        <a:t>Dependence on the CoS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A named deputy, the decision log, gate packs the CFO can decide on without the lead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B2A54"/>
                          </a:solidFill>
                          <a:latin typeface="Arial"/>
                        </a:rPr>
                        <a:t>CoS &amp; CG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5B82"/>
                </a:solidFill>
                <a:latin typeface="Arial"/>
              </a:rPr>
              <a:t>Weights and mitigations are our proposals. No savings figure until a site is chosen.</a:t>
            </a:r>
            <a:r>
              <a:rPr lang="en-US" sz="900" b="0">
                <a:solidFill>
                  <a:srgbClr val="6B5B82"/>
                </a:solidFill>
                <a:latin typeface="Arial"/>
              </a:rPr>
              <a:t/>
            </a:r>
            <a:r>
              <a:rPr sz="900" b="0">
                <a:solidFill>
                  <a:srgbClr val="6B5B82"/>
                </a:solidFill>
                <a:latin typeface="Arial"/>
              </a:rPr>
              <a:t/>
            </a:r>
            <a:r>
              <a:rPr lang="en-US" sz="900" b="0">
                <a:solidFill>
                  <a:srgbClr val="6B5B82"/>
                </a:solidFill>
                <a:latin typeface="Arial"/>
              </a:rPr>
              <a:t/>
            </a:r>
            <a:r>
              <a:rPr sz="900" b="0">
                <a:solidFill>
                  <a:srgbClr val="6B5B82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900" b="0">
                <a:solidFill>
                  <a:srgbClr val="6B5B82"/>
                </a:solidFill>
                <a:latin typeface="Arial"/>
              </a:rPr>
              <a:t>21</a:t>
            </a:r>
            <a:endParaRPr sz="900" b="0">
              <a:solidFill>
                <a:srgbClr val="6B5B82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5733</Words>
  <Application>Microsoft Office PowerPoint</Application>
  <PresentationFormat>Widescreen</PresentationFormat>
  <Paragraphs>556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 M</cp:lastModifiedBy>
  <cp:revision>3</cp:revision>
  <dcterms:created xsi:type="dcterms:W3CDTF">2013-01-27T09:14:16Z</dcterms:created>
  <dcterms:modified xsi:type="dcterms:W3CDTF">2026-10-20T22:35:32Z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0f89cb5-682d-4be4-b0e0-739c9b4a93d4_Enabled">
    <vt:lpwstr>true</vt:lpwstr>
  </property>
  <property fmtid="{D5CDD505-2E9C-101B-9397-08002B2CF9AE}" pid="3" name="MSIP_Label_a0f89cb5-682d-4be4-b0e0-739c9b4a93d4_SetDate">
    <vt:lpwstr>2026-10-20T19:34:08Z</vt:lpwstr>
  </property>
  <property fmtid="{D5CDD505-2E9C-101B-9397-08002B2CF9AE}" pid="4" name="MSIP_Label_a0f89cb5-682d-4be4-b0e0-739c9b4a93d4_Method">
    <vt:lpwstr>Standard</vt:lpwstr>
  </property>
  <property fmtid="{D5CDD505-2E9C-101B-9397-08002B2CF9AE}" pid="5" name="MSIP_Label_a0f89cb5-682d-4be4-b0e0-739c9b4a93d4_Name">
    <vt:lpwstr>Not Classified</vt:lpwstr>
  </property>
  <property fmtid="{D5CDD505-2E9C-101B-9397-08002B2CF9AE}" pid="6" name="MSIP_Label_a0f89cb5-682d-4be4-b0e0-739c9b4a93d4_SiteId">
    <vt:lpwstr>38305e12-e15d-4ee8-88b9-c4db1c477d76</vt:lpwstr>
  </property>
  <property fmtid="{D5CDD505-2E9C-101B-9397-08002B2CF9AE}" pid="7" name="MSIP_Label_a0f89cb5-682d-4be4-b0e0-739c9b4a93d4_ActionId">
    <vt:lpwstr>c227899a-4557-4060-b9e6-3adf680b6656</vt:lpwstr>
  </property>
  <property fmtid="{D5CDD505-2E9C-101B-9397-08002B2CF9AE}" pid="8" name="MSIP_Label_a0f89cb5-682d-4be4-b0e0-739c9b4a93d4_ContentBits">
    <vt:lpwstr>0</vt:lpwstr>
  </property>
  <property fmtid="{D5CDD505-2E9C-101B-9397-08002B2CF9AE}" pid="9" name="MSIP_Label_a0f89cb5-682d-4be4-b0e0-739c9b4a93d4_Tag">
    <vt:lpwstr>10, 3, 0, 1</vt:lpwstr>
  </property>
</Properties>
</file>