
<file path=[Content_Types].xml><?xml version="1.0" encoding="utf-8"?>
<Types xmlns="http://schemas.openxmlformats.org/package/2006/content-types">
  <Default Extension="bin" ContentType="application/vnd.openxmlformats-officedocument.presentationml.printerSetting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ns0:presentation xmlns:ns0="http://schemas.openxmlformats.org/presentationml/2006/main" xmlns:ns1="http://schemas.openxmlformats.org/officeDocument/2006/relationships" xmlns:ns2="http://schemas.openxmlformats.org/drawingml/2006/main" saveSubsetFonts="1" autoCompressPictures="0" embedTrueTypeFonts="1">
  <ns0:sldMasterIdLst>
    <ns0:sldMasterId id="2147483648" ns1:id="rId1"/>
  </ns0:sldMasterIdLst>
  <ns0:sldIdLst>
    <ns0:sldId id="256" ns1:id="rId7"/>
    <ns0:sldId id="257" ns1:id="rId8"/>
    <ns0:sldId id="276" ns1:id="rId31"/>
    <ns0:sldId id="258" ns1:id="rId9"/>
    <ns0:sldId id="259" ns1:id="rId10"/>
    <ns0:sldId id="260" ns1:id="rId11"/>
    <ns0:sldId id="261" ns1:id="rId12"/>
    <ns0:sldId id="262" ns1:id="rId13"/>
    <ns0:sldId id="267" ns1:id="rId18"/>
    <ns0:sldId id="263" ns1:id="rId14"/>
    <ns0:sldId id="277" ns1:id="rId32"/>
    <ns0:sldId id="264" ns1:id="rId15"/>
    <ns0:sldId id="272" ns1:id="rId23"/>
    <ns0:sldId id="268" ns1:id="rId19"/>
    <ns0:sldId id="265" ns1:id="rId16"/>
    <ns0:sldId id="266" ns1:id="rId17"/>
    <ns0:sldId id="269" ns1:id="rId20"/>
    <ns0:sldId id="270" ns1:id="rId21"/>
    <ns0:sldId id="275" ns1:id="rId26"/>
    <ns0:sldId id="271" ns1:id="rId22"/>
    <ns0:sldId id="273" ns1:id="rId24"/>
    <ns0:sldId id="278" ns1:id="rId33"/>
  </ns0:sldIdLst>
  <ns0:sldSz cx="12192000" cy="6858000" type="screen4x3"/>
  <ns0:notesSz cx="6858000" cy="9144000"/>
  <ns0:embeddedFontLst>
    <ns0:embeddedFont>
      <ns0:font typeface="Space Grotesk"/>
      <ns0:bold ns1:id="rIdFont27"/>
    </ns0:embeddedFont>
    <ns0:embeddedFont>
      <ns0:font typeface="DM Sans"/>
      <ns0:regular ns1:id="rIdFont29"/>
      <ns0:bold ns1:id="rIdFont28"/>
    </ns0:embeddedFont>
  </ns0:embeddedFontLst>
  <ns0:defaultTextStyle>
    <ns2:defPPr>
      <ns2:defRPr lang="en-US"/>
    </ns2:defPPr>
    <ns2:lvl1pPr marL="0" algn="l" defTabSz="457200" rtl="0" eaLnBrk="1" latinLnBrk="0" hangingPunct="1">
      <ns2:defRPr sz="1800" kern="1200">
        <ns2:solidFill>
          <ns2:schemeClr val="tx1"/>
        </ns2:solidFill>
        <ns2:latin typeface="+mn-lt"/>
        <ns2:ea typeface="+mn-ea"/>
        <ns2:cs typeface="+mn-cs"/>
      </ns2:defRPr>
    </ns2:lvl1pPr>
    <ns2:lvl2pPr marL="457200" algn="l" defTabSz="457200" rtl="0" eaLnBrk="1" latinLnBrk="0" hangingPunct="1">
      <ns2:defRPr sz="1800" kern="1200">
        <ns2:solidFill>
          <ns2:schemeClr val="tx1"/>
        </ns2:solidFill>
        <ns2:latin typeface="+mn-lt"/>
        <ns2:ea typeface="+mn-ea"/>
        <ns2:cs typeface="+mn-cs"/>
      </ns2:defRPr>
    </ns2:lvl2pPr>
    <ns2:lvl3pPr marL="914400" algn="l" defTabSz="457200" rtl="0" eaLnBrk="1" latinLnBrk="0" hangingPunct="1">
      <ns2:defRPr sz="1800" kern="1200">
        <ns2:solidFill>
          <ns2:schemeClr val="tx1"/>
        </ns2:solidFill>
        <ns2:latin typeface="+mn-lt"/>
        <ns2:ea typeface="+mn-ea"/>
        <ns2:cs typeface="+mn-cs"/>
      </ns2:defRPr>
    </ns2:lvl3pPr>
    <ns2:lvl4pPr marL="1371600" algn="l" defTabSz="457200" rtl="0" eaLnBrk="1" latinLnBrk="0" hangingPunct="1">
      <ns2:defRPr sz="1800" kern="1200">
        <ns2:solidFill>
          <ns2:schemeClr val="tx1"/>
        </ns2:solidFill>
        <ns2:latin typeface="+mn-lt"/>
        <ns2:ea typeface="+mn-ea"/>
        <ns2:cs typeface="+mn-cs"/>
      </ns2:defRPr>
    </ns2:lvl4pPr>
    <ns2:lvl5pPr marL="1828800" algn="l" defTabSz="457200" rtl="0" eaLnBrk="1" latinLnBrk="0" hangingPunct="1">
      <ns2:defRPr sz="1800" kern="1200">
        <ns2:solidFill>
          <ns2:schemeClr val="tx1"/>
        </ns2:solidFill>
        <ns2:latin typeface="+mn-lt"/>
        <ns2:ea typeface="+mn-ea"/>
        <ns2:cs typeface="+mn-cs"/>
      </ns2:defRPr>
    </ns2:lvl5pPr>
    <ns2:lvl6pPr marL="2286000" algn="l" defTabSz="457200" rtl="0" eaLnBrk="1" latinLnBrk="0" hangingPunct="1">
      <ns2:defRPr sz="1800" kern="1200">
        <ns2:solidFill>
          <ns2:schemeClr val="tx1"/>
        </ns2:solidFill>
        <ns2:latin typeface="+mn-lt"/>
        <ns2:ea typeface="+mn-ea"/>
        <ns2:cs typeface="+mn-cs"/>
      </ns2:defRPr>
    </ns2:lvl6pPr>
    <ns2:lvl7pPr marL="2743200" algn="l" defTabSz="457200" rtl="0" eaLnBrk="1" latinLnBrk="0" hangingPunct="1">
      <ns2:defRPr sz="1800" kern="1200">
        <ns2:solidFill>
          <ns2:schemeClr val="tx1"/>
        </ns2:solidFill>
        <ns2:latin typeface="+mn-lt"/>
        <ns2:ea typeface="+mn-ea"/>
        <ns2:cs typeface="+mn-cs"/>
      </ns2:defRPr>
    </ns2:lvl7pPr>
    <ns2:lvl8pPr marL="3200400" algn="l" defTabSz="457200" rtl="0" eaLnBrk="1" latinLnBrk="0" hangingPunct="1">
      <ns2:defRPr sz="1800" kern="1200">
        <ns2:solidFill>
          <ns2:schemeClr val="tx1"/>
        </ns2:solidFill>
        <ns2:latin typeface="+mn-lt"/>
        <ns2:ea typeface="+mn-ea"/>
        <ns2:cs typeface="+mn-cs"/>
      </ns2:defRPr>
    </ns2:lvl8pPr>
    <ns2:lvl9pPr marL="3657600" algn="l" defTabSz="457200" rtl="0" eaLnBrk="1" latinLnBrk="0" hangingPunct="1">
      <ns2:defRPr sz="1800" kern="1200">
        <ns2:solidFill>
          <ns2:schemeClr val="tx1"/>
        </ns2:solidFill>
        <ns2:latin typeface="+mn-lt"/>
        <ns2:ea typeface="+mn-ea"/>
        <ns2:cs typeface="+mn-cs"/>
      </ns2:defRPr>
    </ns2:lvl9pPr>
  </ns0:defaultTextStyle>
</ns0: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Font27" Type="http://schemas.openxmlformats.org/officeDocument/2006/relationships/font" Target="fonts/86e04e12-0014-4e8c-8d1f-e8939686d6b2.fntdata"/><Relationship Id="rIdFont28" Type="http://schemas.openxmlformats.org/officeDocument/2006/relationships/font" Target="fonts/4c8d79fe-a470-4154-9465-855f7fe70eb3.fntdata"/><Relationship Id="rIdFont29" Type="http://schemas.openxmlformats.org/officeDocument/2006/relationships/font" Target="fonts/36a7a413-e9c3-4200-947f-035ae743eefd.fntdata"/><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6" Type="http://schemas.openxmlformats.org/officeDocument/2006/relationships/slide" Target="slides/slide20.xml"/><Relationship Id="rId30" Type="http://schemas.openxmlformats.org/officeDocument/2006/relationships/notesMaster" Target="notesMasters/notesMaster1.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ser>
          <c:idx val="0"/>
          <c:order val="0"/>
          <c:tx>
            <c:strRef>
              <c:f>Sheet1!$B$1</c:f>
              <c:strCache>
                <c:ptCount val="1"/>
                <c:pt idx="0">
                  <c:v>base</c:v>
                </c:pt>
              </c:strCache>
            </c:strRef>
          </c:tx>
          <c:spPr>
            <a:noFill/>
            <a:ln>
              <a:noFill/>
            </a:ln>
          </c:spPr>
          <c:cat>
            <c:strRef>
              <c:f>Sheet1!$A$2:$A$6</c:f>
              <c:strCache>
                <c:ptCount val="5"/>
                <c:pt idx="0">
                  <c:v>GM asks</c:v>
                </c:pt>
                <c:pt idx="1">
                  <c:v>Delivered on the shared platform</c:v>
                </c:pt>
                <c:pt idx="2">
                  <c:v>Sent back for a 60-day case</c:v>
                </c:pt>
                <c:pt idx="3">
                  <c:v>Conditional on H1 (rule A6)</c:v>
                </c:pt>
                <c:pt idx="4">
                  <c:v>Funded now (2 gates)</c:v>
                </c:pt>
              </c:strCache>
            </c:strRef>
          </c:cat>
          <c:val>
            <c:numRef>
              <c:f>Sheet1!$B$2:$B$6</c:f>
              <c:numCache>
                <c:formatCode>General</c:formatCode>
                <c:ptCount val="5"/>
                <c:pt idx="0">
                  <c:v>0</c:v>
                </c:pt>
                <c:pt idx="1">
                  <c:v>52</c:v>
                </c:pt>
                <c:pt idx="2">
                  <c:v>40</c:v>
                </c:pt>
                <c:pt idx="3">
                  <c:v>25</c:v>
                </c:pt>
                <c:pt idx="4">
                  <c:v>0</c:v>
                </c:pt>
              </c:numCache>
            </c:numRef>
          </c:val>
        </c:ser>
        <c:ser>
          <c:idx val="1"/>
          <c:order val="1"/>
          <c:tx>
            <c:strRef>
              <c:f>Sheet1!$C$1</c:f>
              <c:strCache>
                <c:ptCount val="1"/>
                <c:pt idx="0">
                  <c:v>value</c:v>
                </c:pt>
              </c:strCache>
            </c:strRef>
          </c:tx>
          <c:dPt>
            <c:idx val="0"/>
            <c:spPr>
              <a:solidFill>
                <a:srgbClr val="5B4B7A"/>
              </a:solidFill>
            </c:spPr>
          </c:dPt>
          <c:dPt>
            <c:idx val="1"/>
            <c:spPr>
              <a:solidFill>
                <a:srgbClr val="8B5CF6"/>
              </a:solidFill>
            </c:spPr>
          </c:dPt>
          <c:dPt>
            <c:idx val="2"/>
            <c:spPr>
              <a:solidFill>
                <a:srgbClr val="8B5CF6"/>
              </a:solidFill>
            </c:spPr>
          </c:dPt>
          <c:dPt>
            <c:idx val="3"/>
            <c:spPr>
              <a:solidFill>
                <a:srgbClr val="D97706"/>
              </a:solidFill>
            </c:spPr>
          </c:dPt>
          <c:dPt>
            <c:idx val="4"/>
            <c:spPr>
              <a:solidFill>
                <a:srgbClr val="820AD1"/>
              </a:solidFill>
            </c:spPr>
          </c:dPt>
          <c:dLbls>
            <c:dLbl>
              <c:idx val="0"/>
              <c:tx>
                <c:rich>
                  <a:bodyPr/>
                  <a:lstStyle/>
                  <a:p>
                    <a:r>
                      <a:rPr sz="1300" b="1">
                        <a:solidFill>
                          <a:srgbClr val="FFFFFF"/>
                        </a:solidFill>
                        <a:latin typeface="DM Sans"/>
                      </a:rPr>
                      <a:t>$60M</a:t>
                    </a:r>
                  </a:p>
                </c:rich>
              </c:tx>
              <c:dLblPos val="inEnd"/>
              <c:showLegendKey val="0"/>
              <c:showVal val="1"/>
              <c:showCatName val="0"/>
              <c:showSerName val="0"/>
              <c:showPercent val="0"/>
              <c:showBubbleSize val="0"/>
            </c:dLbl>
            <c:dLbl>
              <c:idx val="1"/>
              <c:tx>
                <c:rich>
                  <a:bodyPr/>
                  <a:lstStyle/>
                  <a:p>
                    <a:r>
                      <a:rPr sz="1300" b="1">
                        <a:solidFill>
                          <a:srgbClr val="FFFFFF"/>
                        </a:solidFill>
                        <a:latin typeface="DM Sans"/>
                      </a:rPr>
                      <a:t>-$8M</a:t>
                    </a:r>
                  </a:p>
                </c:rich>
              </c:tx>
              <c:dLblPos val="inEnd"/>
              <c:showLegendKey val="0"/>
              <c:showVal val="1"/>
              <c:showCatName val="0"/>
              <c:showSerName val="0"/>
              <c:showPercent val="0"/>
              <c:showBubbleSize val="0"/>
            </c:dLbl>
            <c:dLbl>
              <c:idx val="2"/>
              <c:tx>
                <c:rich>
                  <a:bodyPr/>
                  <a:lstStyle/>
                  <a:p>
                    <a:r>
                      <a:rPr sz="1300" b="1">
                        <a:solidFill>
                          <a:srgbClr val="FFFFFF"/>
                        </a:solidFill>
                        <a:latin typeface="DM Sans"/>
                      </a:rPr>
                      <a:t>-$12M</a:t>
                    </a:r>
                  </a:p>
                </c:rich>
              </c:tx>
              <c:dLblPos val="inEnd"/>
              <c:showLegendKey val="0"/>
              <c:showVal val="1"/>
              <c:showCatName val="0"/>
              <c:showSerName val="0"/>
              <c:showPercent val="0"/>
              <c:showBubbleSize val="0"/>
            </c:dLbl>
            <c:dLbl>
              <c:idx val="3"/>
              <c:tx>
                <c:rich>
                  <a:bodyPr/>
                  <a:lstStyle/>
                  <a:p>
                    <a:r>
                      <a:rPr sz="1300" b="1">
                        <a:solidFill>
                          <a:srgbClr val="FFFFFF"/>
                        </a:solidFill>
                        <a:latin typeface="DM Sans"/>
                      </a:rPr>
                      <a:t>-$15M</a:t>
                    </a:r>
                  </a:p>
                </c:rich>
              </c:tx>
              <c:dLblPos val="inEnd"/>
              <c:showLegendKey val="0"/>
              <c:showVal val="1"/>
              <c:showCatName val="0"/>
              <c:showSerName val="0"/>
              <c:showPercent val="0"/>
              <c:showBubbleSize val="0"/>
            </c:dLbl>
            <c:dLbl>
              <c:idx val="4"/>
              <c:tx>
                <c:rich>
                  <a:bodyPr/>
                  <a:lstStyle/>
                  <a:p>
                    <a:r>
                      <a:rPr sz="1300" b="1">
                        <a:solidFill>
                          <a:srgbClr val="FFFFFF"/>
                        </a:solidFill>
                        <a:latin typeface="DM Sans"/>
                      </a:rPr>
                      <a:t>$25M</a:t>
                    </a:r>
                  </a:p>
                </c:rich>
              </c:tx>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GM asks</c:v>
                </c:pt>
                <c:pt idx="1">
                  <c:v>Delivered on the shared platform</c:v>
                </c:pt>
                <c:pt idx="2">
                  <c:v>Sent back for a 60-day case</c:v>
                </c:pt>
                <c:pt idx="3">
                  <c:v>Conditional on H1 (rule A6)</c:v>
                </c:pt>
                <c:pt idx="4">
                  <c:v>Funded now (2 gates)</c:v>
                </c:pt>
              </c:strCache>
            </c:strRef>
          </c:cat>
          <c:val>
            <c:numRef>
              <c:f>Sheet1!$C$2:$C$6</c:f>
              <c:numCache>
                <c:formatCode>General</c:formatCode>
                <c:ptCount val="5"/>
                <c:pt idx="0">
                  <c:v>60</c:v>
                </c:pt>
                <c:pt idx="1">
                  <c:v>8</c:v>
                </c:pt>
                <c:pt idx="2">
                  <c:v>12</c:v>
                </c:pt>
                <c:pt idx="3">
                  <c:v>15</c:v>
                </c:pt>
                <c:pt idx="4">
                  <c:v>25</c:v>
                </c:pt>
              </c:numCache>
            </c:numRef>
          </c:val>
        </c:ser>
        <c:gapWidth val="60"/>
        <c:overlap val="100"/>
        <c:axId val="-2068027336"/>
        <c:axId val="-2113994440"/>
      </c:barChart>
      <c:catAx>
        <c:axId val="-2068027336"/>
        <c:scaling>
          <c:orientation val="maxMin"/>
        </c:scaling>
        <c:delete val="0"/>
        <c:axPos val="l"/>
        <c:majorTickMark val="out"/>
        <c:minorTickMark val="none"/>
        <c:tickLblPos val="nextTo"/>
        <c:spPr>
          <a:ln>
            <a:noFill/>
          </a:ln>
        </c:spPr>
        <c:txPr>
          <a:bodyPr/>
          <a:lstStyle/>
          <a:p>
            <a:pPr>
              <a:defRPr sz="1200">
                <a:solidFill>
                  <a:srgbClr val="11052C"/>
                </a:solidFill>
                <a:latin typeface="DM Sans"/>
              </a:defRPr>
            </a:pPr>
          </a:p>
        </c:txPr>
        <c:crossAx val="-2113994440"/>
        <c:crosses val="autoZero"/>
        <c:auto val="1"/>
        <c:lblAlgn val="ctr"/>
        <c:lblOffset val="100"/>
        <c:noMultiLvlLbl val="0"/>
      </c:catAx>
      <c:valAx>
        <c:axId val="-2113994440"/>
        <c:scaling>
          <c:max val="62.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three live problems, four deliverables, one ask at the end. Hardest question: 'Why should we believe a 60-day-old view?' Answer: because every number here is either a public Nu figure with its source or an assumption I list on slide 3 and would verify in week one.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three decisions, each with a number. Hardest question: 'Why $25M and not a reallocation inside the existing base?' Answer: the cap is the CFO's constraint from the FY26 efficiency-ratio guide of about 20%; the model reallocates inside it every quarter, which is the point.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facts and assumptions are kept apart on purpose; the brief asked for it and the CFO will test it. Hardest question: 'Which assumption, if wrong, breaks the plan?' Answer: A4. If the dispute is about regulatory capital by entity, slide 11 becomes the main event and the opex split is secondary.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do not oversell $35M to a CFO who reports $5.9B a quarter; sell the precedent. Hardest question: 'If it is immaterial, why not just approve the $60M?' Answer: because the efficiency ratio is guided at ~20% and every unvetted central dollar is a dollar that is not in a customer-facing cohort.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this is the one idea the rest of the deck hangs on. Hardest question: 'Credit lines have repayment data in 30 days; a new vertical does not. What do you gate on?' Answer: leading indicators (activation, retention, CAC, unit cost) in the first quarter; payback is the lagging confirmation at the second gate.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show the options you rejected and why. Hardest question: 'Your scores are made up.' Answer: yes, they are judgment, labeled as such; the test that matters is that the winner survives every +/-10 point weight change, and it does.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the whole $60M is answered; nothing is 'cut', each piece has a path. Hardest question: 'The $8M platform saving is convenient. Where does it come from?' Answer: it is my estimate (A5) from the asks that duplicate features the global code base already ships; Engineering confirms it in week one or the number moves to the case track.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the cap is hard; anything above it is a rule with a formula, not a hope. Hardest question: 'Rule A6 is a loophole GMs will game.' Answer: it is funded only from profit that is already in the bank, sized by formula, and the CFO and IR sign it; a GM cannot trigger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four meetings, each with an owner and an output; nothing else is added to the calendar. Hardest question: 'How many people is this?' Answer: the hub is small (model, template, pack); the partners are the finance people already attached to markets, re-pointed at cases and gates.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the fix for two opposing executives is a shared yardstick, not a compromise number. Hardest question: 'What if the dispute is really about capital for Mexico and the US?' Answer: then slide 11 is the decision and this slide only sets the opex envelope; I check which it is in week one (A4).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show the panel you know the Board topic is capital, not a $25M opex line. Hardest question: 'Where should the next dollar of equity go?' Answer: wherever return on allocated capital beats the local cost of equity by the widest margin after the downside; today that case is strongest in Brazil deepening and Mexico, with the US sized to its 100 bps envelope until its credit models mature.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a Board rhythm is a calendar with owners, not a sprint metaphor. Hardest question: 'Materials are already late. What do you cut?' Answer: the outline is locked today; anything not in it goes to the appendix or the next meeting; the capital plan and statutory items are the two things that cannot slip.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for a bank the entity question is a licensing question first. Hardest question: 'Would you be a statutory director of the HQ entity?' Answer: no. Statutory officers must pass fit-and-proper tests and carry personal liability; the Chief of Staff runs the process, the licensed executives hold the seats.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four moves, in order, every time. Hardest question: 'Give me a real example.' Answer: [Pit wall: insert one case from your career here: the leader, what they asked for, what you offered instead, and the result.]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the HQ is a governance project before it is a real-estate project. Hardest question: 'What is the dollar value of the incentives?' Answer: none is claimed yet; it depends on the site, and any figure before gate 1 would be a guess. The exit test at gate 1 produces the number.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three rules, each tied to a mechanism on an earlier slide. Examples to give in Q&amp;A [Pit wall: insert three from your career, one per rule: the situation, your role, the decision, the result].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the downside is handled by the rule, not by a meeting. Hardest question: 'What would make you stop?' Answer: two of four indicators below plan for a unit, the efficiency ratio above the guide for the company, or credit cost above plan for rule A6. All three are observable at quarter close.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one clock. Tenure days on this slide; HQ gates are D+n from the charter signed today (Day 60). Hardest question: 'Gate 2 at Day 125 is only 37 days after the first release.' Answer: Day 125 is the indicator read-out; the release itself happens at quarter close, and the indicators are ones that show in a quarter.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decision, not on thanks. Then open Q&amp;A with the assumptions slide on screen.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Divider. Not presented; the two appendix pages are backup for Q&amp;A.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If asked about any number, this is the page.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the options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xml"/><Relationship Id="rId4"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90530"/>
        </a:solidFill>
        <a:effectLst/>
      </p:bgPr>
    </p:bg>
    <p:spTree>
      <p:nvGrpSpPr>
        <p:cNvPr id="1" name=""/>
        <p:cNvGrpSpPr/>
        <p:nvPr/>
      </p:nvGrpSpPr>
      <p:grpSpPr/>
      <p:sp>
        <p:nvSpPr>
          <p:cNvPr id="2" name="Rounded Rectangle 1"/>
          <p:cNvSpPr/>
          <p:nvPr/>
        </p:nvSpPr>
        <p:spPr>
          <a:xfrm>
            <a:off x="685800" y="5122068"/>
            <a:ext cx="10820400" cy="762000"/>
          </a:xfrm>
          <a:prstGeom prst="roundRect">
            <a:avLst>
              <a:gd name="adj" fmla="val 10000"/>
            </a:avLst>
          </a:prstGeom>
          <a:solidFill>
            <a:srgbClr val="820A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3255168"/>
            <a:ext cx="3479750" cy="1600200"/>
          </a:xfrm>
          <a:prstGeom prst="roundRect">
            <a:avLst>
              <a:gd name="adj" fmla="val 5952"/>
            </a:avLst>
          </a:prstGeom>
          <a:solidFill>
            <a:srgbClr val="2A0C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356050" y="3255168"/>
            <a:ext cx="3479750" cy="1600200"/>
          </a:xfrm>
          <a:prstGeom prst="roundRect">
            <a:avLst>
              <a:gd name="adj" fmla="val 5952"/>
            </a:avLst>
          </a:prstGeom>
          <a:solidFill>
            <a:srgbClr val="2A0C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026300" y="3255168"/>
            <a:ext cx="3479750" cy="1600200"/>
          </a:xfrm>
          <a:prstGeom prst="roundRect">
            <a:avLst>
              <a:gd name="adj" fmla="val 5952"/>
            </a:avLst>
          </a:prstGeom>
          <a:solidFill>
            <a:srgbClr val="2A0C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973931"/>
            <a:ext cx="11506200" cy="190500"/>
          </a:xfrm>
          <a:prstGeom prst="rect">
            <a:avLst/>
          </a:prstGeom>
          <a:noFill/>
        </p:spPr>
        <p:txBody>
          <a:bodyPr wrap="none" lIns="0" rIns="0" tIns="0" bIns="0" anchor="t">
            <a:spAutoFit/>
          </a:bodyPr>
          <a:lstStyle/>
          <a:p>
            <a:pPr algn="l"/>
            <a:r>
              <a:rPr b="1" sz="1125" i="0" u="none">
                <a:solidFill>
                  <a:srgbClr val="C084FC"/>
                </a:solidFill>
                <a:latin typeface="DM Sans"/>
              </a:rPr>
              <a:t>NU HOLDINGS LTD. // OFFICE OF THE CFO &amp; CORPORATE GOVERNANCE</a:t>
            </a:r>
          </a:p>
        </p:txBody>
      </p:sp>
      <p:sp>
        <p:nvSpPr>
          <p:cNvPr id="7" name="TextBox 6"/>
          <p:cNvSpPr txBox="1"/>
          <p:nvPr/>
        </p:nvSpPr>
        <p:spPr>
          <a:xfrm>
            <a:off x="685800" y="1297781"/>
            <a:ext cx="10601325" cy="1023937"/>
          </a:xfrm>
          <a:prstGeom prst="rect">
            <a:avLst/>
          </a:prstGeom>
          <a:noFill/>
        </p:spPr>
        <p:txBody>
          <a:bodyPr wrap="square" lIns="0" rIns="0" tIns="0" bIns="0" anchor="t">
            <a:spAutoFit/>
          </a:bodyPr>
          <a:lstStyle/>
          <a:p>
            <a:pPr algn="l">
              <a:lnSpc>
                <a:spcPts val="4032"/>
              </a:lnSpc>
            </a:pPr>
            <a:r>
              <a:rPr b="1" sz="3600" i="0" u="none">
                <a:solidFill>
                  <a:srgbClr val="FFFFFF"/>
                </a:solidFill>
                <a:latin typeface="Space Grotesk"/>
              </a:rPr>
              <a:t>Chief of Staff to the CFO: a planning engine, a Board rhythm and an HQ charter</a:t>
            </a:r>
          </a:p>
        </p:txBody>
      </p:sp>
      <p:sp>
        <p:nvSpPr>
          <p:cNvPr id="8" name="TextBox 7"/>
          <p:cNvSpPr txBox="1"/>
          <p:nvPr/>
        </p:nvSpPr>
        <p:spPr>
          <a:xfrm>
            <a:off x="685800" y="2493168"/>
            <a:ext cx="9239250" cy="495300"/>
          </a:xfrm>
          <a:prstGeom prst="rect">
            <a:avLst/>
          </a:prstGeom>
          <a:noFill/>
        </p:spPr>
        <p:txBody>
          <a:bodyPr wrap="square" lIns="0" rIns="0" tIns="0" bIns="0" anchor="t">
            <a:spAutoFit/>
          </a:bodyPr>
          <a:lstStyle/>
          <a:p>
            <a:pPr algn="l"/>
            <a:r>
              <a:rPr b="0" sz="1500" i="0" u="none">
                <a:solidFill>
                  <a:srgbClr val="E9D5FF"/>
                </a:solidFill>
                <a:latin typeface="DM Sans"/>
              </a:rPr>
              <a:t>Case resolution, 60 days into the role. Prepared by Cassio Modelli for the Nu panel, October 2026. Nu figures are from public Q2'26 filings; my assumptions are listed on slide 3.</a:t>
            </a:r>
          </a:p>
        </p:txBody>
      </p:sp>
      <p:sp>
        <p:nvSpPr>
          <p:cNvPr id="9" name="TextBox 8"/>
          <p:cNvSpPr txBox="1"/>
          <p:nvPr/>
        </p:nvSpPr>
        <p:spPr>
          <a:xfrm>
            <a:off x="914400" y="5274468"/>
            <a:ext cx="10458450" cy="457200"/>
          </a:xfrm>
          <a:prstGeom prst="rect">
            <a:avLst/>
          </a:prstGeom>
          <a:noFill/>
        </p:spPr>
        <p:txBody>
          <a:bodyPr wrap="square" lIns="0" rIns="0" tIns="0" bIns="0" anchor="t">
            <a:spAutoFit/>
          </a:bodyPr>
          <a:lstStyle/>
          <a:p>
            <a:pPr algn="l"/>
            <a:r>
              <a:rPr b="1" sz="1350" i="0" u="none">
                <a:solidFill>
                  <a:srgbClr val="FFFFFF"/>
                </a:solidFill>
                <a:latin typeface="DM Sans"/>
              </a:rPr>
              <a:t>Four deliverables: (1) Planning and prioritization engine  (2) C-suite alignment and Board rhythm  (3) HQ execution roadmap  (4) How I lead</a:t>
            </a:r>
          </a:p>
        </p:txBody>
      </p:sp>
      <p:sp>
        <p:nvSpPr>
          <p:cNvPr id="10" name="TextBox 9"/>
          <p:cNvSpPr txBox="1"/>
          <p:nvPr/>
        </p:nvSpPr>
        <p:spPr>
          <a:xfrm>
            <a:off x="876300" y="3445668"/>
            <a:ext cx="3873437" cy="171450"/>
          </a:xfrm>
          <a:prstGeom prst="rect">
            <a:avLst/>
          </a:prstGeom>
          <a:noFill/>
        </p:spPr>
        <p:txBody>
          <a:bodyPr wrap="none" lIns="0" rIns="0" tIns="0" bIns="0" anchor="t">
            <a:spAutoFit/>
          </a:bodyPr>
          <a:lstStyle/>
          <a:p>
            <a:pPr algn="l"/>
            <a:r>
              <a:rPr b="1" sz="1050" i="0" u="none">
                <a:solidFill>
                  <a:srgbClr val="C084FC"/>
                </a:solidFill>
                <a:latin typeface="DM Sans"/>
              </a:rPr>
              <a:t>PILLAR 1 // PLANNING</a:t>
            </a:r>
          </a:p>
        </p:txBody>
      </p:sp>
      <p:sp>
        <p:nvSpPr>
          <p:cNvPr id="11" name="TextBox 10"/>
          <p:cNvSpPr txBox="1"/>
          <p:nvPr/>
        </p:nvSpPr>
        <p:spPr>
          <a:xfrm>
            <a:off x="876300" y="3674268"/>
            <a:ext cx="4067109" cy="247650"/>
          </a:xfrm>
          <a:prstGeom prst="rect">
            <a:avLst/>
          </a:prstGeom>
          <a:noFill/>
        </p:spPr>
        <p:txBody>
          <a:bodyPr wrap="square" lIns="0" rIns="0" tIns="0" bIns="0" anchor="t">
            <a:spAutoFit/>
          </a:bodyPr>
          <a:lstStyle/>
          <a:p>
            <a:pPr algn="l"/>
            <a:r>
              <a:rPr b="1" sz="1500" i="0" u="none">
                <a:solidFill>
                  <a:srgbClr val="FFFFFF"/>
                </a:solidFill>
                <a:latin typeface="Space Grotesk"/>
              </a:rPr>
              <a:t>$60M Asks vs. $25M Cap</a:t>
            </a:r>
          </a:p>
        </p:txBody>
      </p:sp>
      <p:sp>
        <p:nvSpPr>
          <p:cNvPr id="12" name="TextBox 11"/>
          <p:cNvSpPr txBox="1"/>
          <p:nvPr/>
        </p:nvSpPr>
        <p:spPr>
          <a:xfrm>
            <a:off x="876300" y="3979068"/>
            <a:ext cx="3194000" cy="685800"/>
          </a:xfrm>
          <a:prstGeom prst="rect">
            <a:avLst/>
          </a:prstGeom>
          <a:noFill/>
        </p:spPr>
        <p:txBody>
          <a:bodyPr wrap="square" lIns="0" rIns="0" tIns="0" bIns="0" anchor="t">
            <a:spAutoFit/>
          </a:bodyPr>
          <a:lstStyle/>
          <a:p>
            <a:pPr algn="l"/>
            <a:r>
              <a:rPr b="0" sz="1350" i="0" u="none">
                <a:solidFill>
                  <a:srgbClr val="D8B4FE"/>
                </a:solidFill>
                <a:latin typeface="DM Sans"/>
              </a:rPr>
              <a:t>Bring planning in-house and fund $60M of growth asks inside a $25M cost cap.</a:t>
            </a:r>
          </a:p>
        </p:txBody>
      </p:sp>
      <p:sp>
        <p:nvSpPr>
          <p:cNvPr id="13" name="TextBox 12"/>
          <p:cNvSpPr txBox="1"/>
          <p:nvPr/>
        </p:nvSpPr>
        <p:spPr>
          <a:xfrm>
            <a:off x="4546550" y="3445668"/>
            <a:ext cx="3873437" cy="171450"/>
          </a:xfrm>
          <a:prstGeom prst="rect">
            <a:avLst/>
          </a:prstGeom>
          <a:noFill/>
        </p:spPr>
        <p:txBody>
          <a:bodyPr wrap="none" lIns="0" rIns="0" tIns="0" bIns="0" anchor="t">
            <a:spAutoFit/>
          </a:bodyPr>
          <a:lstStyle/>
          <a:p>
            <a:pPr algn="l"/>
            <a:r>
              <a:rPr b="1" sz="1050" i="0" u="none">
                <a:solidFill>
                  <a:srgbClr val="C084FC"/>
                </a:solidFill>
                <a:latin typeface="DM Sans"/>
              </a:rPr>
              <a:t>PILLAR 2 // GOVERNANCE</a:t>
            </a:r>
          </a:p>
        </p:txBody>
      </p:sp>
      <p:sp>
        <p:nvSpPr>
          <p:cNvPr id="14" name="TextBox 13"/>
          <p:cNvSpPr txBox="1"/>
          <p:nvPr/>
        </p:nvSpPr>
        <p:spPr>
          <a:xfrm>
            <a:off x="4546550" y="3674268"/>
            <a:ext cx="4067109" cy="247650"/>
          </a:xfrm>
          <a:prstGeom prst="rect">
            <a:avLst/>
          </a:prstGeom>
          <a:noFill/>
        </p:spPr>
        <p:txBody>
          <a:bodyPr wrap="square" lIns="0" rIns="0" tIns="0" bIns="0" anchor="t">
            <a:spAutoFit/>
          </a:bodyPr>
          <a:lstStyle/>
          <a:p>
            <a:pPr algn="l"/>
            <a:r>
              <a:rPr b="1" sz="1500" i="0" u="none">
                <a:solidFill>
                  <a:srgbClr val="FFFFFF"/>
                </a:solidFill>
                <a:latin typeface="Space Grotesk"/>
              </a:rPr>
              <a:t>4-Week Board Crunch</a:t>
            </a:r>
          </a:p>
        </p:txBody>
      </p:sp>
      <p:sp>
        <p:nvSpPr>
          <p:cNvPr id="15" name="TextBox 14"/>
          <p:cNvSpPr txBox="1"/>
          <p:nvPr/>
        </p:nvSpPr>
        <p:spPr>
          <a:xfrm>
            <a:off x="4546550" y="3979068"/>
            <a:ext cx="3194000" cy="685800"/>
          </a:xfrm>
          <a:prstGeom prst="rect">
            <a:avLst/>
          </a:prstGeom>
          <a:noFill/>
        </p:spPr>
        <p:txBody>
          <a:bodyPr wrap="square" lIns="0" rIns="0" tIns="0" bIns="0" anchor="t">
            <a:spAutoFit/>
          </a:bodyPr>
          <a:lstStyle/>
          <a:p>
            <a:pPr algn="l"/>
            <a:r>
              <a:rPr b="0" sz="1350" i="0" u="none">
                <a:solidFill>
                  <a:srgbClr val="D8B4FE"/>
                </a:solidFill>
                <a:latin typeface="DM Sans"/>
              </a:rPr>
              <a:t>Settle two opposing capital views and get the Board book out on time.</a:t>
            </a:r>
          </a:p>
        </p:txBody>
      </p:sp>
      <p:sp>
        <p:nvSpPr>
          <p:cNvPr id="16" name="TextBox 15"/>
          <p:cNvSpPr txBox="1"/>
          <p:nvPr/>
        </p:nvSpPr>
        <p:spPr>
          <a:xfrm>
            <a:off x="8216800" y="3445668"/>
            <a:ext cx="3873437" cy="171450"/>
          </a:xfrm>
          <a:prstGeom prst="rect">
            <a:avLst/>
          </a:prstGeom>
          <a:noFill/>
        </p:spPr>
        <p:txBody>
          <a:bodyPr wrap="none" lIns="0" rIns="0" tIns="0" bIns="0" anchor="t">
            <a:spAutoFit/>
          </a:bodyPr>
          <a:lstStyle/>
          <a:p>
            <a:pPr algn="l"/>
            <a:r>
              <a:rPr b="1" sz="1050" i="0" u="none">
                <a:solidFill>
                  <a:srgbClr val="C084FC"/>
                </a:solidFill>
                <a:latin typeface="DM Sans"/>
              </a:rPr>
              <a:t>PILLAR 3 // SPECIAL PROJECT</a:t>
            </a:r>
          </a:p>
        </p:txBody>
      </p:sp>
      <p:sp>
        <p:nvSpPr>
          <p:cNvPr id="17" name="TextBox 16"/>
          <p:cNvSpPr txBox="1"/>
          <p:nvPr/>
        </p:nvSpPr>
        <p:spPr>
          <a:xfrm>
            <a:off x="8216800" y="3674268"/>
            <a:ext cx="3975199" cy="247650"/>
          </a:xfrm>
          <a:prstGeom prst="rect">
            <a:avLst/>
          </a:prstGeom>
          <a:noFill/>
        </p:spPr>
        <p:txBody>
          <a:bodyPr wrap="square" lIns="0" rIns="0" tIns="0" bIns="0" anchor="t">
            <a:spAutoFit/>
          </a:bodyPr>
          <a:lstStyle/>
          <a:p>
            <a:pPr algn="l"/>
            <a:r>
              <a:rPr b="1" sz="1500" i="0" u="none">
                <a:solidFill>
                  <a:srgbClr val="FFFFFF"/>
                </a:solidFill>
                <a:latin typeface="Space Grotesk"/>
              </a:rPr>
              <a:t>New Regional HQ Deal</a:t>
            </a:r>
          </a:p>
        </p:txBody>
      </p:sp>
      <p:sp>
        <p:nvSpPr>
          <p:cNvPr id="18" name="TextBox 17"/>
          <p:cNvSpPr txBox="1"/>
          <p:nvPr/>
        </p:nvSpPr>
        <p:spPr>
          <a:xfrm>
            <a:off x="8216800" y="3979068"/>
            <a:ext cx="3194000" cy="685800"/>
          </a:xfrm>
          <a:prstGeom prst="rect">
            <a:avLst/>
          </a:prstGeom>
          <a:noFill/>
        </p:spPr>
        <p:txBody>
          <a:bodyPr wrap="square" lIns="0" rIns="0" tIns="0" bIns="0" anchor="t">
            <a:spAutoFit/>
          </a:bodyPr>
          <a:lstStyle/>
          <a:p>
            <a:pPr algn="l"/>
            <a:r>
              <a:rPr b="0" sz="1350" i="0" u="none">
                <a:solidFill>
                  <a:srgbClr val="D8B4FE"/>
                </a:solidFill>
                <a:latin typeface="DM Sans"/>
              </a:rPr>
              <a:t>Lead legal, tax and campus terms across jurisdictions without line authority.</a:t>
            </a:r>
          </a:p>
        </p:txBody>
      </p:sp>
      <p:sp>
        <p:nvSpPr>
          <p:cNvPr id="19" name="TextBox 18"/>
          <p:cNvSpPr txBox="1"/>
          <p:nvPr/>
        </p:nvSpPr>
        <p:spPr>
          <a:xfrm>
            <a:off x="11338560" y="6446520"/>
            <a:ext cx="731520" cy="274320"/>
          </a:xfrm>
          <a:prstGeom prst="rect">
            <a:avLst/>
          </a:prstGeom>
          <a:noFill/>
        </p:spPr>
        <p:txBody>
          <a:bodyPr wrap="square">
            <a:spAutoFit/>
          </a:bodyPr>
          <a:lstStyle/>
          <a:p>
            <a:pPr algn="r"/>
            <a:r>
              <a:rPr sz="900" b="0">
                <a:solidFill>
                  <a:srgbClr val="C084FC"/>
                </a:solidFill>
                <a:latin typeface="DM San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Rounded Rectangle 1"/>
          <p:cNvSpPr/>
          <p:nvPr/>
        </p:nvSpPr>
        <p:spPr>
          <a:xfrm>
            <a:off x="609600" y="4534792"/>
            <a:ext cx="10972800" cy="1219200"/>
          </a:xfrm>
          <a:prstGeom prst="roundRect">
            <a:avLst>
              <a:gd name="adj" fmla="val 7812"/>
            </a:avLst>
          </a:prstGeom>
          <a:solidFill>
            <a:srgbClr val="190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2324992"/>
            <a:ext cx="2600325" cy="1981200"/>
          </a:xfrm>
          <a:prstGeom prst="roundRect">
            <a:avLst>
              <a:gd name="adj" fmla="val 4807"/>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00425" y="2324992"/>
            <a:ext cx="2600325" cy="1981200"/>
          </a:xfrm>
          <a:prstGeom prst="roundRect">
            <a:avLst>
              <a:gd name="adj" fmla="val 4807"/>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191250" y="2324992"/>
            <a:ext cx="2600325" cy="1981200"/>
          </a:xfrm>
          <a:prstGeom prst="roundRect">
            <a:avLst>
              <a:gd name="adj" fmla="val 5434"/>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982075" y="2324992"/>
            <a:ext cx="2600325" cy="1981200"/>
          </a:xfrm>
          <a:prstGeom prst="roundRect">
            <a:avLst>
              <a:gd name="adj" fmla="val 4807"/>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DM Sans"/>
              </a:rPr>
              <a:t>01 // EXECUTIVE SUMMARY &amp; CORE RECOMMENDATION</a:t>
            </a:r>
          </a:p>
        </p:txBody>
      </p:sp>
      <p:sp>
        <p:nvSpPr>
          <p:cNvPr id="8" name="TextBox 7"/>
          <p:cNvSpPr txBox="1"/>
          <p:nvPr/>
        </p:nvSpPr>
        <p:spPr>
          <a:xfrm>
            <a:off x="609600" y="704850"/>
            <a:ext cx="115824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Space Grotesk"/>
              </a:rPr>
              <a:t>Fund $25M now through two business-case gates, lock the Board plan 16 days out, and charter the HQ project this week</a:t>
            </a:r>
          </a:p>
        </p:txBody>
      </p:sp>
      <p:sp>
        <p:nvSpPr>
          <p:cNvPr id="9" name="TextBox 8"/>
          <p:cNvSpPr txBox="1"/>
          <p:nvPr/>
        </p:nvSpPr>
        <p:spPr>
          <a:xfrm>
            <a:off x="847725" y="2563117"/>
            <a:ext cx="2655093" cy="171450"/>
          </a:xfrm>
          <a:prstGeom prst="rect">
            <a:avLst/>
          </a:prstGeom>
          <a:noFill/>
        </p:spPr>
        <p:txBody>
          <a:bodyPr wrap="none" lIns="0" rIns="0" tIns="0" bIns="0" anchor="t">
            <a:spAutoFit/>
          </a:bodyPr>
          <a:lstStyle/>
          <a:p>
            <a:pPr algn="l"/>
            <a:r>
              <a:rPr b="1" sz="1050" i="0" u="none">
                <a:solidFill>
                  <a:srgbClr val="820AD1"/>
                </a:solidFill>
                <a:latin typeface="DM Sans"/>
              </a:rPr>
              <a:t>DELIVERABLE 1 // PLANNING</a:t>
            </a:r>
          </a:p>
        </p:txBody>
      </p:sp>
      <p:sp>
        <p:nvSpPr>
          <p:cNvPr id="10" name="TextBox 9"/>
          <p:cNvSpPr txBox="1"/>
          <p:nvPr/>
        </p:nvSpPr>
        <p:spPr>
          <a:xfrm>
            <a:off x="847725" y="2810767"/>
            <a:ext cx="2787848" cy="266700"/>
          </a:xfrm>
          <a:prstGeom prst="rect">
            <a:avLst/>
          </a:prstGeom>
          <a:noFill/>
        </p:spPr>
        <p:txBody>
          <a:bodyPr wrap="square" lIns="0" rIns="0" tIns="0" bIns="0" anchor="t">
            <a:spAutoFit/>
          </a:bodyPr>
          <a:lstStyle/>
          <a:p>
            <a:pPr algn="l"/>
            <a:r>
              <a:rPr b="1" sz="1650" i="0" u="none">
                <a:solidFill>
                  <a:srgbClr val="11052C"/>
                </a:solidFill>
                <a:latin typeface="Space Grotesk"/>
              </a:rPr>
              <a:t>$25M in two gates</a:t>
            </a:r>
          </a:p>
        </p:txBody>
      </p:sp>
      <p:sp>
        <p:nvSpPr>
          <p:cNvPr id="11" name="TextBox 10"/>
          <p:cNvSpPr txBox="1"/>
          <p:nvPr/>
        </p:nvSpPr>
        <p:spPr>
          <a:xfrm>
            <a:off x="847725" y="3153667"/>
            <a:ext cx="2219325" cy="914400"/>
          </a:xfrm>
          <a:prstGeom prst="rect">
            <a:avLst/>
          </a:prstGeom>
          <a:noFill/>
        </p:spPr>
        <p:txBody>
          <a:bodyPr wrap="square" lIns="0" rIns="0" tIns="0" bIns="0" anchor="t">
            <a:spAutoFit/>
          </a:bodyPr>
          <a:lstStyle/>
          <a:p>
            <a:pPr algn="l"/>
            <a:r>
              <a:rPr b="0" sz="1350" i="0" u="none">
                <a:solidFill>
                  <a:srgbClr val="3B2A54"/>
                </a:solidFill>
                <a:latin typeface="DM Sans"/>
              </a:rPr>
              <a:t>Every ask gets a business case; $15M released now, $10M at the first gate. No flat haircuts.</a:t>
            </a:r>
          </a:p>
        </p:txBody>
      </p:sp>
      <p:sp>
        <p:nvSpPr>
          <p:cNvPr id="12" name="TextBox 11"/>
          <p:cNvSpPr txBox="1"/>
          <p:nvPr/>
        </p:nvSpPr>
        <p:spPr>
          <a:xfrm>
            <a:off x="3638550" y="2563117"/>
            <a:ext cx="2655093" cy="171450"/>
          </a:xfrm>
          <a:prstGeom prst="rect">
            <a:avLst/>
          </a:prstGeom>
          <a:noFill/>
        </p:spPr>
        <p:txBody>
          <a:bodyPr wrap="none" lIns="0" rIns="0" tIns="0" bIns="0" anchor="t">
            <a:spAutoFit/>
          </a:bodyPr>
          <a:lstStyle/>
          <a:p>
            <a:pPr algn="l"/>
            <a:r>
              <a:rPr b="1" sz="1050" i="0" u="none">
                <a:solidFill>
                  <a:srgbClr val="820AD1"/>
                </a:solidFill>
                <a:latin typeface="DM Sans"/>
              </a:rPr>
              <a:t>DELIVERABLE 2 // BOARD</a:t>
            </a:r>
          </a:p>
        </p:txBody>
      </p:sp>
      <p:sp>
        <p:nvSpPr>
          <p:cNvPr id="13" name="TextBox 12"/>
          <p:cNvSpPr txBox="1"/>
          <p:nvPr/>
        </p:nvSpPr>
        <p:spPr>
          <a:xfrm>
            <a:off x="3638550" y="2810767"/>
            <a:ext cx="2787848" cy="266700"/>
          </a:xfrm>
          <a:prstGeom prst="rect">
            <a:avLst/>
          </a:prstGeom>
          <a:noFill/>
        </p:spPr>
        <p:txBody>
          <a:bodyPr wrap="square" lIns="0" rIns="0" tIns="0" bIns="0" anchor="t">
            <a:spAutoFit/>
          </a:bodyPr>
          <a:lstStyle/>
          <a:p>
            <a:pPr algn="l"/>
            <a:r>
              <a:rPr b="1" sz="1650" i="0" u="none">
                <a:solidFill>
                  <a:srgbClr val="11052C"/>
                </a:solidFill>
                <a:latin typeface="Space Grotesk"/>
              </a:rPr>
              <a:t>T-16 lock, T-7 book</a:t>
            </a:r>
          </a:p>
        </p:txBody>
      </p:sp>
      <p:sp>
        <p:nvSpPr>
          <p:cNvPr id="14" name="TextBox 13"/>
          <p:cNvSpPr txBox="1"/>
          <p:nvPr/>
        </p:nvSpPr>
        <p:spPr>
          <a:xfrm>
            <a:off x="3638550" y="3153667"/>
            <a:ext cx="2219325" cy="914400"/>
          </a:xfrm>
          <a:prstGeom prst="rect">
            <a:avLst/>
          </a:prstGeom>
          <a:noFill/>
        </p:spPr>
        <p:txBody>
          <a:bodyPr wrap="square" lIns="0" rIns="0" tIns="0" bIns="0" anchor="t">
            <a:spAutoFit/>
          </a:bodyPr>
          <a:lstStyle/>
          <a:p>
            <a:pPr algn="l"/>
            <a:r>
              <a:rPr b="0" sz="1350" i="0" u="none">
                <a:solidFill>
                  <a:srgbClr val="3B2A54"/>
                </a:solidFill>
                <a:latin typeface="DM Sans"/>
              </a:rPr>
              <a:t>One options memo settles the capital dispute at T-16; the Board book ships at T-7 with written Q&amp;A.</a:t>
            </a:r>
          </a:p>
        </p:txBody>
      </p:sp>
      <p:sp>
        <p:nvSpPr>
          <p:cNvPr id="15" name="TextBox 14"/>
          <p:cNvSpPr txBox="1"/>
          <p:nvPr/>
        </p:nvSpPr>
        <p:spPr>
          <a:xfrm>
            <a:off x="6429375" y="2560320"/>
            <a:ext cx="2655093" cy="171450"/>
          </a:xfrm>
          <a:prstGeom prst="rect">
            <a:avLst/>
          </a:prstGeom>
          <a:noFill/>
        </p:spPr>
        <p:txBody>
          <a:bodyPr wrap="none" lIns="0" rIns="0" tIns="0" bIns="0" anchor="t">
            <a:spAutoFit/>
          </a:bodyPr>
          <a:lstStyle/>
          <a:p>
            <a:pPr algn="l"/>
            <a:r>
              <a:rPr b="1" sz="1050" i="0" u="none">
                <a:solidFill>
                  <a:srgbClr val="820AD1"/>
                </a:solidFill>
                <a:latin typeface="DM Sans"/>
              </a:rPr>
              <a:t>DELIVERABLE 3 // HQ PROJECT</a:t>
            </a:r>
          </a:p>
        </p:txBody>
      </p:sp>
      <p:sp>
        <p:nvSpPr>
          <p:cNvPr id="16" name="TextBox 15"/>
          <p:cNvSpPr txBox="1"/>
          <p:nvPr/>
        </p:nvSpPr>
        <p:spPr>
          <a:xfrm>
            <a:off x="6429375" y="2807208"/>
            <a:ext cx="2787848" cy="266700"/>
          </a:xfrm>
          <a:prstGeom prst="rect">
            <a:avLst/>
          </a:prstGeom>
          <a:noFill/>
        </p:spPr>
        <p:txBody>
          <a:bodyPr wrap="square" lIns="0" rIns="0" tIns="0" bIns="0" anchor="t">
            <a:spAutoFit/>
          </a:bodyPr>
          <a:lstStyle/>
          <a:p>
            <a:pPr algn="l"/>
            <a:r>
              <a:rPr b="1" sz="1650" i="0" u="none">
                <a:solidFill>
                  <a:srgbClr val="11052C"/>
                </a:solidFill>
                <a:latin typeface="Space Grotesk"/>
              </a:rPr>
              <a:t>4 gates, 120 days</a:t>
            </a:r>
          </a:p>
        </p:txBody>
      </p:sp>
      <p:sp>
        <p:nvSpPr>
          <p:cNvPr id="17" name="TextBox 16"/>
          <p:cNvSpPr txBox="1"/>
          <p:nvPr/>
        </p:nvSpPr>
        <p:spPr>
          <a:xfrm>
            <a:off x="6429375" y="3154680"/>
            <a:ext cx="2219325" cy="914400"/>
          </a:xfrm>
          <a:prstGeom prst="rect">
            <a:avLst/>
          </a:prstGeom>
          <a:noFill/>
        </p:spPr>
        <p:txBody>
          <a:bodyPr wrap="square" lIns="0" rIns="0" tIns="0" bIns="0" anchor="t">
            <a:spAutoFit/>
          </a:bodyPr>
          <a:lstStyle/>
          <a:p>
            <a:pPr algn="l"/>
            <a:r>
              <a:rPr b="0" sz="1350" i="0" u="none">
                <a:solidFill>
                  <a:srgbClr val="3B2A54"/>
                </a:solidFill>
                <a:latin typeface="DM Sans"/>
              </a:rPr>
              <a:t>Tax substance, grant terms, officer liability and lease, each with an owner and an exit test.</a:t>
            </a:r>
          </a:p>
        </p:txBody>
      </p:sp>
      <p:sp>
        <p:nvSpPr>
          <p:cNvPr id="18" name="TextBox 17"/>
          <p:cNvSpPr txBox="1"/>
          <p:nvPr/>
        </p:nvSpPr>
        <p:spPr>
          <a:xfrm>
            <a:off x="9220200" y="2563117"/>
            <a:ext cx="2655093" cy="171450"/>
          </a:xfrm>
          <a:prstGeom prst="rect">
            <a:avLst/>
          </a:prstGeom>
          <a:noFill/>
        </p:spPr>
        <p:txBody>
          <a:bodyPr wrap="none" lIns="0" rIns="0" tIns="0" bIns="0" anchor="t">
            <a:spAutoFit/>
          </a:bodyPr>
          <a:lstStyle/>
          <a:p>
            <a:pPr algn="l"/>
            <a:r>
              <a:rPr b="1" sz="1050" i="0" u="none">
                <a:solidFill>
                  <a:srgbClr val="820AD1"/>
                </a:solidFill>
                <a:latin typeface="DM Sans"/>
              </a:rPr>
              <a:t>DELIVERABLE 4 // CULTURE</a:t>
            </a:r>
          </a:p>
        </p:txBody>
      </p:sp>
      <p:sp>
        <p:nvSpPr>
          <p:cNvPr id="19" name="TextBox 18"/>
          <p:cNvSpPr txBox="1"/>
          <p:nvPr/>
        </p:nvSpPr>
        <p:spPr>
          <a:xfrm>
            <a:off x="9220200" y="2810767"/>
            <a:ext cx="2787848" cy="266700"/>
          </a:xfrm>
          <a:prstGeom prst="rect">
            <a:avLst/>
          </a:prstGeom>
          <a:noFill/>
        </p:spPr>
        <p:txBody>
          <a:bodyPr wrap="square" lIns="0" rIns="0" tIns="0" bIns="0" anchor="t">
            <a:spAutoFit/>
          </a:bodyPr>
          <a:lstStyle/>
          <a:p>
            <a:pPr algn="l"/>
            <a:r>
              <a:rPr b="1" sz="1650" i="0" u="none">
                <a:solidFill>
                  <a:srgbClr val="11052C"/>
                </a:solidFill>
                <a:latin typeface="Space Grotesk"/>
              </a:rPr>
              <a:t>Rigor inside the squads</a:t>
            </a:r>
          </a:p>
        </p:txBody>
      </p:sp>
      <p:sp>
        <p:nvSpPr>
          <p:cNvPr id="20" name="TextBox 19"/>
          <p:cNvSpPr txBox="1"/>
          <p:nvPr/>
        </p:nvSpPr>
        <p:spPr>
          <a:xfrm>
            <a:off x="9220200" y="3153667"/>
            <a:ext cx="2219325" cy="914400"/>
          </a:xfrm>
          <a:prstGeom prst="rect">
            <a:avLst/>
          </a:prstGeom>
          <a:noFill/>
        </p:spPr>
        <p:txBody>
          <a:bodyPr wrap="square" lIns="0" rIns="0" tIns="0" bIns="0" anchor="t">
            <a:spAutoFit/>
          </a:bodyPr>
          <a:lstStyle/>
          <a:p>
            <a:pPr algn="l"/>
            <a:r>
              <a:rPr b="0" sz="1350" i="0" u="none">
                <a:solidFill>
                  <a:srgbClr val="3B2A54"/>
                </a:solidFill>
                <a:latin typeface="DM Sans"/>
              </a:rPr>
              <a:t>I work inside the business units with the numbers, not above them with a veto.</a:t>
            </a:r>
          </a:p>
        </p:txBody>
      </p:sp>
      <p:sp>
        <p:nvSpPr>
          <p:cNvPr id="21" name="TextBox 20"/>
          <p:cNvSpPr txBox="1"/>
          <p:nvPr/>
        </p:nvSpPr>
        <p:spPr>
          <a:xfrm>
            <a:off x="914400" y="4763392"/>
            <a:ext cx="11277600" cy="171450"/>
          </a:xfrm>
          <a:prstGeom prst="rect">
            <a:avLst/>
          </a:prstGeom>
          <a:noFill/>
        </p:spPr>
        <p:txBody>
          <a:bodyPr wrap="none" lIns="0" rIns="0" tIns="0" bIns="0" anchor="t">
            <a:spAutoFit/>
          </a:bodyPr>
          <a:lstStyle/>
          <a:p>
            <a:pPr algn="l"/>
            <a:r>
              <a:rPr b="1" sz="1050" i="0" u="none">
                <a:solidFill>
                  <a:srgbClr val="C084FC"/>
                </a:solidFill>
                <a:latin typeface="DM Sans"/>
              </a:rPr>
              <a:t>THE ASK</a:t>
            </a:r>
          </a:p>
        </p:txBody>
      </p:sp>
      <p:sp>
        <p:nvSpPr>
          <p:cNvPr id="22" name="TextBox 21"/>
          <p:cNvSpPr txBox="1"/>
          <p:nvPr/>
        </p:nvSpPr>
        <p:spPr>
          <a:xfrm>
            <a:off x="914400" y="4972942"/>
            <a:ext cx="10458450" cy="552450"/>
          </a:xfrm>
          <a:prstGeom prst="rect">
            <a:avLst/>
          </a:prstGeom>
          <a:noFill/>
        </p:spPr>
        <p:txBody>
          <a:bodyPr wrap="square" lIns="0" rIns="0" tIns="0" bIns="0" anchor="t">
            <a:spAutoFit/>
          </a:bodyPr>
          <a:lstStyle/>
          <a:p>
            <a:pPr algn="l"/>
            <a:r>
              <a:rPr b="1" sz="1650" i="0" u="none">
                <a:solidFill>
                  <a:srgbClr val="FFFFFF"/>
                </a:solidFill>
                <a:latin typeface="DM Sans"/>
              </a:rPr>
              <a:t>Approve the $25M two-gate funding model, the T-16 / T-7 Board calendar, and the HQ project charter. I report against all three at Day 90.</a:t>
            </a:r>
          </a:p>
        </p:txBody>
      </p:sp>
      <p:sp>
        <p:nvSpPr>
          <p:cNvPr id="23" name="TextBox 22"/>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DM San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Rounded Rectangle 1"/>
          <p:cNvSpPr/>
          <p:nvPr/>
        </p:nvSpPr>
        <p:spPr>
          <a:xfrm>
            <a:off x="609600" y="2568773"/>
            <a:ext cx="4169568" cy="2609850"/>
          </a:xfrm>
          <a:prstGeom prst="roundRect">
            <a:avLst>
              <a:gd name="adj" fmla="val 4379"/>
            </a:avLst>
          </a:prstGeom>
          <a:solidFill>
            <a:srgbClr val="190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122068" y="1678185"/>
            <a:ext cx="6460331" cy="1362075"/>
          </a:xfrm>
          <a:prstGeom prst="roundRect">
            <a:avLst>
              <a:gd name="adj" fmla="val 6993"/>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122068" y="3192660"/>
            <a:ext cx="6460331" cy="1362075"/>
          </a:xfrm>
          <a:prstGeom prst="roundRect">
            <a:avLst>
              <a:gd name="adj" fmla="val 6993"/>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122068" y="4707135"/>
            <a:ext cx="6460331" cy="1362075"/>
          </a:xfrm>
          <a:prstGeom prst="roundRect">
            <a:avLst>
              <a:gd name="adj" fmla="val 6993"/>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DM Sans"/>
              </a:rPr>
              <a:t>03 // WHY THE CAP MATTERS AT NU'S SCALE</a:t>
            </a:r>
          </a:p>
        </p:txBody>
      </p:sp>
      <p:sp>
        <p:nvSpPr>
          <p:cNvPr id="7" name="TextBox 6"/>
          <p:cNvSpPr txBox="1"/>
          <p:nvPr/>
        </p:nvSpPr>
        <p:spPr>
          <a:xfrm>
            <a:off x="609600" y="704850"/>
            <a:ext cx="115824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Space Grotesk"/>
              </a:rPr>
              <a:t>The $35M gap is small against a ~$23B revenue base; the precedent and the FY26 efficiency guide are what matter</a:t>
            </a:r>
          </a:p>
        </p:txBody>
      </p:sp>
      <p:sp>
        <p:nvSpPr>
          <p:cNvPr id="8" name="TextBox 7"/>
          <p:cNvSpPr txBox="1"/>
          <p:nvPr/>
        </p:nvSpPr>
        <p:spPr>
          <a:xfrm>
            <a:off x="609600" y="6164460"/>
            <a:ext cx="11068050" cy="342900"/>
          </a:xfrm>
          <a:prstGeom prst="rect">
            <a:avLst/>
          </a:prstGeom>
          <a:noFill/>
        </p:spPr>
        <p:txBody>
          <a:bodyPr wrap="square" lIns="0" rIns="0" tIns="0" bIns="0" anchor="t">
            <a:spAutoFit/>
          </a:bodyPr>
          <a:lstStyle/>
          <a:p>
            <a:pPr algn="l"/>
            <a:r>
              <a:rPr b="0" sz="1050" i="0" u="none">
                <a:solidFill>
                  <a:srgbClr val="6B5B82"/>
                </a:solidFill>
                <a:latin typeface="DM Sans"/>
              </a:rPr>
              <a:t>Sources: [1] Nu Holdings Q2'26 earnings release and 6-K (138.9M customers; cost to serve $1.0; ARPAC $17.1; efficiency ratio 19.5%; FY26 ~20% per the Q2'26 call). Materiality: my calculation on annualized Q2'26 managerial revenue of ~$23.5B.</a:t>
            </a:r>
          </a:p>
        </p:txBody>
      </p:sp>
      <p:sp>
        <p:nvSpPr>
          <p:cNvPr id="9" name="TextBox 8"/>
          <p:cNvSpPr txBox="1"/>
          <p:nvPr/>
        </p:nvSpPr>
        <p:spPr>
          <a:xfrm>
            <a:off x="792480" y="2930723"/>
            <a:ext cx="3803808" cy="190500"/>
          </a:xfrm>
          <a:prstGeom prst="rect">
            <a:avLst/>
          </a:prstGeom>
          <a:noFill/>
        </p:spPr>
        <p:txBody>
          <a:bodyPr wrap="square" lIns="0" rIns="0" tIns="0" bIns="0" anchor="t">
            <a:spAutoFit/>
          </a:bodyPr>
          <a:lstStyle/>
          <a:p>
            <a:pPr algn="ctr"/>
            <a:r>
              <a:rPr b="1" sz="1125" i="0" u="none">
                <a:solidFill>
                  <a:srgbClr val="C084FC"/>
                </a:solidFill>
                <a:latin typeface="DM Sans"/>
              </a:rPr>
              <a:t>THE GAP</a:t>
            </a:r>
          </a:p>
        </p:txBody>
      </p:sp>
      <p:sp>
        <p:nvSpPr>
          <p:cNvPr id="10" name="TextBox 9"/>
          <p:cNvSpPr txBox="1"/>
          <p:nvPr/>
        </p:nvSpPr>
        <p:spPr>
          <a:xfrm>
            <a:off x="792480" y="3235523"/>
            <a:ext cx="3803808" cy="952500"/>
          </a:xfrm>
          <a:prstGeom prst="rect">
            <a:avLst/>
          </a:prstGeom>
          <a:noFill/>
        </p:spPr>
        <p:txBody>
          <a:bodyPr wrap="square" lIns="0" rIns="0" tIns="0" bIns="0" anchor="t">
            <a:spAutoFit/>
          </a:bodyPr>
          <a:lstStyle/>
          <a:p>
            <a:pPr algn="ctr">
              <a:lnSpc>
                <a:spcPts val="7500"/>
              </a:lnSpc>
            </a:pPr>
            <a:r>
              <a:rPr b="1" sz="7500" i="0" u="none">
                <a:solidFill>
                  <a:srgbClr val="FFFFFF"/>
                </a:solidFill>
                <a:latin typeface="Space Grotesk"/>
              </a:rPr>
              <a:t>$35M</a:t>
            </a:r>
          </a:p>
        </p:txBody>
      </p:sp>
      <p:sp>
        <p:nvSpPr>
          <p:cNvPr id="11" name="TextBox 10"/>
          <p:cNvSpPr txBox="1"/>
          <p:nvPr/>
        </p:nvSpPr>
        <p:spPr>
          <a:xfrm>
            <a:off x="792480" y="4340423"/>
            <a:ext cx="3803808" cy="685800"/>
          </a:xfrm>
          <a:prstGeom prst="rect">
            <a:avLst/>
          </a:prstGeom>
          <a:noFill/>
        </p:spPr>
        <p:txBody>
          <a:bodyPr wrap="square" lIns="0" rIns="0" tIns="0" bIns="0" anchor="t">
            <a:spAutoFit/>
          </a:bodyPr>
          <a:lstStyle/>
          <a:p>
            <a:pPr algn="ctr"/>
            <a:r>
              <a:rPr b="0" sz="1425" i="0" u="none">
                <a:solidFill>
                  <a:srgbClr val="E9D5FF"/>
                </a:solidFill>
                <a:latin typeface="DM Sans"/>
              </a:rPr>
              <a:t>$60M of asks vs a $25M cost cap: about 15 bps of annualized revenue, under 1% of opex</a:t>
            </a:r>
          </a:p>
        </p:txBody>
      </p:sp>
      <p:sp>
        <p:nvSpPr>
          <p:cNvPr id="12" name="TextBox 11"/>
          <p:cNvSpPr txBox="1"/>
          <p:nvPr/>
        </p:nvSpPr>
        <p:spPr>
          <a:xfrm>
            <a:off x="5341143" y="1859160"/>
            <a:ext cx="6850856" cy="257175"/>
          </a:xfrm>
          <a:prstGeom prst="rect">
            <a:avLst/>
          </a:prstGeom>
          <a:noFill/>
        </p:spPr>
        <p:txBody>
          <a:bodyPr wrap="square" lIns="0" rIns="0" tIns="0" bIns="0" anchor="t">
            <a:spAutoFit/>
          </a:bodyPr>
          <a:lstStyle/>
          <a:p>
            <a:pPr algn="l"/>
            <a:r>
              <a:rPr b="1" sz="1575" i="0" u="none">
                <a:solidFill>
                  <a:srgbClr val="820AD1"/>
                </a:solidFill>
                <a:latin typeface="Space Grotesk"/>
              </a:rPr>
              <a:t>1. Keep the efficiency ratio near 20% [1]</a:t>
            </a:r>
          </a:p>
        </p:txBody>
      </p:sp>
      <p:sp>
        <p:nvSpPr>
          <p:cNvPr id="13" name="TextBox 12"/>
          <p:cNvSpPr txBox="1"/>
          <p:nvPr/>
        </p:nvSpPr>
        <p:spPr>
          <a:xfrm>
            <a:off x="5341143" y="2173485"/>
            <a:ext cx="6117431" cy="685800"/>
          </a:xfrm>
          <a:prstGeom prst="rect">
            <a:avLst/>
          </a:prstGeom>
          <a:noFill/>
        </p:spPr>
        <p:txBody>
          <a:bodyPr wrap="square" lIns="0" rIns="0" tIns="0" bIns="0" anchor="t">
            <a:spAutoFit/>
          </a:bodyPr>
          <a:lstStyle/>
          <a:p>
            <a:pPr algn="l"/>
            <a:r>
              <a:rPr b="0" sz="1350" i="0" u="none">
                <a:solidFill>
                  <a:srgbClr val="3B2A54"/>
                </a:solidFill>
                <a:latin typeface="DM Sans"/>
              </a:rPr>
              <a:t>Q2'26 came in at 19.5% (17.6% in Q1), with international expansion named as one driver. Management expects about 20% for FY26. Unvetted overhead is what moves that number the wrong way.</a:t>
            </a:r>
          </a:p>
        </p:txBody>
      </p:sp>
      <p:sp>
        <p:nvSpPr>
          <p:cNvPr id="14" name="TextBox 13"/>
          <p:cNvSpPr txBox="1"/>
          <p:nvPr/>
        </p:nvSpPr>
        <p:spPr>
          <a:xfrm>
            <a:off x="5341143" y="3373635"/>
            <a:ext cx="6850856" cy="257175"/>
          </a:xfrm>
          <a:prstGeom prst="rect">
            <a:avLst/>
          </a:prstGeom>
          <a:noFill/>
        </p:spPr>
        <p:txBody>
          <a:bodyPr wrap="square" lIns="0" rIns="0" tIns="0" bIns="0" anchor="t">
            <a:spAutoFit/>
          </a:bodyPr>
          <a:lstStyle/>
          <a:p>
            <a:pPr algn="l"/>
            <a:r>
              <a:rPr b="1" sz="1575" i="0" u="none">
                <a:solidFill>
                  <a:srgbClr val="820AD1"/>
                </a:solidFill>
                <a:latin typeface="Space Grotesk"/>
              </a:rPr>
              <a:t>2. Protect the cost-to-serve edge [1]</a:t>
            </a:r>
          </a:p>
        </p:txBody>
      </p:sp>
      <p:sp>
        <p:nvSpPr>
          <p:cNvPr id="15" name="TextBox 14"/>
          <p:cNvSpPr txBox="1"/>
          <p:nvPr/>
        </p:nvSpPr>
        <p:spPr>
          <a:xfrm>
            <a:off x="5341143" y="3687960"/>
            <a:ext cx="6117431" cy="685800"/>
          </a:xfrm>
          <a:prstGeom prst="rect">
            <a:avLst/>
          </a:prstGeom>
          <a:noFill/>
        </p:spPr>
        <p:txBody>
          <a:bodyPr wrap="square" lIns="0" rIns="0" tIns="0" bIns="0" anchor="t">
            <a:spAutoFit/>
          </a:bodyPr>
          <a:lstStyle/>
          <a:p>
            <a:pPr algn="l"/>
            <a:r>
              <a:rPr b="0" sz="1350" i="0" u="none">
                <a:solidFill>
                  <a:srgbClr val="3B2A54"/>
                </a:solidFill>
                <a:latin typeface="DM Sans"/>
              </a:rPr>
              <a:t>Monthly cost to serve per active customer is $1.0 (Q2'26, up from $0.8 a year earlier) against $17.1 of monthly ARPAC. The margin is wide; it stays wide only if central costs scale slower than customers.</a:t>
            </a:r>
          </a:p>
        </p:txBody>
      </p:sp>
      <p:sp>
        <p:nvSpPr>
          <p:cNvPr id="16" name="TextBox 15"/>
          <p:cNvSpPr txBox="1"/>
          <p:nvPr/>
        </p:nvSpPr>
        <p:spPr>
          <a:xfrm>
            <a:off x="5341143" y="4888110"/>
            <a:ext cx="6850856" cy="257175"/>
          </a:xfrm>
          <a:prstGeom prst="rect">
            <a:avLst/>
          </a:prstGeom>
          <a:noFill/>
        </p:spPr>
        <p:txBody>
          <a:bodyPr wrap="square" lIns="0" rIns="0" tIns="0" bIns="0" anchor="t">
            <a:spAutoFit/>
          </a:bodyPr>
          <a:lstStyle/>
          <a:p>
            <a:pPr algn="l"/>
            <a:r>
              <a:rPr b="1" sz="1575" i="0" u="none">
                <a:solidFill>
                  <a:srgbClr val="820AD1"/>
                </a:solidFill>
                <a:latin typeface="Space Grotesk"/>
              </a:rPr>
              <a:t>3. Set the precedent for the first in-house cycle</a:t>
            </a:r>
          </a:p>
        </p:txBody>
      </p:sp>
      <p:sp>
        <p:nvSpPr>
          <p:cNvPr id="17" name="TextBox 16"/>
          <p:cNvSpPr txBox="1"/>
          <p:nvPr/>
        </p:nvSpPr>
        <p:spPr>
          <a:xfrm>
            <a:off x="5341143" y="5202435"/>
            <a:ext cx="6117431" cy="685800"/>
          </a:xfrm>
          <a:prstGeom prst="rect">
            <a:avLst/>
          </a:prstGeom>
          <a:noFill/>
        </p:spPr>
        <p:txBody>
          <a:bodyPr wrap="square" lIns="0" rIns="0" tIns="0" bIns="0" anchor="t">
            <a:spAutoFit/>
          </a:bodyPr>
          <a:lstStyle/>
          <a:p>
            <a:pPr algn="l"/>
            <a:r>
              <a:rPr b="0" sz="1350" i="0" u="none">
                <a:solidFill>
                  <a:srgbClr val="3B2A54"/>
                </a:solidFill>
                <a:latin typeface="DM Sans"/>
              </a:rPr>
              <a:t>This is the first budget cycle planned centrally. How the $35M is closed decides whether GMs bring real cases next year or pad their asks. The process is the product.</a:t>
            </a:r>
          </a:p>
        </p:txBody>
      </p:sp>
      <p:sp>
        <p:nvSpPr>
          <p:cNvPr id="18" name="TextBox 17"/>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DM Sans"/>
              </a:rPr>
              <a:t>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Rounded Rectangle 1"/>
          <p:cNvSpPr/>
          <p:nvPr/>
        </p:nvSpPr>
        <p:spPr>
          <a:xfrm>
            <a:off x="609600" y="1805433"/>
            <a:ext cx="10972800" cy="1181100"/>
          </a:xfrm>
          <a:prstGeom prst="roundRect">
            <a:avLst>
              <a:gd name="adj" fmla="val 8064"/>
            </a:avLst>
          </a:prstGeom>
          <a:solidFill>
            <a:srgbClr val="820A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3310383"/>
            <a:ext cx="3517850" cy="2057400"/>
          </a:xfrm>
          <a:prstGeom prst="roundRect">
            <a:avLst>
              <a:gd name="adj" fmla="val 4629"/>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337000" y="3196083"/>
            <a:ext cx="3517850" cy="2286000"/>
          </a:xfrm>
          <a:prstGeom prst="roundRect">
            <a:avLst>
              <a:gd name="adj" fmla="val 4166"/>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064400" y="3196083"/>
            <a:ext cx="3517850" cy="2286000"/>
          </a:xfrm>
          <a:prstGeom prst="roundRect">
            <a:avLst>
              <a:gd name="adj" fmla="val 4166"/>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DM Sans"/>
              </a:rPr>
              <a:t>04 // DELIVERABLE 1: THE PLANNING PRINCIPLE</a:t>
            </a:r>
          </a:p>
        </p:txBody>
      </p:sp>
      <p:sp>
        <p:nvSpPr>
          <p:cNvPr id="7" name="TextBox 6"/>
          <p:cNvSpPr txBox="1"/>
          <p:nvPr/>
        </p:nvSpPr>
        <p:spPr>
          <a:xfrm>
            <a:off x="609600" y="704850"/>
            <a:ext cx="11582400" cy="372367"/>
          </a:xfrm>
          <a:prstGeom prst="rect">
            <a:avLst/>
          </a:prstGeom>
          <a:noFill/>
        </p:spPr>
        <p:txBody>
          <a:bodyPr wrap="square" lIns="0" rIns="0" tIns="0" bIns="0" anchor="t">
            <a:spAutoFit/>
          </a:bodyPr>
          <a:lstStyle/>
          <a:p>
            <a:pPr algn="l">
              <a:lnSpc>
                <a:spcPts val="2932"/>
              </a:lnSpc>
            </a:pPr>
            <a:r>
              <a:rPr b="1" sz="2550" i="0" u="none">
                <a:solidFill>
                  <a:srgbClr val="11052C"/>
                </a:solidFill>
                <a:latin typeface="Space Grotesk"/>
              </a:rPr>
              <a:t>Budgets should be underwritten like credit lines: start small, gate on data, raise fast when the cohort proves out</a:t>
            </a:r>
          </a:p>
        </p:txBody>
      </p:sp>
      <p:sp>
        <p:nvSpPr>
          <p:cNvPr id="8" name="TextBox 7"/>
          <p:cNvSpPr txBox="1"/>
          <p:nvPr/>
        </p:nvSpPr>
        <p:spPr>
          <a:xfrm>
            <a:off x="609600" y="6057900"/>
            <a:ext cx="11068050" cy="342900"/>
          </a:xfrm>
          <a:prstGeom prst="rect">
            <a:avLst/>
          </a:prstGeom>
          <a:noFill/>
        </p:spPr>
        <p:txBody>
          <a:bodyPr wrap="square" lIns="0" rIns="0" tIns="0" bIns="0" anchor="t">
            <a:spAutoFit/>
          </a:bodyPr>
          <a:lstStyle/>
          <a:p>
            <a:pPr algn="l"/>
            <a:r>
              <a:rPr b="0" sz="1050" i="0" u="none">
                <a:solidFill>
                  <a:srgbClr val="6B5B82"/>
                </a:solidFill>
                <a:latin typeface="DM Sans"/>
              </a:rPr>
              <a:t>Sources: [1] Nu Holdings Form 20-F (credit underwriting; 'low-and-grow'). [2] Directional only, not load-bearing: multi-year studies of active capital reallocation (e.g. McKinsey, 1,600 US companies) associate it with higher shareholder returns.</a:t>
            </a:r>
          </a:p>
        </p:txBody>
      </p:sp>
      <p:sp>
        <p:nvSpPr>
          <p:cNvPr id="9" name="TextBox 8"/>
          <p:cNvSpPr txBox="1"/>
          <p:nvPr/>
        </p:nvSpPr>
        <p:spPr>
          <a:xfrm>
            <a:off x="876300" y="1995933"/>
            <a:ext cx="10534650" cy="800100"/>
          </a:xfrm>
          <a:prstGeom prst="rect">
            <a:avLst/>
          </a:prstGeom>
          <a:noFill/>
        </p:spPr>
        <p:txBody>
          <a:bodyPr wrap="square" lIns="0" rIns="0" tIns="0" bIns="0" anchor="t">
            <a:spAutoFit/>
          </a:bodyPr>
          <a:lstStyle/>
          <a:p>
            <a:pPr algn="l"/>
            <a:r>
              <a:rPr b="1" sz="1575" i="0" u="none">
                <a:solidFill>
                  <a:srgbClr val="FFFFFF"/>
                </a:solidFill>
                <a:latin typeface="DM Sans"/>
              </a:rPr>
              <a:t>Why this fits Nu: </a:t>
            </a:r>
            <a:r>
              <a:rPr b="0" sz="1575" i="0" u="none">
                <a:solidFill>
                  <a:srgbClr val="FFFFFF"/>
                </a:solidFill>
                <a:latin typeface="DM Sans"/>
              </a:rPr>
              <a:t>in credit, Nu starts customers on small limits and raises them on repayment behavior. Applying the same logic to budgets replaces one annual negotiation with quarterly evidence. It is also the discipline the CFO ran for 18 years at Capital One, so the model will be read in that light.</a:t>
            </a:r>
          </a:p>
        </p:txBody>
      </p:sp>
      <p:sp>
        <p:nvSpPr>
          <p:cNvPr id="10" name="TextBox 9"/>
          <p:cNvSpPr txBox="1"/>
          <p:nvPr/>
        </p:nvSpPr>
        <p:spPr>
          <a:xfrm>
            <a:off x="866775" y="3567558"/>
            <a:ext cx="3754375" cy="171450"/>
          </a:xfrm>
          <a:prstGeom prst="rect">
            <a:avLst/>
          </a:prstGeom>
          <a:noFill/>
        </p:spPr>
        <p:txBody>
          <a:bodyPr wrap="none" lIns="0" rIns="0" tIns="0" bIns="0" anchor="t">
            <a:spAutoFit/>
          </a:bodyPr>
          <a:lstStyle/>
          <a:p>
            <a:pPr algn="l"/>
            <a:r>
              <a:rPr b="1" sz="1050" i="0" u="none">
                <a:solidFill>
                  <a:srgbClr val="820AD1"/>
                </a:solidFill>
                <a:latin typeface="DM Sans"/>
              </a:rPr>
              <a:t>1. NU CREDIT UNDERWRITING [1]</a:t>
            </a:r>
          </a:p>
        </p:txBody>
      </p:sp>
      <p:sp>
        <p:nvSpPr>
          <p:cNvPr id="11" name="TextBox 10"/>
          <p:cNvSpPr txBox="1"/>
          <p:nvPr/>
        </p:nvSpPr>
        <p:spPr>
          <a:xfrm>
            <a:off x="866775" y="3815208"/>
            <a:ext cx="3942094" cy="285750"/>
          </a:xfrm>
          <a:prstGeom prst="rect">
            <a:avLst/>
          </a:prstGeom>
          <a:noFill/>
        </p:spPr>
        <p:txBody>
          <a:bodyPr wrap="square" lIns="0" rIns="0" tIns="0" bIns="0" anchor="t">
            <a:spAutoFit/>
          </a:bodyPr>
          <a:lstStyle/>
          <a:p>
            <a:pPr algn="l"/>
            <a:r>
              <a:rPr b="1" sz="1725" i="0" u="none">
                <a:solidFill>
                  <a:srgbClr val="11052C"/>
                </a:solidFill>
                <a:latin typeface="Space Grotesk"/>
              </a:rPr>
              <a:t>Small Tests First</a:t>
            </a:r>
          </a:p>
        </p:txBody>
      </p:sp>
      <p:sp>
        <p:nvSpPr>
          <p:cNvPr id="12" name="TextBox 11"/>
          <p:cNvSpPr txBox="1"/>
          <p:nvPr/>
        </p:nvSpPr>
        <p:spPr>
          <a:xfrm>
            <a:off x="866775" y="4196208"/>
            <a:ext cx="3098750" cy="914400"/>
          </a:xfrm>
          <a:prstGeom prst="rect">
            <a:avLst/>
          </a:prstGeom>
          <a:noFill/>
        </p:spPr>
        <p:txBody>
          <a:bodyPr wrap="square" lIns="0" rIns="0" tIns="0" bIns="0" anchor="t">
            <a:spAutoFit/>
          </a:bodyPr>
          <a:lstStyle/>
          <a:p>
            <a:pPr algn="l"/>
            <a:r>
              <a:rPr b="0" sz="1350" i="0" u="none">
                <a:solidFill>
                  <a:srgbClr val="3B2A54"/>
                </a:solidFill>
                <a:latin typeface="DM Sans"/>
              </a:rPr>
              <a:t>Nu's 20-F describes low-and-grow underwriting: small initial limits, raised as repayment data comes in. Losses stay controlled because exposure grows only behind evidence.</a:t>
            </a:r>
          </a:p>
        </p:txBody>
      </p:sp>
      <p:sp>
        <p:nvSpPr>
          <p:cNvPr id="13" name="TextBox 12"/>
          <p:cNvSpPr txBox="1"/>
          <p:nvPr/>
        </p:nvSpPr>
        <p:spPr>
          <a:xfrm>
            <a:off x="4594175" y="3453258"/>
            <a:ext cx="3754375" cy="171450"/>
          </a:xfrm>
          <a:prstGeom prst="rect">
            <a:avLst/>
          </a:prstGeom>
          <a:noFill/>
        </p:spPr>
        <p:txBody>
          <a:bodyPr wrap="none" lIns="0" rIns="0" tIns="0" bIns="0" anchor="t">
            <a:spAutoFit/>
          </a:bodyPr>
          <a:lstStyle/>
          <a:p>
            <a:pPr algn="l"/>
            <a:r>
              <a:rPr b="1" sz="1050" i="0" u="none">
                <a:solidFill>
                  <a:srgbClr val="5B21B6"/>
                </a:solidFill>
                <a:latin typeface="DM Sans"/>
              </a:rPr>
              <a:t>2. WHAT CHANGES FOR THE CFO</a:t>
            </a:r>
          </a:p>
        </p:txBody>
      </p:sp>
      <p:sp>
        <p:nvSpPr>
          <p:cNvPr id="14" name="TextBox 13"/>
          <p:cNvSpPr txBox="1"/>
          <p:nvPr/>
        </p:nvSpPr>
        <p:spPr>
          <a:xfrm>
            <a:off x="4594175" y="3700908"/>
            <a:ext cx="3942094" cy="285750"/>
          </a:xfrm>
          <a:prstGeom prst="rect">
            <a:avLst/>
          </a:prstGeom>
          <a:noFill/>
        </p:spPr>
        <p:txBody>
          <a:bodyPr wrap="square" lIns="0" rIns="0" tIns="0" bIns="0" anchor="t">
            <a:spAutoFit/>
          </a:bodyPr>
          <a:lstStyle/>
          <a:p>
            <a:pPr algn="l"/>
            <a:r>
              <a:rPr b="1" sz="1725" i="0" u="none">
                <a:solidFill>
                  <a:srgbClr val="11052C"/>
                </a:solidFill>
                <a:latin typeface="Space Grotesk"/>
              </a:rPr>
              <a:t>Evidence replaces negotiation</a:t>
            </a:r>
          </a:p>
        </p:txBody>
      </p:sp>
      <p:sp>
        <p:nvSpPr>
          <p:cNvPr id="15" name="TextBox 14"/>
          <p:cNvSpPr txBox="1"/>
          <p:nvPr/>
        </p:nvSpPr>
        <p:spPr>
          <a:xfrm>
            <a:off x="4594175" y="4081908"/>
            <a:ext cx="3098750" cy="1143000"/>
          </a:xfrm>
          <a:prstGeom prst="rect">
            <a:avLst/>
          </a:prstGeom>
          <a:noFill/>
        </p:spPr>
        <p:txBody>
          <a:bodyPr wrap="square" lIns="0" rIns="0" tIns="0" bIns="0" anchor="t">
            <a:spAutoFit/>
          </a:bodyPr>
          <a:lstStyle/>
          <a:p>
            <a:pPr algn="l"/>
            <a:r>
              <a:rPr b="0" sz="1350" i="0" u="none">
                <a:solidFill>
                  <a:srgbClr val="3B2A54"/>
                </a:solidFill>
                <a:latin typeface="DM Sans"/>
              </a:rPr>
              <a:t>Each release decision reads the same four indicators for every unit: activation, 30-day retention, CAC vs plan, unit cost vs plan. Reallocation across units happens every quarter, not once a year.</a:t>
            </a:r>
          </a:p>
        </p:txBody>
      </p:sp>
      <p:sp>
        <p:nvSpPr>
          <p:cNvPr id="16" name="TextBox 15"/>
          <p:cNvSpPr txBox="1"/>
          <p:nvPr/>
        </p:nvSpPr>
        <p:spPr>
          <a:xfrm>
            <a:off x="8321575" y="3453258"/>
            <a:ext cx="3754375" cy="171450"/>
          </a:xfrm>
          <a:prstGeom prst="rect">
            <a:avLst/>
          </a:prstGeom>
          <a:noFill/>
        </p:spPr>
        <p:txBody>
          <a:bodyPr wrap="none" lIns="0" rIns="0" tIns="0" bIns="0" anchor="t">
            <a:spAutoFit/>
          </a:bodyPr>
          <a:lstStyle/>
          <a:p>
            <a:pPr algn="l"/>
            <a:r>
              <a:rPr b="1" sz="1050" i="0" u="none">
                <a:solidFill>
                  <a:srgbClr val="0D9488"/>
                </a:solidFill>
                <a:latin typeface="DM Sans"/>
              </a:rPr>
              <a:t>3. WHAT THIS MEANS FOR GMs</a:t>
            </a:r>
          </a:p>
        </p:txBody>
      </p:sp>
      <p:sp>
        <p:nvSpPr>
          <p:cNvPr id="17" name="TextBox 16"/>
          <p:cNvSpPr txBox="1"/>
          <p:nvPr/>
        </p:nvSpPr>
        <p:spPr>
          <a:xfrm>
            <a:off x="8321575" y="3700908"/>
            <a:ext cx="3870424" cy="285750"/>
          </a:xfrm>
          <a:prstGeom prst="rect">
            <a:avLst/>
          </a:prstGeom>
          <a:noFill/>
        </p:spPr>
        <p:txBody>
          <a:bodyPr wrap="square" lIns="0" rIns="0" tIns="0" bIns="0" anchor="t">
            <a:spAutoFit/>
          </a:bodyPr>
          <a:lstStyle/>
          <a:p>
            <a:pPr algn="l"/>
            <a:r>
              <a:rPr b="1" sz="1725" i="0" u="none">
                <a:solidFill>
                  <a:srgbClr val="11052C"/>
                </a:solidFill>
                <a:latin typeface="Space Grotesk"/>
              </a:rPr>
              <a:t>Earn Next Stage via Data</a:t>
            </a:r>
          </a:p>
        </p:txBody>
      </p:sp>
      <p:sp>
        <p:nvSpPr>
          <p:cNvPr id="18" name="TextBox 17"/>
          <p:cNvSpPr txBox="1"/>
          <p:nvPr/>
        </p:nvSpPr>
        <p:spPr>
          <a:xfrm>
            <a:off x="8321575" y="4081908"/>
            <a:ext cx="3098750" cy="1143000"/>
          </a:xfrm>
          <a:prstGeom prst="rect">
            <a:avLst/>
          </a:prstGeom>
          <a:noFill/>
        </p:spPr>
        <p:txBody>
          <a:bodyPr wrap="square" lIns="0" rIns="0" tIns="0" bIns="0" anchor="t">
            <a:spAutoFit/>
          </a:bodyPr>
          <a:lstStyle/>
          <a:p>
            <a:pPr algn="l"/>
            <a:r>
              <a:rPr b="0" sz="1350" i="0" u="none">
                <a:solidFill>
                  <a:srgbClr val="3B2A54"/>
                </a:solidFill>
                <a:latin typeface="DM Sans"/>
              </a:rPr>
              <a:t>GMs stop fighting for one annual cheque. They get a funded Q1 start and a published rule for unlocking the next stage, so the conversation moves from positions to indicators.</a:t>
            </a:r>
          </a:p>
        </p:txBody>
      </p:sp>
      <p:sp>
        <p:nvSpPr>
          <p:cNvPr id="19" name="TextBox 18"/>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DM Sans"/>
              </a:rPr>
              <a:t>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Rounded Rectangle 1"/>
          <p:cNvSpPr/>
          <p:nvPr/>
        </p:nvSpPr>
        <p:spPr>
          <a:xfrm>
            <a:off x="609600" y="5292030"/>
            <a:ext cx="10972800" cy="819150"/>
          </a:xfrm>
          <a:prstGeom prst="roundRect">
            <a:avLst>
              <a:gd name="adj" fmla="val 11627"/>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19125" y="2639317"/>
            <a:ext cx="3068389"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87514" y="2639317"/>
            <a:ext cx="1326207"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13721" y="2639317"/>
            <a:ext cx="1324421"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338143" y="2639317"/>
            <a:ext cx="1487834"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825978" y="2639317"/>
            <a:ext cx="1428898"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254876" y="2639317"/>
            <a:ext cx="1015751"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270628" y="2639317"/>
            <a:ext cx="1302246"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9125" y="3372742"/>
            <a:ext cx="3068389"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87514" y="3372742"/>
            <a:ext cx="1326207"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13721" y="3372742"/>
            <a:ext cx="1324421"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38143" y="3372742"/>
            <a:ext cx="1487834"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825978" y="3372742"/>
            <a:ext cx="1428898"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254876" y="3372742"/>
            <a:ext cx="1015751"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270628" y="3372742"/>
            <a:ext cx="1302246"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125" y="4110930"/>
            <a:ext cx="3068389"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87514" y="4110930"/>
            <a:ext cx="1326207"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13721" y="4110930"/>
            <a:ext cx="1324421"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38143" y="4110930"/>
            <a:ext cx="1487834"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25978" y="4110930"/>
            <a:ext cx="1428898"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254876" y="4110930"/>
            <a:ext cx="1015751"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270628" y="4110930"/>
            <a:ext cx="1302246"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9125" y="5082480"/>
            <a:ext cx="3068389"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87514" y="5082480"/>
            <a:ext cx="1326207"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13721" y="5082480"/>
            <a:ext cx="1324421"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338143" y="5082480"/>
            <a:ext cx="1487834"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825978" y="5082480"/>
            <a:ext cx="1428898"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254876" y="5082480"/>
            <a:ext cx="1015751"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270628" y="5082480"/>
            <a:ext cx="1302246"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31" name="Table 30"/>
          <p:cNvGraphicFramePr>
            <a:graphicFrameLocks noGrp="1"/>
          </p:cNvGraphicFramePr>
          <p:nvPr/>
        </p:nvGraphicFramePr>
        <p:xfrm>
          <a:off x="609600" y="1720155"/>
          <a:ext cx="10953746" cy="3381375"/>
        </p:xfrm>
        <a:graphic>
          <a:graphicData uri="http://schemas.openxmlformats.org/drawingml/2006/table">
            <a:tbl>
              <a:tblPr firstRow="0" bandRow="0">
                <a:lnL>
                  <a:noFill/>
                </a:lnL>
                <a:lnR>
                  <a:noFill/>
                </a:lnR>
                <a:lnT>
                  <a:noFill/>
                </a:lnT>
                <a:lnB>
                  <a:noFill/>
                </a:lnB>
                <a:lnV>
                  <a:noFill/>
                </a:lnV>
                <a:lnH>
                  <a:noFill/>
                </a:lnH>
              </a:tblPr>
              <a:tblGrid>
                <a:gridCol w="3068389"/>
                <a:gridCol w="1326207"/>
                <a:gridCol w="1324421"/>
                <a:gridCol w="1487834"/>
                <a:gridCol w="1428898"/>
                <a:gridCol w="1015751"/>
                <a:gridCol w="1302246"/>
              </a:tblGrid>
              <a:tr h="845343">
                <a:tc>
                  <a:txBody>
                    <a:bodyPr/>
                    <a:lstStyle/>
                    <a:p>
                      <a:pPr algn="l"/>
                      <a:r>
                        <a:rPr b="1" sz="1350" i="0" u="none">
                          <a:solidFill>
                            <a:srgbClr val="FFFFFF"/>
                          </a:solidFill>
                          <a:latin typeface="Space Grotesk"/>
                        </a:rPr>
                        <a:t>Prioritization Approach</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Space Grotesk"/>
                        </a:rPr>
                        <a:t>Meets $25M Cap (30%)</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Space Grotesk"/>
                        </a:rPr>
                        <a:t>Growth Return (25%)</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Space Grotesk"/>
                        </a:rPr>
                        <a:t>GM Ownership (20%)</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Space Grotesk"/>
                        </a:rPr>
                        <a:t>Business Agility (15%)</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Space Grotesk"/>
                        </a:rPr>
                        <a:t>Speed (10%)</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Space Grotesk"/>
                        </a:rPr>
                        <a:t>Weighted Score</a:t>
                      </a:r>
                    </a:p>
                  </a:txBody>
                  <a:tcPr anchor="ctr" marL="63500" marR="63500" marT="25400" marB="25400">
                    <a:lnL>
                      <a:noFill/>
                    </a:lnL>
                    <a:lnR>
                      <a:noFill/>
                    </a:lnR>
                    <a:lnT>
                      <a:noFill/>
                    </a:lnT>
                    <a:lnB>
                      <a:noFill/>
                    </a:lnB>
                    <a:solidFill>
                      <a:srgbClr val="820AD1"/>
                    </a:solidFill>
                  </a:tcPr>
                </a:tc>
              </a:tr>
              <a:tr h="845343">
                <a:tc>
                  <a:txBody>
                    <a:bodyPr/>
                    <a:lstStyle/>
                    <a:p>
                      <a:pPr algn="l"/>
                      <a:r>
                        <a:rPr b="1" sz="1350" i="0" u="none">
                          <a:solidFill>
                            <a:srgbClr val="11052C"/>
                          </a:solidFill>
                          <a:latin typeface="DM Sans"/>
                        </a:rPr>
                        <a:t>1. Equal percentage cut</a:t>
                      </a:r>
                      <a:r>
                        <a:rPr b="0" sz="1350" i="0" u="none">
                          <a:solidFill>
                            <a:srgbClr val="11052C"/>
                          </a:solidFill>
                          <a:latin typeface="DM Sans"/>
                        </a:rPr>
                        <a:t> (every unit gets 42% of its ask)</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DM Sans"/>
                        </a:rPr>
                        <a:t>90</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DM Sans"/>
                        </a:rPr>
                        <a:t>40</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DM Sans"/>
                        </a:rPr>
                        <a:t>30</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DM Sans"/>
                        </a:rPr>
                        <a:t>35</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DM Sans"/>
                        </a:rPr>
                        <a:t>95</a:t>
                      </a:r>
                    </a:p>
                  </a:txBody>
                  <a:tcPr anchor="ctr" marL="63500" marR="63500" marT="25400" marB="25400">
                    <a:lnL>
                      <a:noFill/>
                    </a:lnL>
                    <a:lnR>
                      <a:noFill/>
                    </a:lnR>
                    <a:lnT>
                      <a:noFill/>
                    </a:lnT>
                    <a:lnB>
                      <a:noFill/>
                    </a:lnB>
                    <a:solidFill>
                      <a:srgbClr val="FFFFFF"/>
                    </a:solidFill>
                  </a:tcPr>
                </a:tc>
                <a:tc>
                  <a:txBody>
                    <a:bodyPr/>
                    <a:lstStyle/>
                    <a:p>
                      <a:pPr algn="l"/>
                      <a:r>
                        <a:rPr b="1" sz="1350" i="0" u="none">
                          <a:solidFill>
                            <a:srgbClr val="11052C"/>
                          </a:solidFill>
                          <a:latin typeface="DM Sans"/>
                        </a:rPr>
                        <a:t>57.8 / 100</a:t>
                      </a:r>
                    </a:p>
                  </a:txBody>
                  <a:tcPr anchor="ctr" marL="63500" marR="63500" marT="25400" marB="25400">
                    <a:lnL>
                      <a:noFill/>
                    </a:lnL>
                    <a:lnR>
                      <a:noFill/>
                    </a:lnR>
                    <a:lnT>
                      <a:noFill/>
                    </a:lnT>
                    <a:lnB>
                      <a:noFill/>
                    </a:lnB>
                    <a:solidFill>
                      <a:srgbClr val="FFFFFF"/>
                    </a:solidFill>
                  </a:tcPr>
                </a:tc>
              </a:tr>
              <a:tr h="845343">
                <a:tc>
                  <a:txBody>
                    <a:bodyPr/>
                    <a:lstStyle/>
                    <a:p>
                      <a:pPr algn="l"/>
                      <a:r>
                        <a:rPr b="1" sz="1350" i="0" u="none">
                          <a:solidFill>
                            <a:srgbClr val="11052C"/>
                          </a:solidFill>
                          <a:latin typeface="DM Sans"/>
                        </a:rPr>
                        <a:t>2. Core markets first</a:t>
                      </a:r>
                      <a:r>
                        <a:rPr b="0" sz="1350" i="0" u="none">
                          <a:solidFill>
                            <a:srgbClr val="11052C"/>
                          </a:solidFill>
                          <a:latin typeface="DM Sans"/>
                        </a:rPr>
                        <a:t> (fund Brazil, Mexico, Colombia; pause new bets)</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DM Sans"/>
                        </a:rPr>
                        <a:t>95</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DM Sans"/>
                        </a:rPr>
                        <a:t>55</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DM Sans"/>
                        </a:rPr>
                        <a:t>45</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DM Sans"/>
                        </a:rPr>
                        <a:t>30</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DM Sans"/>
                        </a:rPr>
                        <a:t>80</a:t>
                      </a:r>
                    </a:p>
                  </a:txBody>
                  <a:tcPr anchor="ctr" marL="63500" marR="63500" marT="25400" marB="25400">
                    <a:lnL>
                      <a:noFill/>
                    </a:lnL>
                    <a:lnR>
                      <a:noFill/>
                    </a:lnR>
                    <a:lnT>
                      <a:noFill/>
                    </a:lnT>
                    <a:lnB>
                      <a:noFill/>
                    </a:lnB>
                    <a:solidFill>
                      <a:srgbClr val="FFFFFF"/>
                    </a:solidFill>
                  </a:tcPr>
                </a:tc>
                <a:tc>
                  <a:txBody>
                    <a:bodyPr/>
                    <a:lstStyle/>
                    <a:p>
                      <a:pPr algn="l"/>
                      <a:r>
                        <a:rPr b="1" sz="1350" i="0" u="none">
                          <a:solidFill>
                            <a:srgbClr val="11052C"/>
                          </a:solidFill>
                          <a:latin typeface="DM Sans"/>
                        </a:rPr>
                        <a:t>63.8 / 100</a:t>
                      </a:r>
                    </a:p>
                  </a:txBody>
                  <a:tcPr anchor="ctr" marL="63500" marR="63500" marT="25400" marB="25400">
                    <a:lnL>
                      <a:noFill/>
                    </a:lnL>
                    <a:lnR>
                      <a:noFill/>
                    </a:lnR>
                    <a:lnT>
                      <a:noFill/>
                    </a:lnT>
                    <a:lnB>
                      <a:noFill/>
                    </a:lnB>
                    <a:solidFill>
                      <a:srgbClr val="FFFFFF"/>
                    </a:solidFill>
                  </a:tcPr>
                </a:tc>
              </a:tr>
              <a:tr h="845346">
                <a:tc>
                  <a:txBody>
                    <a:bodyPr/>
                    <a:lstStyle/>
                    <a:p>
                      <a:pPr algn="l"/>
                      <a:r>
                        <a:rPr b="1" sz="1350" i="0" u="none">
                          <a:solidFill>
                            <a:srgbClr val="11052C"/>
                          </a:solidFill>
                          <a:latin typeface="DM Sans"/>
                        </a:rPr>
                        <a:t>3. Business-case readiness + staged release</a:t>
                      </a:r>
                      <a:r>
                        <a:rPr b="0" sz="1350" i="0" u="none">
                          <a:solidFill>
                            <a:srgbClr val="11052C"/>
                          </a:solidFill>
                          <a:latin typeface="DM Sans"/>
                        </a:rPr>
                        <a:t> (recommended)</a:t>
                      </a:r>
                    </a:p>
                  </a:txBody>
                  <a:tcPr anchor="ctr" marL="63500" marR="63500" marT="25400" marB="25400">
                    <a:lnL>
                      <a:noFill/>
                    </a:lnL>
                    <a:lnR>
                      <a:noFill/>
                    </a:lnR>
                    <a:lnT>
                      <a:noFill/>
                    </a:lnT>
                    <a:lnB>
                      <a:noFill/>
                    </a:lnB>
                    <a:solidFill>
                      <a:srgbClr val="F3E8FF"/>
                    </a:solidFill>
                  </a:tcPr>
                </a:tc>
                <a:tc>
                  <a:txBody>
                    <a:bodyPr/>
                    <a:lstStyle/>
                    <a:p>
                      <a:pPr algn="l"/>
                      <a:r>
                        <a:rPr b="1" sz="1350" i="0" u="none">
                          <a:solidFill>
                            <a:srgbClr val="11052C"/>
                          </a:solidFill>
                          <a:latin typeface="DM Sans"/>
                        </a:rPr>
                        <a:t>100</a:t>
                      </a:r>
                    </a:p>
                  </a:txBody>
                  <a:tcPr anchor="ctr" marL="63500" marR="63500" marT="25400" marB="25400">
                    <a:lnL>
                      <a:noFill/>
                    </a:lnL>
                    <a:lnR>
                      <a:noFill/>
                    </a:lnR>
                    <a:lnT>
                      <a:noFill/>
                    </a:lnT>
                    <a:lnB>
                      <a:noFill/>
                    </a:lnB>
                    <a:solidFill>
                      <a:srgbClr val="F3E8FF"/>
                    </a:solidFill>
                  </a:tcPr>
                </a:tc>
                <a:tc>
                  <a:txBody>
                    <a:bodyPr/>
                    <a:lstStyle/>
                    <a:p>
                      <a:pPr algn="l"/>
                      <a:r>
                        <a:rPr b="1" sz="1350" i="0" u="none">
                          <a:solidFill>
                            <a:srgbClr val="11052C"/>
                          </a:solidFill>
                          <a:latin typeface="DM Sans"/>
                        </a:rPr>
                        <a:t>95</a:t>
                      </a:r>
                    </a:p>
                  </a:txBody>
                  <a:tcPr anchor="ctr" marL="63500" marR="63500" marT="25400" marB="25400">
                    <a:lnL>
                      <a:noFill/>
                    </a:lnL>
                    <a:lnR>
                      <a:noFill/>
                    </a:lnR>
                    <a:lnT>
                      <a:noFill/>
                    </a:lnT>
                    <a:lnB>
                      <a:noFill/>
                    </a:lnB>
                    <a:solidFill>
                      <a:srgbClr val="F3E8FF"/>
                    </a:solidFill>
                  </a:tcPr>
                </a:tc>
                <a:tc>
                  <a:txBody>
                    <a:bodyPr/>
                    <a:lstStyle/>
                    <a:p>
                      <a:pPr algn="l"/>
                      <a:r>
                        <a:rPr b="1" sz="1350" i="0" u="none">
                          <a:solidFill>
                            <a:srgbClr val="11052C"/>
                          </a:solidFill>
                          <a:latin typeface="DM Sans"/>
                        </a:rPr>
                        <a:t>85</a:t>
                      </a:r>
                    </a:p>
                  </a:txBody>
                  <a:tcPr anchor="ctr" marL="63500" marR="63500" marT="25400" marB="25400">
                    <a:lnL>
                      <a:noFill/>
                    </a:lnL>
                    <a:lnR>
                      <a:noFill/>
                    </a:lnR>
                    <a:lnT>
                      <a:noFill/>
                    </a:lnT>
                    <a:lnB>
                      <a:noFill/>
                    </a:lnB>
                    <a:solidFill>
                      <a:srgbClr val="F3E8FF"/>
                    </a:solidFill>
                  </a:tcPr>
                </a:tc>
                <a:tc>
                  <a:txBody>
                    <a:bodyPr/>
                    <a:lstStyle/>
                    <a:p>
                      <a:pPr algn="l"/>
                      <a:r>
                        <a:rPr b="1" sz="1350" i="0" u="none">
                          <a:solidFill>
                            <a:srgbClr val="11052C"/>
                          </a:solidFill>
                          <a:latin typeface="DM Sans"/>
                        </a:rPr>
                        <a:t>90</a:t>
                      </a:r>
                    </a:p>
                  </a:txBody>
                  <a:tcPr anchor="ctr" marL="63500" marR="63500" marT="25400" marB="25400">
                    <a:lnL>
                      <a:noFill/>
                    </a:lnL>
                    <a:lnR>
                      <a:noFill/>
                    </a:lnR>
                    <a:lnT>
                      <a:noFill/>
                    </a:lnT>
                    <a:lnB>
                      <a:noFill/>
                    </a:lnB>
                    <a:solidFill>
                      <a:srgbClr val="F3E8FF"/>
                    </a:solidFill>
                  </a:tcPr>
                </a:tc>
                <a:tc>
                  <a:txBody>
                    <a:bodyPr/>
                    <a:lstStyle/>
                    <a:p>
                      <a:pPr algn="l"/>
                      <a:r>
                        <a:rPr b="1" sz="1350" i="0" u="none">
                          <a:solidFill>
                            <a:srgbClr val="11052C"/>
                          </a:solidFill>
                          <a:latin typeface="DM Sans"/>
                        </a:rPr>
                        <a:t>75</a:t>
                      </a:r>
                    </a:p>
                  </a:txBody>
                  <a:tcPr anchor="ctr" marL="63500" marR="63500" marT="25400" marB="25400">
                    <a:lnL>
                      <a:noFill/>
                    </a:lnL>
                    <a:lnR>
                      <a:noFill/>
                    </a:lnR>
                    <a:lnT>
                      <a:noFill/>
                    </a:lnT>
                    <a:lnB>
                      <a:noFill/>
                    </a:lnB>
                    <a:solidFill>
                      <a:srgbClr val="F3E8FF"/>
                    </a:solidFill>
                  </a:tcPr>
                </a:tc>
                <a:tc>
                  <a:txBody>
                    <a:bodyPr/>
                    <a:lstStyle/>
                    <a:p>
                      <a:pPr algn="l"/>
                      <a:r>
                        <a:rPr b="1" sz="1650" i="0" u="none">
                          <a:solidFill>
                            <a:srgbClr val="820AD1"/>
                          </a:solidFill>
                          <a:latin typeface="DM Sans"/>
                        </a:rPr>
                        <a:t>91.8 / 100</a:t>
                      </a:r>
                    </a:p>
                  </a:txBody>
                  <a:tcPr anchor="ctr" marL="63500" marR="63500" marT="25400" marB="25400">
                    <a:lnL>
                      <a:noFill/>
                    </a:lnL>
                    <a:lnR>
                      <a:noFill/>
                    </a:lnR>
                    <a:lnT>
                      <a:noFill/>
                    </a:lnT>
                    <a:lnB>
                      <a:noFill/>
                    </a:lnB>
                    <a:solidFill>
                      <a:srgbClr val="F3E8FF"/>
                    </a:solidFill>
                  </a:tcPr>
                </a:tc>
              </a:tr>
            </a:tbl>
          </a:graphicData>
        </a:graphic>
      </p:graphicFrame>
      <p:sp>
        <p:nvSpPr>
          <p:cNvPr id="32" name="TextBox 31"/>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DM Sans"/>
              </a:rPr>
              <a:t>05 // DELIVERABLE 1: THREE WAYS TO CLOSE $35M</a:t>
            </a:r>
          </a:p>
        </p:txBody>
      </p:sp>
      <p:sp>
        <p:nvSpPr>
          <p:cNvPr id="33" name="TextBox 32"/>
          <p:cNvSpPr txBox="1"/>
          <p:nvPr/>
        </p:nvSpPr>
        <p:spPr>
          <a:xfrm>
            <a:off x="609600" y="704850"/>
            <a:ext cx="115824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Space Grotesk"/>
              </a:rPr>
              <a:t>Three ways to close $35M: staged readiness wins on return and ownership; flat cuts win only on speed</a:t>
            </a:r>
          </a:p>
        </p:txBody>
      </p:sp>
      <p:sp>
        <p:nvSpPr>
          <p:cNvPr id="34" name="TextBox 33"/>
          <p:cNvSpPr txBox="1"/>
          <p:nvPr/>
        </p:nvSpPr>
        <p:spPr>
          <a:xfrm>
            <a:off x="609600" y="6229350"/>
            <a:ext cx="11582400" cy="171450"/>
          </a:xfrm>
          <a:prstGeom prst="rect">
            <a:avLst/>
          </a:prstGeom>
          <a:noFill/>
        </p:spPr>
        <p:txBody>
          <a:bodyPr wrap="none" lIns="0" rIns="0" tIns="0" bIns="0" anchor="t">
            <a:spAutoFit/>
          </a:bodyPr>
          <a:lstStyle/>
          <a:p>
            <a:pPr algn="l"/>
            <a:r>
              <a:rPr b="0" sz="1050" i="0" u="none">
                <a:solidFill>
                  <a:srgbClr val="6B5B82"/>
                </a:solidFill>
                <a:latin typeface="DM Sans"/>
              </a:rPr>
              <a:t>Scores 0-100 per criterion; weighted total = sum of score x weight. Re-run with each weight +/-10 points: option 3 stays first in every case.</a:t>
            </a:r>
          </a:p>
        </p:txBody>
      </p:sp>
      <p:sp>
        <p:nvSpPr>
          <p:cNvPr id="35" name="TextBox 34"/>
          <p:cNvSpPr txBox="1"/>
          <p:nvPr/>
        </p:nvSpPr>
        <p:spPr>
          <a:xfrm>
            <a:off x="847725" y="5473005"/>
            <a:ext cx="10591800" cy="457200"/>
          </a:xfrm>
          <a:prstGeom prst="rect">
            <a:avLst/>
          </a:prstGeom>
          <a:noFill/>
        </p:spPr>
        <p:txBody>
          <a:bodyPr wrap="square" lIns="0" rIns="0" tIns="0" bIns="0" anchor="t">
            <a:spAutoFit/>
          </a:bodyPr>
          <a:lstStyle/>
          <a:p>
            <a:pPr algn="l"/>
            <a:r>
              <a:rPr b="1" sz="1350" i="0" u="none">
                <a:solidFill>
                  <a:srgbClr val="11052C"/>
                </a:solidFill>
                <a:latin typeface="DM Sans"/>
              </a:rPr>
              <a:t>How to read it: </a:t>
            </a:r>
            <a:r>
              <a:rPr b="0" sz="1350" i="0" u="none">
                <a:solidFill>
                  <a:srgbClr val="11052C"/>
                </a:solidFill>
                <a:latin typeface="DM Sans"/>
              </a:rPr>
              <a:t>scores and weights are my judgment (assumption A9). The ranking does not change if any weight moves by 10 points. Option 1 loses on return and ownership: across-the-board cuts teach GMs to pad next year's ask and starve launches below viable scale. Option 2 is honest but gives the new bets nothing to earn.</a:t>
            </a:r>
          </a:p>
        </p:txBody>
      </p:sp>
      <p:sp>
        <p:nvSpPr>
          <p:cNvPr id="36" name="TextBox 35"/>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DM Sans"/>
              </a:rPr>
              <a:t>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3" name="TextBox 2"/>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DM Sans"/>
              </a:rPr>
              <a:t>06 // DELIVERABLE 1: THE $60M BRIDGE</a:t>
            </a:r>
          </a:p>
        </p:txBody>
      </p:sp>
      <p:sp>
        <p:nvSpPr>
          <p:cNvPr id="4" name="TextBox 3"/>
          <p:cNvSpPr txBox="1"/>
          <p:nvPr/>
        </p:nvSpPr>
        <p:spPr>
          <a:xfrm>
            <a:off x="609600" y="704850"/>
            <a:ext cx="115824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Space Grotesk"/>
              </a:rPr>
              <a:t>$60M of asks become $25M of funded spend: $8M delivered on the platform, $12M sent back for a case, $15M conditional</a:t>
            </a:r>
          </a:p>
        </p:txBody>
      </p:sp>
      <p:sp>
        <p:nvSpPr>
          <p:cNvPr id="5" name="TextBox 4"/>
          <p:cNvSpPr txBox="1"/>
          <p:nvPr/>
        </p:nvSpPr>
        <p:spPr>
          <a:xfrm>
            <a:off x="609600" y="6019800"/>
            <a:ext cx="11068050" cy="381000"/>
          </a:xfrm>
          <a:prstGeom prst="rect">
            <a:avLst/>
          </a:prstGeom>
          <a:noFill/>
        </p:spPr>
        <p:txBody>
          <a:bodyPr wrap="square" lIns="0" rIns="0" tIns="0" bIns="0" anchor="t">
            <a:spAutoFit/>
          </a:bodyPr>
          <a:lstStyle/>
          <a:p>
            <a:pPr algn="l"/>
            <a:r>
              <a:rPr b="1" sz="1125" i="0" u="none">
                <a:solidFill>
                  <a:srgbClr val="3B2A54"/>
                </a:solidFill>
                <a:latin typeface="DM Sans"/>
              </a:rPr>
              <a:t>No arbitrary cuts: </a:t>
            </a:r>
            <a:r>
              <a:rPr b="0" sz="1125" i="0" u="none">
                <a:solidFill>
                  <a:srgbClr val="3B2A54"/>
                </a:solidFill>
                <a:latin typeface="DM Sans"/>
              </a:rPr>
              <a:t>$8M of country asks are met by reusing the shared global code base at near-zero marginal cost (A5); $12M of early ideas enter a 60-day business-case track with my team; $15M is conditional on H1 profit above plan under rule A6. $25M is funded now in two gates.</a:t>
            </a:r>
          </a:p>
        </p:txBody>
      </p:sp>
      <p:graphicFrame>
        <p:nvGraphicFramePr>
          <p:cNvPr id="6" name="Chart 5"/>
          <p:cNvGraphicFramePr>
            <a:graphicFrameLocks noGrp="1"/>
          </p:cNvGraphicFramePr>
          <p:nvPr/>
        </p:nvGraphicFramePr>
        <p:xfrm>
          <a:off x="822960" y="1600200"/>
          <a:ext cx="10515600" cy="4023360"/>
        </p:xfrm>
        <a:graphic>
          <a:graphicData uri="http://schemas.openxmlformats.org/drawingml/2006/chart">
            <c:chart xmlns:c="http://schemas.openxmlformats.org/drawingml/2006/chart" r:id="rId3"/>
          </a:graphicData>
        </a:graphic>
      </p:graphicFrame>
      <p:sp>
        <p:nvSpPr>
          <p:cNvPr id="7" name="TextBox 6"/>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DM Sans"/>
              </a:rPr>
              <a:t>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Rounded Rectangle 1"/>
          <p:cNvSpPr/>
          <p:nvPr/>
        </p:nvSpPr>
        <p:spPr>
          <a:xfrm>
            <a:off x="609600" y="2401192"/>
            <a:ext cx="5353050" cy="3063240"/>
          </a:xfrm>
          <a:prstGeom prst="roundRect">
            <a:avLst>
              <a:gd name="adj" fmla="val 3333"/>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229350" y="2401192"/>
            <a:ext cx="5353050" cy="3063240"/>
          </a:xfrm>
          <a:prstGeom prst="roundRect">
            <a:avLst>
              <a:gd name="adj" fmla="val 3496"/>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DM Sans"/>
              </a:rPr>
              <a:t>07 // DELIVERABLE 1: THE OPERATING MODEL AND THE RELEASE RULE</a:t>
            </a:r>
          </a:p>
        </p:txBody>
      </p:sp>
      <p:sp>
        <p:nvSpPr>
          <p:cNvPr id="5" name="TextBox 4"/>
          <p:cNvSpPr txBox="1"/>
          <p:nvPr/>
        </p:nvSpPr>
        <p:spPr>
          <a:xfrm>
            <a:off x="609600" y="704850"/>
            <a:ext cx="115824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Space Grotesk"/>
              </a:rPr>
              <a:t>Hub-and-spoke: one model and one calendar centrally, finance partners inside each market and vertical</a:t>
            </a:r>
          </a:p>
        </p:txBody>
      </p:sp>
      <p:sp>
        <p:nvSpPr>
          <p:cNvPr id="6" name="TextBox 5"/>
          <p:cNvSpPr txBox="1"/>
          <p:nvPr/>
        </p:nvSpPr>
        <p:spPr>
          <a:xfrm>
            <a:off x="609600" y="6057900"/>
            <a:ext cx="11068050" cy="342900"/>
          </a:xfrm>
          <a:prstGeom prst="rect">
            <a:avLst/>
          </a:prstGeom>
          <a:noFill/>
        </p:spPr>
        <p:txBody>
          <a:bodyPr wrap="square" lIns="0" rIns="0" tIns="0" bIns="0" anchor="t">
            <a:spAutoFit/>
          </a:bodyPr>
          <a:lstStyle/>
          <a:p>
            <a:pPr algn="l"/>
            <a:r>
              <a:rPr b="0" sz="1050" i="0" u="none">
                <a:solidFill>
                  <a:srgbClr val="6B5B82"/>
                </a:solidFill>
                <a:latin typeface="DM Sans"/>
              </a:rPr>
              <a:t>Sources: Nu Q2'26 release (efficiency ratio 19.5%; FY26 guide ~20% per the call). Cycle-time target is mine; the directional benchmark for central planning hubs (Hackett Group) is in the ledger and not load-bearing.</a:t>
            </a:r>
          </a:p>
        </p:txBody>
      </p:sp>
      <p:sp>
        <p:nvSpPr>
          <p:cNvPr id="7" name="TextBox 6"/>
          <p:cNvSpPr txBox="1"/>
          <p:nvPr/>
        </p:nvSpPr>
        <p:spPr>
          <a:xfrm>
            <a:off x="866775" y="2658367"/>
            <a:ext cx="6048375" cy="171450"/>
          </a:xfrm>
          <a:prstGeom prst="rect">
            <a:avLst/>
          </a:prstGeom>
          <a:noFill/>
        </p:spPr>
        <p:txBody>
          <a:bodyPr wrap="none" lIns="0" rIns="0" tIns="0" bIns="0" anchor="t">
            <a:spAutoFit/>
          </a:bodyPr>
          <a:lstStyle/>
          <a:p>
            <a:pPr algn="l"/>
            <a:r>
              <a:rPr b="1" sz="1050" i="0" u="none">
                <a:solidFill>
                  <a:srgbClr val="820AD1"/>
                </a:solidFill>
                <a:latin typeface="DM Sans"/>
              </a:rPr>
              <a:t>WHY HUB-AND-SPOKE WORKS</a:t>
            </a:r>
          </a:p>
        </p:txBody>
      </p:sp>
      <p:sp>
        <p:nvSpPr>
          <p:cNvPr id="8" name="TextBox 7"/>
          <p:cNvSpPr txBox="1"/>
          <p:nvPr/>
        </p:nvSpPr>
        <p:spPr>
          <a:xfrm>
            <a:off x="866775" y="2906017"/>
            <a:ext cx="6350793" cy="285750"/>
          </a:xfrm>
          <a:prstGeom prst="rect">
            <a:avLst/>
          </a:prstGeom>
          <a:noFill/>
        </p:spPr>
        <p:txBody>
          <a:bodyPr wrap="square" lIns="0" rIns="0" tIns="0" bIns="0" anchor="t">
            <a:spAutoFit/>
          </a:bodyPr>
          <a:lstStyle/>
          <a:p>
            <a:pPr algn="l"/>
            <a:r>
              <a:rPr b="1" sz="1725" i="0" u="none">
                <a:solidFill>
                  <a:srgbClr val="11052C"/>
                </a:solidFill>
                <a:latin typeface="Space Grotesk"/>
              </a:rPr>
              <a:t>One source of truth, local speed</a:t>
            </a:r>
          </a:p>
        </p:txBody>
      </p:sp>
      <p:sp>
        <p:nvSpPr>
          <p:cNvPr id="9" name="TextBox 8"/>
          <p:cNvSpPr txBox="1"/>
          <p:nvPr/>
        </p:nvSpPr>
        <p:spPr>
          <a:xfrm>
            <a:off x="6486525" y="2660904"/>
            <a:ext cx="5705475" cy="171450"/>
          </a:xfrm>
          <a:prstGeom prst="rect">
            <a:avLst/>
          </a:prstGeom>
          <a:noFill/>
        </p:spPr>
        <p:txBody>
          <a:bodyPr wrap="none" lIns="0" rIns="0" tIns="0" bIns="0" anchor="t">
            <a:spAutoFit/>
          </a:bodyPr>
          <a:lstStyle/>
          <a:p>
            <a:pPr algn="l"/>
            <a:r>
              <a:rPr b="1" sz="1050" i="0" u="none">
                <a:solidFill>
                  <a:srgbClr val="5B21B6"/>
                </a:solidFill>
                <a:latin typeface="DM Sans"/>
              </a:rPr>
              <a:t>HOW THE $25M CAP UNLOCKS</a:t>
            </a:r>
          </a:p>
        </p:txBody>
      </p:sp>
      <p:sp>
        <p:nvSpPr>
          <p:cNvPr id="10" name="TextBox 9"/>
          <p:cNvSpPr txBox="1"/>
          <p:nvPr/>
        </p:nvSpPr>
        <p:spPr>
          <a:xfrm>
            <a:off x="6486525" y="2907792"/>
            <a:ext cx="5705475" cy="285750"/>
          </a:xfrm>
          <a:prstGeom prst="rect">
            <a:avLst/>
          </a:prstGeom>
          <a:noFill/>
        </p:spPr>
        <p:txBody>
          <a:bodyPr wrap="square" lIns="0" rIns="0" tIns="0" bIns="0" anchor="t">
            <a:spAutoFit/>
          </a:bodyPr>
          <a:lstStyle/>
          <a:p>
            <a:pPr algn="l"/>
            <a:r>
              <a:rPr b="1" sz="1725" i="0" u="none">
                <a:solidFill>
                  <a:srgbClr val="11052C"/>
                </a:solidFill>
                <a:latin typeface="Space Grotesk"/>
              </a:rPr>
              <a:t>Two gates inside the cap, one rule above it</a:t>
            </a:r>
          </a:p>
        </p:txBody>
      </p:sp>
      <p:sp>
        <p:nvSpPr>
          <p:cNvPr id="11" name="TextBox 10"/>
          <p:cNvSpPr txBox="1"/>
          <p:nvPr/>
        </p:nvSpPr>
        <p:spPr>
          <a:xfrm>
            <a:off x="1000125" y="3277492"/>
            <a:ext cx="57150" cy="228600"/>
          </a:xfrm>
          <a:prstGeom prst="rect">
            <a:avLst/>
          </a:prstGeom>
          <a:noFill/>
        </p:spPr>
        <p:txBody>
          <a:bodyPr wrap="none" lIns="0" rIns="0" tIns="0" bIns="0" anchor="t">
            <a:spAutoFit/>
          </a:bodyPr>
          <a:lstStyle/>
          <a:p>
            <a:pPr algn="l"/>
            <a:r>
              <a:rPr b="0" sz="1350" i="0" u="none">
                <a:solidFill>
                  <a:srgbClr val="3B2A54"/>
                </a:solidFill>
                <a:latin typeface="DM Sans"/>
              </a:rPr>
              <a:t>•</a:t>
            </a:r>
          </a:p>
        </p:txBody>
      </p:sp>
      <p:sp>
        <p:nvSpPr>
          <p:cNvPr id="12" name="TextBox 11"/>
          <p:cNvSpPr txBox="1"/>
          <p:nvPr/>
        </p:nvSpPr>
        <p:spPr>
          <a:xfrm>
            <a:off x="1057275" y="3306067"/>
            <a:ext cx="4743450" cy="914400"/>
          </a:xfrm>
          <a:prstGeom prst="rect">
            <a:avLst/>
          </a:prstGeom>
          <a:noFill/>
        </p:spPr>
        <p:txBody>
          <a:bodyPr wrap="square" lIns="57150" rIns="0" tIns="0" bIns="0" anchor="t">
            <a:spAutoFit/>
          </a:bodyPr>
          <a:lstStyle/>
          <a:p>
            <a:pPr algn="l"/>
            <a:r>
              <a:rPr b="1" sz="1350" i="0" u="none">
                <a:solidFill>
                  <a:srgbClr val="3B2A54"/>
                </a:solidFill>
                <a:latin typeface="DM Sans"/>
              </a:rPr>
              <a:t>Central planning hub: </a:t>
            </a:r>
            <a:r>
              <a:rPr b="0" sz="1350" i="0" u="none">
                <a:solidFill>
                  <a:srgbClr val="3B2A54"/>
                </a:solidFill>
                <a:latin typeface="DM Sans"/>
              </a:rPr>
              <a:t>owns targets, the single model, the case template and the Board pack. Its KPIs: cycle time under 40 days, forecast accuracy, 100% of spend with an approved case.</a:t>
            </a:r>
          </a:p>
        </p:txBody>
      </p:sp>
      <p:sp>
        <p:nvSpPr>
          <p:cNvPr id="13" name="TextBox 12"/>
          <p:cNvSpPr txBox="1"/>
          <p:nvPr/>
        </p:nvSpPr>
        <p:spPr>
          <a:xfrm>
            <a:off x="1000125" y="4287142"/>
            <a:ext cx="57150" cy="228600"/>
          </a:xfrm>
          <a:prstGeom prst="rect">
            <a:avLst/>
          </a:prstGeom>
          <a:noFill/>
        </p:spPr>
        <p:txBody>
          <a:bodyPr wrap="none" lIns="0" rIns="0" tIns="0" bIns="0" anchor="t">
            <a:spAutoFit/>
          </a:bodyPr>
          <a:lstStyle/>
          <a:p>
            <a:pPr algn="l"/>
            <a:r>
              <a:rPr b="0" sz="1350" i="0" u="none">
                <a:solidFill>
                  <a:srgbClr val="3B2A54"/>
                </a:solidFill>
                <a:latin typeface="DM Sans"/>
              </a:rPr>
              <a:t>•</a:t>
            </a:r>
          </a:p>
        </p:txBody>
      </p:sp>
      <p:sp>
        <p:nvSpPr>
          <p:cNvPr id="14" name="TextBox 13"/>
          <p:cNvSpPr txBox="1"/>
          <p:nvPr/>
        </p:nvSpPr>
        <p:spPr>
          <a:xfrm>
            <a:off x="1057275" y="4315717"/>
            <a:ext cx="4743450" cy="685800"/>
          </a:xfrm>
          <a:prstGeom prst="rect">
            <a:avLst/>
          </a:prstGeom>
          <a:noFill/>
        </p:spPr>
        <p:txBody>
          <a:bodyPr wrap="square" lIns="57150" rIns="0" tIns="0" bIns="0" anchor="t">
            <a:spAutoFit/>
          </a:bodyPr>
          <a:lstStyle/>
          <a:p>
            <a:pPr algn="l"/>
            <a:r>
              <a:rPr b="1" sz="1350" i="0" u="none">
                <a:solidFill>
                  <a:srgbClr val="3B2A54"/>
                </a:solidFill>
                <a:latin typeface="DM Sans"/>
              </a:rPr>
              <a:t>Embedded finance partners: </a:t>
            </a:r>
            <a:r>
              <a:rPr b="0" sz="1350" i="0" u="none">
                <a:solidFill>
                  <a:srgbClr val="3B2A54"/>
                </a:solidFill>
                <a:latin typeface="DM Sans"/>
              </a:rPr>
              <a:t>sit inside the country and vertical squads, build the cases with the GMs, and own the indicator read-outs at each gate.</a:t>
            </a:r>
          </a:p>
        </p:txBody>
      </p:sp>
      <p:sp>
        <p:nvSpPr>
          <p:cNvPr id="15" name="TextBox 14"/>
          <p:cNvSpPr txBox="1"/>
          <p:nvPr/>
        </p:nvSpPr>
        <p:spPr>
          <a:xfrm>
            <a:off x="6619875" y="3273552"/>
            <a:ext cx="57150" cy="228600"/>
          </a:xfrm>
          <a:prstGeom prst="rect">
            <a:avLst/>
          </a:prstGeom>
          <a:noFill/>
        </p:spPr>
        <p:txBody>
          <a:bodyPr wrap="none" lIns="0" rIns="0" tIns="0" bIns="0" anchor="t">
            <a:spAutoFit/>
          </a:bodyPr>
          <a:lstStyle/>
          <a:p>
            <a:pPr algn="l"/>
            <a:r>
              <a:rPr b="0" sz="1350" i="0" u="none">
                <a:solidFill>
                  <a:srgbClr val="3B2A54"/>
                </a:solidFill>
                <a:latin typeface="DM Sans"/>
              </a:rPr>
              <a:t>•</a:t>
            </a:r>
          </a:p>
        </p:txBody>
      </p:sp>
      <p:sp>
        <p:nvSpPr>
          <p:cNvPr id="16" name="TextBox 15"/>
          <p:cNvSpPr txBox="1"/>
          <p:nvPr/>
        </p:nvSpPr>
        <p:spPr>
          <a:xfrm>
            <a:off x="6677025" y="3310128"/>
            <a:ext cx="4743450" cy="457200"/>
          </a:xfrm>
          <a:prstGeom prst="rect">
            <a:avLst/>
          </a:prstGeom>
          <a:noFill/>
        </p:spPr>
        <p:txBody>
          <a:bodyPr wrap="square" lIns="57150" rIns="0" tIns="0" bIns="0" anchor="t">
            <a:spAutoFit/>
          </a:bodyPr>
          <a:lstStyle/>
          <a:p>
            <a:pPr algn="l"/>
            <a:r>
              <a:rPr b="1" sz="1350" i="0" u="none">
                <a:solidFill>
                  <a:srgbClr val="3B2A54"/>
                </a:solidFill>
                <a:latin typeface="DM Sans"/>
              </a:rPr>
              <a:t>Gate 1, $15M now: </a:t>
            </a:r>
            <a:r>
              <a:rPr b="0" sz="1350" i="0" u="none">
                <a:solidFill>
                  <a:srgbClr val="3B2A54"/>
                </a:solidFill>
                <a:latin typeface="DM Sans"/>
              </a:rPr>
              <a:t>released on approval to the vetted cases ($10.5M core markets, $4.5M new bets).</a:t>
            </a:r>
          </a:p>
        </p:txBody>
      </p:sp>
      <p:sp>
        <p:nvSpPr>
          <p:cNvPr id="17" name="TextBox 16"/>
          <p:cNvSpPr txBox="1"/>
          <p:nvPr/>
        </p:nvSpPr>
        <p:spPr>
          <a:xfrm>
            <a:off x="6619875" y="3895344"/>
            <a:ext cx="57150" cy="228600"/>
          </a:xfrm>
          <a:prstGeom prst="rect">
            <a:avLst/>
          </a:prstGeom>
          <a:noFill/>
        </p:spPr>
        <p:txBody>
          <a:bodyPr wrap="none" lIns="0" rIns="0" tIns="0" bIns="0" anchor="t">
            <a:spAutoFit/>
          </a:bodyPr>
          <a:lstStyle/>
          <a:p>
            <a:pPr algn="l"/>
            <a:r>
              <a:rPr b="0" sz="1350" i="0" u="none">
                <a:solidFill>
                  <a:srgbClr val="3B2A54"/>
                </a:solidFill>
                <a:latin typeface="DM Sans"/>
              </a:rPr>
              <a:t>•</a:t>
            </a:r>
          </a:p>
        </p:txBody>
      </p:sp>
      <p:sp>
        <p:nvSpPr>
          <p:cNvPr id="18" name="TextBox 17"/>
          <p:cNvSpPr txBox="1"/>
          <p:nvPr/>
        </p:nvSpPr>
        <p:spPr>
          <a:xfrm>
            <a:off x="6677025" y="3922776"/>
            <a:ext cx="4743450" cy="713232"/>
          </a:xfrm>
          <a:prstGeom prst="rect">
            <a:avLst/>
          </a:prstGeom>
          <a:noFill/>
        </p:spPr>
        <p:txBody>
          <a:bodyPr wrap="square" lIns="57150" rIns="0" tIns="0" bIns="0" anchor="t">
            <a:spAutoFit/>
          </a:bodyPr>
          <a:lstStyle/>
          <a:p>
            <a:pPr algn="l"/>
            <a:r>
              <a:rPr b="1" sz="1350" i="0" u="none">
                <a:solidFill>
                  <a:srgbClr val="3B2A54"/>
                </a:solidFill>
                <a:latin typeface="DM Sans"/>
              </a:rPr>
              <a:t>Gate 2, $10M at quarter close: </a:t>
            </a:r>
            <a:r>
              <a:rPr b="0" sz="1350" i="0" u="none">
                <a:solidFill>
                  <a:srgbClr val="3B2A54"/>
                </a:solidFill>
                <a:latin typeface="DM Sans"/>
              </a:rPr>
              <a:t>completes the $25M cap; released to units whose indicators (activation, 30-day retention, CAC and unit cost vs plan) hold.</a:t>
            </a:r>
          </a:p>
        </p:txBody>
      </p:sp>
      <p:sp>
        <p:nvSpPr>
          <p:cNvPr id="19" name="TextBox 18"/>
          <p:cNvSpPr txBox="1"/>
          <p:nvPr/>
        </p:nvSpPr>
        <p:spPr>
          <a:xfrm>
            <a:off x="6619875" y="4681728"/>
            <a:ext cx="57150" cy="228600"/>
          </a:xfrm>
          <a:prstGeom prst="rect">
            <a:avLst/>
          </a:prstGeom>
          <a:noFill/>
        </p:spPr>
        <p:txBody>
          <a:bodyPr wrap="none" lIns="0" rIns="0" tIns="0" bIns="0" anchor="t">
            <a:spAutoFit/>
          </a:bodyPr>
          <a:lstStyle/>
          <a:p>
            <a:pPr algn="l"/>
            <a:r>
              <a:rPr b="0" sz="1350" i="0" u="none">
                <a:solidFill>
                  <a:srgbClr val="3B2A54"/>
                </a:solidFill>
                <a:latin typeface="DM Sans"/>
              </a:rPr>
              <a:t>•</a:t>
            </a:r>
          </a:p>
        </p:txBody>
      </p:sp>
      <p:sp>
        <p:nvSpPr>
          <p:cNvPr id="20" name="TextBox 19"/>
          <p:cNvSpPr txBox="1"/>
          <p:nvPr/>
        </p:nvSpPr>
        <p:spPr>
          <a:xfrm>
            <a:off x="6677025" y="4709160"/>
            <a:ext cx="4743450" cy="713232"/>
          </a:xfrm>
          <a:prstGeom prst="rect">
            <a:avLst/>
          </a:prstGeom>
          <a:noFill/>
        </p:spPr>
        <p:txBody>
          <a:bodyPr wrap="square" lIns="57150" rIns="0" tIns="0" bIns="0" anchor="t">
            <a:spAutoFit/>
          </a:bodyPr>
          <a:lstStyle/>
          <a:p>
            <a:pPr algn="l"/>
            <a:r>
              <a:rPr b="1" sz="1350" i="0" u="none">
                <a:solidFill>
                  <a:srgbClr val="3B2A54"/>
                </a:solidFill>
                <a:latin typeface="DM Sans"/>
              </a:rPr>
              <a:t>Above the cap, rule A6: </a:t>
            </a:r>
            <a:r>
              <a:rPr b="0" sz="1350" i="0" u="none">
                <a:solidFill>
                  <a:srgbClr val="3B2A54"/>
                </a:solidFill>
                <a:latin typeface="DM Sans"/>
              </a:rPr>
              <a:t>up to $15M in H2, only from H1 profit above plan, sized to stay inside the FY26 guide, with CFO and IR sign-off. Not in the base plan.</a:t>
            </a:r>
          </a:p>
        </p:txBody>
      </p:sp>
      <p:sp>
        <p:nvSpPr>
          <p:cNvPr id="21" name="TextBox 20"/>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DM Sans"/>
              </a:rPr>
              <a:t>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Rounded Rectangle 1"/>
          <p:cNvSpPr/>
          <p:nvPr/>
        </p:nvSpPr>
        <p:spPr>
          <a:xfrm>
            <a:off x="609600" y="4572892"/>
            <a:ext cx="10972800" cy="800100"/>
          </a:xfrm>
          <a:prstGeom prst="roundRect">
            <a:avLst>
              <a:gd name="adj" fmla="val 11904"/>
            </a:avLst>
          </a:prstGeom>
          <a:solidFill>
            <a:srgbClr val="190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2286892"/>
            <a:ext cx="5372100" cy="2095500"/>
          </a:xfrm>
          <a:prstGeom prst="roundRect">
            <a:avLst>
              <a:gd name="adj" fmla="val 4545"/>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210300" y="2286892"/>
            <a:ext cx="5372100" cy="2095500"/>
          </a:xfrm>
          <a:prstGeom prst="roundRect">
            <a:avLst>
              <a:gd name="adj" fmla="val 4545"/>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DM Sans"/>
              </a:rPr>
              <a:t>09 // DELIVERABLE 2: SETTLING THE TWO VIEWS</a:t>
            </a:r>
          </a:p>
        </p:txBody>
      </p:sp>
      <p:sp>
        <p:nvSpPr>
          <p:cNvPr id="6" name="TextBox 5"/>
          <p:cNvSpPr txBox="1"/>
          <p:nvPr/>
        </p:nvSpPr>
        <p:spPr>
          <a:xfrm>
            <a:off x="609600" y="704850"/>
            <a:ext cx="115824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Space Grotesk"/>
              </a:rPr>
              <a:t>Core markets and new bets are judged on different indicators, so both executives can sign the Q1 lock</a:t>
            </a:r>
          </a:p>
        </p:txBody>
      </p:sp>
      <p:sp>
        <p:nvSpPr>
          <p:cNvPr id="7" name="TextBox 6"/>
          <p:cNvSpPr txBox="1"/>
          <p:nvPr/>
        </p:nvSpPr>
        <p:spPr>
          <a:xfrm>
            <a:off x="609600" y="6057900"/>
            <a:ext cx="11068050" cy="342900"/>
          </a:xfrm>
          <a:prstGeom prst="rect">
            <a:avLst/>
          </a:prstGeom>
          <a:noFill/>
        </p:spPr>
        <p:txBody>
          <a:bodyPr wrap="square" lIns="0" rIns="0" tIns="0" bIns="0" anchor="t">
            <a:spAutoFit/>
          </a:bodyPr>
          <a:lstStyle/>
          <a:p>
            <a:pPr algn="l"/>
            <a:r>
              <a:rPr b="0" sz="1050" i="0" u="none">
                <a:solidFill>
                  <a:srgbClr val="6B5B82"/>
                </a:solidFill>
                <a:latin typeface="DM Sans"/>
              </a:rPr>
              <a:t>Sources: [1] Nu Q2'26 release (ARPAC $17.1; ROE 33%); Nu cohort disclosures in earnings materials (mature-cohort ARPAC above the group average). The horizon split follows the three-horizons framing (Baghai, Coley and White), used here as a frame, not as evidence.</a:t>
            </a:r>
          </a:p>
        </p:txBody>
      </p:sp>
      <p:sp>
        <p:nvSpPr>
          <p:cNvPr id="8" name="TextBox 7"/>
          <p:cNvSpPr txBox="1"/>
          <p:nvPr/>
        </p:nvSpPr>
        <p:spPr>
          <a:xfrm>
            <a:off x="857250" y="4744342"/>
            <a:ext cx="10572750" cy="457200"/>
          </a:xfrm>
          <a:prstGeom prst="rect">
            <a:avLst/>
          </a:prstGeom>
          <a:noFill/>
        </p:spPr>
        <p:txBody>
          <a:bodyPr wrap="square" lIns="0" rIns="0" tIns="0" bIns="0" anchor="t">
            <a:spAutoFit/>
          </a:bodyPr>
          <a:lstStyle/>
          <a:p>
            <a:pPr algn="l"/>
            <a:r>
              <a:rPr b="1" sz="1350" i="0" u="none">
                <a:solidFill>
                  <a:srgbClr val="FFFFFF"/>
                </a:solidFill>
                <a:latin typeface="DM Sans"/>
              </a:rPr>
              <a:t>Why both can sign: </a:t>
            </a:r>
            <a:r>
              <a:rPr b="0" sz="1350" i="0" u="none">
                <a:solidFill>
                  <a:srgbClr val="FFFFFF"/>
                </a:solidFill>
                <a:latin typeface="DM Sans"/>
              </a:rPr>
              <a:t>core markets get 70% of the first release to protect the year; new bets get a protected $4.5M start plus first claim on up to $14M across gate 2 and rule A6 once indicators hold. I write the one-page options memo; the CFO recommends; the CEO decides; the Board chair gets the pre-read. (Assumption A4: the dispute is about this envelope.)</a:t>
            </a:r>
          </a:p>
        </p:txBody>
      </p:sp>
      <p:sp>
        <p:nvSpPr>
          <p:cNvPr id="9" name="TextBox 8"/>
          <p:cNvSpPr txBox="1"/>
          <p:nvPr/>
        </p:nvSpPr>
        <p:spPr>
          <a:xfrm>
            <a:off x="847725" y="2525017"/>
            <a:ext cx="6119812" cy="171450"/>
          </a:xfrm>
          <a:prstGeom prst="rect">
            <a:avLst/>
          </a:prstGeom>
          <a:noFill/>
        </p:spPr>
        <p:txBody>
          <a:bodyPr wrap="none" lIns="0" rIns="0" tIns="0" bIns="0" anchor="t">
            <a:spAutoFit/>
          </a:bodyPr>
          <a:lstStyle/>
          <a:p>
            <a:pPr algn="l"/>
            <a:r>
              <a:rPr b="1" sz="1050" i="0" u="none">
                <a:solidFill>
                  <a:srgbClr val="820AD1"/>
                </a:solidFill>
                <a:latin typeface="DM Sans"/>
              </a:rPr>
              <a:t>HORIZON 1: CORE MARKETS (BRAZIL, MEXICO, COLOMBIA)</a:t>
            </a:r>
          </a:p>
        </p:txBody>
      </p:sp>
      <p:sp>
        <p:nvSpPr>
          <p:cNvPr id="10" name="TextBox 9"/>
          <p:cNvSpPr txBox="1"/>
          <p:nvPr/>
        </p:nvSpPr>
        <p:spPr>
          <a:xfrm>
            <a:off x="847725" y="2753617"/>
            <a:ext cx="6425803" cy="285750"/>
          </a:xfrm>
          <a:prstGeom prst="rect">
            <a:avLst/>
          </a:prstGeom>
          <a:noFill/>
        </p:spPr>
        <p:txBody>
          <a:bodyPr wrap="square" lIns="0" rIns="0" tIns="0" bIns="0" anchor="t">
            <a:spAutoFit/>
          </a:bodyPr>
          <a:lstStyle/>
          <a:p>
            <a:pPr algn="l"/>
            <a:r>
              <a:rPr b="1" sz="1725" i="0" u="none">
                <a:solidFill>
                  <a:srgbClr val="11052C"/>
                </a:solidFill>
                <a:latin typeface="Space Grotesk"/>
              </a:rPr>
              <a:t>70% of Q1 Capital ($10.5M)</a:t>
            </a:r>
          </a:p>
        </p:txBody>
      </p:sp>
      <p:sp>
        <p:nvSpPr>
          <p:cNvPr id="11" name="TextBox 10"/>
          <p:cNvSpPr txBox="1"/>
          <p:nvPr/>
        </p:nvSpPr>
        <p:spPr>
          <a:xfrm>
            <a:off x="847725" y="3134617"/>
            <a:ext cx="4991100" cy="685800"/>
          </a:xfrm>
          <a:prstGeom prst="rect">
            <a:avLst/>
          </a:prstGeom>
          <a:noFill/>
        </p:spPr>
        <p:txBody>
          <a:bodyPr wrap="square" lIns="0" rIns="0" tIns="0" bIns="0" anchor="t">
            <a:spAutoFit/>
          </a:bodyPr>
          <a:lstStyle/>
          <a:p>
            <a:pPr algn="l"/>
            <a:r>
              <a:rPr b="0" sz="1350" i="0" u="none">
                <a:solidFill>
                  <a:srgbClr val="3B2A54"/>
                </a:solidFill>
                <a:latin typeface="DM Sans"/>
              </a:rPr>
              <a:t>Mature cohorts earn well above the $17.1 group monthly ARPAC and the group runs at 33% ROE (Q2'26), so proven markets get the first and largest release [1].</a:t>
            </a:r>
          </a:p>
        </p:txBody>
      </p:sp>
      <p:sp>
        <p:nvSpPr>
          <p:cNvPr id="12" name="TextBox 11"/>
          <p:cNvSpPr txBox="1"/>
          <p:nvPr/>
        </p:nvSpPr>
        <p:spPr>
          <a:xfrm>
            <a:off x="847725" y="3915667"/>
            <a:ext cx="6119812" cy="228600"/>
          </a:xfrm>
          <a:prstGeom prst="rect">
            <a:avLst/>
          </a:prstGeom>
          <a:noFill/>
        </p:spPr>
        <p:txBody>
          <a:bodyPr wrap="none" lIns="0" rIns="0" tIns="0" bIns="0" anchor="t">
            <a:spAutoFit/>
          </a:bodyPr>
          <a:lstStyle/>
          <a:p>
            <a:pPr algn="l"/>
            <a:r>
              <a:rPr b="1" sz="1350" i="0" u="none">
                <a:solidFill>
                  <a:srgbClr val="0D9488"/>
                </a:solidFill>
                <a:latin typeface="DM Sans"/>
              </a:rPr>
              <a:t>Full year: $16.5M inside the cap + up to $5.0M under rule A6.</a:t>
            </a:r>
          </a:p>
        </p:txBody>
      </p:sp>
      <p:sp>
        <p:nvSpPr>
          <p:cNvPr id="13" name="TextBox 12"/>
          <p:cNvSpPr txBox="1"/>
          <p:nvPr/>
        </p:nvSpPr>
        <p:spPr>
          <a:xfrm>
            <a:off x="6448425" y="2525017"/>
            <a:ext cx="5743575" cy="171450"/>
          </a:xfrm>
          <a:prstGeom prst="rect">
            <a:avLst/>
          </a:prstGeom>
          <a:noFill/>
        </p:spPr>
        <p:txBody>
          <a:bodyPr wrap="none" lIns="0" rIns="0" tIns="0" bIns="0" anchor="t">
            <a:spAutoFit/>
          </a:bodyPr>
          <a:lstStyle/>
          <a:p>
            <a:pPr algn="l"/>
            <a:r>
              <a:rPr b="1" sz="1050" i="0" u="none">
                <a:solidFill>
                  <a:srgbClr val="5B21B6"/>
                </a:solidFill>
                <a:latin typeface="DM Sans"/>
              </a:rPr>
              <a:t>HORIZON 2 &amp; 3: NEW BETS (US, GLOBAL &amp; VERTICALS)</a:t>
            </a:r>
          </a:p>
        </p:txBody>
      </p:sp>
      <p:sp>
        <p:nvSpPr>
          <p:cNvPr id="14" name="TextBox 13"/>
          <p:cNvSpPr txBox="1"/>
          <p:nvPr/>
        </p:nvSpPr>
        <p:spPr>
          <a:xfrm>
            <a:off x="6448425" y="2753617"/>
            <a:ext cx="5743575" cy="285750"/>
          </a:xfrm>
          <a:prstGeom prst="rect">
            <a:avLst/>
          </a:prstGeom>
          <a:noFill/>
        </p:spPr>
        <p:txBody>
          <a:bodyPr wrap="square" lIns="0" rIns="0" tIns="0" bIns="0" anchor="t">
            <a:spAutoFit/>
          </a:bodyPr>
          <a:lstStyle/>
          <a:p>
            <a:pPr algn="l"/>
            <a:r>
              <a:rPr b="1" sz="1725" i="0" u="none">
                <a:solidFill>
                  <a:srgbClr val="11052C"/>
                </a:solidFill>
                <a:latin typeface="Space Grotesk"/>
              </a:rPr>
              <a:t>30% of Q1 Capital ($4.5M)</a:t>
            </a:r>
          </a:p>
        </p:txBody>
      </p:sp>
      <p:sp>
        <p:nvSpPr>
          <p:cNvPr id="15" name="TextBox 14"/>
          <p:cNvSpPr txBox="1"/>
          <p:nvPr/>
        </p:nvSpPr>
        <p:spPr>
          <a:xfrm>
            <a:off x="6448425" y="3134617"/>
            <a:ext cx="4991100" cy="685800"/>
          </a:xfrm>
          <a:prstGeom prst="rect">
            <a:avLst/>
          </a:prstGeom>
          <a:noFill/>
        </p:spPr>
        <p:txBody>
          <a:bodyPr wrap="square" lIns="0" rIns="0" tIns="0" bIns="0" anchor="t">
            <a:spAutoFit/>
          </a:bodyPr>
          <a:lstStyle/>
          <a:p>
            <a:pPr algn="l"/>
            <a:r>
              <a:rPr b="0" sz="1350" i="0" u="none">
                <a:solidFill>
                  <a:srgbClr val="3B2A54"/>
                </a:solidFill>
                <a:latin typeface="DM Sans"/>
              </a:rPr>
              <a:t>A new bet judged on mature-market profit in its first quarter always loses. New bets are graded on activation, retention and unit cost until a cohort can show payback.</a:t>
            </a:r>
          </a:p>
        </p:txBody>
      </p:sp>
      <p:sp>
        <p:nvSpPr>
          <p:cNvPr id="16" name="TextBox 15"/>
          <p:cNvSpPr txBox="1"/>
          <p:nvPr/>
        </p:nvSpPr>
        <p:spPr>
          <a:xfrm>
            <a:off x="6448425" y="3915667"/>
            <a:ext cx="5743575" cy="228600"/>
          </a:xfrm>
          <a:prstGeom prst="rect">
            <a:avLst/>
          </a:prstGeom>
          <a:noFill/>
        </p:spPr>
        <p:txBody>
          <a:bodyPr wrap="none" lIns="0" rIns="0" tIns="0" bIns="0" anchor="t">
            <a:spAutoFit/>
          </a:bodyPr>
          <a:lstStyle/>
          <a:p>
            <a:pPr algn="l"/>
            <a:r>
              <a:rPr b="1" sz="1350" i="0" u="none">
                <a:solidFill>
                  <a:srgbClr val="820AD1"/>
                </a:solidFill>
                <a:latin typeface="DM Sans"/>
              </a:rPr>
              <a:t>Full year: $8.5M inside the cap + up to $10.0M under rule A6.</a:t>
            </a:r>
          </a:p>
        </p:txBody>
      </p:sp>
      <p:sp>
        <p:nvSpPr>
          <p:cNvPr id="17" name="TextBox 16"/>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DM Sans"/>
              </a:rPr>
              <a:t>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Rounded Rectangle 1"/>
          <p:cNvSpPr/>
          <p:nvPr/>
        </p:nvSpPr>
        <p:spPr>
          <a:xfrm>
            <a:off x="609600" y="4572892"/>
            <a:ext cx="10972800" cy="819150"/>
          </a:xfrm>
          <a:prstGeom prst="roundRect">
            <a:avLst>
              <a:gd name="adj" fmla="val 11627"/>
            </a:avLst>
          </a:prstGeom>
          <a:solidFill>
            <a:srgbClr val="F3E8FF"/>
          </a:solidFill>
          <a:ln w="9525">
            <a:solidFill>
              <a:srgbClr val="820A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2267842"/>
            <a:ext cx="2614612" cy="2095500"/>
          </a:xfrm>
          <a:prstGeom prst="roundRect">
            <a:avLst>
              <a:gd name="adj" fmla="val 4545"/>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395662" y="2267842"/>
            <a:ext cx="2614612" cy="2095500"/>
          </a:xfrm>
          <a:prstGeom prst="roundRect">
            <a:avLst>
              <a:gd name="adj" fmla="val 4545"/>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181725" y="2267842"/>
            <a:ext cx="2614612" cy="2095500"/>
          </a:xfrm>
          <a:prstGeom prst="roundRect">
            <a:avLst>
              <a:gd name="adj" fmla="val 4545"/>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967787" y="2267842"/>
            <a:ext cx="2614612" cy="2095500"/>
          </a:xfrm>
          <a:prstGeom prst="roundRect">
            <a:avLst>
              <a:gd name="adj" fmla="val 4545"/>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DM Sans"/>
              </a:rPr>
              <a:t>11 // DELIVERABLE 2: THE 28-DAY BOARD RHYTHM</a:t>
            </a:r>
          </a:p>
        </p:txBody>
      </p:sp>
      <p:sp>
        <p:nvSpPr>
          <p:cNvPr id="8" name="TextBox 7"/>
          <p:cNvSpPr txBox="1"/>
          <p:nvPr/>
        </p:nvSpPr>
        <p:spPr>
          <a:xfrm>
            <a:off x="609600" y="704850"/>
            <a:ext cx="115824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Space Grotesk"/>
              </a:rPr>
              <a:t>The Board book ships at T-7 with written Q&amp;A, after a T-16 executive lock and a T-10 input freeze</a:t>
            </a:r>
          </a:p>
        </p:txBody>
      </p:sp>
      <p:sp>
        <p:nvSpPr>
          <p:cNvPr id="9" name="TextBox 8"/>
          <p:cNvSpPr txBox="1"/>
          <p:nvPr/>
        </p:nvSpPr>
        <p:spPr>
          <a:xfrm>
            <a:off x="609600" y="6057900"/>
            <a:ext cx="11068050" cy="342900"/>
          </a:xfrm>
          <a:prstGeom prst="rect">
            <a:avLst/>
          </a:prstGeom>
          <a:noFill/>
        </p:spPr>
        <p:txBody>
          <a:bodyPr wrap="square" lIns="0" rIns="0" tIns="0" bIns="0" anchor="t">
            <a:spAutoFit/>
          </a:bodyPr>
          <a:lstStyle/>
          <a:p>
            <a:pPr algn="l"/>
            <a:r>
              <a:rPr b="0" sz="1050" i="0" u="none">
                <a:solidFill>
                  <a:srgbClr val="6B5B82"/>
                </a:solidFill>
                <a:latin typeface="DM Sans"/>
              </a:rPr>
              <a:t>Sources: Nu IR calendar (Investor Day 8 Dec 2026). The T-7 book and written-Q&amp;A practice follows common director guidance (e.g. NACD); the time-split figures often quoted for it are directional and not used here.</a:t>
            </a:r>
          </a:p>
        </p:txBody>
      </p:sp>
      <p:sp>
        <p:nvSpPr>
          <p:cNvPr id="10" name="TextBox 9"/>
          <p:cNvSpPr txBox="1"/>
          <p:nvPr/>
        </p:nvSpPr>
        <p:spPr>
          <a:xfrm>
            <a:off x="866775" y="4753867"/>
            <a:ext cx="10553700" cy="457200"/>
          </a:xfrm>
          <a:prstGeom prst="rect">
            <a:avLst/>
          </a:prstGeom>
          <a:noFill/>
        </p:spPr>
        <p:txBody>
          <a:bodyPr wrap="square" lIns="0" rIns="0" tIns="0" bIns="0" anchor="t">
            <a:spAutoFit/>
          </a:bodyPr>
          <a:lstStyle/>
          <a:p>
            <a:pPr algn="l"/>
            <a:r>
              <a:rPr b="1" sz="1350" i="0" u="none">
                <a:solidFill>
                  <a:srgbClr val="11052C"/>
                </a:solidFill>
                <a:latin typeface="DM Sans"/>
              </a:rPr>
              <a:t>Why this meeting matters more than most: </a:t>
            </a:r>
            <a:r>
              <a:rPr b="0" sz="1350" i="0" u="none">
                <a:solidFill>
                  <a:srgbClr val="11052C"/>
                </a:solidFill>
                <a:latin typeface="DM Sans"/>
              </a:rPr>
              <a:t>it is the last Board before Investor Day (8 Dec 2026). The capital plan approved here is the one the market hears. Statutory governance for the expanding entity set is on slide 13.</a:t>
            </a:r>
          </a:p>
        </p:txBody>
      </p:sp>
      <p:sp>
        <p:nvSpPr>
          <p:cNvPr id="11" name="TextBox 10"/>
          <p:cNvSpPr txBox="1"/>
          <p:nvPr/>
        </p:nvSpPr>
        <p:spPr>
          <a:xfrm>
            <a:off x="809625" y="2467867"/>
            <a:ext cx="2768203" cy="171450"/>
          </a:xfrm>
          <a:prstGeom prst="rect">
            <a:avLst/>
          </a:prstGeom>
          <a:noFill/>
        </p:spPr>
        <p:txBody>
          <a:bodyPr wrap="none" lIns="0" rIns="0" tIns="0" bIns="0" anchor="t">
            <a:spAutoFit/>
          </a:bodyPr>
          <a:lstStyle/>
          <a:p>
            <a:pPr algn="l"/>
            <a:r>
              <a:rPr b="1" sz="1050" i="0" u="none">
                <a:solidFill>
                  <a:srgbClr val="B91C1C"/>
                </a:solidFill>
                <a:latin typeface="DM Sans"/>
              </a:rPr>
              <a:t>WEEK 1 (DAYS 28–21)</a:t>
            </a:r>
          </a:p>
        </p:txBody>
      </p:sp>
      <p:sp>
        <p:nvSpPr>
          <p:cNvPr id="12" name="TextBox 11"/>
          <p:cNvSpPr txBox="1"/>
          <p:nvPr/>
        </p:nvSpPr>
        <p:spPr>
          <a:xfrm>
            <a:off x="809625" y="2696467"/>
            <a:ext cx="2906613" cy="247650"/>
          </a:xfrm>
          <a:prstGeom prst="rect">
            <a:avLst/>
          </a:prstGeom>
          <a:noFill/>
        </p:spPr>
        <p:txBody>
          <a:bodyPr wrap="square" lIns="0" rIns="0" tIns="0" bIns="0" anchor="t">
            <a:spAutoFit/>
          </a:bodyPr>
          <a:lstStyle/>
          <a:p>
            <a:pPr algn="l"/>
            <a:r>
              <a:rPr b="1" sz="1500" i="0" u="none">
                <a:solidFill>
                  <a:srgbClr val="11052C"/>
                </a:solidFill>
                <a:latin typeface="Space Grotesk"/>
              </a:rPr>
              <a:t>Shared Storyboard</a:t>
            </a:r>
          </a:p>
        </p:txBody>
      </p:sp>
      <p:sp>
        <p:nvSpPr>
          <p:cNvPr id="13" name="TextBox 12"/>
          <p:cNvSpPr txBox="1"/>
          <p:nvPr/>
        </p:nvSpPr>
        <p:spPr>
          <a:xfrm>
            <a:off x="809625" y="3020317"/>
            <a:ext cx="2309812" cy="1143000"/>
          </a:xfrm>
          <a:prstGeom prst="rect">
            <a:avLst/>
          </a:prstGeom>
          <a:noFill/>
        </p:spPr>
        <p:txBody>
          <a:bodyPr wrap="square" lIns="0" rIns="0" tIns="0" bIns="0" anchor="t">
            <a:spAutoFit/>
          </a:bodyPr>
          <a:lstStyle/>
          <a:p>
            <a:pPr algn="l"/>
            <a:r>
              <a:rPr b="0" sz="1350" i="0" u="none">
                <a:solidFill>
                  <a:srgbClr val="3B2A54"/>
                </a:solidFill>
                <a:latin typeface="DM Sans"/>
              </a:rPr>
              <a:t>I issue the locked outline and standard data tables today, so units stop building rival decks. Owner: me, with the Corporate Secretary.</a:t>
            </a:r>
          </a:p>
        </p:txBody>
      </p:sp>
      <p:sp>
        <p:nvSpPr>
          <p:cNvPr id="14" name="TextBox 13"/>
          <p:cNvSpPr txBox="1"/>
          <p:nvPr/>
        </p:nvSpPr>
        <p:spPr>
          <a:xfrm>
            <a:off x="3595687" y="2467867"/>
            <a:ext cx="2768203" cy="171450"/>
          </a:xfrm>
          <a:prstGeom prst="rect">
            <a:avLst/>
          </a:prstGeom>
          <a:noFill/>
        </p:spPr>
        <p:txBody>
          <a:bodyPr wrap="none" lIns="0" rIns="0" tIns="0" bIns="0" anchor="t">
            <a:spAutoFit/>
          </a:bodyPr>
          <a:lstStyle/>
          <a:p>
            <a:pPr algn="l"/>
            <a:r>
              <a:rPr b="1" sz="1050" i="0" u="none">
                <a:solidFill>
                  <a:srgbClr val="D97706"/>
                </a:solidFill>
                <a:latin typeface="DM Sans"/>
              </a:rPr>
              <a:t>WEEK 2 (DAYS 20–14)</a:t>
            </a:r>
          </a:p>
        </p:txBody>
      </p:sp>
      <p:sp>
        <p:nvSpPr>
          <p:cNvPr id="15" name="TextBox 14"/>
          <p:cNvSpPr txBox="1"/>
          <p:nvPr/>
        </p:nvSpPr>
        <p:spPr>
          <a:xfrm>
            <a:off x="3595687" y="2696467"/>
            <a:ext cx="2906613" cy="247650"/>
          </a:xfrm>
          <a:prstGeom prst="rect">
            <a:avLst/>
          </a:prstGeom>
          <a:noFill/>
        </p:spPr>
        <p:txBody>
          <a:bodyPr wrap="square" lIns="0" rIns="0" tIns="0" bIns="0" anchor="t">
            <a:spAutoFit/>
          </a:bodyPr>
          <a:lstStyle/>
          <a:p>
            <a:pPr algn="l"/>
            <a:r>
              <a:rPr b="1" sz="1500" i="0" u="none">
                <a:solidFill>
                  <a:srgbClr val="11052C"/>
                </a:solidFill>
                <a:latin typeface="Space Grotesk"/>
              </a:rPr>
              <a:t>Executive Lock</a:t>
            </a:r>
          </a:p>
        </p:txBody>
      </p:sp>
      <p:sp>
        <p:nvSpPr>
          <p:cNvPr id="16" name="TextBox 15"/>
          <p:cNvSpPr txBox="1"/>
          <p:nvPr/>
        </p:nvSpPr>
        <p:spPr>
          <a:xfrm>
            <a:off x="3595687" y="3020317"/>
            <a:ext cx="2309812" cy="1143000"/>
          </a:xfrm>
          <a:prstGeom prst="rect">
            <a:avLst/>
          </a:prstGeom>
          <a:noFill/>
        </p:spPr>
        <p:txBody>
          <a:bodyPr wrap="square" lIns="0" rIns="0" tIns="0" bIns="0" anchor="t">
            <a:spAutoFit/>
          </a:bodyPr>
          <a:lstStyle/>
          <a:p>
            <a:pPr algn="l"/>
            <a:r>
              <a:rPr b="0" sz="1350" i="0" u="none">
                <a:solidFill>
                  <a:srgbClr val="3B2A54"/>
                </a:solidFill>
                <a:latin typeface="DM Sans"/>
              </a:rPr>
              <a:t>One-to-one pre-alignment at T-21; the capital options memo settles the 70/30 lock with CEO and CFO at T-16.</a:t>
            </a:r>
          </a:p>
        </p:txBody>
      </p:sp>
      <p:sp>
        <p:nvSpPr>
          <p:cNvPr id="17" name="TextBox 16"/>
          <p:cNvSpPr txBox="1"/>
          <p:nvPr/>
        </p:nvSpPr>
        <p:spPr>
          <a:xfrm>
            <a:off x="6381750" y="2467867"/>
            <a:ext cx="2768203" cy="171450"/>
          </a:xfrm>
          <a:prstGeom prst="rect">
            <a:avLst/>
          </a:prstGeom>
          <a:noFill/>
        </p:spPr>
        <p:txBody>
          <a:bodyPr wrap="none" lIns="0" rIns="0" tIns="0" bIns="0" anchor="t">
            <a:spAutoFit/>
          </a:bodyPr>
          <a:lstStyle/>
          <a:p>
            <a:pPr algn="l"/>
            <a:r>
              <a:rPr b="1" sz="1050" i="0" u="none">
                <a:solidFill>
                  <a:srgbClr val="820AD1"/>
                </a:solidFill>
                <a:latin typeface="DM Sans"/>
              </a:rPr>
              <a:t>WEEK 3 (DAYS 13–7)</a:t>
            </a:r>
          </a:p>
        </p:txBody>
      </p:sp>
      <p:sp>
        <p:nvSpPr>
          <p:cNvPr id="18" name="TextBox 17"/>
          <p:cNvSpPr txBox="1"/>
          <p:nvPr/>
        </p:nvSpPr>
        <p:spPr>
          <a:xfrm>
            <a:off x="6381750" y="2696467"/>
            <a:ext cx="2906613" cy="247650"/>
          </a:xfrm>
          <a:prstGeom prst="rect">
            <a:avLst/>
          </a:prstGeom>
          <a:noFill/>
        </p:spPr>
        <p:txBody>
          <a:bodyPr wrap="square" lIns="0" rIns="0" tIns="0" bIns="0" anchor="t">
            <a:spAutoFit/>
          </a:bodyPr>
          <a:lstStyle/>
          <a:p>
            <a:pPr algn="l"/>
            <a:r>
              <a:rPr b="1" sz="1500" i="0" u="none">
                <a:solidFill>
                  <a:srgbClr val="11052C"/>
                </a:solidFill>
                <a:latin typeface="Space Grotesk"/>
              </a:rPr>
              <a:t>Single-Pen Edit</a:t>
            </a:r>
          </a:p>
        </p:txBody>
      </p:sp>
      <p:sp>
        <p:nvSpPr>
          <p:cNvPr id="19" name="TextBox 18"/>
          <p:cNvSpPr txBox="1"/>
          <p:nvPr/>
        </p:nvSpPr>
        <p:spPr>
          <a:xfrm>
            <a:off x="6381750" y="3020317"/>
            <a:ext cx="2309812" cy="1143000"/>
          </a:xfrm>
          <a:prstGeom prst="rect">
            <a:avLst/>
          </a:prstGeom>
          <a:noFill/>
        </p:spPr>
        <p:txBody>
          <a:bodyPr wrap="square" lIns="0" rIns="0" tIns="0" bIns="0" anchor="t">
            <a:spAutoFit/>
          </a:bodyPr>
          <a:lstStyle/>
          <a:p>
            <a:pPr algn="l"/>
            <a:r>
              <a:rPr b="0" sz="1350" i="0" u="none">
                <a:solidFill>
                  <a:srgbClr val="3B2A54"/>
                </a:solidFill>
                <a:latin typeface="DM Sans"/>
              </a:rPr>
              <a:t>Inputs freeze at T-10 for single-pen editing; committee chairs pre-briefed at T-9; book on the portal at T-7.</a:t>
            </a:r>
          </a:p>
        </p:txBody>
      </p:sp>
      <p:sp>
        <p:nvSpPr>
          <p:cNvPr id="20" name="TextBox 19"/>
          <p:cNvSpPr txBox="1"/>
          <p:nvPr/>
        </p:nvSpPr>
        <p:spPr>
          <a:xfrm>
            <a:off x="9167812" y="2467867"/>
            <a:ext cx="2768203" cy="171450"/>
          </a:xfrm>
          <a:prstGeom prst="rect">
            <a:avLst/>
          </a:prstGeom>
          <a:noFill/>
        </p:spPr>
        <p:txBody>
          <a:bodyPr wrap="none" lIns="0" rIns="0" tIns="0" bIns="0" anchor="t">
            <a:spAutoFit/>
          </a:bodyPr>
          <a:lstStyle/>
          <a:p>
            <a:pPr algn="l"/>
            <a:r>
              <a:rPr b="1" sz="1050" i="0" u="none">
                <a:solidFill>
                  <a:srgbClr val="0D9488"/>
                </a:solidFill>
                <a:latin typeface="DM Sans"/>
              </a:rPr>
              <a:t>WEEK 4 (DAYS 6–0)</a:t>
            </a:r>
          </a:p>
        </p:txBody>
      </p:sp>
      <p:sp>
        <p:nvSpPr>
          <p:cNvPr id="21" name="TextBox 20"/>
          <p:cNvSpPr txBox="1"/>
          <p:nvPr/>
        </p:nvSpPr>
        <p:spPr>
          <a:xfrm>
            <a:off x="9167812" y="2696467"/>
            <a:ext cx="2906613" cy="247650"/>
          </a:xfrm>
          <a:prstGeom prst="rect">
            <a:avLst/>
          </a:prstGeom>
          <a:noFill/>
        </p:spPr>
        <p:txBody>
          <a:bodyPr wrap="square" lIns="0" rIns="0" tIns="0" bIns="0" anchor="t">
            <a:spAutoFit/>
          </a:bodyPr>
          <a:lstStyle/>
          <a:p>
            <a:pPr algn="l"/>
            <a:r>
              <a:rPr b="1" sz="1500" i="0" u="none">
                <a:solidFill>
                  <a:srgbClr val="11052C"/>
                </a:solidFill>
                <a:latin typeface="Space Grotesk"/>
              </a:rPr>
              <a:t>80% Strategy Time</a:t>
            </a:r>
          </a:p>
        </p:txBody>
      </p:sp>
      <p:sp>
        <p:nvSpPr>
          <p:cNvPr id="22" name="TextBox 21"/>
          <p:cNvSpPr txBox="1"/>
          <p:nvPr/>
        </p:nvSpPr>
        <p:spPr>
          <a:xfrm>
            <a:off x="9167812" y="3020317"/>
            <a:ext cx="2309812" cy="1143000"/>
          </a:xfrm>
          <a:prstGeom prst="rect">
            <a:avLst/>
          </a:prstGeom>
          <a:noFill/>
        </p:spPr>
        <p:txBody>
          <a:bodyPr wrap="square" lIns="0" rIns="0" tIns="0" bIns="0" anchor="t">
            <a:spAutoFit/>
          </a:bodyPr>
          <a:lstStyle/>
          <a:p>
            <a:pPr algn="l"/>
            <a:r>
              <a:rPr b="0" sz="1350" i="0" u="none">
                <a:solidFill>
                  <a:srgbClr val="3B2A54"/>
                </a:solidFill>
                <a:latin typeface="DM Sans"/>
              </a:rPr>
              <a:t>Directors' data questions answered in writing by T-3, so the live session is spent on the capital plan, not read-outs.</a:t>
            </a:r>
          </a:p>
        </p:txBody>
      </p:sp>
      <p:sp>
        <p:nvSpPr>
          <p:cNvPr id="23" name="TextBox 22"/>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DM Sans"/>
              </a:rPr>
              <a:t>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Rounded Rectangle 1"/>
          <p:cNvSpPr/>
          <p:nvPr/>
        </p:nvSpPr>
        <p:spPr>
          <a:xfrm>
            <a:off x="609600" y="4949130"/>
            <a:ext cx="10972800" cy="762000"/>
          </a:xfrm>
          <a:prstGeom prst="roundRect">
            <a:avLst>
              <a:gd name="adj" fmla="val 12500"/>
            </a:avLst>
          </a:prstGeom>
          <a:solidFill>
            <a:srgbClr val="190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1948755"/>
            <a:ext cx="3530649" cy="2828925"/>
          </a:xfrm>
          <a:prstGeom prst="roundRect">
            <a:avLst>
              <a:gd name="adj" fmla="val 3367"/>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330749" y="1948755"/>
            <a:ext cx="3530649" cy="2828925"/>
          </a:xfrm>
          <a:prstGeom prst="roundRect">
            <a:avLst>
              <a:gd name="adj" fmla="val 3367"/>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051899" y="1948755"/>
            <a:ext cx="3530649" cy="2828925"/>
          </a:xfrm>
          <a:prstGeom prst="roundRect">
            <a:avLst>
              <a:gd name="adj" fmla="val 3367"/>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DM Sans"/>
              </a:rPr>
              <a:t>14 // DELIVERABLE 3: THE HQ CHARTER</a:t>
            </a:r>
          </a:p>
        </p:txBody>
      </p:sp>
      <p:sp>
        <p:nvSpPr>
          <p:cNvPr id="7" name="TextBox 6"/>
          <p:cNvSpPr txBox="1"/>
          <p:nvPr/>
        </p:nvSpPr>
        <p:spPr>
          <a:xfrm>
            <a:off x="609600" y="704850"/>
            <a:ext cx="115824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Space Grotesk"/>
              </a:rPr>
              <a:t>HQ charter: four gates in 120 days from signature, each with an owner, an exit test and a stop condition</a:t>
            </a:r>
          </a:p>
        </p:txBody>
      </p:sp>
      <p:sp>
        <p:nvSpPr>
          <p:cNvPr id="8" name="TextBox 7"/>
          <p:cNvSpPr txBox="1"/>
          <p:nvPr/>
        </p:nvSpPr>
        <p:spPr>
          <a:xfrm>
            <a:off x="609600" y="6057900"/>
            <a:ext cx="11068050" cy="342900"/>
          </a:xfrm>
          <a:prstGeom prst="rect">
            <a:avLst/>
          </a:prstGeom>
          <a:noFill/>
        </p:spPr>
        <p:txBody>
          <a:bodyPr wrap="square" lIns="0" rIns="0" tIns="0" bIns="0" anchor="t">
            <a:spAutoFit/>
          </a:bodyPr>
          <a:lstStyle/>
          <a:p>
            <a:pPr algn="l"/>
            <a:r>
              <a:rPr b="0" sz="1050" i="0" u="none">
                <a:solidFill>
                  <a:srgbClr val="6B5B82"/>
                </a:solidFill>
                <a:latin typeface="DM Sans"/>
              </a:rPr>
              <a:t>Sources: [1] OECD GloBE Model Rules, Art. 5.3 and the Art. 9.2 transitional rates for 2026. [2] Location-incentive practice (e.g. Deloitte, Site Selection) is directional. [3] Cross-border director-liability guidance (e.g. NACD, Baker McKenzie) is directional. No savings figure is claimed until a site is chosen.</a:t>
            </a:r>
          </a:p>
        </p:txBody>
      </p:sp>
      <p:sp>
        <p:nvSpPr>
          <p:cNvPr id="9" name="TextBox 8"/>
          <p:cNvSpPr txBox="1"/>
          <p:nvPr/>
        </p:nvSpPr>
        <p:spPr>
          <a:xfrm>
            <a:off x="857250" y="5101530"/>
            <a:ext cx="10572750" cy="457200"/>
          </a:xfrm>
          <a:prstGeom prst="rect">
            <a:avLst/>
          </a:prstGeom>
          <a:noFill/>
        </p:spPr>
        <p:txBody>
          <a:bodyPr wrap="square" lIns="0" rIns="0" tIns="0" bIns="0" anchor="t">
            <a:spAutoFit/>
          </a:bodyPr>
          <a:lstStyle/>
          <a:p>
            <a:pPr algn="l"/>
            <a:r>
              <a:rPr b="1" sz="1250" i="0" u="none">
                <a:solidFill>
                  <a:srgbClr val="FFFFFF"/>
                </a:solidFill>
                <a:latin typeface="DM Sans"/>
              </a:rPr>
              <a:t>Leading it as an interim across non-finance teams: </a:t>
            </a:r>
            <a:r>
              <a:rPr b="0" sz="1250" i="0" u="none">
                <a:solidFill>
                  <a:srgbClr val="FFFFFF"/>
                </a:solidFill>
                <a:latin typeface="DM Sans"/>
              </a:rPr>
              <a:t>one weekly pod (Legal, Tax, People, Workplace), one decision log, 48-hour escalation to the CFO, and a five-item risk register reviewed at every gate: group tax residence, clawback, officer liability, site politics, key-person dependence on me. Jurisdiction is open (A8).</a:t>
            </a:r>
          </a:p>
        </p:txBody>
      </p:sp>
      <p:sp>
        <p:nvSpPr>
          <p:cNvPr id="10" name="TextBox 9"/>
          <p:cNvSpPr txBox="1"/>
          <p:nvPr/>
        </p:nvSpPr>
        <p:spPr>
          <a:xfrm>
            <a:off x="828675" y="2167830"/>
            <a:ext cx="3865624" cy="171450"/>
          </a:xfrm>
          <a:prstGeom prst="rect">
            <a:avLst/>
          </a:prstGeom>
          <a:noFill/>
        </p:spPr>
        <p:txBody>
          <a:bodyPr wrap="none" lIns="0" rIns="0" tIns="0" bIns="0" anchor="t">
            <a:spAutoFit/>
          </a:bodyPr>
          <a:lstStyle/>
          <a:p>
            <a:pPr algn="l"/>
            <a:r>
              <a:rPr b="1" sz="1050" i="0" u="none">
                <a:solidFill>
                  <a:srgbClr val="820AD1"/>
                </a:solidFill>
                <a:latin typeface="DM Sans"/>
              </a:rPr>
              <a:t>1. TAX SUBSTANCE (GATE 1, D+30) [1]</a:t>
            </a:r>
          </a:p>
        </p:txBody>
      </p:sp>
      <p:sp>
        <p:nvSpPr>
          <p:cNvPr id="11" name="TextBox 10"/>
          <p:cNvSpPr txBox="1"/>
          <p:nvPr/>
        </p:nvSpPr>
        <p:spPr>
          <a:xfrm>
            <a:off x="828675" y="2396430"/>
            <a:ext cx="4058905" cy="257175"/>
          </a:xfrm>
          <a:prstGeom prst="rect">
            <a:avLst/>
          </a:prstGeom>
          <a:noFill/>
        </p:spPr>
        <p:txBody>
          <a:bodyPr wrap="square" lIns="0" rIns="0" tIns="0" bIns="0" anchor="t">
            <a:spAutoFit/>
          </a:bodyPr>
          <a:lstStyle/>
          <a:p>
            <a:pPr algn="l"/>
            <a:r>
              <a:rPr b="1" sz="1400" i="0" u="none">
                <a:solidFill>
                  <a:srgbClr val="11052C"/>
                </a:solidFill>
                <a:latin typeface="Space Grotesk"/>
              </a:rPr>
              <a:t>Incentives tied to real payroll</a:t>
            </a:r>
          </a:p>
        </p:txBody>
      </p:sp>
      <p:sp>
        <p:nvSpPr>
          <p:cNvPr id="12" name="TextBox 11"/>
          <p:cNvSpPr txBox="1"/>
          <p:nvPr/>
        </p:nvSpPr>
        <p:spPr>
          <a:xfrm>
            <a:off x="828675" y="2729805"/>
            <a:ext cx="3187749" cy="1828800"/>
          </a:xfrm>
          <a:prstGeom prst="rect">
            <a:avLst/>
          </a:prstGeom>
          <a:noFill/>
        </p:spPr>
        <p:txBody>
          <a:bodyPr wrap="square" lIns="0" rIns="0" tIns="0" bIns="0" anchor="t">
            <a:spAutoFit/>
          </a:bodyPr>
          <a:lstStyle/>
          <a:p>
            <a:pPr algn="l"/>
            <a:r>
              <a:rPr b="1" sz="1200" i="0" u="none">
                <a:solidFill>
                  <a:srgbClr val="3B2A54"/>
                </a:solidFill>
                <a:latin typeface="DM Sans"/>
              </a:rPr>
              <a:t>The rule: </a:t>
            </a:r>
            <a:r>
              <a:rPr b="0" sz="1200" i="0" u="none">
                <a:solidFill>
                  <a:srgbClr val="3B2A54"/>
                </a:solidFill>
                <a:latin typeface="DM Sans"/>
              </a:rPr>
              <a:t>Nu is above the EUR 750M Pillar Two threshold. In 2026 only 9.4% of payroll and 7.4% of tangible assets are carved out of the 15% top-up base, so incentives without people and assets on the ground are worth less than they look.</a:t>
            </a:r>
          </a:p>
          <a:p>
            <a:pPr algn="l"/>
            <a:r>
              <a:rPr b="1" sz="1200" i="0" u="none">
                <a:solidFill>
                  <a:srgbClr val="3B2A54"/>
                </a:solidFill>
                <a:latin typeface="DM Sans"/>
              </a:rPr>
              <a:t>My action: </a:t>
            </a:r>
            <a:r>
              <a:rPr b="0" sz="1200" i="0" u="none">
                <a:solidFill>
                  <a:srgbClr val="3B2A54"/>
                </a:solidFill>
                <a:latin typeface="DM Sans"/>
              </a:rPr>
              <a:t>campus build-out grants and payroll credits. Tax owns the gate; exit test: modeled effective rate holds under Pillar Two.</a:t>
            </a:r>
          </a:p>
        </p:txBody>
      </p:sp>
      <p:sp>
        <p:nvSpPr>
          <p:cNvPr id="13" name="TextBox 12"/>
          <p:cNvSpPr txBox="1"/>
          <p:nvPr/>
        </p:nvSpPr>
        <p:spPr>
          <a:xfrm>
            <a:off x="4549824" y="2167830"/>
            <a:ext cx="3865624" cy="171450"/>
          </a:xfrm>
          <a:prstGeom prst="rect">
            <a:avLst/>
          </a:prstGeom>
          <a:noFill/>
        </p:spPr>
        <p:txBody>
          <a:bodyPr wrap="none" lIns="0" rIns="0" tIns="0" bIns="0" anchor="t">
            <a:spAutoFit/>
          </a:bodyPr>
          <a:lstStyle/>
          <a:p>
            <a:pPr algn="l"/>
            <a:r>
              <a:rPr b="1" sz="1050" i="0" u="none">
                <a:solidFill>
                  <a:srgbClr val="5B21B6"/>
                </a:solidFill>
                <a:latin typeface="DM Sans"/>
              </a:rPr>
              <a:t>2. GRANT TERMS (GATE 2, D+60) [2]</a:t>
            </a:r>
          </a:p>
        </p:txBody>
      </p:sp>
      <p:sp>
        <p:nvSpPr>
          <p:cNvPr id="14" name="TextBox 13"/>
          <p:cNvSpPr txBox="1"/>
          <p:nvPr/>
        </p:nvSpPr>
        <p:spPr>
          <a:xfrm>
            <a:off x="4549824" y="2396430"/>
            <a:ext cx="4058905" cy="257175"/>
          </a:xfrm>
          <a:prstGeom prst="rect">
            <a:avLst/>
          </a:prstGeom>
          <a:noFill/>
        </p:spPr>
        <p:txBody>
          <a:bodyPr wrap="square" lIns="0" rIns="0" tIns="0" bIns="0" anchor="t">
            <a:spAutoFit/>
          </a:bodyPr>
          <a:lstStyle/>
          <a:p>
            <a:pPr algn="l"/>
            <a:r>
              <a:rPr b="1" sz="1400" i="0" u="none">
                <a:solidFill>
                  <a:srgbClr val="11052C"/>
                </a:solidFill>
                <a:latin typeface="Space Grotesk"/>
              </a:rPr>
              <a:t>Proportional, clawback-proof</a:t>
            </a:r>
          </a:p>
        </p:txBody>
      </p:sp>
      <p:sp>
        <p:nvSpPr>
          <p:cNvPr id="15" name="TextBox 14"/>
          <p:cNvSpPr txBox="1"/>
          <p:nvPr/>
        </p:nvSpPr>
        <p:spPr>
          <a:xfrm>
            <a:off x="4549824" y="2729805"/>
            <a:ext cx="3187749" cy="1828800"/>
          </a:xfrm>
          <a:prstGeom prst="rect">
            <a:avLst/>
          </a:prstGeom>
          <a:noFill/>
        </p:spPr>
        <p:txBody>
          <a:bodyPr wrap="square" lIns="0" rIns="0" tIns="0" bIns="0" anchor="t">
            <a:spAutoFit/>
          </a:bodyPr>
          <a:lstStyle/>
          <a:p>
            <a:pPr algn="l"/>
            <a:r>
              <a:rPr b="1" sz="1200" i="0" u="none">
                <a:solidFill>
                  <a:srgbClr val="3B2A54"/>
                </a:solidFill>
                <a:latin typeface="DM Sans"/>
              </a:rPr>
              <a:t>The risk: </a:t>
            </a:r>
            <a:r>
              <a:rPr b="0" sz="1200" i="0" u="none">
                <a:solidFill>
                  <a:srgbClr val="3B2A54"/>
                </a:solidFill>
                <a:latin typeface="DM Sans"/>
              </a:rPr>
              <a:t>municipal grants carry headcount clawbacks that bite when hiring pace or hybrid work changes.</a:t>
            </a:r>
          </a:p>
          <a:p>
            <a:pPr algn="l"/>
            <a:r>
              <a:rPr b="1" sz="1200" i="0" u="none">
                <a:solidFill>
                  <a:srgbClr val="3B2A54"/>
                </a:solidFill>
                <a:latin typeface="DM Sans"/>
              </a:rPr>
              <a:t>My action: </a:t>
            </a:r>
            <a:r>
              <a:rPr b="0" sz="1200" i="0" u="none">
                <a:solidFill>
                  <a:srgbClr val="3B2A54"/>
                </a:solidFill>
                <a:latin typeface="DM Sans"/>
              </a:rPr>
              <a:t>proportional scaling (85% of headcount keeps 85% of the grant) and a 24-month grace period. Legal owns the gate; exit test: no cliff-edge clawback in the signed term sheet.</a:t>
            </a:r>
          </a:p>
        </p:txBody>
      </p:sp>
      <p:sp>
        <p:nvSpPr>
          <p:cNvPr id="16" name="TextBox 15"/>
          <p:cNvSpPr txBox="1"/>
          <p:nvPr/>
        </p:nvSpPr>
        <p:spPr>
          <a:xfrm>
            <a:off x="8270974" y="2167830"/>
            <a:ext cx="3865624" cy="171450"/>
          </a:xfrm>
          <a:prstGeom prst="rect">
            <a:avLst/>
          </a:prstGeom>
          <a:noFill/>
        </p:spPr>
        <p:txBody>
          <a:bodyPr wrap="none" lIns="0" rIns="0" tIns="0" bIns="0" anchor="t">
            <a:spAutoFit/>
          </a:bodyPr>
          <a:lstStyle/>
          <a:p>
            <a:pPr algn="l"/>
            <a:r>
              <a:rPr b="1" sz="1050" i="0" u="none">
                <a:solidFill>
                  <a:srgbClr val="0D9488"/>
                </a:solidFill>
                <a:latin typeface="DM Sans"/>
              </a:rPr>
              <a:t>3. OFFICERS AND SIGNING (GATE 3, D+90) [3]</a:t>
            </a:r>
          </a:p>
        </p:txBody>
      </p:sp>
      <p:sp>
        <p:nvSpPr>
          <p:cNvPr id="17" name="TextBox 16"/>
          <p:cNvSpPr txBox="1"/>
          <p:nvPr/>
        </p:nvSpPr>
        <p:spPr>
          <a:xfrm>
            <a:off x="8270974" y="2396430"/>
            <a:ext cx="3921025" cy="257175"/>
          </a:xfrm>
          <a:prstGeom prst="rect">
            <a:avLst/>
          </a:prstGeom>
          <a:noFill/>
        </p:spPr>
        <p:txBody>
          <a:bodyPr wrap="square" lIns="0" rIns="0" tIns="0" bIns="0" anchor="t">
            <a:spAutoFit/>
          </a:bodyPr>
          <a:lstStyle/>
          <a:p>
            <a:pPr algn="l"/>
            <a:r>
              <a:rPr b="1" sz="1400" i="0" u="none">
                <a:solidFill>
                  <a:srgbClr val="11052C"/>
                </a:solidFill>
                <a:latin typeface="Space Grotesk"/>
              </a:rPr>
              <a:t>Fit-and-proper officers, D&amp;O</a:t>
            </a:r>
          </a:p>
        </p:txBody>
      </p:sp>
      <p:sp>
        <p:nvSpPr>
          <p:cNvPr id="18" name="TextBox 17"/>
          <p:cNvSpPr txBox="1"/>
          <p:nvPr/>
        </p:nvSpPr>
        <p:spPr>
          <a:xfrm>
            <a:off x="8270974" y="2729805"/>
            <a:ext cx="3187749" cy="1828800"/>
          </a:xfrm>
          <a:prstGeom prst="rect">
            <a:avLst/>
          </a:prstGeom>
          <a:noFill/>
        </p:spPr>
        <p:txBody>
          <a:bodyPr wrap="square" lIns="0" rIns="0" tIns="0" bIns="0" anchor="t">
            <a:spAutoFit/>
          </a:bodyPr>
          <a:lstStyle/>
          <a:p>
            <a:pPr algn="l"/>
            <a:r>
              <a:rPr b="1" sz="1200" i="0" u="none">
                <a:solidFill>
                  <a:srgbClr val="3B2A54"/>
                </a:solidFill>
                <a:latin typeface="DM Sans"/>
              </a:rPr>
              <a:t>The risk: </a:t>
            </a:r>
            <a:r>
              <a:rPr b="0" sz="1200" i="0" u="none">
                <a:solidFill>
                  <a:srgbClr val="3B2A54"/>
                </a:solidFill>
                <a:latin typeface="DM Sans"/>
              </a:rPr>
              <a:t>statutory directors carry personal liability for tax and labor filings; early commercial signing can create a taxable presence before the entity is ready.</a:t>
            </a:r>
          </a:p>
          <a:p>
            <a:pPr algn="l"/>
            <a:r>
              <a:rPr b="1" sz="1200" i="0" u="none">
                <a:solidFill>
                  <a:srgbClr val="3B2A54"/>
                </a:solidFill>
                <a:latin typeface="DM Sans"/>
              </a:rPr>
              <a:t>My action: </a:t>
            </a:r>
            <a:r>
              <a:rPr b="0" sz="1200" i="0" u="none">
                <a:solidFill>
                  <a:srgbClr val="3B2A54"/>
                </a:solidFill>
                <a:latin typeface="DM Sans"/>
              </a:rPr>
              <a:t>officers who pass the regulator's test, dual signature above $250k, D&amp;O bound before activation. Legal and People own the gate. Gate 4 (D+120): the lease; Workplace owns it.</a:t>
            </a:r>
          </a:p>
        </p:txBody>
      </p:sp>
      <p:sp>
        <p:nvSpPr>
          <p:cNvPr id="19" name="TextBox 18"/>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DM Sans"/>
              </a:rPr>
              <a:t>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Rounded Rectangle 1"/>
          <p:cNvSpPr/>
          <p:nvPr/>
        </p:nvSpPr>
        <p:spPr>
          <a:xfrm>
            <a:off x="609600" y="2382142"/>
            <a:ext cx="3517850" cy="2895600"/>
          </a:xfrm>
          <a:prstGeom prst="roundRect">
            <a:avLst>
              <a:gd name="adj" fmla="val 3289"/>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37000" y="2382142"/>
            <a:ext cx="3517850" cy="2895600"/>
          </a:xfrm>
          <a:prstGeom prst="roundRect">
            <a:avLst>
              <a:gd name="adj" fmla="val 3048"/>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064400" y="2382142"/>
            <a:ext cx="3517850" cy="2895600"/>
          </a:xfrm>
          <a:prstGeom prst="roundRect">
            <a:avLst>
              <a:gd name="adj" fmla="val 3289"/>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DM Sans"/>
              </a:rPr>
              <a:t>15 // DELIVERABLE 4: HOW I LEAD</a:t>
            </a:r>
          </a:p>
        </p:txBody>
      </p:sp>
      <p:sp>
        <p:nvSpPr>
          <p:cNvPr id="6" name="TextBox 5"/>
          <p:cNvSpPr txBox="1"/>
          <p:nvPr/>
        </p:nvSpPr>
        <p:spPr>
          <a:xfrm>
            <a:off x="609600" y="704850"/>
            <a:ext cx="115824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Space Grotesk"/>
              </a:rPr>
              <a:t>How I lead without line authority: three rules I hold myself to, and what I would not touch in the first 90 days</a:t>
            </a:r>
          </a:p>
        </p:txBody>
      </p:sp>
      <p:sp>
        <p:nvSpPr>
          <p:cNvPr id="7" name="TextBox 6"/>
          <p:cNvSpPr txBox="1"/>
          <p:nvPr/>
        </p:nvSpPr>
        <p:spPr>
          <a:xfrm>
            <a:off x="609600" y="6057900"/>
            <a:ext cx="11068050" cy="342900"/>
          </a:xfrm>
          <a:prstGeom prst="rect">
            <a:avLst/>
          </a:prstGeom>
          <a:noFill/>
        </p:spPr>
        <p:txBody>
          <a:bodyPr wrap="square" lIns="0" rIns="0" tIns="0" bIns="0" anchor="t">
            <a:spAutoFit/>
          </a:bodyPr>
          <a:lstStyle/>
          <a:p>
            <a:pPr algn="l"/>
            <a:r>
              <a:rPr b="0" sz="1050" i="0" u="none">
                <a:solidFill>
                  <a:srgbClr val="6B5B82"/>
                </a:solidFill>
                <a:latin typeface="DM Sans"/>
              </a:rPr>
              <a:t>Sources: the fair-process principle follows Kim and Mauborgne (HBR). The rest is how I work; examples from my own record are in the speaker notes and are the first thing I would share in Q&amp;A.</a:t>
            </a:r>
          </a:p>
        </p:txBody>
      </p:sp>
      <p:sp>
        <p:nvSpPr>
          <p:cNvPr id="8" name="TextBox 7"/>
          <p:cNvSpPr txBox="1"/>
          <p:nvPr/>
        </p:nvSpPr>
        <p:spPr>
          <a:xfrm>
            <a:off x="847725" y="2620267"/>
            <a:ext cx="3802000" cy="171450"/>
          </a:xfrm>
          <a:prstGeom prst="rect">
            <a:avLst/>
          </a:prstGeom>
          <a:noFill/>
        </p:spPr>
        <p:txBody>
          <a:bodyPr wrap="none" lIns="0" rIns="0" tIns="0" bIns="0" anchor="t">
            <a:spAutoFit/>
          </a:bodyPr>
          <a:lstStyle/>
          <a:p>
            <a:pPr algn="l"/>
            <a:r>
              <a:rPr b="1" sz="1050" i="0" u="none">
                <a:solidFill>
                  <a:srgbClr val="820AD1"/>
                </a:solidFill>
                <a:latin typeface="DM Sans"/>
              </a:rPr>
              <a:t>1. FAIR PROCESS FIRST</a:t>
            </a:r>
          </a:p>
        </p:txBody>
      </p:sp>
      <p:sp>
        <p:nvSpPr>
          <p:cNvPr id="9" name="TextBox 8"/>
          <p:cNvSpPr txBox="1"/>
          <p:nvPr/>
        </p:nvSpPr>
        <p:spPr>
          <a:xfrm>
            <a:off x="847725" y="2867917"/>
            <a:ext cx="3992100" cy="266700"/>
          </a:xfrm>
          <a:prstGeom prst="rect">
            <a:avLst/>
          </a:prstGeom>
          <a:noFill/>
        </p:spPr>
        <p:txBody>
          <a:bodyPr wrap="square" lIns="0" rIns="0" tIns="0" bIns="0" anchor="t">
            <a:spAutoFit/>
          </a:bodyPr>
          <a:lstStyle/>
          <a:p>
            <a:pPr algn="l"/>
            <a:r>
              <a:rPr b="1" sz="1650" i="0" u="none">
                <a:solidFill>
                  <a:srgbClr val="11052C"/>
                </a:solidFill>
                <a:latin typeface="Space Grotesk"/>
              </a:rPr>
              <a:t>Publish the rule, then negotiate</a:t>
            </a:r>
          </a:p>
        </p:txBody>
      </p:sp>
      <p:sp>
        <p:nvSpPr>
          <p:cNvPr id="10" name="TextBox 9"/>
          <p:cNvSpPr txBox="1"/>
          <p:nvPr/>
        </p:nvSpPr>
        <p:spPr>
          <a:xfrm>
            <a:off x="847725" y="3210817"/>
            <a:ext cx="3136850" cy="1828800"/>
          </a:xfrm>
          <a:prstGeom prst="rect">
            <a:avLst/>
          </a:prstGeom>
          <a:noFill/>
        </p:spPr>
        <p:txBody>
          <a:bodyPr wrap="square" lIns="0" rIns="0" tIns="0" bIns="0" anchor="t">
            <a:spAutoFit/>
          </a:bodyPr>
          <a:lstStyle/>
          <a:p>
            <a:pPr algn="l"/>
            <a:r>
              <a:rPr b="1" sz="1350" i="0" u="none">
                <a:solidFill>
                  <a:srgbClr val="3B2A54"/>
                </a:solidFill>
                <a:latin typeface="DM Sans"/>
              </a:rPr>
              <a:t>The rule: </a:t>
            </a:r>
            <a:r>
              <a:rPr b="0" sz="1350" i="0" u="none">
                <a:solidFill>
                  <a:srgbClr val="3B2A54"/>
                </a:solidFill>
                <a:latin typeface="DM Sans"/>
              </a:rPr>
              <a:t>people accept outcomes they argued against when the criteria were public before the decision. I publish the scoring rubric on day one and never change it mid-cycle.</a:t>
            </a:r>
          </a:p>
          <a:p>
            <a:pPr algn="l"/>
            <a:r>
              <a:rPr b="1" sz="1350" i="0" u="none">
                <a:solidFill>
                  <a:srgbClr val="3B2A54"/>
                </a:solidFill>
                <a:latin typeface="DM Sans"/>
              </a:rPr>
              <a:t>In practice: </a:t>
            </a:r>
            <a:r>
              <a:rPr b="0" sz="1350" i="0" u="none">
                <a:solidFill>
                  <a:srgbClr val="3B2A54"/>
                </a:solidFill>
                <a:latin typeface="DM Sans"/>
              </a:rPr>
              <a:t>every GM sees the same four indicators and the same release rule.</a:t>
            </a:r>
          </a:p>
        </p:txBody>
      </p:sp>
      <p:sp>
        <p:nvSpPr>
          <p:cNvPr id="11" name="TextBox 10"/>
          <p:cNvSpPr txBox="1"/>
          <p:nvPr/>
        </p:nvSpPr>
        <p:spPr>
          <a:xfrm>
            <a:off x="4575125" y="2624328"/>
            <a:ext cx="3802000" cy="171450"/>
          </a:xfrm>
          <a:prstGeom prst="rect">
            <a:avLst/>
          </a:prstGeom>
          <a:noFill/>
        </p:spPr>
        <p:txBody>
          <a:bodyPr wrap="none" lIns="0" rIns="0" tIns="0" bIns="0" anchor="t">
            <a:spAutoFit/>
          </a:bodyPr>
          <a:lstStyle/>
          <a:p>
            <a:pPr algn="l"/>
            <a:r>
              <a:rPr b="1" sz="1050" i="0" u="none">
                <a:solidFill>
                  <a:srgbClr val="5B21B6"/>
                </a:solidFill>
                <a:latin typeface="DM Sans"/>
              </a:rPr>
              <a:t>2. NO PUBLIC AMBUSHES</a:t>
            </a:r>
          </a:p>
        </p:txBody>
      </p:sp>
      <p:sp>
        <p:nvSpPr>
          <p:cNvPr id="12" name="TextBox 11"/>
          <p:cNvSpPr txBox="1"/>
          <p:nvPr/>
        </p:nvSpPr>
        <p:spPr>
          <a:xfrm>
            <a:off x="4575125" y="2871216"/>
            <a:ext cx="3992100" cy="266700"/>
          </a:xfrm>
          <a:prstGeom prst="rect">
            <a:avLst/>
          </a:prstGeom>
          <a:noFill/>
        </p:spPr>
        <p:txBody>
          <a:bodyPr wrap="square" lIns="0" rIns="0" tIns="0" bIns="0" anchor="t">
            <a:spAutoFit/>
          </a:bodyPr>
          <a:lstStyle/>
          <a:p>
            <a:pPr algn="l"/>
            <a:r>
              <a:rPr b="1" sz="1650" i="0" u="none">
                <a:solidFill>
                  <a:srgbClr val="11052C"/>
                </a:solidFill>
                <a:latin typeface="Space Grotesk"/>
              </a:rPr>
              <a:t>Fix the numbers privately</a:t>
            </a:r>
          </a:p>
        </p:txBody>
      </p:sp>
      <p:sp>
        <p:nvSpPr>
          <p:cNvPr id="13" name="TextBox 12"/>
          <p:cNvSpPr txBox="1"/>
          <p:nvPr/>
        </p:nvSpPr>
        <p:spPr>
          <a:xfrm>
            <a:off x="4575125" y="3209544"/>
            <a:ext cx="3136850" cy="1828800"/>
          </a:xfrm>
          <a:prstGeom prst="rect">
            <a:avLst/>
          </a:prstGeom>
          <a:noFill/>
        </p:spPr>
        <p:txBody>
          <a:bodyPr wrap="square" lIns="0" rIns="0" tIns="0" bIns="0" anchor="t">
            <a:spAutoFit/>
          </a:bodyPr>
          <a:lstStyle/>
          <a:p>
            <a:pPr algn="l"/>
            <a:r>
              <a:rPr b="1" sz="1350" i="0" u="none">
                <a:solidFill>
                  <a:srgbClr val="3B2A54"/>
                </a:solidFill>
                <a:latin typeface="DM Sans"/>
              </a:rPr>
              <a:t>The rule: </a:t>
            </a:r>
            <a:r>
              <a:rPr b="0" sz="1350" i="0" u="none">
                <a:solidFill>
                  <a:srgbClr val="3B2A54"/>
                </a:solidFill>
                <a:latin typeface="DM Sans"/>
              </a:rPr>
              <a:t>model gaps are closed one-to-one before anything reaches the CFO or the Board. Credibility with senior people comes from never surprising them in a room.</a:t>
            </a:r>
          </a:p>
          <a:p>
            <a:pPr algn="l"/>
            <a:r>
              <a:rPr b="1" sz="1350" i="0" u="none">
                <a:solidFill>
                  <a:srgbClr val="3B2A54"/>
                </a:solidFill>
                <a:latin typeface="DM Sans"/>
              </a:rPr>
              <a:t>In practice: </a:t>
            </a:r>
            <a:r>
              <a:rPr b="0" sz="1350" i="0" u="none">
                <a:solidFill>
                  <a:srgbClr val="3B2A54"/>
                </a:solidFill>
                <a:latin typeface="DM Sans"/>
              </a:rPr>
              <a:t>the bi-weekly GM one-to-ones and the T-16 lock exist for this.</a:t>
            </a:r>
          </a:p>
        </p:txBody>
      </p:sp>
      <p:sp>
        <p:nvSpPr>
          <p:cNvPr id="14" name="TextBox 13"/>
          <p:cNvSpPr txBox="1"/>
          <p:nvPr/>
        </p:nvSpPr>
        <p:spPr>
          <a:xfrm>
            <a:off x="8302525" y="2620267"/>
            <a:ext cx="3802000" cy="171450"/>
          </a:xfrm>
          <a:prstGeom prst="rect">
            <a:avLst/>
          </a:prstGeom>
          <a:noFill/>
        </p:spPr>
        <p:txBody>
          <a:bodyPr wrap="none" lIns="0" rIns="0" tIns="0" bIns="0" anchor="t">
            <a:spAutoFit/>
          </a:bodyPr>
          <a:lstStyle/>
          <a:p>
            <a:pPr algn="l"/>
            <a:r>
              <a:rPr b="1" sz="1050" i="0" u="none">
                <a:solidFill>
                  <a:srgbClr val="0D9488"/>
                </a:solidFill>
                <a:latin typeface="DM Sans"/>
              </a:rPr>
              <a:t>3. HANDS-ON RIGOR</a:t>
            </a:r>
          </a:p>
        </p:txBody>
      </p:sp>
      <p:sp>
        <p:nvSpPr>
          <p:cNvPr id="15" name="TextBox 14"/>
          <p:cNvSpPr txBox="1"/>
          <p:nvPr/>
        </p:nvSpPr>
        <p:spPr>
          <a:xfrm>
            <a:off x="8302525" y="2867917"/>
            <a:ext cx="3889474" cy="266700"/>
          </a:xfrm>
          <a:prstGeom prst="rect">
            <a:avLst/>
          </a:prstGeom>
          <a:noFill/>
        </p:spPr>
        <p:txBody>
          <a:bodyPr wrap="square" lIns="0" rIns="0" tIns="0" bIns="0" anchor="t">
            <a:spAutoFit/>
          </a:bodyPr>
          <a:lstStyle/>
          <a:p>
            <a:pPr algn="l"/>
            <a:r>
              <a:rPr b="1" sz="1650" i="0" u="none">
                <a:solidFill>
                  <a:srgbClr val="11052C"/>
                </a:solidFill>
                <a:latin typeface="Space Grotesk"/>
              </a:rPr>
              <a:t>Own the formulas and the clauses</a:t>
            </a:r>
          </a:p>
        </p:txBody>
      </p:sp>
      <p:sp>
        <p:nvSpPr>
          <p:cNvPr id="16" name="TextBox 15"/>
          <p:cNvSpPr txBox="1"/>
          <p:nvPr/>
        </p:nvSpPr>
        <p:spPr>
          <a:xfrm>
            <a:off x="8302525" y="3210817"/>
            <a:ext cx="3136850" cy="1828800"/>
          </a:xfrm>
          <a:prstGeom prst="rect">
            <a:avLst/>
          </a:prstGeom>
          <a:noFill/>
        </p:spPr>
        <p:txBody>
          <a:bodyPr wrap="square" lIns="0" rIns="0" tIns="0" bIns="0" anchor="t">
            <a:spAutoFit/>
          </a:bodyPr>
          <a:lstStyle/>
          <a:p>
            <a:pPr algn="l"/>
            <a:r>
              <a:rPr b="1" sz="1350" i="0" u="none">
                <a:solidFill>
                  <a:srgbClr val="3B2A54"/>
                </a:solidFill>
                <a:latin typeface="DM Sans"/>
              </a:rPr>
              <a:t>The rule: </a:t>
            </a:r>
            <a:r>
              <a:rPr b="0" sz="1350" i="0" u="none">
                <a:solidFill>
                  <a:srgbClr val="3B2A54"/>
                </a:solidFill>
                <a:latin typeface="DM Sans"/>
              </a:rPr>
              <a:t>strategic influence at this level is only trusted when the hands-on FP&amp;A and governance rigor is mine. I build and check the model and read the clauses myself; I do not delegate the parts that can embarrass the CFO.</a:t>
            </a:r>
          </a:p>
          <a:p>
            <a:pPr algn="l"/>
            <a:r>
              <a:rPr b="1" sz="1350" i="0" u="none">
                <a:solidFill>
                  <a:srgbClr val="3B2A54"/>
                </a:solidFill>
                <a:latin typeface="DM Sans"/>
              </a:rPr>
              <a:t>What I would not touch: </a:t>
            </a:r>
            <a:r>
              <a:rPr b="0" sz="1350" i="0" u="none">
                <a:solidFill>
                  <a:srgbClr val="3B2A54"/>
                </a:solidFill>
                <a:latin typeface="DM Sans"/>
              </a:rPr>
              <a:t>local-CFO decision rights in Mexico and Colombia, credit-model governance, and the IR calendar.</a:t>
            </a:r>
          </a:p>
        </p:txBody>
      </p:sp>
      <p:sp>
        <p:nvSpPr>
          <p:cNvPr id="17" name="TextBox 16"/>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DM Sans"/>
              </a:rPr>
              <a:t>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graphicFrame>
        <p:nvGraphicFramePr>
          <p:cNvPr id="22" name="Table 21"/>
          <p:cNvGraphicFramePr>
            <a:graphicFrameLocks noGrp="1"/>
          </p:cNvGraphicFramePr>
          <p:nvPr/>
        </p:nvGraphicFramePr>
        <p:xfrm>
          <a:off x="609600" y="1463040"/>
          <a:ext cx="10972799" cy="4562475"/>
        </p:xfrm>
        <a:graphic>
          <a:graphicData uri="http://schemas.openxmlformats.org/drawingml/2006/table">
            <a:tbl>
              <a:tblPr firstRow="0" bandRow="0">
                <a:lnL>
                  <a:noFill/>
                </a:lnL>
                <a:lnR>
                  <a:noFill/>
                </a:lnR>
                <a:lnT>
                  <a:noFill/>
                </a:lnT>
                <a:lnB>
                  <a:noFill/>
                </a:lnB>
                <a:lnV>
                  <a:noFill/>
                </a:lnV>
                <a:lnH>
                  <a:noFill/>
                </a:lnH>
              </a:tblPr>
              <a:tblGrid>
                <a:gridCol w="1743075"/>
                <a:gridCol w="1202382"/>
                <a:gridCol w="4180284"/>
                <a:gridCol w="3847058"/>
              </a:tblGrid>
              <a:tr h="912495">
                <a:tc>
                  <a:txBody>
                    <a:bodyPr/>
                    <a:lstStyle/>
                    <a:p>
                      <a:pPr algn="l"/>
                      <a:r>
                        <a:rPr b="1" sz="1350" i="0" u="none">
                          <a:solidFill>
                            <a:srgbClr val="FFFFFF"/>
                          </a:solidFill>
                          <a:latin typeface="Space Grotesk"/>
                        </a:rPr>
                        <a:t>Operating Rhythm</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Space Grotesk"/>
                        </a:rPr>
                        <a:t>Cadence</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Space Grotesk"/>
                        </a:rPr>
                        <a:t>What happens</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Space Grotesk"/>
                        </a:rPr>
                        <a:t>Owner and output</a:t>
                      </a:r>
                    </a:p>
                  </a:txBody>
                  <a:tcPr anchor="ctr" marL="63500" marR="63500" marT="25400" marB="25400">
                    <a:lnL>
                      <a:noFill/>
                    </a:lnL>
                    <a:lnR>
                      <a:noFill/>
                    </a:lnR>
                    <a:lnT>
                      <a:noFill/>
                    </a:lnT>
                    <a:lnB>
                      <a:noFill/>
                    </a:lnB>
                    <a:solidFill>
                      <a:srgbClr val="820AD1"/>
                    </a:solidFill>
                  </a:tcPr>
                </a:tc>
              </a:tr>
              <a:tr h="912495">
                <a:tc>
                  <a:txBody>
                    <a:bodyPr/>
                    <a:lstStyle/>
                    <a:p>
                      <a:pPr algn="l"/>
                      <a:r>
                        <a:rPr b="1" sz="1350" i="0" u="none">
                          <a:solidFill>
                            <a:srgbClr val="11052C"/>
                          </a:solidFill>
                          <a:latin typeface="DM Sans"/>
                        </a:rPr>
                        <a:t>1. Embedded Squad Clinics</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DM Sans"/>
                        </a:rPr>
                        <a:t>Weekly</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DM Sans"/>
                        </a:rPr>
                        <a:t>Finance partners join the country and vertical stand-ups and model unit economics with the GMs before anything reaches formal review.</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DM Sans"/>
                        </a:rPr>
                        <a:t>Finance partner. Output: a business case in the standard template, co-signed by the GM.</a:t>
                      </a:r>
                    </a:p>
                  </a:txBody>
                  <a:tcPr anchor="ctr" marL="63500" marR="63500" marT="25400" marB="25400">
                    <a:lnL>
                      <a:noFill/>
                    </a:lnL>
                    <a:lnR>
                      <a:noFill/>
                    </a:lnR>
                    <a:lnT>
                      <a:noFill/>
                    </a:lnT>
                    <a:lnB>
                      <a:noFill/>
                    </a:lnB>
                    <a:solidFill>
                      <a:srgbClr val="FFFFFF"/>
                    </a:solidFill>
                  </a:tcPr>
                </a:tc>
              </a:tr>
              <a:tr h="912495">
                <a:tc>
                  <a:txBody>
                    <a:bodyPr/>
                    <a:lstStyle/>
                    <a:p>
                      <a:pPr algn="l"/>
                      <a:r>
                        <a:rPr b="1" sz="1350" i="0" u="none">
                          <a:solidFill>
                            <a:srgbClr val="11052C"/>
                          </a:solidFill>
                          <a:latin typeface="DM Sans"/>
                        </a:rPr>
                        <a:t>2. Bilateral Pre-Alignment</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DM Sans"/>
                        </a:rPr>
                        <a:t>Bi-Weekly</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DM Sans"/>
                        </a:rPr>
                        <a:t>I meet each GM privately to stress-test assumptions and design the staged option before it is seen by the CFO.</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DM Sans"/>
                        </a:rPr>
                        <a:t>Me. Output: no surprises at the T-16 lock; every ask has a conditional-yes path.</a:t>
                      </a:r>
                    </a:p>
                  </a:txBody>
                  <a:tcPr anchor="ctr" marL="63500" marR="63500" marT="25400" marB="25400">
                    <a:lnL>
                      <a:noFill/>
                    </a:lnL>
                    <a:lnR>
                      <a:noFill/>
                    </a:lnR>
                    <a:lnT>
                      <a:noFill/>
                    </a:lnT>
                    <a:lnB>
                      <a:noFill/>
                    </a:lnB>
                    <a:solidFill>
                      <a:srgbClr val="FFFFFF"/>
                    </a:solidFill>
                  </a:tcPr>
                </a:tc>
              </a:tr>
              <a:tr h="912495">
                <a:tc>
                  <a:txBody>
                    <a:bodyPr/>
                    <a:lstStyle/>
                    <a:p>
                      <a:pPr algn="l"/>
                      <a:r>
                        <a:rPr b="1" sz="1350" i="0" u="none">
                          <a:solidFill>
                            <a:srgbClr val="11052C"/>
                          </a:solidFill>
                          <a:latin typeface="DM Sans"/>
                        </a:rPr>
                        <a:t>3. Cross-Vertical HQ Pod</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DM Sans"/>
                        </a:rPr>
                        <a:t>Weekly (45m)</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DM Sans"/>
                        </a:rPr>
                        <a:t>Legal, Tax, Workplace and People leads around one decision log with 48-hour escalation to the CFO.</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DM Sans"/>
                        </a:rPr>
                        <a:t>Me (chair). Output: the gate pack for the next HQ gate, with owner and exit test.</a:t>
                      </a:r>
                    </a:p>
                  </a:txBody>
                  <a:tcPr anchor="ctr" marL="63500" marR="63500" marT="25400" marB="25400">
                    <a:lnL>
                      <a:noFill/>
                    </a:lnL>
                    <a:lnR>
                      <a:noFill/>
                    </a:lnR>
                    <a:lnT>
                      <a:noFill/>
                    </a:lnT>
                    <a:lnB>
                      <a:noFill/>
                    </a:lnB>
                    <a:solidFill>
                      <a:srgbClr val="FFFFFF"/>
                    </a:solidFill>
                  </a:tcPr>
                </a:tc>
              </a:tr>
              <a:tr h="912495">
                <a:tc>
                  <a:txBody>
                    <a:bodyPr/>
                    <a:lstStyle/>
                    <a:p>
                      <a:pPr algn="l"/>
                      <a:r>
                        <a:rPr b="1" sz="1350" i="0" u="none">
                          <a:solidFill>
                            <a:srgbClr val="11052C"/>
                          </a:solidFill>
                          <a:latin typeface="DM Sans"/>
                        </a:rPr>
                        <a:t>4. Quarterly Tranche Release</a:t>
                      </a:r>
                    </a:p>
                  </a:txBody>
                  <a:tcPr anchor="ctr" marL="63500" marR="63500" marT="25400" marB="25400">
                    <a:lnL>
                      <a:noFill/>
                    </a:lnL>
                    <a:lnR>
                      <a:noFill/>
                    </a:lnR>
                    <a:lnT>
                      <a:noFill/>
                    </a:lnT>
                    <a:lnB>
                      <a:noFill/>
                    </a:lnB>
                    <a:solidFill>
                      <a:srgbClr val="F3E8FF"/>
                    </a:solidFill>
                  </a:tcPr>
                </a:tc>
                <a:tc>
                  <a:txBody>
                    <a:bodyPr/>
                    <a:lstStyle/>
                    <a:p>
                      <a:pPr algn="l"/>
                      <a:r>
                        <a:rPr b="0" sz="1350" i="0" u="none">
                          <a:solidFill>
                            <a:srgbClr val="11052C"/>
                          </a:solidFill>
                          <a:latin typeface="DM Sans"/>
                        </a:rPr>
                        <a:t>Quarterly</a:t>
                      </a:r>
                    </a:p>
                  </a:txBody>
                  <a:tcPr anchor="ctr" marL="63500" marR="63500" marT="25400" marB="25400">
                    <a:lnL>
                      <a:noFill/>
                    </a:lnL>
                    <a:lnR>
                      <a:noFill/>
                    </a:lnR>
                    <a:lnT>
                      <a:noFill/>
                    </a:lnT>
                    <a:lnB>
                      <a:noFill/>
                    </a:lnB>
                    <a:solidFill>
                      <a:srgbClr val="F3E8FF"/>
                    </a:solidFill>
                  </a:tcPr>
                </a:tc>
                <a:tc>
                  <a:txBody>
                    <a:bodyPr/>
                    <a:lstStyle/>
                    <a:p>
                      <a:pPr algn="l"/>
                      <a:r>
                        <a:rPr b="0" sz="1350" i="0" u="none">
                          <a:solidFill>
                            <a:srgbClr val="11052C"/>
                          </a:solidFill>
                          <a:latin typeface="DM Sans"/>
                        </a:rPr>
                        <a:t>Read the four indicators per unit against plan and release or hold the next stage.</a:t>
                      </a:r>
                    </a:p>
                  </a:txBody>
                  <a:tcPr anchor="ctr" marL="63500" marR="63500" marT="25400" marB="25400">
                    <a:lnL>
                      <a:noFill/>
                    </a:lnL>
                    <a:lnR>
                      <a:noFill/>
                    </a:lnR>
                    <a:lnT>
                      <a:noFill/>
                    </a:lnT>
                    <a:lnB>
                      <a:noFill/>
                    </a:lnB>
                    <a:solidFill>
                      <a:srgbClr val="F3E8FF"/>
                    </a:solidFill>
                  </a:tcPr>
                </a:tc>
                <a:tc>
                  <a:txBody>
                    <a:bodyPr/>
                    <a:lstStyle/>
                    <a:p>
                      <a:pPr algn="l"/>
                      <a:r>
                        <a:rPr b="0" sz="1350" i="0" u="none">
                          <a:solidFill>
                            <a:srgbClr val="11052C"/>
                          </a:solidFill>
                          <a:latin typeface="DM Sans"/>
                        </a:rPr>
                        <a:t>CFO decides on my recommendation. Output: release memo, published to the GMs the same day.</a:t>
                      </a:r>
                    </a:p>
                  </a:txBody>
                  <a:tcPr anchor="ctr" marL="63500" marR="63500" marT="25400" marB="25400">
                    <a:lnL>
                      <a:noFill/>
                    </a:lnL>
                    <a:lnR>
                      <a:noFill/>
                    </a:lnR>
                    <a:lnT>
                      <a:noFill/>
                    </a:lnT>
                    <a:lnB>
                      <a:noFill/>
                    </a:lnB>
                    <a:solidFill>
                      <a:srgbClr val="F3E8FF"/>
                    </a:solidFill>
                  </a:tcPr>
                </a:tc>
              </a:tr>
            </a:tbl>
          </a:graphicData>
        </a:graphic>
      </p:graphicFrame>
      <p:sp>
        <p:nvSpPr>
          <p:cNvPr id="23" name="TextBox 22"/>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DM Sans"/>
              </a:rPr>
              <a:t>08 // DELIVERABLE 1: THE CADENCE</a:t>
            </a:r>
          </a:p>
        </p:txBody>
      </p:sp>
      <p:sp>
        <p:nvSpPr>
          <p:cNvPr id="24" name="TextBox 23"/>
          <p:cNvSpPr txBox="1"/>
          <p:nvPr/>
        </p:nvSpPr>
        <p:spPr>
          <a:xfrm>
            <a:off x="609600" y="704850"/>
            <a:ext cx="11582400" cy="372367"/>
          </a:xfrm>
          <a:prstGeom prst="rect">
            <a:avLst/>
          </a:prstGeom>
          <a:noFill/>
        </p:spPr>
        <p:txBody>
          <a:bodyPr wrap="square" lIns="0" rIns="0" tIns="0" bIns="0" anchor="t">
            <a:spAutoFit/>
          </a:bodyPr>
          <a:lstStyle/>
          <a:p>
            <a:pPr algn="l">
              <a:lnSpc>
                <a:spcPts val="2932"/>
              </a:lnSpc>
            </a:pPr>
            <a:r>
              <a:rPr b="1" sz="2550" i="0" u="none">
                <a:solidFill>
                  <a:srgbClr val="11052C"/>
                </a:solidFill>
                <a:latin typeface="Space Grotesk"/>
              </a:rPr>
              <a:t>Four meetings, each with an owner and an output; nothing else is added</a:t>
            </a:r>
          </a:p>
        </p:txBody>
      </p:sp>
      <p:sp>
        <p:nvSpPr>
          <p:cNvPr id="25" name="TextBox 24"/>
          <p:cNvSpPr txBox="1"/>
          <p:nvPr/>
        </p:nvSpPr>
        <p:spPr>
          <a:xfrm>
            <a:off x="609600" y="6355080"/>
            <a:ext cx="11068050" cy="342900"/>
          </a:xfrm>
          <a:prstGeom prst="rect">
            <a:avLst/>
          </a:prstGeom>
          <a:noFill/>
        </p:spPr>
        <p:txBody>
          <a:bodyPr wrap="square" lIns="0" rIns="0" tIns="0" bIns="0" anchor="t">
            <a:spAutoFit/>
          </a:bodyPr>
          <a:lstStyle/>
          <a:p>
            <a:pPr algn="l"/>
            <a:r>
              <a:rPr b="0" sz="1050" i="0" u="none">
                <a:solidFill>
                  <a:srgbClr val="6B5B82"/>
                </a:solidFill>
                <a:latin typeface="DM Sans"/>
              </a:rPr>
              <a:t>Decision roles follow a RAPID-style split: finance partners recommend, GMs provide input, I agree the pack, the CFO decides, the hub performs.</a:t>
            </a:r>
          </a:p>
        </p:txBody>
      </p:sp>
      <p:sp>
        <p:nvSpPr>
          <p:cNvPr id="26" name="TextBox 25"/>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DM Sans"/>
              </a:rPr>
              <a:t>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Rounded Rectangle 1"/>
          <p:cNvSpPr/>
          <p:nvPr/>
        </p:nvSpPr>
        <p:spPr>
          <a:xfrm>
            <a:off x="609600" y="4715767"/>
            <a:ext cx="10972800" cy="1028700"/>
          </a:xfrm>
          <a:prstGeom prst="roundRect">
            <a:avLst>
              <a:gd name="adj" fmla="val 9259"/>
            </a:avLst>
          </a:prstGeom>
          <a:solidFill>
            <a:srgbClr val="190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1915417"/>
            <a:ext cx="2614612" cy="2609850"/>
          </a:xfrm>
          <a:prstGeom prst="roundRect">
            <a:avLst>
              <a:gd name="adj" fmla="val 3649"/>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395662" y="1915417"/>
            <a:ext cx="2614612" cy="2609850"/>
          </a:xfrm>
          <a:prstGeom prst="roundRect">
            <a:avLst>
              <a:gd name="adj" fmla="val 3649"/>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181725" y="1915417"/>
            <a:ext cx="2614612" cy="2609850"/>
          </a:xfrm>
          <a:prstGeom prst="roundRect">
            <a:avLst>
              <a:gd name="adj" fmla="val 3649"/>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967787" y="1915417"/>
            <a:ext cx="2614612" cy="2609850"/>
          </a:xfrm>
          <a:prstGeom prst="roundRect">
            <a:avLst>
              <a:gd name="adj" fmla="val 4032"/>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DM Sans"/>
              </a:rPr>
              <a:t>13 // DELIVERABLE 2: WHEN A SENIOR GM PUSHES BACK</a:t>
            </a:r>
          </a:p>
        </p:txBody>
      </p:sp>
      <p:sp>
        <p:nvSpPr>
          <p:cNvPr id="8" name="TextBox 7"/>
          <p:cNvSpPr txBox="1"/>
          <p:nvPr/>
        </p:nvSpPr>
        <p:spPr>
          <a:xfrm>
            <a:off x="609600" y="704850"/>
            <a:ext cx="115824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Space Grotesk"/>
              </a:rPr>
              <a:t>When a senior GM pushes back: validate the goal privately, move to criteria, offer a conditional yes, co-present the result</a:t>
            </a:r>
          </a:p>
        </p:txBody>
      </p:sp>
      <p:sp>
        <p:nvSpPr>
          <p:cNvPr id="9" name="TextBox 8"/>
          <p:cNvSpPr txBox="1"/>
          <p:nvPr/>
        </p:nvSpPr>
        <p:spPr>
          <a:xfrm>
            <a:off x="609600" y="6057900"/>
            <a:ext cx="11068050" cy="342900"/>
          </a:xfrm>
          <a:prstGeom prst="rect">
            <a:avLst/>
          </a:prstGeom>
          <a:noFill/>
        </p:spPr>
        <p:txBody>
          <a:bodyPr wrap="square" lIns="0" rIns="0" tIns="0" bIns="0" anchor="t">
            <a:spAutoFit/>
          </a:bodyPr>
          <a:lstStyle/>
          <a:p>
            <a:pPr algn="l"/>
            <a:r>
              <a:rPr b="0" sz="1050" i="0" u="none">
                <a:solidFill>
                  <a:srgbClr val="6B5B82"/>
                </a:solidFill>
                <a:latin typeface="DM Sans"/>
              </a:rPr>
              <a:t>Source: Kim and Mauborgne, 'Fair Process: Managing in the Knowledge Economy', Harvard Business Review. Everything else on this slide is practice, not research.</a:t>
            </a:r>
          </a:p>
        </p:txBody>
      </p:sp>
      <p:sp>
        <p:nvSpPr>
          <p:cNvPr id="10" name="TextBox 9"/>
          <p:cNvSpPr txBox="1"/>
          <p:nvPr/>
        </p:nvSpPr>
        <p:spPr>
          <a:xfrm>
            <a:off x="857250" y="4887217"/>
            <a:ext cx="10572750" cy="685800"/>
          </a:xfrm>
          <a:prstGeom prst="rect">
            <a:avLst/>
          </a:prstGeom>
          <a:noFill/>
        </p:spPr>
        <p:txBody>
          <a:bodyPr wrap="square" lIns="0" rIns="0" tIns="0" bIns="0" anchor="t">
            <a:spAutoFit/>
          </a:bodyPr>
          <a:lstStyle/>
          <a:p>
            <a:pPr algn="l"/>
            <a:r>
              <a:rPr b="1" sz="1350" i="0" u="none">
                <a:solidFill>
                  <a:srgbClr val="FFFFFF"/>
                </a:solidFill>
                <a:latin typeface="DM Sans"/>
              </a:rPr>
              <a:t>Why this works without line authority: </a:t>
            </a:r>
            <a:r>
              <a:rPr b="0" sz="1350" i="0" u="none">
                <a:solidFill>
                  <a:srgbClr val="FFFFFF"/>
                </a:solidFill>
                <a:latin typeface="DM Sans"/>
              </a:rPr>
              <a:t>fair process (early engagement, a clear explanation, published expectations) is what makes senior people accept an outcome they argued against. The rule is public on day one; the conversation is private; the sign-off is joint.</a:t>
            </a:r>
          </a:p>
        </p:txBody>
      </p:sp>
      <p:sp>
        <p:nvSpPr>
          <p:cNvPr id="11" name="TextBox 10"/>
          <p:cNvSpPr txBox="1"/>
          <p:nvPr/>
        </p:nvSpPr>
        <p:spPr>
          <a:xfrm>
            <a:off x="828675" y="2134492"/>
            <a:ext cx="2720578" cy="171450"/>
          </a:xfrm>
          <a:prstGeom prst="rect">
            <a:avLst/>
          </a:prstGeom>
          <a:noFill/>
        </p:spPr>
        <p:txBody>
          <a:bodyPr wrap="none" lIns="0" rIns="0" tIns="0" bIns="0" anchor="t">
            <a:spAutoFit/>
          </a:bodyPr>
          <a:lstStyle/>
          <a:p>
            <a:pPr algn="l"/>
            <a:r>
              <a:rPr b="1" sz="1050" i="0" u="none">
                <a:solidFill>
                  <a:srgbClr val="820AD1"/>
                </a:solidFill>
                <a:latin typeface="DM Sans"/>
              </a:rPr>
              <a:t>STEP 1 // DE-ESCALATE</a:t>
            </a:r>
          </a:p>
        </p:txBody>
      </p:sp>
      <p:sp>
        <p:nvSpPr>
          <p:cNvPr id="12" name="TextBox 11"/>
          <p:cNvSpPr txBox="1"/>
          <p:nvPr/>
        </p:nvSpPr>
        <p:spPr>
          <a:xfrm>
            <a:off x="828675" y="2363092"/>
            <a:ext cx="2385298" cy="495300"/>
          </a:xfrm>
          <a:prstGeom prst="rect">
            <a:avLst/>
          </a:prstGeom>
          <a:noFill/>
        </p:spPr>
        <p:txBody>
          <a:bodyPr wrap="square" lIns="0" rIns="0" tIns="0" bIns="0" anchor="t">
            <a:spAutoFit/>
          </a:bodyPr>
          <a:lstStyle/>
          <a:p>
            <a:pPr algn="l"/>
            <a:r>
              <a:rPr b="1" sz="1500" i="0" u="none">
                <a:solidFill>
                  <a:srgbClr val="11052C"/>
                </a:solidFill>
                <a:latin typeface="Space Grotesk"/>
              </a:rPr>
              <a:t>Separate the person from the numbers</a:t>
            </a:r>
          </a:p>
        </p:txBody>
      </p:sp>
      <p:sp>
        <p:nvSpPr>
          <p:cNvPr id="13" name="TextBox 12"/>
          <p:cNvSpPr txBox="1"/>
          <p:nvPr/>
        </p:nvSpPr>
        <p:spPr>
          <a:xfrm>
            <a:off x="828675" y="2934592"/>
            <a:ext cx="2271712" cy="1371600"/>
          </a:xfrm>
          <a:prstGeom prst="rect">
            <a:avLst/>
          </a:prstGeom>
          <a:noFill/>
        </p:spPr>
        <p:txBody>
          <a:bodyPr wrap="square" lIns="0" rIns="0" tIns="0" bIns="0" anchor="t">
            <a:spAutoFit/>
          </a:bodyPr>
          <a:lstStyle/>
          <a:p>
            <a:pPr algn="l"/>
            <a:r>
              <a:rPr b="0" sz="1350" i="0" u="none">
                <a:solidFill>
                  <a:srgbClr val="3B2A54"/>
                </a:solidFill>
                <a:latin typeface="DM Sans"/>
              </a:rPr>
              <a:t>I meet the GM privately first and confirm the strategic goal before any budget line is discussed. Nobody is corrected in front of the CFO.</a:t>
            </a:r>
          </a:p>
        </p:txBody>
      </p:sp>
      <p:sp>
        <p:nvSpPr>
          <p:cNvPr id="14" name="TextBox 13"/>
          <p:cNvSpPr txBox="1"/>
          <p:nvPr/>
        </p:nvSpPr>
        <p:spPr>
          <a:xfrm>
            <a:off x="3614737" y="2134492"/>
            <a:ext cx="2720578" cy="171450"/>
          </a:xfrm>
          <a:prstGeom prst="rect">
            <a:avLst/>
          </a:prstGeom>
          <a:noFill/>
        </p:spPr>
        <p:txBody>
          <a:bodyPr wrap="none" lIns="0" rIns="0" tIns="0" bIns="0" anchor="t">
            <a:spAutoFit/>
          </a:bodyPr>
          <a:lstStyle/>
          <a:p>
            <a:pPr algn="l"/>
            <a:r>
              <a:rPr b="1" sz="1050" i="0" u="none">
                <a:solidFill>
                  <a:srgbClr val="5B21B6"/>
                </a:solidFill>
                <a:latin typeface="DM Sans"/>
              </a:rPr>
              <a:t>STEP 2 // REFRAME</a:t>
            </a:r>
          </a:p>
        </p:txBody>
      </p:sp>
      <p:sp>
        <p:nvSpPr>
          <p:cNvPr id="15" name="TextBox 14"/>
          <p:cNvSpPr txBox="1"/>
          <p:nvPr/>
        </p:nvSpPr>
        <p:spPr>
          <a:xfrm>
            <a:off x="3614737" y="2363092"/>
            <a:ext cx="2385298" cy="495300"/>
          </a:xfrm>
          <a:prstGeom prst="rect">
            <a:avLst/>
          </a:prstGeom>
          <a:noFill/>
        </p:spPr>
        <p:txBody>
          <a:bodyPr wrap="square" lIns="0" rIns="0" tIns="0" bIns="0" anchor="t">
            <a:spAutoFit/>
          </a:bodyPr>
          <a:lstStyle/>
          <a:p>
            <a:pPr algn="l"/>
            <a:r>
              <a:rPr b="1" sz="1500" i="0" u="none">
                <a:solidFill>
                  <a:srgbClr val="11052C"/>
                </a:solidFill>
                <a:latin typeface="Space Grotesk"/>
              </a:rPr>
              <a:t>From positions to criteria</a:t>
            </a:r>
          </a:p>
        </p:txBody>
      </p:sp>
      <p:sp>
        <p:nvSpPr>
          <p:cNvPr id="16" name="TextBox 15"/>
          <p:cNvSpPr txBox="1"/>
          <p:nvPr/>
        </p:nvSpPr>
        <p:spPr>
          <a:xfrm>
            <a:off x="3614737" y="2934592"/>
            <a:ext cx="2271712" cy="1371600"/>
          </a:xfrm>
          <a:prstGeom prst="rect">
            <a:avLst/>
          </a:prstGeom>
          <a:noFill/>
        </p:spPr>
        <p:txBody>
          <a:bodyPr wrap="square" lIns="0" rIns="0" tIns="0" bIns="0" anchor="t">
            <a:spAutoFit/>
          </a:bodyPr>
          <a:lstStyle/>
          <a:p>
            <a:pPr algn="l"/>
            <a:r>
              <a:rPr b="0" sz="1350" i="0" u="none">
                <a:solidFill>
                  <a:srgbClr val="3B2A54"/>
                </a:solidFill>
                <a:latin typeface="DM Sans"/>
              </a:rPr>
              <a:t>Move from 'I need $25M' to 'which indicators would prove this works?' The published rule does the arguing, not me.</a:t>
            </a:r>
          </a:p>
        </p:txBody>
      </p:sp>
      <p:sp>
        <p:nvSpPr>
          <p:cNvPr id="17" name="TextBox 16"/>
          <p:cNvSpPr txBox="1"/>
          <p:nvPr/>
        </p:nvSpPr>
        <p:spPr>
          <a:xfrm>
            <a:off x="6400800" y="2134492"/>
            <a:ext cx="2720578" cy="171450"/>
          </a:xfrm>
          <a:prstGeom prst="rect">
            <a:avLst/>
          </a:prstGeom>
          <a:noFill/>
        </p:spPr>
        <p:txBody>
          <a:bodyPr wrap="none" lIns="0" rIns="0" tIns="0" bIns="0" anchor="t">
            <a:spAutoFit/>
          </a:bodyPr>
          <a:lstStyle/>
          <a:p>
            <a:pPr algn="l"/>
            <a:r>
              <a:rPr b="1" sz="1050" i="0" u="none">
                <a:solidFill>
                  <a:srgbClr val="D97706"/>
                </a:solidFill>
                <a:latin typeface="DM Sans"/>
              </a:rPr>
              <a:t>STEP 3 // CO-DESIGN</a:t>
            </a:r>
          </a:p>
        </p:txBody>
      </p:sp>
      <p:sp>
        <p:nvSpPr>
          <p:cNvPr id="18" name="TextBox 17"/>
          <p:cNvSpPr txBox="1"/>
          <p:nvPr/>
        </p:nvSpPr>
        <p:spPr>
          <a:xfrm>
            <a:off x="6400800" y="2363092"/>
            <a:ext cx="2385298" cy="495300"/>
          </a:xfrm>
          <a:prstGeom prst="rect">
            <a:avLst/>
          </a:prstGeom>
          <a:noFill/>
        </p:spPr>
        <p:txBody>
          <a:bodyPr wrap="square" lIns="0" rIns="0" tIns="0" bIns="0" anchor="t">
            <a:spAutoFit/>
          </a:bodyPr>
          <a:lstStyle/>
          <a:p>
            <a:pPr algn="l"/>
            <a:r>
              <a:rPr b="1" sz="1500" i="0" u="none">
                <a:solidFill>
                  <a:srgbClr val="11052C"/>
                </a:solidFill>
                <a:latin typeface="Space Grotesk"/>
              </a:rPr>
              <a:t>Offer a conditional yes</a:t>
            </a:r>
          </a:p>
        </p:txBody>
      </p:sp>
      <p:sp>
        <p:nvSpPr>
          <p:cNvPr id="19" name="TextBox 18"/>
          <p:cNvSpPr txBox="1"/>
          <p:nvPr/>
        </p:nvSpPr>
        <p:spPr>
          <a:xfrm>
            <a:off x="6400800" y="2934592"/>
            <a:ext cx="2271712" cy="1371600"/>
          </a:xfrm>
          <a:prstGeom prst="rect">
            <a:avLst/>
          </a:prstGeom>
          <a:noFill/>
        </p:spPr>
        <p:txBody>
          <a:bodyPr wrap="square" lIns="0" rIns="0" tIns="0" bIns="0" anchor="t">
            <a:spAutoFit/>
          </a:bodyPr>
          <a:lstStyle/>
          <a:p>
            <a:pPr algn="l"/>
            <a:r>
              <a:rPr b="0" sz="1350" i="0" u="none">
                <a:solidFill>
                  <a:srgbClr val="3B2A54"/>
                </a:solidFill>
                <a:latin typeface="DM Sans"/>
              </a:rPr>
              <a:t>Replace a flat no with a staged yes: the $4.5M Q1 start today and a reserved claim on gate 2 once the indicators hold.</a:t>
            </a:r>
          </a:p>
        </p:txBody>
      </p:sp>
      <p:sp>
        <p:nvSpPr>
          <p:cNvPr id="20" name="TextBox 19"/>
          <p:cNvSpPr txBox="1"/>
          <p:nvPr/>
        </p:nvSpPr>
        <p:spPr>
          <a:xfrm>
            <a:off x="9186862" y="2130552"/>
            <a:ext cx="2720578" cy="171450"/>
          </a:xfrm>
          <a:prstGeom prst="rect">
            <a:avLst/>
          </a:prstGeom>
          <a:noFill/>
        </p:spPr>
        <p:txBody>
          <a:bodyPr wrap="none" lIns="0" rIns="0" tIns="0" bIns="0" anchor="t">
            <a:spAutoFit/>
          </a:bodyPr>
          <a:lstStyle/>
          <a:p>
            <a:pPr algn="l"/>
            <a:r>
              <a:rPr b="1" sz="1050" i="0" u="none">
                <a:solidFill>
                  <a:srgbClr val="0D9488"/>
                </a:solidFill>
                <a:latin typeface="DM Sans"/>
              </a:rPr>
              <a:t>STEP 4 // INSTITUTIONALIZE</a:t>
            </a:r>
          </a:p>
        </p:txBody>
      </p:sp>
      <p:sp>
        <p:nvSpPr>
          <p:cNvPr id="21" name="TextBox 20"/>
          <p:cNvSpPr txBox="1"/>
          <p:nvPr/>
        </p:nvSpPr>
        <p:spPr>
          <a:xfrm>
            <a:off x="9186862" y="2359152"/>
            <a:ext cx="2386584" cy="493776"/>
          </a:xfrm>
          <a:prstGeom prst="rect">
            <a:avLst/>
          </a:prstGeom>
          <a:noFill/>
        </p:spPr>
        <p:txBody>
          <a:bodyPr wrap="square" lIns="0" rIns="0" tIns="0" bIns="0" anchor="t">
            <a:spAutoFit/>
          </a:bodyPr>
          <a:lstStyle/>
          <a:p>
            <a:pPr algn="l"/>
            <a:r>
              <a:rPr b="1" sz="1500" i="0" u="none">
                <a:solidFill>
                  <a:srgbClr val="11052C"/>
                </a:solidFill>
                <a:latin typeface="Space Grotesk"/>
              </a:rPr>
              <a:t>Co-present at the lock</a:t>
            </a:r>
          </a:p>
        </p:txBody>
      </p:sp>
      <p:sp>
        <p:nvSpPr>
          <p:cNvPr id="22" name="TextBox 21"/>
          <p:cNvSpPr txBox="1"/>
          <p:nvPr/>
        </p:nvSpPr>
        <p:spPr>
          <a:xfrm>
            <a:off x="9186862" y="2935224"/>
            <a:ext cx="2271712" cy="1371600"/>
          </a:xfrm>
          <a:prstGeom prst="rect">
            <a:avLst/>
          </a:prstGeom>
          <a:noFill/>
        </p:spPr>
        <p:txBody>
          <a:bodyPr wrap="square" lIns="0" rIns="0" tIns="0" bIns="0" anchor="t">
            <a:spAutoFit/>
          </a:bodyPr>
          <a:lstStyle/>
          <a:p>
            <a:pPr algn="l"/>
            <a:r>
              <a:rPr b="0" sz="1350" i="0" u="none">
                <a:solidFill>
                  <a:srgbClr val="3B2A54"/>
                </a:solidFill>
                <a:latin typeface="DM Sans"/>
              </a:rPr>
              <a:t>The GM and I present the staged plan together at the T-16 lock. There is no back channel to the CEO because there is nothing left to appeal.</a:t>
            </a:r>
          </a:p>
        </p:txBody>
      </p:sp>
      <p:sp>
        <p:nvSpPr>
          <p:cNvPr id="23" name="TextBox 22"/>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DM Sans"/>
              </a:rPr>
              <a:t>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graphicFrame>
        <p:nvGraphicFramePr>
          <p:cNvPr id="26" name="Table 25"/>
          <p:cNvGraphicFramePr>
            <a:graphicFrameLocks noGrp="1"/>
          </p:cNvGraphicFramePr>
          <p:nvPr/>
        </p:nvGraphicFramePr>
        <p:xfrm>
          <a:off x="609600" y="1554480"/>
          <a:ext cx="10953748" cy="4114800"/>
        </p:xfrm>
        <a:graphic>
          <a:graphicData uri="http://schemas.openxmlformats.org/drawingml/2006/table">
            <a:tbl>
              <a:tblPr firstRow="0" bandRow="0">
                <a:lnL>
                  <a:noFill/>
                </a:lnL>
                <a:lnR>
                  <a:noFill/>
                </a:lnR>
                <a:lnT>
                  <a:noFill/>
                </a:lnT>
                <a:lnB>
                  <a:noFill/>
                </a:lnB>
                <a:lnV>
                  <a:noFill/>
                </a:lnV>
                <a:lnH>
                  <a:noFill/>
                </a:lnH>
              </a:tblPr>
              <a:tblGrid>
                <a:gridCol w="3301900"/>
                <a:gridCol w="2618333"/>
                <a:gridCol w="2391816"/>
                <a:gridCol w="2641699"/>
              </a:tblGrid>
              <a:tr h="457200">
                <a:tc>
                  <a:txBody>
                    <a:bodyPr/>
                    <a:lstStyle/>
                    <a:p>
                      <a:pPr algn="l"/>
                      <a:r>
                        <a:rPr b="1" sz="1350" i="0" u="none">
                          <a:solidFill>
                            <a:srgbClr val="FFFFFF"/>
                          </a:solidFill>
                          <a:latin typeface="Space Grotesk"/>
                        </a:rPr>
                        <a:t>Dimension</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Space Grotesk"/>
                        </a:rPr>
                        <a:t>Downside (market slows)</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Space Grotesk"/>
                        </a:rPr>
                        <a:t>Base plan</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Space Grotesk"/>
                        </a:rPr>
                        <a:t>Upside (H1 beats plan)</a:t>
                      </a:r>
                    </a:p>
                  </a:txBody>
                  <a:tcPr anchor="ctr" marL="63500" marR="63500" marT="25400" marB="25400">
                    <a:lnL>
                      <a:noFill/>
                    </a:lnL>
                    <a:lnR>
                      <a:noFill/>
                    </a:lnR>
                    <a:lnT>
                      <a:noFill/>
                    </a:lnT>
                    <a:lnB>
                      <a:noFill/>
                    </a:lnB>
                    <a:solidFill>
                      <a:srgbClr val="820AD1"/>
                    </a:solidFill>
                  </a:tcPr>
                </a:tc>
              </a:tr>
              <a:tr h="731520">
                <a:tc>
                  <a:txBody>
                    <a:bodyPr/>
                    <a:lstStyle/>
                    <a:p>
                      <a:pPr algn="l"/>
                      <a:r>
                        <a:rPr b="1" sz="1100" i="0" u="none">
                          <a:solidFill>
                            <a:srgbClr val="11052C"/>
                          </a:solidFill>
                          <a:latin typeface="DM Sans"/>
                        </a:rPr>
                        <a:t>1. Funded spend vs the $25M cap</a:t>
                      </a:r>
                    </a:p>
                  </a:txBody>
                  <a:tcPr anchor="ctr" marL="63500" marR="63500" marT="25400" marB="25400">
                    <a:lnL>
                      <a:noFill/>
                    </a:lnL>
                    <a:lnR>
                      <a:noFill/>
                    </a:lnR>
                    <a:lnT>
                      <a:noFill/>
                    </a:lnT>
                    <a:lnB>
                      <a:noFill/>
                    </a:lnB>
                    <a:solidFill>
                      <a:srgbClr val="FFFFFF"/>
                    </a:solidFill>
                  </a:tcPr>
                </a:tc>
                <a:tc>
                  <a:txBody>
                    <a:bodyPr/>
                    <a:lstStyle/>
                    <a:p>
                      <a:pPr algn="l"/>
                      <a:r>
                        <a:rPr b="0" sz="1100" i="0" u="none">
                          <a:solidFill>
                            <a:srgbClr val="11052C"/>
                          </a:solidFill>
                          <a:latin typeface="DM Sans"/>
                        </a:rPr>
                        <a:t>$15.0M (gate 2 held)</a:t>
                      </a:r>
                    </a:p>
                  </a:txBody>
                  <a:tcPr anchor="ctr" marL="63500" marR="63500" marT="25400" marB="25400">
                    <a:lnL>
                      <a:noFill/>
                    </a:lnL>
                    <a:lnR>
                      <a:noFill/>
                    </a:lnR>
                    <a:lnT>
                      <a:noFill/>
                    </a:lnT>
                    <a:lnB>
                      <a:noFill/>
                    </a:lnB>
                    <a:solidFill>
                      <a:srgbClr val="FFFFFF"/>
                    </a:solidFill>
                  </a:tcPr>
                </a:tc>
                <a:tc>
                  <a:txBody>
                    <a:bodyPr/>
                    <a:lstStyle/>
                    <a:p>
                      <a:pPr algn="l"/>
                      <a:r>
                        <a:rPr b="0" sz="1100" i="0" u="none">
                          <a:solidFill>
                            <a:srgbClr val="11052C"/>
                          </a:solidFill>
                          <a:latin typeface="DM Sans"/>
                        </a:rPr>
                        <a:t>$25.0M ($15M gate 1 + $10M gate 2)</a:t>
                      </a:r>
                    </a:p>
                  </a:txBody>
                  <a:tcPr anchor="ctr" marL="63500" marR="63500" marT="25400" marB="25400">
                    <a:lnL>
                      <a:noFill/>
                    </a:lnL>
                    <a:lnR>
                      <a:noFill/>
                    </a:lnR>
                    <a:lnT>
                      <a:noFill/>
                    </a:lnT>
                    <a:lnB>
                      <a:noFill/>
                    </a:lnB>
                    <a:solidFill>
                      <a:srgbClr val="FFFFFF"/>
                    </a:solidFill>
                  </a:tcPr>
                </a:tc>
                <a:tc>
                  <a:txBody>
                    <a:bodyPr/>
                    <a:lstStyle/>
                    <a:p>
                      <a:pPr algn="l"/>
                      <a:r>
                        <a:rPr b="0" sz="1100" i="0" u="none">
                          <a:solidFill>
                            <a:srgbClr val="11052C"/>
                          </a:solidFill>
                          <a:latin typeface="DM Sans"/>
                        </a:rPr>
                        <a:t>$25.0M</a:t>
                      </a:r>
                    </a:p>
                  </a:txBody>
                  <a:tcPr anchor="ctr" marL="63500" marR="63500" marT="25400" marB="25400">
                    <a:lnL>
                      <a:noFill/>
                    </a:lnL>
                    <a:lnR>
                      <a:noFill/>
                    </a:lnR>
                    <a:lnT>
                      <a:noFill/>
                    </a:lnT>
                    <a:lnB>
                      <a:noFill/>
                    </a:lnB>
                    <a:solidFill>
                      <a:srgbClr val="FFFFFF"/>
                    </a:solidFill>
                  </a:tcPr>
                </a:tc>
              </a:tr>
              <a:tr h="731520">
                <a:tc>
                  <a:txBody>
                    <a:bodyPr/>
                    <a:lstStyle/>
                    <a:p>
                      <a:pPr algn="l"/>
                      <a:r>
                        <a:rPr b="1" sz="1100" i="0" u="none">
                          <a:solidFill>
                            <a:srgbClr val="11052C"/>
                          </a:solidFill>
                          <a:latin typeface="DM Sans"/>
                        </a:rPr>
                        <a:t>2. Release above the cap (rule A6)</a:t>
                      </a:r>
                    </a:p>
                  </a:txBody>
                  <a:tcPr anchor="ctr" marL="63500" marR="63500" marT="25400" marB="25400">
                    <a:lnL>
                      <a:noFill/>
                    </a:lnL>
                    <a:lnR>
                      <a:noFill/>
                    </a:lnR>
                    <a:lnT>
                      <a:noFill/>
                    </a:lnT>
                    <a:lnB>
                      <a:noFill/>
                    </a:lnB>
                    <a:solidFill>
                      <a:srgbClr val="FFFFFF"/>
                    </a:solidFill>
                  </a:tcPr>
                </a:tc>
                <a:tc>
                  <a:txBody>
                    <a:bodyPr/>
                    <a:lstStyle/>
                    <a:p>
                      <a:pPr algn="l"/>
                      <a:r>
                        <a:rPr b="0" sz="1100" i="0" u="none">
                          <a:solidFill>
                            <a:srgbClr val="11052C"/>
                          </a:solidFill>
                          <a:latin typeface="DM Sans"/>
                        </a:rPr>
                        <a:t>$0</a:t>
                      </a:r>
                    </a:p>
                  </a:txBody>
                  <a:tcPr anchor="ctr" marL="63500" marR="63500" marT="25400" marB="25400">
                    <a:lnL>
                      <a:noFill/>
                    </a:lnL>
                    <a:lnR>
                      <a:noFill/>
                    </a:lnR>
                    <a:lnT>
                      <a:noFill/>
                    </a:lnT>
                    <a:lnB>
                      <a:noFill/>
                    </a:lnB>
                    <a:solidFill>
                      <a:srgbClr val="FFFFFF"/>
                    </a:solidFill>
                  </a:tcPr>
                </a:tc>
                <a:tc>
                  <a:txBody>
                    <a:bodyPr/>
                    <a:lstStyle/>
                    <a:p>
                      <a:pPr algn="l"/>
                      <a:r>
                        <a:rPr b="0" sz="1100" i="0" u="none">
                          <a:solidFill>
                            <a:srgbClr val="11052C"/>
                          </a:solidFill>
                          <a:latin typeface="DM Sans"/>
                        </a:rPr>
                        <a:t>$0 (not assumed)</a:t>
                      </a:r>
                    </a:p>
                  </a:txBody>
                  <a:tcPr anchor="ctr" marL="63500" marR="63500" marT="25400" marB="25400">
                    <a:lnL>
                      <a:noFill/>
                    </a:lnL>
                    <a:lnR>
                      <a:noFill/>
                    </a:lnR>
                    <a:lnT>
                      <a:noFill/>
                    </a:lnT>
                    <a:lnB>
                      <a:noFill/>
                    </a:lnB>
                    <a:solidFill>
                      <a:srgbClr val="FFFFFF"/>
                    </a:solidFill>
                  </a:tcPr>
                </a:tc>
                <a:tc>
                  <a:txBody>
                    <a:bodyPr/>
                    <a:lstStyle/>
                    <a:p>
                      <a:pPr algn="l"/>
                      <a:r>
                        <a:rPr b="0" sz="1100" i="0" u="none">
                          <a:solidFill>
                            <a:srgbClr val="11052C"/>
                          </a:solidFill>
                          <a:latin typeface="DM Sans"/>
                        </a:rPr>
                        <a:t>Up to $15.0M from H1 profit above plan, inside the ~20% FY26 guide</a:t>
                      </a:r>
                    </a:p>
                  </a:txBody>
                  <a:tcPr anchor="ctr" marL="63500" marR="63500" marT="25400" marB="25400">
                    <a:lnL>
                      <a:noFill/>
                    </a:lnL>
                    <a:lnR>
                      <a:noFill/>
                    </a:lnR>
                    <a:lnT>
                      <a:noFill/>
                    </a:lnT>
                    <a:lnB>
                      <a:noFill/>
                    </a:lnB>
                    <a:solidFill>
                      <a:srgbClr val="FFFFFF"/>
                    </a:solidFill>
                  </a:tcPr>
                </a:tc>
              </a:tr>
              <a:tr h="731520">
                <a:tc>
                  <a:txBody>
                    <a:bodyPr/>
                    <a:lstStyle/>
                    <a:p>
                      <a:pPr algn="l"/>
                      <a:r>
                        <a:rPr b="1" sz="1100" i="0" u="none">
                          <a:solidFill>
                            <a:srgbClr val="11052C"/>
                          </a:solidFill>
                          <a:latin typeface="DM Sans"/>
                        </a:rPr>
                        <a:t>3. Reversal triggers (stop or hold)</a:t>
                      </a:r>
                    </a:p>
                  </a:txBody>
                  <a:tcPr anchor="ctr" marL="63500" marR="63500" marT="25400" marB="25400">
                    <a:lnL>
                      <a:noFill/>
                    </a:lnL>
                    <a:lnR>
                      <a:noFill/>
                    </a:lnR>
                    <a:lnT>
                      <a:noFill/>
                    </a:lnT>
                    <a:lnB>
                      <a:noFill/>
                    </a:lnB>
                    <a:solidFill>
                      <a:srgbClr val="FFFFFF"/>
                    </a:solidFill>
                  </a:tcPr>
                </a:tc>
                <a:tc>
                  <a:txBody>
                    <a:bodyPr/>
                    <a:lstStyle/>
                    <a:p>
                      <a:pPr algn="l"/>
                      <a:r>
                        <a:rPr b="0" sz="1100" i="0" u="none">
                          <a:solidFill>
                            <a:srgbClr val="11052C"/>
                          </a:solidFill>
                          <a:latin typeface="DM Sans"/>
                        </a:rPr>
                        <a:t>A unit below plan on two of four indicators: its gate-2 share is held</a:t>
                      </a:r>
                    </a:p>
                  </a:txBody>
                  <a:tcPr anchor="ctr" marL="63500" marR="63500" marT="25400" marB="25400">
                    <a:lnL>
                      <a:noFill/>
                    </a:lnL>
                    <a:lnR>
                      <a:noFill/>
                    </a:lnR>
                    <a:lnT>
                      <a:noFill/>
                    </a:lnT>
                    <a:lnB>
                      <a:noFill/>
                    </a:lnB>
                    <a:solidFill>
                      <a:srgbClr val="FFFFFF"/>
                    </a:solidFill>
                  </a:tcPr>
                </a:tc>
                <a:tc>
                  <a:txBody>
                    <a:bodyPr/>
                    <a:lstStyle/>
                    <a:p>
                      <a:pPr algn="l"/>
                      <a:r>
                        <a:rPr b="0" sz="1100" i="0" u="none">
                          <a:solidFill>
                            <a:srgbClr val="11052C"/>
                          </a:solidFill>
                          <a:latin typeface="DM Sans"/>
                        </a:rPr>
                        <a:t>Efficiency ratio above the FY26 guide at Q1 close: gate 2 held for all units</a:t>
                      </a:r>
                    </a:p>
                  </a:txBody>
                  <a:tcPr anchor="ctr" marL="63500" marR="63500" marT="25400" marB="25400">
                    <a:lnL>
                      <a:noFill/>
                    </a:lnL>
                    <a:lnR>
                      <a:noFill/>
                    </a:lnR>
                    <a:lnT>
                      <a:noFill/>
                    </a:lnT>
                    <a:lnB>
                      <a:noFill/>
                    </a:lnB>
                    <a:solidFill>
                      <a:srgbClr val="FFFFFF"/>
                    </a:solidFill>
                  </a:tcPr>
                </a:tc>
                <a:tc>
                  <a:txBody>
                    <a:bodyPr/>
                    <a:lstStyle/>
                    <a:p>
                      <a:pPr algn="l"/>
                      <a:r>
                        <a:rPr b="0" sz="1100" i="0" u="none">
                          <a:solidFill>
                            <a:srgbClr val="11052C"/>
                          </a:solidFill>
                          <a:latin typeface="DM Sans"/>
                        </a:rPr>
                        <a:t>Credit cost or NPL 90+ above plan: rule A6 is not used</a:t>
                      </a:r>
                    </a:p>
                  </a:txBody>
                  <a:tcPr anchor="ctr" marL="63500" marR="63500" marT="25400" marB="25400">
                    <a:lnL>
                      <a:noFill/>
                    </a:lnL>
                    <a:lnR>
                      <a:noFill/>
                    </a:lnR>
                    <a:lnT>
                      <a:noFill/>
                    </a:lnT>
                    <a:lnB>
                      <a:noFill/>
                    </a:lnB>
                    <a:solidFill>
                      <a:srgbClr val="FFFFFF"/>
                    </a:solidFill>
                  </a:tcPr>
                </a:tc>
              </a:tr>
              <a:tr h="731520">
                <a:tc>
                  <a:txBody>
                    <a:bodyPr/>
                    <a:lstStyle/>
                    <a:p>
                      <a:pPr algn="l"/>
                      <a:r>
                        <a:rPr b="1" sz="1100" i="0" u="none">
                          <a:solidFill>
                            <a:srgbClr val="11052C"/>
                          </a:solidFill>
                          <a:latin typeface="DM Sans"/>
                        </a:rPr>
                        <a:t>4. Top risks and owners</a:t>
                      </a:r>
                    </a:p>
                  </a:txBody>
                  <a:tcPr anchor="ctr" marL="63500" marR="63500" marT="25400" marB="25400">
                    <a:lnL>
                      <a:noFill/>
                    </a:lnL>
                    <a:lnR>
                      <a:noFill/>
                    </a:lnR>
                    <a:lnT>
                      <a:noFill/>
                    </a:lnT>
                    <a:lnB>
                      <a:noFill/>
                    </a:lnB>
                    <a:solidFill>
                      <a:srgbClr val="FFFFFF"/>
                    </a:solidFill>
                  </a:tcPr>
                </a:tc>
                <a:tc>
                  <a:txBody>
                    <a:bodyPr/>
                    <a:lstStyle/>
                    <a:p>
                      <a:pPr algn="l"/>
                      <a:r>
                        <a:rPr b="0" sz="1100" i="0" u="none">
                          <a:solidFill>
                            <a:srgbClr val="11052C"/>
                          </a:solidFill>
                          <a:latin typeface="DM Sans"/>
                        </a:rPr>
                        <a:t>GMs game the indicators: finance partners own the read-out</a:t>
                      </a:r>
                    </a:p>
                  </a:txBody>
                  <a:tcPr anchor="ctr" marL="63500" marR="63500" marT="25400" marB="25400">
                    <a:lnL>
                      <a:noFill/>
                    </a:lnL>
                    <a:lnR>
                      <a:noFill/>
                    </a:lnR>
                    <a:lnT>
                      <a:noFill/>
                    </a:lnT>
                    <a:lnB>
                      <a:noFill/>
                    </a:lnB>
                    <a:solidFill>
                      <a:srgbClr val="FFFFFF"/>
                    </a:solidFill>
                  </a:tcPr>
                </a:tc>
                <a:tc>
                  <a:txBody>
                    <a:bodyPr/>
                    <a:lstStyle/>
                    <a:p>
                      <a:pPr algn="l"/>
                      <a:r>
                        <a:rPr b="0" sz="1100" i="0" u="none">
                          <a:solidFill>
                            <a:srgbClr val="11052C"/>
                          </a:solidFill>
                          <a:latin typeface="DM Sans"/>
                        </a:rPr>
                        <a:t>Board book slips: outline locked today; anything outside it goes to the appendix</a:t>
                      </a:r>
                    </a:p>
                  </a:txBody>
                  <a:tcPr anchor="ctr" marL="63500" marR="63500" marT="25400" marB="25400">
                    <a:lnL>
                      <a:noFill/>
                    </a:lnL>
                    <a:lnR>
                      <a:noFill/>
                    </a:lnR>
                    <a:lnT>
                      <a:noFill/>
                    </a:lnT>
                    <a:lnB>
                      <a:noFill/>
                    </a:lnB>
                    <a:solidFill>
                      <a:srgbClr val="FFFFFF"/>
                    </a:solidFill>
                  </a:tcPr>
                </a:tc>
                <a:tc>
                  <a:txBody>
                    <a:bodyPr/>
                    <a:lstStyle/>
                    <a:p>
                      <a:pPr algn="l"/>
                      <a:r>
                        <a:rPr b="0" sz="1100" i="0" u="none">
                          <a:solidFill>
                            <a:srgbClr val="11052C"/>
                          </a:solidFill>
                          <a:latin typeface="DM Sans"/>
                        </a:rPr>
                        <a:t>HQ: tax residence, clawback, officer liability, site politics, key-person risk</a:t>
                      </a:r>
                    </a:p>
                  </a:txBody>
                  <a:tcPr anchor="ctr" marL="63500" marR="63500" marT="25400" marB="25400">
                    <a:lnL>
                      <a:noFill/>
                    </a:lnL>
                    <a:lnR>
                      <a:noFill/>
                    </a:lnR>
                    <a:lnT>
                      <a:noFill/>
                    </a:lnT>
                    <a:lnB>
                      <a:noFill/>
                    </a:lnB>
                    <a:solidFill>
                      <a:srgbClr val="FFFFFF"/>
                    </a:solidFill>
                  </a:tcPr>
                </a:tc>
              </a:tr>
              <a:tr h="731520">
                <a:tc>
                  <a:txBody>
                    <a:bodyPr/>
                    <a:lstStyle/>
                    <a:p>
                      <a:pPr algn="l"/>
                      <a:r>
                        <a:rPr b="1" sz="1100" i="0" u="none">
                          <a:solidFill>
                            <a:srgbClr val="11052C"/>
                          </a:solidFill>
                          <a:latin typeface="DM Sans"/>
                        </a:rPr>
                        <a:t>5. What I report at Day 90</a:t>
                      </a:r>
                    </a:p>
                  </a:txBody>
                  <a:tcPr anchor="ctr" marL="63500" marR="63500" marT="25400" marB="25400">
                    <a:lnL>
                      <a:noFill/>
                    </a:lnL>
                    <a:lnR>
                      <a:noFill/>
                    </a:lnR>
                    <a:lnT>
                      <a:noFill/>
                    </a:lnT>
                    <a:lnB>
                      <a:noFill/>
                    </a:lnB>
                    <a:solidFill>
                      <a:srgbClr val="F3E8FF"/>
                    </a:solidFill>
                  </a:tcPr>
                </a:tc>
                <a:tc>
                  <a:txBody>
                    <a:bodyPr/>
                    <a:lstStyle/>
                    <a:p>
                      <a:pPr algn="l"/>
                      <a:r>
                        <a:rPr b="0" sz="1100" i="0" u="none">
                          <a:solidFill>
                            <a:srgbClr val="11052C"/>
                          </a:solidFill>
                          <a:latin typeface="DM Sans"/>
                        </a:rPr>
                        <a:t>Gate-2 decision per unit, with the indicators</a:t>
                      </a:r>
                    </a:p>
                  </a:txBody>
                  <a:tcPr anchor="ctr" marL="63500" marR="63500" marT="25400" marB="25400">
                    <a:lnL>
                      <a:noFill/>
                    </a:lnL>
                    <a:lnR>
                      <a:noFill/>
                    </a:lnR>
                    <a:lnT>
                      <a:noFill/>
                    </a:lnT>
                    <a:lnB>
                      <a:noFill/>
                    </a:lnB>
                    <a:solidFill>
                      <a:srgbClr val="F3E8FF"/>
                    </a:solidFill>
                  </a:tcPr>
                </a:tc>
                <a:tc>
                  <a:txBody>
                    <a:bodyPr/>
                    <a:lstStyle/>
                    <a:p>
                      <a:pPr algn="l"/>
                      <a:r>
                        <a:rPr b="0" sz="1100" i="0" u="none">
                          <a:solidFill>
                            <a:srgbClr val="820AD1"/>
                          </a:solidFill>
                          <a:latin typeface="DM Sans"/>
                        </a:rPr>
                        <a:t>Board delivered at T-0; capital plan approved; cycle-time and forecast baselines</a:t>
                      </a:r>
                    </a:p>
                  </a:txBody>
                  <a:tcPr anchor="ctr" marL="63500" marR="63500" marT="25400" marB="25400">
                    <a:lnL>
                      <a:noFill/>
                    </a:lnL>
                    <a:lnR>
                      <a:noFill/>
                    </a:lnR>
                    <a:lnT>
                      <a:noFill/>
                    </a:lnT>
                    <a:lnB>
                      <a:noFill/>
                    </a:lnB>
                    <a:solidFill>
                      <a:srgbClr val="F3E8FF"/>
                    </a:solidFill>
                  </a:tcPr>
                </a:tc>
                <a:tc>
                  <a:txBody>
                    <a:bodyPr/>
                    <a:lstStyle/>
                    <a:p>
                      <a:pPr algn="l"/>
                      <a:r>
                        <a:rPr b="0" sz="1100" i="0" u="none">
                          <a:solidFill>
                            <a:srgbClr val="11052C"/>
                          </a:solidFill>
                          <a:latin typeface="DM Sans"/>
                        </a:rPr>
                        <a:t>HQ gates 1 and 2 cleared; gate 3 pack ready</a:t>
                      </a:r>
                    </a:p>
                  </a:txBody>
                  <a:tcPr anchor="ctr" marL="63500" marR="63500" marT="25400" marB="25400">
                    <a:lnL>
                      <a:noFill/>
                    </a:lnL>
                    <a:lnR>
                      <a:noFill/>
                    </a:lnR>
                    <a:lnT>
                      <a:noFill/>
                    </a:lnT>
                    <a:lnB>
                      <a:noFill/>
                    </a:lnB>
                    <a:solidFill>
                      <a:srgbClr val="F3E8FF"/>
                    </a:solidFill>
                  </a:tcPr>
                </a:tc>
              </a:tr>
            </a:tbl>
          </a:graphicData>
        </a:graphic>
      </p:graphicFrame>
      <p:sp>
        <p:nvSpPr>
          <p:cNvPr id="27" name="TextBox 26"/>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DM Sans"/>
              </a:rPr>
              <a:t>16 // RISKS, SCENARIOS AND REVERSAL TRIGGERS</a:t>
            </a:r>
          </a:p>
        </p:txBody>
      </p:sp>
      <p:sp>
        <p:nvSpPr>
          <p:cNvPr id="28" name="TextBox 27"/>
          <p:cNvSpPr txBox="1"/>
          <p:nvPr/>
        </p:nvSpPr>
        <p:spPr>
          <a:xfrm>
            <a:off x="609600" y="704850"/>
            <a:ext cx="115824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Space Grotesk"/>
              </a:rPr>
              <a:t>If H1 misses, funding holds at $15M automatically; if it beats, up to $15M more is released inside the efficiency guide</a:t>
            </a:r>
          </a:p>
        </p:txBody>
      </p:sp>
      <p:sp>
        <p:nvSpPr>
          <p:cNvPr id="29" name="TextBox 28"/>
          <p:cNvSpPr txBox="1"/>
          <p:nvPr/>
        </p:nvSpPr>
        <p:spPr>
          <a:xfrm>
            <a:off x="609600" y="5989320"/>
            <a:ext cx="11068050" cy="419100"/>
          </a:xfrm>
          <a:prstGeom prst="rect">
            <a:avLst/>
          </a:prstGeom>
          <a:noFill/>
        </p:spPr>
        <p:txBody>
          <a:bodyPr wrap="square" lIns="0" rIns="0" tIns="0" bIns="0" anchor="t">
            <a:spAutoFit/>
          </a:bodyPr>
          <a:lstStyle/>
          <a:p>
            <a:pPr algn="l"/>
            <a:r>
              <a:rPr b="1" sz="1150" i="0" u="none">
                <a:solidFill>
                  <a:srgbClr val="3B2A54"/>
                </a:solidFill>
                <a:latin typeface="DM Sans"/>
              </a:rPr>
              <a:t>For the Board: </a:t>
            </a:r>
            <a:r>
              <a:rPr b="0" sz="1150" i="0" u="none">
                <a:solidFill>
                  <a:srgbClr val="3B2A54"/>
                </a:solidFill>
                <a:latin typeface="DM Sans"/>
              </a:rPr>
              <a:t>funding above $15M is released only on evidence, so margins are protected automatically if conditions tighten, with no mid-year freeze. No value figures are claimed beyond the spend lines; they would be guesses before HQ gate 1.</a:t>
            </a:r>
          </a:p>
        </p:txBody>
      </p:sp>
      <p:sp>
        <p:nvSpPr>
          <p:cNvPr id="30" name="TextBox 29"/>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DM Sans"/>
              </a:rPr>
              <a:t>17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Rounded Rectangle 1"/>
          <p:cNvSpPr/>
          <p:nvPr/>
        </p:nvSpPr>
        <p:spPr>
          <a:xfrm>
            <a:off x="609600" y="2363092"/>
            <a:ext cx="3505200" cy="3352800"/>
          </a:xfrm>
          <a:prstGeom prst="roundRect">
            <a:avLst>
              <a:gd name="adj" fmla="val 284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43400" y="2363092"/>
            <a:ext cx="3505200" cy="3352800"/>
          </a:xfrm>
          <a:prstGeom prst="roundRect">
            <a:avLst>
              <a:gd name="adj" fmla="val 3048"/>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077200" y="2363092"/>
            <a:ext cx="3505200" cy="3352800"/>
          </a:xfrm>
          <a:prstGeom prst="roundRect">
            <a:avLst>
              <a:gd name="adj" fmla="val 3048"/>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DM Sans"/>
              </a:rPr>
              <a:t>17 // THE NEXT 90 DAYS</a:t>
            </a:r>
          </a:p>
        </p:txBody>
      </p:sp>
      <p:sp>
        <p:nvSpPr>
          <p:cNvPr id="6" name="TextBox 5"/>
          <p:cNvSpPr txBox="1"/>
          <p:nvPr/>
        </p:nvSpPr>
        <p:spPr>
          <a:xfrm>
            <a:off x="609600" y="704850"/>
            <a:ext cx="115824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Space Grotesk"/>
              </a:rPr>
              <a:t>Days 61-150: Board locked by Day 88, hub in place by Day 95, HQ gate 2 cleared by Day 120</a:t>
            </a:r>
          </a:p>
        </p:txBody>
      </p:sp>
      <p:sp>
        <p:nvSpPr>
          <p:cNvPr id="7" name="TextBox 6"/>
          <p:cNvSpPr txBox="1"/>
          <p:nvPr/>
        </p:nvSpPr>
        <p:spPr>
          <a:xfrm>
            <a:off x="866775" y="2620267"/>
            <a:ext cx="3738562" cy="171450"/>
          </a:xfrm>
          <a:prstGeom prst="rect">
            <a:avLst/>
          </a:prstGeom>
          <a:noFill/>
        </p:spPr>
        <p:txBody>
          <a:bodyPr wrap="none" lIns="0" rIns="0" tIns="0" bIns="0" anchor="t">
            <a:spAutoFit/>
          </a:bodyPr>
          <a:lstStyle/>
          <a:p>
            <a:pPr algn="l"/>
            <a:r>
              <a:rPr b="1" sz="1050" i="0" u="none">
                <a:solidFill>
                  <a:srgbClr val="B91C1C"/>
                </a:solidFill>
                <a:latin typeface="DM Sans"/>
              </a:rPr>
              <a:t>DAYS 61–90 // ALIGN &amp; STABILIZE</a:t>
            </a:r>
          </a:p>
        </p:txBody>
      </p:sp>
      <p:sp>
        <p:nvSpPr>
          <p:cNvPr id="8" name="TextBox 7"/>
          <p:cNvSpPr txBox="1"/>
          <p:nvPr/>
        </p:nvSpPr>
        <p:spPr>
          <a:xfrm>
            <a:off x="866775" y="2867917"/>
            <a:ext cx="3925490" cy="266700"/>
          </a:xfrm>
          <a:prstGeom prst="rect">
            <a:avLst/>
          </a:prstGeom>
          <a:noFill/>
        </p:spPr>
        <p:txBody>
          <a:bodyPr wrap="square" lIns="0" rIns="0" tIns="0" bIns="0" anchor="t">
            <a:spAutoFit/>
          </a:bodyPr>
          <a:lstStyle/>
          <a:p>
            <a:pPr algn="l"/>
            <a:r>
              <a:rPr b="1" sz="1650" i="0" u="none">
                <a:solidFill>
                  <a:srgbClr val="11052C"/>
                </a:solidFill>
                <a:latin typeface="Space Grotesk"/>
              </a:rPr>
              <a:t>Lock the Board and gate 1</a:t>
            </a:r>
          </a:p>
        </p:txBody>
      </p:sp>
      <p:sp>
        <p:nvSpPr>
          <p:cNvPr id="9" name="TextBox 8"/>
          <p:cNvSpPr txBox="1"/>
          <p:nvPr/>
        </p:nvSpPr>
        <p:spPr>
          <a:xfrm>
            <a:off x="4600575" y="2615695"/>
            <a:ext cx="3738562" cy="171450"/>
          </a:xfrm>
          <a:prstGeom prst="rect">
            <a:avLst/>
          </a:prstGeom>
          <a:noFill/>
        </p:spPr>
        <p:txBody>
          <a:bodyPr wrap="none" lIns="0" rIns="0" tIns="0" bIns="0" anchor="t">
            <a:spAutoFit/>
          </a:bodyPr>
          <a:lstStyle/>
          <a:p>
            <a:pPr algn="l"/>
            <a:r>
              <a:rPr b="1" sz="1050" i="0" u="none">
                <a:solidFill>
                  <a:srgbClr val="820AD1"/>
                </a:solidFill>
                <a:latin typeface="DM Sans"/>
              </a:rPr>
              <a:t>DAYS 91–120 // EMBED &amp; NEGOTIATE</a:t>
            </a:r>
          </a:p>
        </p:txBody>
      </p:sp>
      <p:sp>
        <p:nvSpPr>
          <p:cNvPr id="10" name="TextBox 9"/>
          <p:cNvSpPr txBox="1"/>
          <p:nvPr/>
        </p:nvSpPr>
        <p:spPr>
          <a:xfrm>
            <a:off x="4600575" y="2863345"/>
            <a:ext cx="3925490" cy="266700"/>
          </a:xfrm>
          <a:prstGeom prst="rect">
            <a:avLst/>
          </a:prstGeom>
          <a:noFill/>
        </p:spPr>
        <p:txBody>
          <a:bodyPr wrap="square" lIns="0" rIns="0" tIns="0" bIns="0" anchor="t">
            <a:spAutoFit/>
          </a:bodyPr>
          <a:lstStyle/>
          <a:p>
            <a:pPr algn="l"/>
            <a:r>
              <a:rPr b="1" sz="1650" i="0" u="none">
                <a:solidFill>
                  <a:srgbClr val="11052C"/>
                </a:solidFill>
                <a:latin typeface="Space Grotesk"/>
              </a:rPr>
              <a:t>Stand up the hub; HQ gate 2</a:t>
            </a:r>
          </a:p>
        </p:txBody>
      </p:sp>
      <p:sp>
        <p:nvSpPr>
          <p:cNvPr id="11" name="TextBox 10"/>
          <p:cNvSpPr txBox="1"/>
          <p:nvPr/>
        </p:nvSpPr>
        <p:spPr>
          <a:xfrm>
            <a:off x="8334375" y="2615695"/>
            <a:ext cx="3738562" cy="171450"/>
          </a:xfrm>
          <a:prstGeom prst="rect">
            <a:avLst/>
          </a:prstGeom>
          <a:noFill/>
        </p:spPr>
        <p:txBody>
          <a:bodyPr wrap="none" lIns="0" rIns="0" tIns="0" bIns="0" anchor="t">
            <a:spAutoFit/>
          </a:bodyPr>
          <a:lstStyle/>
          <a:p>
            <a:pPr algn="l"/>
            <a:r>
              <a:rPr b="1" sz="1050" i="0" u="none">
                <a:solidFill>
                  <a:srgbClr val="0D9488"/>
                </a:solidFill>
                <a:latin typeface="DM Sans"/>
              </a:rPr>
              <a:t>DAYS 121–150 // SCALE &amp; EXECUTE</a:t>
            </a:r>
          </a:p>
        </p:txBody>
      </p:sp>
      <p:sp>
        <p:nvSpPr>
          <p:cNvPr id="12" name="TextBox 11"/>
          <p:cNvSpPr txBox="1"/>
          <p:nvPr/>
        </p:nvSpPr>
        <p:spPr>
          <a:xfrm>
            <a:off x="8334375" y="2863345"/>
            <a:ext cx="3857625" cy="266700"/>
          </a:xfrm>
          <a:prstGeom prst="rect">
            <a:avLst/>
          </a:prstGeom>
          <a:noFill/>
        </p:spPr>
        <p:txBody>
          <a:bodyPr wrap="square" lIns="0" rIns="0" tIns="0" bIns="0" anchor="t">
            <a:spAutoFit/>
          </a:bodyPr>
          <a:lstStyle/>
          <a:p>
            <a:pPr algn="l"/>
            <a:r>
              <a:rPr b="1" sz="1650" i="0" u="none">
                <a:solidFill>
                  <a:srgbClr val="11052C"/>
                </a:solidFill>
                <a:latin typeface="Space Grotesk"/>
              </a:rPr>
              <a:t>Gate-2 release; HQ gate 3</a:t>
            </a:r>
          </a:p>
        </p:txBody>
      </p:sp>
      <p:sp>
        <p:nvSpPr>
          <p:cNvPr id="13" name="TextBox 12"/>
          <p:cNvSpPr txBox="1"/>
          <p:nvPr/>
        </p:nvSpPr>
        <p:spPr>
          <a:xfrm>
            <a:off x="1000125" y="3220342"/>
            <a:ext cx="57150" cy="228600"/>
          </a:xfrm>
          <a:prstGeom prst="rect">
            <a:avLst/>
          </a:prstGeom>
          <a:noFill/>
        </p:spPr>
        <p:txBody>
          <a:bodyPr wrap="none" lIns="0" rIns="0" tIns="0" bIns="0" anchor="t">
            <a:spAutoFit/>
          </a:bodyPr>
          <a:lstStyle/>
          <a:p>
            <a:pPr algn="l"/>
            <a:r>
              <a:rPr b="0" sz="1350" i="0" u="none">
                <a:solidFill>
                  <a:srgbClr val="3B2A54"/>
                </a:solidFill>
                <a:latin typeface="DM Sans"/>
              </a:rPr>
              <a:t>•</a:t>
            </a:r>
          </a:p>
        </p:txBody>
      </p:sp>
      <p:sp>
        <p:nvSpPr>
          <p:cNvPr id="14" name="TextBox 13"/>
          <p:cNvSpPr txBox="1"/>
          <p:nvPr/>
        </p:nvSpPr>
        <p:spPr>
          <a:xfrm>
            <a:off x="1057275" y="3248917"/>
            <a:ext cx="2895600" cy="685800"/>
          </a:xfrm>
          <a:prstGeom prst="rect">
            <a:avLst/>
          </a:prstGeom>
          <a:noFill/>
        </p:spPr>
        <p:txBody>
          <a:bodyPr wrap="square" lIns="57150" rIns="0" tIns="0" bIns="0" anchor="t">
            <a:spAutoFit/>
          </a:bodyPr>
          <a:lstStyle/>
          <a:p>
            <a:pPr algn="l"/>
            <a:r>
              <a:rPr b="1" sz="1350" i="0" u="none">
                <a:solidFill>
                  <a:srgbClr val="3B2A54"/>
                </a:solidFill>
                <a:latin typeface="DM Sans"/>
              </a:rPr>
              <a:t>Today (T-28): </a:t>
            </a:r>
            <a:r>
              <a:rPr b="0" sz="1350" i="0" u="none">
                <a:solidFill>
                  <a:srgbClr val="3B2A54"/>
                </a:solidFill>
                <a:latin typeface="DM Sans"/>
              </a:rPr>
              <a:t>Board outline issued; HQ charter signed; gate 1 launched.</a:t>
            </a:r>
          </a:p>
        </p:txBody>
      </p:sp>
      <p:sp>
        <p:nvSpPr>
          <p:cNvPr id="15" name="TextBox 14"/>
          <p:cNvSpPr txBox="1"/>
          <p:nvPr/>
        </p:nvSpPr>
        <p:spPr>
          <a:xfrm>
            <a:off x="1000125" y="3982342"/>
            <a:ext cx="57150" cy="228600"/>
          </a:xfrm>
          <a:prstGeom prst="rect">
            <a:avLst/>
          </a:prstGeom>
          <a:noFill/>
        </p:spPr>
        <p:txBody>
          <a:bodyPr wrap="none" lIns="0" rIns="0" tIns="0" bIns="0" anchor="t">
            <a:spAutoFit/>
          </a:bodyPr>
          <a:lstStyle/>
          <a:p>
            <a:pPr algn="l"/>
            <a:r>
              <a:rPr b="0" sz="1350" i="0" u="none">
                <a:solidFill>
                  <a:srgbClr val="3B2A54"/>
                </a:solidFill>
                <a:latin typeface="DM Sans"/>
              </a:rPr>
              <a:t>•</a:t>
            </a:r>
          </a:p>
        </p:txBody>
      </p:sp>
      <p:sp>
        <p:nvSpPr>
          <p:cNvPr id="16" name="TextBox 15"/>
          <p:cNvSpPr txBox="1"/>
          <p:nvPr/>
        </p:nvSpPr>
        <p:spPr>
          <a:xfrm>
            <a:off x="1057275" y="4010917"/>
            <a:ext cx="2895600" cy="685800"/>
          </a:xfrm>
          <a:prstGeom prst="rect">
            <a:avLst/>
          </a:prstGeom>
          <a:noFill/>
        </p:spPr>
        <p:txBody>
          <a:bodyPr wrap="square" lIns="57150" rIns="0" tIns="0" bIns="0" anchor="t">
            <a:spAutoFit/>
          </a:bodyPr>
          <a:lstStyle/>
          <a:p>
            <a:pPr algn="l"/>
            <a:r>
              <a:rPr b="1" sz="1350" i="0" u="none">
                <a:solidFill>
                  <a:srgbClr val="3B2A54"/>
                </a:solidFill>
                <a:latin typeface="DM Sans"/>
              </a:rPr>
              <a:t>Day 72 (T-16): </a:t>
            </a:r>
            <a:r>
              <a:rPr b="0" sz="1350" i="0" u="none">
                <a:solidFill>
                  <a:srgbClr val="3B2A54"/>
                </a:solidFill>
                <a:latin typeface="DM Sans"/>
              </a:rPr>
              <a:t>options memo settles the 70/30 lock with CEO, CFO, MTeam.</a:t>
            </a:r>
          </a:p>
        </p:txBody>
      </p:sp>
      <p:sp>
        <p:nvSpPr>
          <p:cNvPr id="17" name="TextBox 16"/>
          <p:cNvSpPr txBox="1"/>
          <p:nvPr/>
        </p:nvSpPr>
        <p:spPr>
          <a:xfrm>
            <a:off x="1000125" y="4744342"/>
            <a:ext cx="57150" cy="228600"/>
          </a:xfrm>
          <a:prstGeom prst="rect">
            <a:avLst/>
          </a:prstGeom>
          <a:noFill/>
        </p:spPr>
        <p:txBody>
          <a:bodyPr wrap="none" lIns="0" rIns="0" tIns="0" bIns="0" anchor="t">
            <a:spAutoFit/>
          </a:bodyPr>
          <a:lstStyle/>
          <a:p>
            <a:pPr algn="l"/>
            <a:r>
              <a:rPr b="0" sz="1350" i="0" u="none">
                <a:solidFill>
                  <a:srgbClr val="3B2A54"/>
                </a:solidFill>
                <a:latin typeface="DM Sans"/>
              </a:rPr>
              <a:t>•</a:t>
            </a:r>
          </a:p>
        </p:txBody>
      </p:sp>
      <p:sp>
        <p:nvSpPr>
          <p:cNvPr id="18" name="TextBox 17"/>
          <p:cNvSpPr txBox="1"/>
          <p:nvPr/>
        </p:nvSpPr>
        <p:spPr>
          <a:xfrm>
            <a:off x="1057275" y="4772917"/>
            <a:ext cx="2895600" cy="685800"/>
          </a:xfrm>
          <a:prstGeom prst="rect">
            <a:avLst/>
          </a:prstGeom>
          <a:noFill/>
        </p:spPr>
        <p:txBody>
          <a:bodyPr wrap="square" lIns="57150" rIns="0" tIns="0" bIns="0" anchor="t">
            <a:spAutoFit/>
          </a:bodyPr>
          <a:lstStyle/>
          <a:p>
            <a:pPr algn="l"/>
            <a:r>
              <a:rPr b="1" sz="1350" i="0" u="none">
                <a:solidFill>
                  <a:srgbClr val="3B2A54"/>
                </a:solidFill>
                <a:latin typeface="DM Sans"/>
              </a:rPr>
              <a:t>Day 88 (T-0): </a:t>
            </a:r>
            <a:r>
              <a:rPr b="0" sz="1350" i="0" u="none">
                <a:solidFill>
                  <a:srgbClr val="3B2A54"/>
                </a:solidFill>
                <a:latin typeface="DM Sans"/>
              </a:rPr>
              <a:t>Board delivered; $15M gate-1 release memo published.</a:t>
            </a:r>
          </a:p>
        </p:txBody>
      </p:sp>
      <p:sp>
        <p:nvSpPr>
          <p:cNvPr id="19" name="TextBox 18"/>
          <p:cNvSpPr txBox="1"/>
          <p:nvPr/>
        </p:nvSpPr>
        <p:spPr>
          <a:xfrm>
            <a:off x="4733925" y="3215770"/>
            <a:ext cx="57150" cy="228600"/>
          </a:xfrm>
          <a:prstGeom prst="rect">
            <a:avLst/>
          </a:prstGeom>
          <a:noFill/>
        </p:spPr>
        <p:txBody>
          <a:bodyPr wrap="none" lIns="0" rIns="0" tIns="0" bIns="0" anchor="t">
            <a:spAutoFit/>
          </a:bodyPr>
          <a:lstStyle/>
          <a:p>
            <a:pPr algn="l"/>
            <a:r>
              <a:rPr b="0" sz="1350" i="0" u="none">
                <a:solidFill>
                  <a:srgbClr val="3B2A54"/>
                </a:solidFill>
                <a:latin typeface="DM Sans"/>
              </a:rPr>
              <a:t>•</a:t>
            </a:r>
          </a:p>
        </p:txBody>
      </p:sp>
      <p:sp>
        <p:nvSpPr>
          <p:cNvPr id="20" name="TextBox 19"/>
          <p:cNvSpPr txBox="1"/>
          <p:nvPr/>
        </p:nvSpPr>
        <p:spPr>
          <a:xfrm>
            <a:off x="4791075" y="3244345"/>
            <a:ext cx="2895600" cy="685800"/>
          </a:xfrm>
          <a:prstGeom prst="rect">
            <a:avLst/>
          </a:prstGeom>
          <a:noFill/>
        </p:spPr>
        <p:txBody>
          <a:bodyPr wrap="square" lIns="57150" rIns="0" tIns="0" bIns="0" anchor="t">
            <a:spAutoFit/>
          </a:bodyPr>
          <a:lstStyle/>
          <a:p>
            <a:pPr algn="l"/>
            <a:r>
              <a:rPr b="1" sz="1350" i="0" u="none">
                <a:solidFill>
                  <a:srgbClr val="3B2A54"/>
                </a:solidFill>
                <a:latin typeface="DM Sans"/>
              </a:rPr>
              <a:t>Day 95: </a:t>
            </a:r>
            <a:r>
              <a:rPr b="0" sz="1350" i="0" u="none">
                <a:solidFill>
                  <a:srgbClr val="3B2A54"/>
                </a:solidFill>
                <a:latin typeface="DM Sans"/>
              </a:rPr>
              <a:t>hub stood up; finance partners embedded in each market and vertical.</a:t>
            </a:r>
          </a:p>
        </p:txBody>
      </p:sp>
      <p:sp>
        <p:nvSpPr>
          <p:cNvPr id="21" name="TextBox 20"/>
          <p:cNvSpPr txBox="1"/>
          <p:nvPr/>
        </p:nvSpPr>
        <p:spPr>
          <a:xfrm>
            <a:off x="4733925" y="3977770"/>
            <a:ext cx="57150" cy="228600"/>
          </a:xfrm>
          <a:prstGeom prst="rect">
            <a:avLst/>
          </a:prstGeom>
          <a:noFill/>
        </p:spPr>
        <p:txBody>
          <a:bodyPr wrap="none" lIns="0" rIns="0" tIns="0" bIns="0" anchor="t">
            <a:spAutoFit/>
          </a:bodyPr>
          <a:lstStyle/>
          <a:p>
            <a:pPr algn="l"/>
            <a:r>
              <a:rPr b="0" sz="1350" i="0" u="none">
                <a:solidFill>
                  <a:srgbClr val="3B2A54"/>
                </a:solidFill>
                <a:latin typeface="DM Sans"/>
              </a:rPr>
              <a:t>•</a:t>
            </a:r>
          </a:p>
        </p:txBody>
      </p:sp>
      <p:sp>
        <p:nvSpPr>
          <p:cNvPr id="22" name="TextBox 21"/>
          <p:cNvSpPr txBox="1"/>
          <p:nvPr/>
        </p:nvSpPr>
        <p:spPr>
          <a:xfrm>
            <a:off x="4791075" y="4006345"/>
            <a:ext cx="2895600" cy="457200"/>
          </a:xfrm>
          <a:prstGeom prst="rect">
            <a:avLst/>
          </a:prstGeom>
          <a:noFill/>
        </p:spPr>
        <p:txBody>
          <a:bodyPr wrap="square" lIns="57150" rIns="0" tIns="0" bIns="0" anchor="t">
            <a:spAutoFit/>
          </a:bodyPr>
          <a:lstStyle/>
          <a:p>
            <a:pPr algn="l"/>
            <a:r>
              <a:rPr b="1" sz="1350" i="0" u="none">
                <a:solidFill>
                  <a:srgbClr val="3B2A54"/>
                </a:solidFill>
                <a:latin typeface="DM Sans"/>
              </a:rPr>
              <a:t>Day 105: </a:t>
            </a:r>
            <a:r>
              <a:rPr b="0" sz="1350" i="0" u="none">
                <a:solidFill>
                  <a:srgbClr val="3B2A54"/>
                </a:solidFill>
                <a:latin typeface="DM Sans"/>
              </a:rPr>
              <a:t>squad clinics running; $12M case track under way.</a:t>
            </a:r>
          </a:p>
        </p:txBody>
      </p:sp>
      <p:sp>
        <p:nvSpPr>
          <p:cNvPr id="23" name="TextBox 22"/>
          <p:cNvSpPr txBox="1"/>
          <p:nvPr/>
        </p:nvSpPr>
        <p:spPr>
          <a:xfrm>
            <a:off x="4733925" y="4511170"/>
            <a:ext cx="57150" cy="228600"/>
          </a:xfrm>
          <a:prstGeom prst="rect">
            <a:avLst/>
          </a:prstGeom>
          <a:noFill/>
        </p:spPr>
        <p:txBody>
          <a:bodyPr wrap="none" lIns="0" rIns="0" tIns="0" bIns="0" anchor="t">
            <a:spAutoFit/>
          </a:bodyPr>
          <a:lstStyle/>
          <a:p>
            <a:pPr algn="l"/>
            <a:r>
              <a:rPr b="0" sz="1350" i="0" u="none">
                <a:solidFill>
                  <a:srgbClr val="3B2A54"/>
                </a:solidFill>
                <a:latin typeface="DM Sans"/>
              </a:rPr>
              <a:t>•</a:t>
            </a:r>
          </a:p>
        </p:txBody>
      </p:sp>
      <p:sp>
        <p:nvSpPr>
          <p:cNvPr id="24" name="TextBox 23"/>
          <p:cNvSpPr txBox="1"/>
          <p:nvPr/>
        </p:nvSpPr>
        <p:spPr>
          <a:xfrm>
            <a:off x="4791075" y="4539745"/>
            <a:ext cx="2895600" cy="685800"/>
          </a:xfrm>
          <a:prstGeom prst="rect">
            <a:avLst/>
          </a:prstGeom>
          <a:noFill/>
        </p:spPr>
        <p:txBody>
          <a:bodyPr wrap="square" lIns="57150" rIns="0" tIns="0" bIns="0" anchor="t">
            <a:spAutoFit/>
          </a:bodyPr>
          <a:lstStyle/>
          <a:p>
            <a:pPr algn="l"/>
            <a:r>
              <a:rPr b="1" sz="1350" i="0" u="none">
                <a:solidFill>
                  <a:srgbClr val="3B2A54"/>
                </a:solidFill>
                <a:latin typeface="DM Sans"/>
              </a:rPr>
              <a:t>Day 120 (HQ D+60): </a:t>
            </a:r>
            <a:r>
              <a:rPr b="0" sz="1350" i="0" u="none">
                <a:solidFill>
                  <a:srgbClr val="3B2A54"/>
                </a:solidFill>
                <a:latin typeface="DM Sans"/>
              </a:rPr>
              <a:t>gate 2 cleared: proportional grant terms, 24-month grace.</a:t>
            </a:r>
          </a:p>
        </p:txBody>
      </p:sp>
      <p:sp>
        <p:nvSpPr>
          <p:cNvPr id="25" name="TextBox 24"/>
          <p:cNvSpPr txBox="1"/>
          <p:nvPr/>
        </p:nvSpPr>
        <p:spPr>
          <a:xfrm>
            <a:off x="8467725" y="3215770"/>
            <a:ext cx="57150" cy="228600"/>
          </a:xfrm>
          <a:prstGeom prst="rect">
            <a:avLst/>
          </a:prstGeom>
          <a:noFill/>
        </p:spPr>
        <p:txBody>
          <a:bodyPr wrap="none" lIns="0" rIns="0" tIns="0" bIns="0" anchor="t">
            <a:spAutoFit/>
          </a:bodyPr>
          <a:lstStyle/>
          <a:p>
            <a:pPr algn="l"/>
            <a:r>
              <a:rPr b="0" sz="1350" i="0" u="none">
                <a:solidFill>
                  <a:srgbClr val="3B2A54"/>
                </a:solidFill>
                <a:latin typeface="DM Sans"/>
              </a:rPr>
              <a:t>•</a:t>
            </a:r>
          </a:p>
        </p:txBody>
      </p:sp>
      <p:sp>
        <p:nvSpPr>
          <p:cNvPr id="26" name="TextBox 25"/>
          <p:cNvSpPr txBox="1"/>
          <p:nvPr/>
        </p:nvSpPr>
        <p:spPr>
          <a:xfrm>
            <a:off x="8524875" y="3244345"/>
            <a:ext cx="2895600" cy="685800"/>
          </a:xfrm>
          <a:prstGeom prst="rect">
            <a:avLst/>
          </a:prstGeom>
          <a:noFill/>
        </p:spPr>
        <p:txBody>
          <a:bodyPr wrap="square" lIns="57150" rIns="0" tIns="0" bIns="0" anchor="t">
            <a:spAutoFit/>
          </a:bodyPr>
          <a:lstStyle/>
          <a:p>
            <a:pPr algn="l"/>
            <a:r>
              <a:rPr b="1" sz="1350" i="0" u="none">
                <a:solidFill>
                  <a:srgbClr val="3B2A54"/>
                </a:solidFill>
                <a:latin typeface="DM Sans"/>
              </a:rPr>
              <a:t>Day 125: </a:t>
            </a:r>
            <a:r>
              <a:rPr b="0" sz="1350" i="0" u="none">
                <a:solidFill>
                  <a:srgbClr val="3B2A54"/>
                </a:solidFill>
                <a:latin typeface="DM Sans"/>
              </a:rPr>
              <a:t>indicator read-out per unit; $10M gate 2 released at quarter close.</a:t>
            </a:r>
          </a:p>
        </p:txBody>
      </p:sp>
      <p:sp>
        <p:nvSpPr>
          <p:cNvPr id="27" name="TextBox 26"/>
          <p:cNvSpPr txBox="1"/>
          <p:nvPr/>
        </p:nvSpPr>
        <p:spPr>
          <a:xfrm>
            <a:off x="8467725" y="3977770"/>
            <a:ext cx="57150" cy="228600"/>
          </a:xfrm>
          <a:prstGeom prst="rect">
            <a:avLst/>
          </a:prstGeom>
          <a:noFill/>
        </p:spPr>
        <p:txBody>
          <a:bodyPr wrap="none" lIns="0" rIns="0" tIns="0" bIns="0" anchor="t">
            <a:spAutoFit/>
          </a:bodyPr>
          <a:lstStyle/>
          <a:p>
            <a:pPr algn="l"/>
            <a:r>
              <a:rPr b="0" sz="1350" i="0" u="none">
                <a:solidFill>
                  <a:srgbClr val="3B2A54"/>
                </a:solidFill>
                <a:latin typeface="DM Sans"/>
              </a:rPr>
              <a:t>•</a:t>
            </a:r>
          </a:p>
        </p:txBody>
      </p:sp>
      <p:sp>
        <p:nvSpPr>
          <p:cNvPr id="28" name="TextBox 27"/>
          <p:cNvSpPr txBox="1"/>
          <p:nvPr/>
        </p:nvSpPr>
        <p:spPr>
          <a:xfrm>
            <a:off x="8524875" y="4006345"/>
            <a:ext cx="2895600" cy="457200"/>
          </a:xfrm>
          <a:prstGeom prst="rect">
            <a:avLst/>
          </a:prstGeom>
          <a:noFill/>
        </p:spPr>
        <p:txBody>
          <a:bodyPr wrap="square" lIns="57150" rIns="0" tIns="0" bIns="0" anchor="t">
            <a:spAutoFit/>
          </a:bodyPr>
          <a:lstStyle/>
          <a:p>
            <a:pPr algn="l"/>
            <a:r>
              <a:rPr b="1" sz="1350" i="0" u="none">
                <a:solidFill>
                  <a:srgbClr val="3B2A54"/>
                </a:solidFill>
                <a:latin typeface="DM Sans"/>
              </a:rPr>
              <a:t>Day 150 (HQ D+90): </a:t>
            </a:r>
            <a:r>
              <a:rPr b="0" sz="1350" i="0" u="none">
                <a:solidFill>
                  <a:srgbClr val="3B2A54"/>
                </a:solidFill>
                <a:latin typeface="DM Sans"/>
              </a:rPr>
              <a:t>gate 3 cleared (officers, D&amp;O).</a:t>
            </a:r>
          </a:p>
        </p:txBody>
      </p:sp>
      <p:sp>
        <p:nvSpPr>
          <p:cNvPr id="29" name="TextBox 28"/>
          <p:cNvSpPr txBox="1"/>
          <p:nvPr/>
        </p:nvSpPr>
        <p:spPr>
          <a:xfrm>
            <a:off x="8467725" y="4511170"/>
            <a:ext cx="57150" cy="228600"/>
          </a:xfrm>
          <a:prstGeom prst="rect">
            <a:avLst/>
          </a:prstGeom>
          <a:noFill/>
        </p:spPr>
        <p:txBody>
          <a:bodyPr wrap="none" lIns="0" rIns="0" tIns="0" bIns="0" anchor="t">
            <a:spAutoFit/>
          </a:bodyPr>
          <a:lstStyle/>
          <a:p>
            <a:pPr algn="l"/>
            <a:r>
              <a:rPr b="0" sz="1350" i="0" u="none">
                <a:solidFill>
                  <a:srgbClr val="3B2A54"/>
                </a:solidFill>
                <a:latin typeface="DM Sans"/>
              </a:rPr>
              <a:t>•</a:t>
            </a:r>
          </a:p>
        </p:txBody>
      </p:sp>
      <p:sp>
        <p:nvSpPr>
          <p:cNvPr id="30" name="TextBox 29"/>
          <p:cNvSpPr txBox="1"/>
          <p:nvPr/>
        </p:nvSpPr>
        <p:spPr>
          <a:xfrm>
            <a:off x="8524875" y="4539745"/>
            <a:ext cx="2895600" cy="685800"/>
          </a:xfrm>
          <a:prstGeom prst="rect">
            <a:avLst/>
          </a:prstGeom>
          <a:noFill/>
        </p:spPr>
        <p:txBody>
          <a:bodyPr wrap="square" lIns="57150" rIns="0" tIns="0" bIns="0" anchor="t">
            <a:spAutoFit/>
          </a:bodyPr>
          <a:lstStyle/>
          <a:p>
            <a:pPr algn="l"/>
            <a:r>
              <a:rPr b="1" sz="1350" i="0" u="none">
                <a:solidFill>
                  <a:srgbClr val="3B2A54"/>
                </a:solidFill>
                <a:latin typeface="DM Sans"/>
              </a:rPr>
              <a:t>Day 150: </a:t>
            </a:r>
            <a:r>
              <a:rPr b="0" sz="1350" i="0" u="none">
                <a:solidFill>
                  <a:srgbClr val="3B2A54"/>
                </a:solidFill>
                <a:latin typeface="DM Sans"/>
              </a:rPr>
              <a:t>Day-90 report to the CFO; gate 4 (lease) at Day 180.</a:t>
            </a:r>
          </a:p>
        </p:txBody>
      </p:sp>
      <p:sp>
        <p:nvSpPr>
          <p:cNvPr id="31" name="TextBox 30"/>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DM Sans"/>
              </a:rPr>
              <a:t>18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E8FF"/>
        </a:solidFill>
        <a:effectLst/>
      </p:bgPr>
    </p:bg>
    <p:spTree>
      <p:nvGrpSpPr>
        <p:cNvPr id="1" name=""/>
        <p:cNvGrpSpPr/>
        <p:nvPr/>
      </p:nvGrpSpPr>
      <p:grpSpPr/>
      <p:sp>
        <p:nvSpPr>
          <p:cNvPr id="2" name="Rectangle 1"/>
          <p:cNvSpPr/>
          <p:nvPr/>
        </p:nvSpPr>
        <p:spPr>
          <a:xfrm>
            <a:off x="5715000" y="3629025"/>
            <a:ext cx="762000" cy="38100"/>
          </a:xfrm>
          <a:prstGeom prst="rect">
            <a:avLst/>
          </a:prstGeom>
          <a:solidFill>
            <a:srgbClr val="820A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05125" y="2428875"/>
            <a:ext cx="6381750" cy="200025"/>
          </a:xfrm>
          <a:prstGeom prst="rect">
            <a:avLst/>
          </a:prstGeom>
          <a:noFill/>
        </p:spPr>
        <p:txBody>
          <a:bodyPr wrap="none" lIns="0" rIns="0" tIns="0" bIns="0" anchor="t">
            <a:spAutoFit/>
          </a:bodyPr>
          <a:lstStyle/>
          <a:p>
            <a:pPr algn="ctr"/>
            <a:r>
              <a:rPr b="1" sz="1200" i="0" u="none">
                <a:solidFill>
                  <a:srgbClr val="820AD1"/>
                </a:solidFill>
                <a:latin typeface="DM Sans"/>
              </a:rPr>
              <a:t>SUPPORTING GOVERNANCE, EVIDENCE &amp; METHODOLOGY</a:t>
            </a:r>
          </a:p>
        </p:txBody>
      </p:sp>
      <p:sp>
        <p:nvSpPr>
          <p:cNvPr id="4" name="TextBox 3"/>
          <p:cNvSpPr txBox="1"/>
          <p:nvPr/>
        </p:nvSpPr>
        <p:spPr>
          <a:xfrm>
            <a:off x="945356" y="2781300"/>
            <a:ext cx="10301287" cy="657225"/>
          </a:xfrm>
          <a:prstGeom prst="rect">
            <a:avLst/>
          </a:prstGeom>
          <a:noFill/>
        </p:spPr>
        <p:txBody>
          <a:bodyPr wrap="square" lIns="0" rIns="0" tIns="0" bIns="0" anchor="t">
            <a:spAutoFit/>
          </a:bodyPr>
          <a:lstStyle/>
          <a:p>
            <a:pPr algn="ctr"/>
            <a:r>
              <a:rPr b="1" sz="4050" i="0" u="none">
                <a:solidFill>
                  <a:srgbClr val="11052C"/>
                </a:solidFill>
                <a:latin typeface="Space Grotesk"/>
              </a:rPr>
              <a:t>Appendices &amp; Reference Ledger</a:t>
            </a:r>
          </a:p>
        </p:txBody>
      </p:sp>
      <p:sp>
        <p:nvSpPr>
          <p:cNvPr id="5" name="TextBox 4"/>
          <p:cNvSpPr txBox="1"/>
          <p:nvPr/>
        </p:nvSpPr>
        <p:spPr>
          <a:xfrm>
            <a:off x="1214437" y="3933825"/>
            <a:ext cx="9763125" cy="495300"/>
          </a:xfrm>
          <a:prstGeom prst="rect">
            <a:avLst/>
          </a:prstGeom>
          <a:noFill/>
        </p:spPr>
        <p:txBody>
          <a:bodyPr wrap="square" lIns="0" rIns="0" tIns="0" bIns="0" anchor="t">
            <a:spAutoFit/>
          </a:bodyPr>
          <a:lstStyle/>
          <a:p>
            <a:pPr algn="ctr"/>
            <a:r>
              <a:rPr b="0" sz="1500" i="0" u="none">
                <a:solidFill>
                  <a:srgbClr val="3B2A54"/>
                </a:solidFill>
                <a:latin typeface="DM Sans"/>
              </a:rPr>
              <a:t>Appendix A: Sources and assumptions ledger   |   Appendix B: Option scores and weight sensitivity   |   Research assisted by AI tools; every number and recommendation was checked by me.</a:t>
            </a:r>
          </a:p>
        </p:txBody>
      </p:sp>
      <p:sp>
        <p:nvSpPr>
          <p:cNvPr id="6" name="TextBox 5"/>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DM Sans"/>
              </a:rPr>
              <a:t>20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graphicFrame>
        <p:nvGraphicFramePr>
          <p:cNvPr id="18" name="Table 17"/>
          <p:cNvGraphicFramePr>
            <a:graphicFrameLocks noGrp="1"/>
          </p:cNvGraphicFramePr>
          <p:nvPr/>
        </p:nvGraphicFramePr>
        <p:xfrm>
          <a:off x="609600" y="1600200"/>
          <a:ext cx="10972800" cy="3931920"/>
        </p:xfrm>
        <a:graphic>
          <a:graphicData uri="http://schemas.openxmlformats.org/drawingml/2006/table">
            <a:tbl>
              <a:tblPr firstRow="0" bandRow="0">
                <a:lnL>
                  <a:noFill/>
                </a:lnL>
                <a:lnR>
                  <a:noFill/>
                </a:lnR>
                <a:lnT>
                  <a:noFill/>
                </a:lnT>
                <a:lnB>
                  <a:noFill/>
                </a:lnB>
                <a:lnV>
                  <a:noFill/>
                </a:lnV>
                <a:lnH>
                  <a:noFill/>
                </a:lnH>
              </a:tblPr>
              <a:tblGrid>
                <a:gridCol w="1737360"/>
                <a:gridCol w="3383280"/>
                <a:gridCol w="2286000"/>
                <a:gridCol w="3566160"/>
              </a:tblGrid>
              <a:tr h="502920">
                <a:tc>
                  <a:txBody>
                    <a:bodyPr/>
                    <a:lstStyle/>
                    <a:p>
                      <a:pPr algn="l"/>
                      <a:r>
                        <a:rPr b="1" sz="1350" i="0" u="none">
                          <a:solidFill>
                            <a:srgbClr val="FFFFFF"/>
                          </a:solidFill>
                          <a:latin typeface="Space Grotesk"/>
                        </a:rPr>
                        <a:t>Stage</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Space Grotesk"/>
                        </a:rPr>
                        <a:t>Trigger for a local entity</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Space Grotesk"/>
                        </a:rPr>
                        <a:t>Operating setup</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Space Grotesk"/>
                        </a:rPr>
                        <a:t>Officers, signing and insurance</a:t>
                      </a:r>
                    </a:p>
                  </a:txBody>
                  <a:tcPr anchor="ctr" marL="63500" marR="63500" marT="25400" marB="25400">
                    <a:lnL>
                      <a:noFill/>
                    </a:lnL>
                    <a:lnR>
                      <a:noFill/>
                    </a:lnR>
                    <a:lnT>
                      <a:noFill/>
                    </a:lnT>
                    <a:lnB>
                      <a:noFill/>
                    </a:lnB>
                    <a:solidFill>
                      <a:srgbClr val="820AD1"/>
                    </a:solidFill>
                  </a:tcPr>
                </a:tc>
              </a:tr>
              <a:tr h="1143000">
                <a:tc>
                  <a:txBody>
                    <a:bodyPr/>
                    <a:lstStyle/>
                    <a:p>
                      <a:pPr algn="l"/>
                      <a:r>
                        <a:rPr b="1" sz="1100" i="0" u="none">
                          <a:solidFill>
                            <a:srgbClr val="11052C"/>
                          </a:solidFill>
                          <a:latin typeface="DM Sans"/>
                        </a:rPr>
                        <a:t>1. Market test</a:t>
                      </a:r>
                      <a:r>
                        <a:rPr b="0" sz="1100" i="0" u="none">
                          <a:solidFill>
                            <a:srgbClr val="11052C"/>
                          </a:solidFill>
                          <a:latin typeface="DM Sans"/>
                        </a:rPr>
                        <a:t> (new countries)</a:t>
                      </a:r>
                    </a:p>
                  </a:txBody>
                  <a:tcPr anchor="ctr" marL="63500" marR="63500" marT="25400" marB="25400">
                    <a:lnL>
                      <a:noFill/>
                    </a:lnL>
                    <a:lnR>
                      <a:noFill/>
                    </a:lnR>
                    <a:lnT>
                      <a:noFill/>
                    </a:lnT>
                    <a:lnB>
                      <a:noFill/>
                    </a:lnB>
                    <a:solidFill>
                      <a:srgbClr val="FFFFFF"/>
                    </a:solidFill>
                  </a:tcPr>
                </a:tc>
                <a:tc>
                  <a:txBody>
                    <a:bodyPr/>
                    <a:lstStyle/>
                    <a:p>
                      <a:pPr algn="l"/>
                      <a:r>
                        <a:rPr b="0" sz="1100" i="0" u="none">
                          <a:solidFill>
                            <a:srgbClr val="11052C"/>
                          </a:solidFill>
                          <a:latin typeface="DM Sans"/>
                        </a:rPr>
                        <a:t>No local license needed, no taxable presence created; served from an existing licensed entity or a partner bank (as the US is today, via Lead Bank).</a:t>
                      </a:r>
                    </a:p>
                  </a:txBody>
                  <a:tcPr anchor="ctr" marL="63500" marR="63500" marT="25400" marB="25400">
                    <a:lnL>
                      <a:noFill/>
                    </a:lnL>
                    <a:lnR>
                      <a:noFill/>
                    </a:lnR>
                    <a:lnT>
                      <a:noFill/>
                    </a:lnT>
                    <a:lnB>
                      <a:noFill/>
                    </a:lnB>
                    <a:solidFill>
                      <a:srgbClr val="FFFFFF"/>
                    </a:solidFill>
                  </a:tcPr>
                </a:tc>
                <a:tc>
                  <a:txBody>
                    <a:bodyPr/>
                    <a:lstStyle/>
                    <a:p>
                      <a:pPr algn="l"/>
                      <a:r>
                        <a:rPr b="0" sz="1100" i="0" u="none">
                          <a:solidFill>
                            <a:srgbClr val="11052C"/>
                          </a:solidFill>
                          <a:latin typeface="DM Sans"/>
                        </a:rPr>
                        <a:t>No local entity. Cross-border or partner model.</a:t>
                      </a:r>
                    </a:p>
                  </a:txBody>
                  <a:tcPr anchor="ctr" marL="63500" marR="63500" marT="25400" marB="25400">
                    <a:lnL>
                      <a:noFill/>
                    </a:lnL>
                    <a:lnR>
                      <a:noFill/>
                    </a:lnR>
                    <a:lnT>
                      <a:noFill/>
                    </a:lnT>
                    <a:lnB>
                      <a:noFill/>
                    </a:lnB>
                    <a:solidFill>
                      <a:srgbClr val="FFFFFF"/>
                    </a:solidFill>
                  </a:tcPr>
                </a:tc>
                <a:tc>
                  <a:txBody>
                    <a:bodyPr/>
                    <a:lstStyle/>
                    <a:p>
                      <a:pPr algn="l"/>
                      <a:r>
                        <a:rPr b="1" sz="1100" i="0" u="none">
                          <a:solidFill>
                            <a:srgbClr val="11052C"/>
                          </a:solidFill>
                          <a:latin typeface="DM Sans"/>
                        </a:rPr>
                        <a:t>Central signing only. No local director.</a:t>
                      </a:r>
                      <a:r>
                        <a:rPr b="0" sz="1100" i="0" u="none">
                          <a:solidFill>
                            <a:srgbClr val="11052C"/>
                          </a:solidFill>
                          <a:latin typeface="DM Sans"/>
                        </a:rPr>
                        <a:t> Prevents an accidental permanent establishment.</a:t>
                      </a:r>
                    </a:p>
                  </a:txBody>
                  <a:tcPr anchor="ctr" marL="63500" marR="63500" marT="25400" marB="25400">
                    <a:lnL>
                      <a:noFill/>
                    </a:lnL>
                    <a:lnR>
                      <a:noFill/>
                    </a:lnR>
                    <a:lnT>
                      <a:noFill/>
                    </a:lnT>
                    <a:lnB>
                      <a:noFill/>
                    </a:lnB>
                    <a:solidFill>
                      <a:srgbClr val="FFFFFF"/>
                    </a:solidFill>
                  </a:tcPr>
                </a:tc>
              </a:tr>
              <a:tr h="1143000">
                <a:tc>
                  <a:txBody>
                    <a:bodyPr/>
                    <a:lstStyle/>
                    <a:p>
                      <a:pPr algn="l"/>
                      <a:r>
                        <a:rPr b="1" sz="1100" i="0" u="none">
                          <a:solidFill>
                            <a:srgbClr val="11052C"/>
                          </a:solidFill>
                          <a:latin typeface="DM Sans"/>
                        </a:rPr>
                        <a:t>2. Licensed scale-up</a:t>
                      </a:r>
                      <a:r>
                        <a:rPr b="0" sz="1100" i="0" u="none">
                          <a:solidFill>
                            <a:srgbClr val="11052C"/>
                          </a:solidFill>
                          <a:latin typeface="DM Sans"/>
                        </a:rPr>
                        <a:t> (US charter, new verticals)</a:t>
                      </a:r>
                    </a:p>
                  </a:txBody>
                  <a:tcPr anchor="ctr" marL="63500" marR="63500" marT="25400" marB="25400">
                    <a:lnL>
                      <a:noFill/>
                    </a:lnL>
                    <a:lnR>
                      <a:noFill/>
                    </a:lnR>
                    <a:lnT>
                      <a:noFill/>
                    </a:lnT>
                    <a:lnB>
                      <a:noFill/>
                    </a:lnB>
                    <a:solidFill>
                      <a:srgbClr val="FFFFFF"/>
                    </a:solidFill>
                  </a:tcPr>
                </a:tc>
                <a:tc>
                  <a:txBody>
                    <a:bodyPr/>
                    <a:lstStyle/>
                    <a:p>
                      <a:pPr algn="l"/>
                      <a:r>
                        <a:rPr b="0" sz="1100" i="0" u="none">
                          <a:solidFill>
                            <a:srgbClr val="11052C"/>
                          </a:solidFill>
                          <a:latin typeface="DM Sans"/>
                        </a:rPr>
                        <a:t>A regulator requires a local licensed entity (deposits, lending, custody), or substance rules require local payroll and assets.</a:t>
                      </a:r>
                    </a:p>
                  </a:txBody>
                  <a:tcPr anchor="ctr" marL="63500" marR="63500" marT="25400" marB="25400">
                    <a:lnL>
                      <a:noFill/>
                    </a:lnL>
                    <a:lnR>
                      <a:noFill/>
                    </a:lnR>
                    <a:lnT>
                      <a:noFill/>
                    </a:lnT>
                    <a:lnB>
                      <a:noFill/>
                    </a:lnB>
                    <a:solidFill>
                      <a:srgbClr val="FFFFFF"/>
                    </a:solidFill>
                  </a:tcPr>
                </a:tc>
                <a:tc>
                  <a:txBody>
                    <a:bodyPr/>
                    <a:lstStyle/>
                    <a:p>
                      <a:pPr algn="l"/>
                      <a:r>
                        <a:rPr b="0" sz="1100" i="0" u="none">
                          <a:solidFill>
                            <a:srgbClr val="11052C"/>
                          </a:solidFill>
                          <a:latin typeface="DM Sans"/>
                        </a:rPr>
                        <a:t>Dedicated licensed entity with its own capital plan and headroom.</a:t>
                      </a:r>
                    </a:p>
                  </a:txBody>
                  <a:tcPr anchor="ctr" marL="63500" marR="63500" marT="25400" marB="25400">
                    <a:lnL>
                      <a:noFill/>
                    </a:lnL>
                    <a:lnR>
                      <a:noFill/>
                    </a:lnR>
                    <a:lnT>
                      <a:noFill/>
                    </a:lnT>
                    <a:lnB>
                      <a:noFill/>
                    </a:lnB>
                    <a:solidFill>
                      <a:srgbClr val="FFFFFF"/>
                    </a:solidFill>
                  </a:tcPr>
                </a:tc>
                <a:tc>
                  <a:txBody>
                    <a:bodyPr/>
                    <a:lstStyle/>
                    <a:p>
                      <a:pPr algn="l"/>
                      <a:r>
                        <a:rPr b="1" sz="1100" i="0" u="none">
                          <a:solidFill>
                            <a:srgbClr val="11052C"/>
                          </a:solidFill>
                          <a:latin typeface="DM Sans"/>
                        </a:rPr>
                        <a:t>Fit-and-proper directors;</a:t>
                      </a:r>
                      <a:r>
                        <a:rPr b="0" sz="1100" i="0" u="none">
                          <a:solidFill>
                            <a:srgbClr val="11052C"/>
                          </a:solidFill>
                          <a:latin typeface="DM Sans"/>
                        </a:rPr>
                        <a:t> two central officers plus one local leader; dual signature above a set limit; D&amp;O bound before activation.</a:t>
                      </a:r>
                    </a:p>
                  </a:txBody>
                  <a:tcPr anchor="ctr" marL="63500" marR="63500" marT="25400" marB="25400">
                    <a:lnL>
                      <a:noFill/>
                    </a:lnL>
                    <a:lnR>
                      <a:noFill/>
                    </a:lnR>
                    <a:lnT>
                      <a:noFill/>
                    </a:lnT>
                    <a:lnB>
                      <a:noFill/>
                    </a:lnB>
                    <a:solidFill>
                      <a:srgbClr val="FFFFFF"/>
                    </a:solidFill>
                  </a:tcPr>
                </a:tc>
              </a:tr>
              <a:tr h="1143000">
                <a:tc>
                  <a:txBody>
                    <a:bodyPr/>
                    <a:lstStyle/>
                    <a:p>
                      <a:pPr algn="l"/>
                      <a:r>
                        <a:rPr b="1" sz="1100" i="0" u="none">
                          <a:solidFill>
                            <a:srgbClr val="11052C"/>
                          </a:solidFill>
                          <a:latin typeface="DM Sans"/>
                        </a:rPr>
                        <a:t>3. Core hub</a:t>
                      </a:r>
                      <a:r>
                        <a:rPr b="0" sz="1100" i="0" u="none">
                          <a:solidFill>
                            <a:srgbClr val="11052C"/>
                          </a:solidFill>
                          <a:latin typeface="DM Sans"/>
                        </a:rPr>
                        <a:t> (Brazil, Mexico, Colombia, HQ)</a:t>
                      </a:r>
                    </a:p>
                  </a:txBody>
                  <a:tcPr anchor="ctr" marL="63500" marR="63500" marT="25400" marB="25400">
                    <a:lnL>
                      <a:noFill/>
                    </a:lnL>
                    <a:lnR>
                      <a:noFill/>
                    </a:lnR>
                    <a:lnT>
                      <a:noFill/>
                    </a:lnT>
                    <a:lnB>
                      <a:noFill/>
                    </a:lnB>
                    <a:solidFill>
                      <a:srgbClr val="F3E8FF"/>
                    </a:solidFill>
                  </a:tcPr>
                </a:tc>
                <a:tc>
                  <a:txBody>
                    <a:bodyPr/>
                    <a:lstStyle/>
                    <a:p>
                      <a:pPr algn="l"/>
                      <a:r>
                        <a:rPr b="0" sz="1100" i="0" u="none">
                          <a:solidFill>
                            <a:srgbClr val="11052C"/>
                          </a:solidFill>
                          <a:latin typeface="DM Sans"/>
                        </a:rPr>
                        <a:t>Full banking or fintech license in force; local CFO in place (already so in Mexico and Colombia).</a:t>
                      </a:r>
                    </a:p>
                  </a:txBody>
                  <a:tcPr anchor="ctr" marL="63500" marR="63500" marT="25400" marB="25400">
                    <a:lnL>
                      <a:noFill/>
                    </a:lnL>
                    <a:lnR>
                      <a:noFill/>
                    </a:lnR>
                    <a:lnT>
                      <a:noFill/>
                    </a:lnT>
                    <a:lnB>
                      <a:noFill/>
                    </a:lnB>
                    <a:solidFill>
                      <a:srgbClr val="F3E8FF"/>
                    </a:solidFill>
                  </a:tcPr>
                </a:tc>
                <a:tc>
                  <a:txBody>
                    <a:bodyPr/>
                    <a:lstStyle/>
                    <a:p>
                      <a:pPr algn="l"/>
                      <a:r>
                        <a:rPr b="0" sz="1100" i="0" u="none">
                          <a:solidFill>
                            <a:srgbClr val="11052C"/>
                          </a:solidFill>
                          <a:latin typeface="DM Sans"/>
                        </a:rPr>
                        <a:t>Full licensed entity; regional campus where the HQ decision lands.</a:t>
                      </a:r>
                    </a:p>
                  </a:txBody>
                  <a:tcPr anchor="ctr" marL="63500" marR="63500" marT="25400" marB="25400">
                    <a:lnL>
                      <a:noFill/>
                    </a:lnL>
                    <a:lnR>
                      <a:noFill/>
                    </a:lnR>
                    <a:lnT>
                      <a:noFill/>
                    </a:lnT>
                    <a:lnB>
                      <a:noFill/>
                    </a:lnB>
                    <a:solidFill>
                      <a:srgbClr val="F3E8FF"/>
                    </a:solidFill>
                  </a:tcPr>
                </a:tc>
                <a:tc>
                  <a:txBody>
                    <a:bodyPr/>
                    <a:lstStyle/>
                    <a:p>
                      <a:pPr algn="l"/>
                      <a:r>
                        <a:rPr b="1" sz="1100" i="0" u="none">
                          <a:solidFill>
                            <a:srgbClr val="11052C"/>
                          </a:solidFill>
                          <a:latin typeface="DM Sans"/>
                        </a:rPr>
                        <a:t>Audit and Risk Committee oversight;</a:t>
                      </a:r>
                      <a:r>
                        <a:rPr b="0" sz="1100" i="0" u="none">
                          <a:solidFill>
                            <a:srgbClr val="11052C"/>
                          </a:solidFill>
                          <a:latin typeface="DM Sans"/>
                        </a:rPr>
                        <a:t> dual signature above $250k; director liability insurance; annual review of powers of attorney.</a:t>
                      </a:r>
                    </a:p>
                  </a:txBody>
                  <a:tcPr anchor="ctr" marL="63500" marR="63500" marT="25400" marB="25400">
                    <a:lnL>
                      <a:noFill/>
                    </a:lnL>
                    <a:lnR>
                      <a:noFill/>
                    </a:lnR>
                    <a:lnT>
                      <a:noFill/>
                    </a:lnT>
                    <a:lnB>
                      <a:noFill/>
                    </a:lnB>
                    <a:solidFill>
                      <a:srgbClr val="F3E8FF"/>
                    </a:solidFill>
                  </a:tcPr>
                </a:tc>
              </a:tr>
            </a:tbl>
          </a:graphicData>
        </a:graphic>
      </p:graphicFrame>
      <p:sp>
        <p:nvSpPr>
          <p:cNvPr id="19" name="TextBox 18"/>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DM Sans"/>
              </a:rPr>
              <a:t>12 // DELIVERABLE 2: STATUTORY GOVERNANCE ACROSS NEW ENTITIES</a:t>
            </a:r>
          </a:p>
        </p:txBody>
      </p:sp>
      <p:sp>
        <p:nvSpPr>
          <p:cNvPr id="20" name="TextBox 19"/>
          <p:cNvSpPr txBox="1"/>
          <p:nvPr/>
        </p:nvSpPr>
        <p:spPr>
          <a:xfrm>
            <a:off x="609600" y="704850"/>
            <a:ext cx="115824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Space Grotesk"/>
              </a:rPr>
              <a:t>A new entity is opened when a license or tax substance requires it, never for scale alone; officers and signing follow the stage</a:t>
            </a:r>
          </a:p>
        </p:txBody>
      </p:sp>
      <p:sp>
        <p:nvSpPr>
          <p:cNvPr id="21" name="TextBox 20"/>
          <p:cNvSpPr txBox="1"/>
          <p:nvPr/>
        </p:nvSpPr>
        <p:spPr>
          <a:xfrm>
            <a:off x="609600" y="6172200"/>
            <a:ext cx="11068050" cy="342900"/>
          </a:xfrm>
          <a:prstGeom prst="rect">
            <a:avLst/>
          </a:prstGeom>
          <a:noFill/>
        </p:spPr>
        <p:txBody>
          <a:bodyPr wrap="square" lIns="0" rIns="0" tIns="0" bIns="0" anchor="t">
            <a:spAutoFit/>
          </a:bodyPr>
          <a:lstStyle/>
          <a:p>
            <a:pPr algn="l"/>
            <a:r>
              <a:rPr b="0" sz="1050" i="0" u="none">
                <a:solidFill>
                  <a:srgbClr val="6B5B82"/>
                </a:solidFill>
                <a:latin typeface="DM Sans"/>
              </a:rPr>
              <a:t>Sources: Nu announcements (US launch via Lead Bank, 10 Sep 2026; OCC conditional approval, 27 Jan 2026; Mexico bank authorization, 10 Jul 2026; local finance leadership in Mexico and Colombia per the CFO appointment release). Signing limits are proposals (ASSUMPTION).</a:t>
            </a:r>
          </a:p>
        </p:txBody>
      </p:sp>
      <p:sp>
        <p:nvSpPr>
          <p:cNvPr id="22" name="TextBox 21"/>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DM Sans"/>
              </a:rPr>
              <a:t>13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graphicFrame>
        <p:nvGraphicFramePr>
          <p:cNvPr id="22" name="Table 21"/>
          <p:cNvGraphicFramePr>
            <a:graphicFrameLocks noGrp="1"/>
          </p:cNvGraphicFramePr>
          <p:nvPr/>
        </p:nvGraphicFramePr>
        <p:xfrm>
          <a:off x="609600" y="1508760"/>
          <a:ext cx="10972800" cy="4297680"/>
        </p:xfrm>
        <a:graphic>
          <a:graphicData uri="http://schemas.openxmlformats.org/drawingml/2006/table">
            <a:tbl>
              <a:tblPr firstRow="0" bandRow="0">
                <a:lnL>
                  <a:noFill/>
                </a:lnL>
                <a:lnR>
                  <a:noFill/>
                </a:lnR>
                <a:lnT>
                  <a:noFill/>
                </a:lnT>
                <a:lnB>
                  <a:noFill/>
                </a:lnB>
                <a:lnV>
                  <a:noFill/>
                </a:lnV>
                <a:lnH>
                  <a:noFill/>
                </a:lnH>
              </a:tblPr>
              <a:tblGrid>
                <a:gridCol w="1645920"/>
                <a:gridCol w="2194560"/>
                <a:gridCol w="4206240"/>
                <a:gridCol w="2926080"/>
              </a:tblGrid>
              <a:tr h="457200">
                <a:tc>
                  <a:txBody>
                    <a:bodyPr/>
                    <a:lstStyle/>
                    <a:p>
                      <a:pPr algn="l"/>
                      <a:r>
                        <a:rPr b="1" sz="1350" i="0" u="none">
                          <a:solidFill>
                            <a:srgbClr val="FFFFFF"/>
                          </a:solidFill>
                          <a:latin typeface="Space Grotesk"/>
                        </a:rPr>
                        <a:t>Topic</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Space Grotesk"/>
                        </a:rPr>
                        <a:t>Source and class</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Space Grotesk"/>
                        </a:rPr>
                        <a:t>Data point</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Space Grotesk"/>
                        </a:rPr>
                        <a:t>Where it is used</a:t>
                      </a:r>
                    </a:p>
                  </a:txBody>
                  <a:tcPr anchor="ctr" marL="63500" marR="63500" marT="25400" marB="25400">
                    <a:lnL>
                      <a:noFill/>
                    </a:lnL>
                    <a:lnR>
                      <a:noFill/>
                    </a:lnR>
                    <a:lnT>
                      <a:noFill/>
                    </a:lnT>
                    <a:lnB>
                      <a:noFill/>
                    </a:lnB>
                    <a:solidFill>
                      <a:srgbClr val="820AD1"/>
                    </a:solidFill>
                  </a:tcPr>
                </a:tc>
              </a:tr>
              <a:tr h="960120">
                <a:tc>
                  <a:txBody>
                    <a:bodyPr/>
                    <a:lstStyle/>
                    <a:p>
                      <a:pPr algn="l"/>
                      <a:r>
                        <a:rPr b="1" sz="1050" i="0" u="none">
                          <a:solidFill>
                            <a:srgbClr val="11052C"/>
                          </a:solidFill>
                          <a:latin typeface="DM Sans"/>
                        </a:rPr>
                        <a:t>1. Nu scale and efficiency</a:t>
                      </a:r>
                    </a:p>
                  </a:txBody>
                  <a:tcPr anchor="ctr" marL="63500" marR="63500" marT="25400" marB="25400">
                    <a:lnL>
                      <a:noFill/>
                    </a:lnL>
                    <a:lnR>
                      <a:noFill/>
                    </a:lnR>
                    <a:lnT>
                      <a:noFill/>
                    </a:lnT>
                    <a:lnB>
                      <a:noFill/>
                    </a:lnB>
                    <a:solidFill>
                      <a:srgbClr val="FFFFFF"/>
                    </a:solidFill>
                  </a:tcPr>
                </a:tc>
                <a:tc>
                  <a:txBody>
                    <a:bodyPr/>
                    <a:lstStyle/>
                    <a:p>
                      <a:pPr algn="l"/>
                      <a:r>
                        <a:rPr b="1" sz="1050" i="0" u="none">
                          <a:solidFill>
                            <a:srgbClr val="11052C"/>
                          </a:solidFill>
                          <a:latin typeface="DM Sans"/>
                        </a:rPr>
                        <a:t>Nu Q2'26 release and 6-K; 20-F</a:t>
                      </a:r>
                      <a:r>
                        <a:rPr b="0" sz="1050" i="0" u="none">
                          <a:solidFill>
                            <a:srgbClr val="11052C"/>
                          </a:solidFill>
                          <a:latin typeface="DM Sans"/>
                        </a:rPr>
                        <a:t> | FACT</a:t>
                      </a:r>
                    </a:p>
                  </a:txBody>
                  <a:tcPr anchor="ctr" marL="63500" marR="63500" marT="25400" marB="25400">
                    <a:lnL>
                      <a:noFill/>
                    </a:lnL>
                    <a:lnR>
                      <a:noFill/>
                    </a:lnR>
                    <a:lnT>
                      <a:noFill/>
                    </a:lnT>
                    <a:lnB>
                      <a:noFill/>
                    </a:lnB>
                    <a:solidFill>
                      <a:srgbClr val="FFFFFF"/>
                    </a:solidFill>
                  </a:tcPr>
                </a:tc>
                <a:tc>
                  <a:txBody>
                    <a:bodyPr/>
                    <a:lstStyle/>
                    <a:p>
                      <a:pPr algn="l"/>
                      <a:r>
                        <a:rPr b="0" sz="1050" i="0" u="none">
                          <a:solidFill>
                            <a:srgbClr val="11052C"/>
                          </a:solidFill>
                          <a:latin typeface="DM Sans"/>
                        </a:rPr>
                        <a:t>138.9M customers; ARPAC $17.1; cost to serve $1.0; efficiency ratio 19.5% (FY26 ~20% per the call); ROE 33%; net income $1.06B; low-and-grow underwriting.</a:t>
                      </a:r>
                    </a:p>
                  </a:txBody>
                  <a:tcPr anchor="ctr" marL="63500" marR="63500" marT="25400" marB="25400">
                    <a:lnL>
                      <a:noFill/>
                    </a:lnL>
                    <a:lnR>
                      <a:noFill/>
                    </a:lnR>
                    <a:lnT>
                      <a:noFill/>
                    </a:lnT>
                    <a:lnB>
                      <a:noFill/>
                    </a:lnB>
                    <a:solidFill>
                      <a:srgbClr val="FFFFFF"/>
                    </a:solidFill>
                  </a:tcPr>
                </a:tc>
                <a:tc>
                  <a:txBody>
                    <a:bodyPr/>
                    <a:lstStyle/>
                    <a:p>
                      <a:pPr algn="l"/>
                      <a:r>
                        <a:rPr b="0" sz="1050" i="0" u="none">
                          <a:solidFill>
                            <a:srgbClr val="11052C"/>
                          </a:solidFill>
                          <a:latin typeface="DM Sans"/>
                        </a:rPr>
                        <a:t>Slides 4, 5, 8, 10, 17: the cap, the planning principle, the 70/30 release.</a:t>
                      </a:r>
                    </a:p>
                  </a:txBody>
                  <a:tcPr anchor="ctr" marL="63500" marR="63500" marT="25400" marB="25400">
                    <a:lnL>
                      <a:noFill/>
                    </a:lnL>
                    <a:lnR>
                      <a:noFill/>
                    </a:lnR>
                    <a:lnT>
                      <a:noFill/>
                    </a:lnT>
                    <a:lnB>
                      <a:noFill/>
                    </a:lnB>
                    <a:solidFill>
                      <a:srgbClr val="FFFFFF"/>
                    </a:solidFill>
                  </a:tcPr>
                </a:tc>
              </a:tr>
              <a:tr h="960120">
                <a:tc>
                  <a:txBody>
                    <a:bodyPr/>
                    <a:lstStyle/>
                    <a:p>
                      <a:pPr algn="l"/>
                      <a:r>
                        <a:rPr b="1" sz="1050" i="0" u="none">
                          <a:solidFill>
                            <a:srgbClr val="11052C"/>
                          </a:solidFill>
                          <a:latin typeface="DM Sans"/>
                        </a:rPr>
                        <a:t>2. Corporate events</a:t>
                      </a:r>
                    </a:p>
                  </a:txBody>
                  <a:tcPr anchor="ctr" marL="63500" marR="63500" marT="25400" marB="25400">
                    <a:lnL>
                      <a:noFill/>
                    </a:lnL>
                    <a:lnR>
                      <a:noFill/>
                    </a:lnR>
                    <a:lnT>
                      <a:noFill/>
                    </a:lnT>
                    <a:lnB>
                      <a:noFill/>
                    </a:lnB>
                    <a:solidFill>
                      <a:srgbClr val="FFFFFF"/>
                    </a:solidFill>
                  </a:tcPr>
                </a:tc>
                <a:tc>
                  <a:txBody>
                    <a:bodyPr/>
                    <a:lstStyle/>
                    <a:p>
                      <a:pPr algn="l"/>
                      <a:r>
                        <a:rPr b="1" sz="1050" i="0" u="none">
                          <a:solidFill>
                            <a:srgbClr val="11052C"/>
                          </a:solidFill>
                          <a:latin typeface="DM Sans"/>
                        </a:rPr>
                        <a:t>Nu announcements; OCC; Nu IR</a:t>
                      </a:r>
                      <a:r>
                        <a:rPr b="0" sz="1050" i="0" u="none">
                          <a:solidFill>
                            <a:srgbClr val="11052C"/>
                          </a:solidFill>
                          <a:latin typeface="DM Sans"/>
                        </a:rPr>
                        <a:t> | FACT</a:t>
                      </a:r>
                    </a:p>
                  </a:txBody>
                  <a:tcPr anchor="ctr" marL="63500" marR="63500" marT="25400" marB="25400">
                    <a:lnL>
                      <a:noFill/>
                    </a:lnL>
                    <a:lnR>
                      <a:noFill/>
                    </a:lnR>
                    <a:lnT>
                      <a:noFill/>
                    </a:lnT>
                    <a:lnB>
                      <a:noFill/>
                    </a:lnB>
                    <a:solidFill>
                      <a:srgbClr val="FFFFFF"/>
                    </a:solidFill>
                  </a:tcPr>
                </a:tc>
                <a:tc>
                  <a:txBody>
                    <a:bodyPr/>
                    <a:lstStyle/>
                    <a:p>
                      <a:pPr algn="l"/>
                      <a:r>
                        <a:rPr b="0" sz="1050" i="0" u="none">
                          <a:solidFill>
                            <a:srgbClr val="11052C"/>
                          </a:solidFill>
                          <a:latin typeface="DM Sans"/>
                        </a:rPr>
                        <a:t>Mexico bank authorization 10 Jul 2026, $4.2B plan to 2030; OCC conditional approval 27 Jan 2026 (capitalize within 12 months); US launch via Lead Bank 10 Sep 2026; buyback up to $1.0B (Jun 2026); CFO appointed 13 Jul 2026; Investor Day 8 Dec 2026.</a:t>
                      </a:r>
                    </a:p>
                  </a:txBody>
                  <a:tcPr anchor="ctr" marL="63500" marR="63500" marT="25400" marB="25400">
                    <a:lnL>
                      <a:noFill/>
                    </a:lnL>
                    <a:lnR>
                      <a:noFill/>
                    </a:lnR>
                    <a:lnT>
                      <a:noFill/>
                    </a:lnT>
                    <a:lnB>
                      <a:noFill/>
                    </a:lnB>
                    <a:solidFill>
                      <a:srgbClr val="FFFFFF"/>
                    </a:solidFill>
                  </a:tcPr>
                </a:tc>
                <a:tc>
                  <a:txBody>
                    <a:bodyPr/>
                    <a:lstStyle/>
                    <a:p>
                      <a:pPr algn="l"/>
                      <a:r>
                        <a:rPr b="0" sz="1050" i="0" u="none">
                          <a:solidFill>
                            <a:srgbClr val="11052C"/>
                          </a:solidFill>
                          <a:latin typeface="DM Sans"/>
                        </a:rPr>
                        <a:t>Slides 11, 12, 13: the capital question and the Board calendar.</a:t>
                      </a:r>
                    </a:p>
                  </a:txBody>
                  <a:tcPr anchor="ctr" marL="63500" marR="63500" marT="25400" marB="25400">
                    <a:lnL>
                      <a:noFill/>
                    </a:lnL>
                    <a:lnR>
                      <a:noFill/>
                    </a:lnR>
                    <a:lnT>
                      <a:noFill/>
                    </a:lnT>
                    <a:lnB>
                      <a:noFill/>
                    </a:lnB>
                    <a:solidFill>
                      <a:srgbClr val="FFFFFF"/>
                    </a:solidFill>
                  </a:tcPr>
                </a:tc>
              </a:tr>
              <a:tr h="960120">
                <a:tc>
                  <a:txBody>
                    <a:bodyPr/>
                    <a:lstStyle/>
                    <a:p>
                      <a:pPr algn="l"/>
                      <a:r>
                        <a:rPr b="1" sz="1050" i="0" u="none">
                          <a:solidFill>
                            <a:srgbClr val="11052C"/>
                          </a:solidFill>
                          <a:latin typeface="DM Sans"/>
                        </a:rPr>
                        <a:t>3. HQ tax rules</a:t>
                      </a:r>
                    </a:p>
                  </a:txBody>
                  <a:tcPr anchor="ctr" marL="63500" marR="63500" marT="25400" marB="25400">
                    <a:lnL>
                      <a:noFill/>
                    </a:lnL>
                    <a:lnR>
                      <a:noFill/>
                    </a:lnR>
                    <a:lnT>
                      <a:noFill/>
                    </a:lnT>
                    <a:lnB>
                      <a:noFill/>
                    </a:lnB>
                    <a:solidFill>
                      <a:srgbClr val="FFFFFF"/>
                    </a:solidFill>
                  </a:tcPr>
                </a:tc>
                <a:tc>
                  <a:txBody>
                    <a:bodyPr/>
                    <a:lstStyle/>
                    <a:p>
                      <a:pPr algn="l"/>
                      <a:r>
                        <a:rPr b="1" sz="1050" i="0" u="none">
                          <a:solidFill>
                            <a:srgbClr val="11052C"/>
                          </a:solidFill>
                          <a:latin typeface="DM Sans"/>
                        </a:rPr>
                        <a:t>OECD GloBE Model Rules</a:t>
                      </a:r>
                      <a:r>
                        <a:rPr b="0" sz="1050" i="0" u="none">
                          <a:solidFill>
                            <a:srgbClr val="11052C"/>
                          </a:solidFill>
                          <a:latin typeface="DM Sans"/>
                        </a:rPr>
                        <a:t> | FACT (rule); ASSUMPTION (site)</a:t>
                      </a:r>
                    </a:p>
                  </a:txBody>
                  <a:tcPr anchor="ctr" marL="63500" marR="63500" marT="25400" marB="25400">
                    <a:lnL>
                      <a:noFill/>
                    </a:lnL>
                    <a:lnR>
                      <a:noFill/>
                    </a:lnR>
                    <a:lnT>
                      <a:noFill/>
                    </a:lnT>
                    <a:lnB>
                      <a:noFill/>
                    </a:lnB>
                    <a:solidFill>
                      <a:srgbClr val="FFFFFF"/>
                    </a:solidFill>
                  </a:tcPr>
                </a:tc>
                <a:tc>
                  <a:txBody>
                    <a:bodyPr/>
                    <a:lstStyle/>
                    <a:p>
                      <a:pPr algn="l"/>
                      <a:r>
                        <a:rPr b="0" sz="1050" i="0" u="none">
                          <a:solidFill>
                            <a:srgbClr val="11052C"/>
                          </a:solidFill>
                          <a:latin typeface="DM Sans"/>
                        </a:rPr>
                        <a:t>EUR 750M threshold; 15% minimum; 2026 transitional carve-out 9.4% of payroll and 7.4% of tangible assets (Art. 9.2).</a:t>
                      </a:r>
                    </a:p>
                  </a:txBody>
                  <a:tcPr anchor="ctr" marL="63500" marR="63500" marT="25400" marB="25400">
                    <a:lnL>
                      <a:noFill/>
                    </a:lnL>
                    <a:lnR>
                      <a:noFill/>
                    </a:lnR>
                    <a:lnT>
                      <a:noFill/>
                    </a:lnT>
                    <a:lnB>
                      <a:noFill/>
                    </a:lnB>
                    <a:solidFill>
                      <a:srgbClr val="FFFFFF"/>
                    </a:solidFill>
                  </a:tcPr>
                </a:tc>
                <a:tc>
                  <a:txBody>
                    <a:bodyPr/>
                    <a:lstStyle/>
                    <a:p>
                      <a:pPr algn="l"/>
                      <a:r>
                        <a:rPr b="0" sz="1050" i="0" u="none">
                          <a:solidFill>
                            <a:srgbClr val="11052C"/>
                          </a:solidFill>
                          <a:latin typeface="DM Sans"/>
                        </a:rPr>
                        <a:t>Slide 15, gate 1. No savings figure is claimed before a site is chosen.</a:t>
                      </a:r>
                    </a:p>
                  </a:txBody>
                  <a:tcPr anchor="ctr" marL="63500" marR="63500" marT="25400" marB="25400">
                    <a:lnL>
                      <a:noFill/>
                    </a:lnL>
                    <a:lnR>
                      <a:noFill/>
                    </a:lnR>
                    <a:lnT>
                      <a:noFill/>
                    </a:lnT>
                    <a:lnB>
                      <a:noFill/>
                    </a:lnB>
                    <a:solidFill>
                      <a:srgbClr val="FFFFFF"/>
                    </a:solidFill>
                  </a:tcPr>
                </a:tc>
              </a:tr>
              <a:tr h="960120">
                <a:tc>
                  <a:txBody>
                    <a:bodyPr/>
                    <a:lstStyle/>
                    <a:p>
                      <a:pPr algn="l"/>
                      <a:r>
                        <a:rPr b="1" sz="1050" i="0" u="none">
                          <a:solidFill>
                            <a:srgbClr val="11052C"/>
                          </a:solidFill>
                          <a:latin typeface="DM Sans"/>
                        </a:rPr>
                        <a:t>4. Directional benchmarks</a:t>
                      </a:r>
                    </a:p>
                  </a:txBody>
                  <a:tcPr anchor="ctr" marL="63500" marR="63500" marT="25400" marB="25400">
                    <a:lnL>
                      <a:noFill/>
                    </a:lnL>
                    <a:lnR>
                      <a:noFill/>
                    </a:lnR>
                    <a:lnT>
                      <a:noFill/>
                    </a:lnT>
                    <a:lnB>
                      <a:noFill/>
                    </a:lnB>
                    <a:solidFill>
                      <a:srgbClr val="F3E8FF"/>
                    </a:solidFill>
                  </a:tcPr>
                </a:tc>
                <a:tc>
                  <a:txBody>
                    <a:bodyPr/>
                    <a:lstStyle/>
                    <a:p>
                      <a:pPr algn="l"/>
                      <a:r>
                        <a:rPr b="1" sz="1050" i="0" u="none">
                          <a:solidFill>
                            <a:srgbClr val="11052C"/>
                          </a:solidFill>
                          <a:latin typeface="DM Sans"/>
                        </a:rPr>
                        <a:t>Hackett, McKinsey, Gartner, HBR, NACD, Deloitte</a:t>
                      </a:r>
                      <a:r>
                        <a:rPr b="0" sz="1050" i="0" u="none">
                          <a:solidFill>
                            <a:srgbClr val="11052C"/>
                          </a:solidFill>
                          <a:latin typeface="DM Sans"/>
                        </a:rPr>
                        <a:t> | CONTEXT, not load-bearing</a:t>
                      </a:r>
                    </a:p>
                  </a:txBody>
                  <a:tcPr anchor="ctr" marL="63500" marR="63500" marT="25400" marB="25400">
                    <a:lnL>
                      <a:noFill/>
                    </a:lnL>
                    <a:lnR>
                      <a:noFill/>
                    </a:lnR>
                    <a:lnT>
                      <a:noFill/>
                    </a:lnT>
                    <a:lnB>
                      <a:noFill/>
                    </a:lnB>
                    <a:solidFill>
                      <a:srgbClr val="F3E8FF"/>
                    </a:solidFill>
                  </a:tcPr>
                </a:tc>
                <a:tc>
                  <a:txBody>
                    <a:bodyPr/>
                    <a:lstStyle/>
                    <a:p>
                      <a:pPr algn="l"/>
                      <a:r>
                        <a:rPr b="0" sz="1050" i="0" u="none">
                          <a:solidFill>
                            <a:srgbClr val="11052C"/>
                          </a:solidFill>
                          <a:latin typeface="DM Sans"/>
                        </a:rPr>
                        <a:t>Central hubs shorten planning cycles; active reallocators earn higher returns; fair process wins acceptance; T-7 Board books shift meeting time to strategy.</a:t>
                      </a:r>
                    </a:p>
                  </a:txBody>
                  <a:tcPr anchor="ctr" marL="63500" marR="63500" marT="25400" marB="25400">
                    <a:lnL>
                      <a:noFill/>
                    </a:lnL>
                    <a:lnR>
                      <a:noFill/>
                    </a:lnR>
                    <a:lnT>
                      <a:noFill/>
                    </a:lnT>
                    <a:lnB>
                      <a:noFill/>
                    </a:lnB>
                    <a:solidFill>
                      <a:srgbClr val="F3E8FF"/>
                    </a:solidFill>
                  </a:tcPr>
                </a:tc>
                <a:tc>
                  <a:txBody>
                    <a:bodyPr/>
                    <a:lstStyle/>
                    <a:p>
                      <a:pPr algn="l"/>
                      <a:r>
                        <a:rPr b="0" sz="1050" i="0" u="none">
                          <a:solidFill>
                            <a:srgbClr val="11052C"/>
                          </a:solidFill>
                          <a:latin typeface="DM Sans"/>
                        </a:rPr>
                        <a:t>Named in footers only. No headline rests on them.</a:t>
                      </a:r>
                    </a:p>
                  </a:txBody>
                  <a:tcPr anchor="ctr" marL="63500" marR="63500" marT="25400" marB="25400">
                    <a:lnL>
                      <a:noFill/>
                    </a:lnL>
                    <a:lnR>
                      <a:noFill/>
                    </a:lnR>
                    <a:lnT>
                      <a:noFill/>
                    </a:lnT>
                    <a:lnB>
                      <a:noFill/>
                    </a:lnB>
                    <a:solidFill>
                      <a:srgbClr val="F3E8FF"/>
                    </a:solidFill>
                  </a:tcPr>
                </a:tc>
              </a:tr>
            </a:tbl>
          </a:graphicData>
        </a:graphic>
      </p:graphicFrame>
      <p:sp>
        <p:nvSpPr>
          <p:cNvPr id="23" name="TextBox 22"/>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DM Sans"/>
              </a:rPr>
              <a:t>APPENDIX A // SOURCES AND ASSUMPTIONS LEDGER</a:t>
            </a:r>
          </a:p>
        </p:txBody>
      </p:sp>
      <p:sp>
        <p:nvSpPr>
          <p:cNvPr id="24" name="TextBox 23"/>
          <p:cNvSpPr txBox="1"/>
          <p:nvPr/>
        </p:nvSpPr>
        <p:spPr>
          <a:xfrm>
            <a:off x="609600" y="704850"/>
            <a:ext cx="115824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Space Grotesk"/>
              </a:rPr>
              <a:t>Every number in the deck is a sourced fact, a labeled assumption, or a directional benchmark that carries no weight</a:t>
            </a:r>
          </a:p>
        </p:txBody>
      </p:sp>
      <p:sp>
        <p:nvSpPr>
          <p:cNvPr id="25" name="TextBox 24"/>
          <p:cNvSpPr txBox="1"/>
          <p:nvPr/>
        </p:nvSpPr>
        <p:spPr>
          <a:xfrm>
            <a:off x="609600" y="6080760"/>
            <a:ext cx="11068050" cy="342900"/>
          </a:xfrm>
          <a:prstGeom prst="rect">
            <a:avLst/>
          </a:prstGeom>
          <a:noFill/>
        </p:spPr>
        <p:txBody>
          <a:bodyPr wrap="square" lIns="0" rIns="0" tIns="0" bIns="0" anchor="t">
            <a:spAutoFit/>
          </a:bodyPr>
          <a:lstStyle/>
          <a:p>
            <a:pPr algn="l"/>
            <a:r>
              <a:rPr b="0" sz="1050" i="0" u="none">
                <a:solidFill>
                  <a:srgbClr val="6B5B82"/>
                </a:solidFill>
                <a:latin typeface="DM Sans"/>
              </a:rPr>
              <a:t>My estimates (A3, A5, A6, A9) are on slide 3 with their basis. Research assisted by AI tools; every figure, calculation and recommendation was checked by me.</a:t>
            </a:r>
          </a:p>
        </p:txBody>
      </p:sp>
      <p:sp>
        <p:nvSpPr>
          <p:cNvPr id="26" name="TextBox 25"/>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DM Sans"/>
              </a:rPr>
              <a:t>21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90530"/>
        </a:solidFill>
        <a:effectLst/>
      </p:bgPr>
    </p:bg>
    <p:spTree>
      <p:nvGrpSpPr>
        <p:cNvPr id="1" name=""/>
        <p:cNvGrpSpPr/>
        <p:nvPr/>
      </p:nvGrpSpPr>
      <p:grpSpPr/>
      <p:sp>
        <p:nvSpPr>
          <p:cNvPr id="2" name="Rectangle 1"/>
          <p:cNvSpPr/>
          <p:nvPr/>
        </p:nvSpPr>
        <p:spPr>
          <a:xfrm>
            <a:off x="5753100" y="4227016"/>
            <a:ext cx="685800" cy="38100"/>
          </a:xfrm>
          <a:prstGeom prst="rect">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91953" y="2116633"/>
            <a:ext cx="7608093" cy="190500"/>
          </a:xfrm>
          <a:prstGeom prst="rect">
            <a:avLst/>
          </a:prstGeom>
          <a:noFill/>
        </p:spPr>
        <p:txBody>
          <a:bodyPr wrap="none" lIns="0" rIns="0" tIns="0" bIns="0" anchor="t">
            <a:spAutoFit/>
          </a:bodyPr>
          <a:lstStyle/>
          <a:p>
            <a:pPr algn="ctr"/>
            <a:r>
              <a:rPr b="1" sz="1125" i="0" u="none">
                <a:solidFill>
                  <a:srgbClr val="C084FC"/>
                </a:solidFill>
                <a:latin typeface="DM Sans"/>
              </a:rPr>
              <a:t>NU HOLDINGS LTD. // OFFICE OF THE CFO &amp; CORPORATE GOVERNANCE</a:t>
            </a:r>
          </a:p>
        </p:txBody>
      </p:sp>
      <p:sp>
        <p:nvSpPr>
          <p:cNvPr id="4" name="TextBox 3"/>
          <p:cNvSpPr txBox="1"/>
          <p:nvPr/>
        </p:nvSpPr>
        <p:spPr>
          <a:xfrm>
            <a:off x="345281" y="2459533"/>
            <a:ext cx="11501437" cy="1576982"/>
          </a:xfrm>
          <a:prstGeom prst="rect">
            <a:avLst/>
          </a:prstGeom>
          <a:noFill/>
        </p:spPr>
        <p:txBody>
          <a:bodyPr wrap="square" lIns="0" rIns="0" tIns="0" bIns="0" anchor="t">
            <a:spAutoFit/>
          </a:bodyPr>
          <a:lstStyle/>
          <a:p>
            <a:pPr algn="ctr">
              <a:lnSpc>
                <a:spcPts val="4140"/>
              </a:lnSpc>
            </a:pPr>
            <a:r>
              <a:rPr b="1" sz="3600" i="0" u="none">
                <a:solidFill>
                  <a:srgbClr val="FFFFFF"/>
                </a:solidFill>
                <a:latin typeface="Space Grotesk"/>
              </a:rPr>
              <a:t>The ask: approve $25M in two gates, the T-16 / T-7 Board calendar, and the HQ charter. I report back at Day 90.</a:t>
            </a:r>
          </a:p>
        </p:txBody>
      </p:sp>
      <p:sp>
        <p:nvSpPr>
          <p:cNvPr id="5" name="TextBox 4"/>
          <p:cNvSpPr txBox="1"/>
          <p:nvPr/>
        </p:nvSpPr>
        <p:spPr>
          <a:xfrm>
            <a:off x="1371600" y="4493716"/>
            <a:ext cx="9445752" cy="822960"/>
          </a:xfrm>
          <a:prstGeom prst="rect">
            <a:avLst/>
          </a:prstGeom>
          <a:noFill/>
        </p:spPr>
        <p:txBody>
          <a:bodyPr wrap="square" lIns="0" rIns="0" tIns="0" bIns="0" anchor="t">
            <a:spAutoFit/>
          </a:bodyPr>
          <a:lstStyle/>
          <a:p>
            <a:pPr algn="ctr"/>
            <a:r>
              <a:rPr b="0" sz="1500" i="0" u="none">
                <a:solidFill>
                  <a:srgbClr val="E9D5FF"/>
                </a:solidFill>
                <a:latin typeface="DM Sans"/>
              </a:rPr>
              <a:t>KPIs at Day 90: 100% of funded spend with an approved case; Board book at T-7; HQ gates 1 and 2 cleared. Stop rules: two of four indicators below plan, or the efficiency ratio above the FY26 guide.</a:t>
            </a:r>
          </a:p>
        </p:txBody>
      </p:sp>
      <p:sp>
        <p:nvSpPr>
          <p:cNvPr id="6" name="TextBox 5"/>
          <p:cNvSpPr txBox="1"/>
          <p:nvPr/>
        </p:nvSpPr>
        <p:spPr>
          <a:xfrm>
            <a:off x="11338560" y="6446520"/>
            <a:ext cx="731520" cy="274320"/>
          </a:xfrm>
          <a:prstGeom prst="rect">
            <a:avLst/>
          </a:prstGeom>
          <a:noFill/>
        </p:spPr>
        <p:txBody>
          <a:bodyPr wrap="square">
            <a:spAutoFit/>
          </a:bodyPr>
          <a:lstStyle/>
          <a:p>
            <a:pPr algn="r"/>
            <a:r>
              <a:rPr sz="900" b="0">
                <a:solidFill>
                  <a:srgbClr val="C084FC"/>
                </a:solidFill>
                <a:latin typeface="DM Sans"/>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graphicFrame>
        <p:nvGraphicFramePr>
          <p:cNvPr id="26" name="Table 25"/>
          <p:cNvGraphicFramePr>
            <a:graphicFrameLocks noGrp="1"/>
          </p:cNvGraphicFramePr>
          <p:nvPr/>
        </p:nvGraphicFramePr>
        <p:xfrm>
          <a:off x="609600" y="1280160"/>
          <a:ext cx="10972800" cy="4133088"/>
        </p:xfrm>
        <a:graphic>
          <a:graphicData uri="http://schemas.openxmlformats.org/drawingml/2006/table">
            <a:tbl>
              <a:tblPr firstRow="0" bandRow="0">
                <a:lnL>
                  <a:noFill/>
                </a:lnL>
                <a:lnR>
                  <a:noFill/>
                </a:lnR>
                <a:lnT>
                  <a:noFill/>
                </a:lnT>
                <a:lnB>
                  <a:noFill/>
                </a:lnB>
                <a:lnV>
                  <a:noFill/>
                </a:lnV>
                <a:lnH>
                  <a:noFill/>
                </a:lnH>
              </a:tblPr>
              <a:tblGrid>
                <a:gridCol w="457200"/>
                <a:gridCol w="6858000"/>
                <a:gridCol w="1554480"/>
                <a:gridCol w="2103120"/>
              </a:tblGrid>
              <a:tr h="347472">
                <a:tc>
                  <a:txBody>
                    <a:bodyPr/>
                    <a:lstStyle/>
                    <a:p>
                      <a:pPr algn="l"/>
                      <a:r>
                        <a:rPr b="1" sz="1350" i="0" u="none">
                          <a:solidFill>
                            <a:srgbClr val="FFFFFF"/>
                          </a:solidFill>
                          <a:latin typeface="Space Grotesk"/>
                        </a:rPr>
                        <a:t>#</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Space Grotesk"/>
                        </a:rPr>
                        <a:t>Assumption or fact</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Space Grotesk"/>
                        </a:rPr>
                        <a:t>Class</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Space Grotesk"/>
                        </a:rPr>
                        <a:t>Basis</a:t>
                      </a:r>
                    </a:p>
                  </a:txBody>
                  <a:tcPr anchor="ctr" marL="63500" marR="63500" marT="25400" marB="25400">
                    <a:lnL>
                      <a:noFill/>
                    </a:lnL>
                    <a:lnR>
                      <a:noFill/>
                    </a:lnR>
                    <a:lnT>
                      <a:noFill/>
                    </a:lnT>
                    <a:lnB>
                      <a:noFill/>
                    </a:lnB>
                    <a:solidFill>
                      <a:srgbClr val="820AD1"/>
                    </a:solidFill>
                  </a:tcPr>
                </a:tc>
              </a:tr>
              <a:tr h="420624">
                <a:tc>
                  <a:txBody>
                    <a:bodyPr/>
                    <a:lstStyle/>
                    <a:p>
                      <a:pPr algn="l"/>
                      <a:r>
                        <a:rPr b="1" sz="1000" i="0" u="none">
                          <a:solidFill>
                            <a:srgbClr val="11052C"/>
                          </a:solidFill>
                          <a:latin typeface="DM Sans"/>
                        </a:rPr>
                        <a:t>A1</a:t>
                      </a:r>
                    </a:p>
                  </a:txBody>
                  <a:tcPr anchor="ctr" marL="63500" marR="63500" marT="25400" marB="25400">
                    <a:lnL>
                      <a:noFill/>
                    </a:lnL>
                    <a:lnR>
                      <a:noFill/>
                    </a:lnR>
                    <a:lnT>
                      <a:noFill/>
                    </a:lnT>
                    <a:lnB>
                      <a:noFill/>
                    </a:lnB>
                    <a:solidFill>
                      <a:srgbClr val="FFFFFF"/>
                    </a:solidFill>
                  </a:tcPr>
                </a:tc>
                <a:tc>
                  <a:txBody>
                    <a:bodyPr/>
                    <a:lstStyle/>
                    <a:p>
                      <a:pPr algn="l"/>
                      <a:r>
                        <a:rPr b="0" sz="1000" i="0" u="none">
                          <a:solidFill>
                            <a:srgbClr val="11052C"/>
                          </a:solidFill>
                          <a:latin typeface="DM Sans"/>
                        </a:rPr>
                        <a:t>Nu Q2'26: 138.9M customers, monthly ARPAC $17.1, cost to serve $1.0, efficiency ratio 19.5%, ROE 33%, net income $1.06B.</a:t>
                      </a:r>
                    </a:p>
                  </a:txBody>
                  <a:tcPr anchor="ctr" marL="63500" marR="63500" marT="25400" marB="25400">
                    <a:lnL>
                      <a:noFill/>
                    </a:lnL>
                    <a:lnR>
                      <a:noFill/>
                    </a:lnR>
                    <a:lnT>
                      <a:noFill/>
                    </a:lnT>
                    <a:lnB>
                      <a:noFill/>
                    </a:lnB>
                    <a:solidFill>
                      <a:srgbClr val="FFFFFF"/>
                    </a:solidFill>
                  </a:tcPr>
                </a:tc>
                <a:tc>
                  <a:txBody>
                    <a:bodyPr/>
                    <a:lstStyle/>
                    <a:p>
                      <a:pPr algn="l"/>
                      <a:r>
                        <a:rPr b="1" sz="1000" i="0" u="none">
                          <a:solidFill>
                            <a:srgbClr val="11052C"/>
                          </a:solidFill>
                          <a:latin typeface="DM Sans"/>
                        </a:rPr>
                        <a:t>FACT</a:t>
                      </a:r>
                    </a:p>
                  </a:txBody>
                  <a:tcPr anchor="ctr" marL="63500" marR="63500" marT="25400" marB="25400">
                    <a:lnL>
                      <a:noFill/>
                    </a:lnL>
                    <a:lnR>
                      <a:noFill/>
                    </a:lnR>
                    <a:lnT>
                      <a:noFill/>
                    </a:lnT>
                    <a:lnB>
                      <a:noFill/>
                    </a:lnB>
                    <a:solidFill>
                      <a:srgbClr val="FFFFFF"/>
                    </a:solidFill>
                  </a:tcPr>
                </a:tc>
                <a:tc>
                  <a:txBody>
                    <a:bodyPr/>
                    <a:lstStyle/>
                    <a:p>
                      <a:pPr algn="l"/>
                      <a:r>
                        <a:rPr b="0" sz="1000" i="0" u="none">
                          <a:solidFill>
                            <a:srgbClr val="11052C"/>
                          </a:solidFill>
                          <a:latin typeface="DM Sans"/>
                        </a:rPr>
                        <a:t>Q2'26 earnings release and 6-K</a:t>
                      </a:r>
                    </a:p>
                  </a:txBody>
                  <a:tcPr anchor="ctr" marL="63500" marR="63500" marT="25400" marB="25400">
                    <a:lnL>
                      <a:noFill/>
                    </a:lnL>
                    <a:lnR>
                      <a:noFill/>
                    </a:lnR>
                    <a:lnT>
                      <a:noFill/>
                    </a:lnT>
                    <a:lnB>
                      <a:noFill/>
                    </a:lnB>
                    <a:solidFill>
                      <a:srgbClr val="FFFFFF"/>
                    </a:solidFill>
                  </a:tcPr>
                </a:tc>
              </a:tr>
              <a:tr h="420624">
                <a:tc>
                  <a:txBody>
                    <a:bodyPr/>
                    <a:lstStyle/>
                    <a:p>
                      <a:pPr algn="l"/>
                      <a:r>
                        <a:rPr b="1" sz="1000" i="0" u="none">
                          <a:solidFill>
                            <a:srgbClr val="11052C"/>
                          </a:solidFill>
                          <a:latin typeface="DM Sans"/>
                        </a:rPr>
                        <a:t>A2</a:t>
                      </a:r>
                    </a:p>
                  </a:txBody>
                  <a:tcPr anchor="ctr" marL="63500" marR="63500" marT="25400" marB="25400">
                    <a:lnL>
                      <a:noFill/>
                    </a:lnL>
                    <a:lnR>
                      <a:noFill/>
                    </a:lnR>
                    <a:lnT>
                      <a:noFill/>
                    </a:lnT>
                    <a:lnB>
                      <a:noFill/>
                    </a:lnB>
                    <a:solidFill>
                      <a:srgbClr val="FFFFFF"/>
                    </a:solidFill>
                  </a:tcPr>
                </a:tc>
                <a:tc>
                  <a:txBody>
                    <a:bodyPr/>
                    <a:lstStyle/>
                    <a:p>
                      <a:pPr algn="l"/>
                      <a:r>
                        <a:rPr b="0" sz="1000" i="0" u="none">
                          <a:solidFill>
                            <a:srgbClr val="11052C"/>
                          </a:solidFill>
                          <a:latin typeface="DM Sans"/>
                        </a:rPr>
                        <a:t>Management expects the FY26 efficiency ratio near 20% and guided US spend at no more than about 100 bps of it.</a:t>
                      </a:r>
                    </a:p>
                  </a:txBody>
                  <a:tcPr anchor="ctr" marL="63500" marR="63500" marT="25400" marB="25400">
                    <a:lnL>
                      <a:noFill/>
                    </a:lnL>
                    <a:lnR>
                      <a:noFill/>
                    </a:lnR>
                    <a:lnT>
                      <a:noFill/>
                    </a:lnT>
                    <a:lnB>
                      <a:noFill/>
                    </a:lnB>
                    <a:solidFill>
                      <a:srgbClr val="FFFFFF"/>
                    </a:solidFill>
                  </a:tcPr>
                </a:tc>
                <a:tc>
                  <a:txBody>
                    <a:bodyPr/>
                    <a:lstStyle/>
                    <a:p>
                      <a:pPr algn="l"/>
                      <a:r>
                        <a:rPr b="1" sz="1000" i="0" u="none">
                          <a:solidFill>
                            <a:srgbClr val="11052C"/>
                          </a:solidFill>
                          <a:latin typeface="DM Sans"/>
                        </a:rPr>
                        <a:t>FACT (wording to re-check)</a:t>
                      </a:r>
                    </a:p>
                  </a:txBody>
                  <a:tcPr anchor="ctr" marL="63500" marR="63500" marT="25400" marB="25400">
                    <a:lnL>
                      <a:noFill/>
                    </a:lnL>
                    <a:lnR>
                      <a:noFill/>
                    </a:lnR>
                    <a:lnT>
                      <a:noFill/>
                    </a:lnT>
                    <a:lnB>
                      <a:noFill/>
                    </a:lnB>
                    <a:solidFill>
                      <a:srgbClr val="FFFFFF"/>
                    </a:solidFill>
                  </a:tcPr>
                </a:tc>
                <a:tc>
                  <a:txBody>
                    <a:bodyPr/>
                    <a:lstStyle/>
                    <a:p>
                      <a:pPr algn="l"/>
                      <a:r>
                        <a:rPr b="0" sz="1000" i="0" u="none">
                          <a:solidFill>
                            <a:srgbClr val="11052C"/>
                          </a:solidFill>
                          <a:latin typeface="DM Sans"/>
                        </a:rPr>
                        <a:t>Q2'26 earnings call</a:t>
                      </a:r>
                    </a:p>
                  </a:txBody>
                  <a:tcPr anchor="ctr" marL="63500" marR="63500" marT="25400" marB="25400">
                    <a:lnL>
                      <a:noFill/>
                    </a:lnL>
                    <a:lnR>
                      <a:noFill/>
                    </a:lnR>
                    <a:lnT>
                      <a:noFill/>
                    </a:lnT>
                    <a:lnB>
                      <a:noFill/>
                    </a:lnB>
                    <a:solidFill>
                      <a:srgbClr val="FFFFFF"/>
                    </a:solidFill>
                  </a:tcPr>
                </a:tc>
              </a:tr>
              <a:tr h="420624">
                <a:tc>
                  <a:txBody>
                    <a:bodyPr/>
                    <a:lstStyle/>
                    <a:p>
                      <a:pPr algn="l"/>
                      <a:r>
                        <a:rPr b="1" sz="1000" i="0" u="none">
                          <a:solidFill>
                            <a:srgbClr val="11052C"/>
                          </a:solidFill>
                          <a:latin typeface="DM Sans"/>
                        </a:rPr>
                        <a:t>A3</a:t>
                      </a:r>
                    </a:p>
                  </a:txBody>
                  <a:tcPr anchor="ctr" marL="63500" marR="63500" marT="25400" marB="25400">
                    <a:lnL>
                      <a:noFill/>
                    </a:lnL>
                    <a:lnR>
                      <a:noFill/>
                    </a:lnR>
                    <a:lnT>
                      <a:noFill/>
                    </a:lnT>
                    <a:lnB>
                      <a:noFill/>
                    </a:lnB>
                    <a:solidFill>
                      <a:srgbClr val="FFFFFF"/>
                    </a:solidFill>
                  </a:tcPr>
                </a:tc>
                <a:tc>
                  <a:txBody>
                    <a:bodyPr/>
                    <a:lstStyle/>
                    <a:p>
                      <a:pPr algn="l"/>
                      <a:r>
                        <a:rPr b="0" sz="1000" i="0" u="none">
                          <a:solidFill>
                            <a:srgbClr val="11052C"/>
                          </a:solidFill>
                          <a:latin typeface="DM Sans"/>
                        </a:rPr>
                        <a:t>The $60M asks and the $25M cap are the case's figures. At Nu's scale $35M is about 15 bps of annualized revenue; the stakes are the operating model and the precedent, not the amount.</a:t>
                      </a:r>
                    </a:p>
                  </a:txBody>
                  <a:tcPr anchor="ctr" marL="63500" marR="63500" marT="25400" marB="25400">
                    <a:lnL>
                      <a:noFill/>
                    </a:lnL>
                    <a:lnR>
                      <a:noFill/>
                    </a:lnR>
                    <a:lnT>
                      <a:noFill/>
                    </a:lnT>
                    <a:lnB>
                      <a:noFill/>
                    </a:lnB>
                    <a:solidFill>
                      <a:srgbClr val="FFFFFF"/>
                    </a:solidFill>
                  </a:tcPr>
                </a:tc>
                <a:tc>
                  <a:txBody>
                    <a:bodyPr/>
                    <a:lstStyle/>
                    <a:p>
                      <a:pPr algn="l"/>
                      <a:r>
                        <a:rPr b="1" sz="1000" i="0" u="none">
                          <a:solidFill>
                            <a:srgbClr val="11052C"/>
                          </a:solidFill>
                          <a:latin typeface="DM Sans"/>
                        </a:rPr>
                        <a:t>ASSUMPTION</a:t>
                      </a:r>
                    </a:p>
                  </a:txBody>
                  <a:tcPr anchor="ctr" marL="63500" marR="63500" marT="25400" marB="25400">
                    <a:lnL>
                      <a:noFill/>
                    </a:lnL>
                    <a:lnR>
                      <a:noFill/>
                    </a:lnR>
                    <a:lnT>
                      <a:noFill/>
                    </a:lnT>
                    <a:lnB>
                      <a:noFill/>
                    </a:lnB>
                    <a:solidFill>
                      <a:srgbClr val="FFFFFF"/>
                    </a:solidFill>
                  </a:tcPr>
                </a:tc>
                <a:tc>
                  <a:txBody>
                    <a:bodyPr/>
                    <a:lstStyle/>
                    <a:p>
                      <a:pPr algn="l"/>
                      <a:r>
                        <a:rPr b="0" sz="1000" i="0" u="none">
                          <a:solidFill>
                            <a:srgbClr val="11052C"/>
                          </a:solidFill>
                          <a:latin typeface="DM Sans"/>
                        </a:rPr>
                        <a:t>Case brief; my calculation on Q2'26 revenue</a:t>
                      </a:r>
                    </a:p>
                  </a:txBody>
                  <a:tcPr anchor="ctr" marL="63500" marR="63500" marT="25400" marB="25400">
                    <a:lnL>
                      <a:noFill/>
                    </a:lnL>
                    <a:lnR>
                      <a:noFill/>
                    </a:lnR>
                    <a:lnT>
                      <a:noFill/>
                    </a:lnT>
                    <a:lnB>
                      <a:noFill/>
                    </a:lnB>
                    <a:solidFill>
                      <a:srgbClr val="FFFFFF"/>
                    </a:solidFill>
                  </a:tcPr>
                </a:tc>
              </a:tr>
              <a:tr h="420624">
                <a:tc>
                  <a:txBody>
                    <a:bodyPr/>
                    <a:lstStyle/>
                    <a:p>
                      <a:pPr algn="l"/>
                      <a:r>
                        <a:rPr b="1" sz="1000" i="0" u="none">
                          <a:solidFill>
                            <a:srgbClr val="11052C"/>
                          </a:solidFill>
                          <a:latin typeface="DM Sans"/>
                        </a:rPr>
                        <a:t>A4</a:t>
                      </a:r>
                    </a:p>
                  </a:txBody>
                  <a:tcPr anchor="ctr" marL="63500" marR="63500" marT="25400" marB="25400">
                    <a:lnL>
                      <a:noFill/>
                    </a:lnL>
                    <a:lnR>
                      <a:noFill/>
                    </a:lnR>
                    <a:lnT>
                      <a:noFill/>
                    </a:lnT>
                    <a:lnB>
                      <a:noFill/>
                    </a:lnB>
                    <a:solidFill>
                      <a:srgbClr val="FFFFFF"/>
                    </a:solidFill>
                  </a:tcPr>
                </a:tc>
                <a:tc>
                  <a:txBody>
                    <a:bodyPr/>
                    <a:lstStyle/>
                    <a:p>
                      <a:pPr algn="l"/>
                      <a:r>
                        <a:rPr b="0" sz="1000" i="0" u="none">
                          <a:solidFill>
                            <a:srgbClr val="11052C"/>
                          </a:solidFill>
                          <a:latin typeface="DM Sans"/>
                        </a:rPr>
                        <a:t>The two MTeam members disagree about the growth-opex envelope (core markets vs new bets), not about regulatory capital by entity.</a:t>
                      </a:r>
                    </a:p>
                  </a:txBody>
                  <a:tcPr anchor="ctr" marL="63500" marR="63500" marT="25400" marB="25400">
                    <a:lnL>
                      <a:noFill/>
                    </a:lnL>
                    <a:lnR>
                      <a:noFill/>
                    </a:lnR>
                    <a:lnT>
                      <a:noFill/>
                    </a:lnT>
                    <a:lnB>
                      <a:noFill/>
                    </a:lnB>
                    <a:solidFill>
                      <a:srgbClr val="FFFFFF"/>
                    </a:solidFill>
                  </a:tcPr>
                </a:tc>
                <a:tc>
                  <a:txBody>
                    <a:bodyPr/>
                    <a:lstStyle/>
                    <a:p>
                      <a:pPr algn="l"/>
                      <a:r>
                        <a:rPr b="1" sz="1000" i="0" u="none">
                          <a:solidFill>
                            <a:srgbClr val="11052C"/>
                          </a:solidFill>
                          <a:latin typeface="DM Sans"/>
                        </a:rPr>
                        <a:t>ASSUMPTION</a:t>
                      </a:r>
                    </a:p>
                  </a:txBody>
                  <a:tcPr anchor="ctr" marL="63500" marR="63500" marT="25400" marB="25400">
                    <a:lnL>
                      <a:noFill/>
                    </a:lnL>
                    <a:lnR>
                      <a:noFill/>
                    </a:lnR>
                    <a:lnT>
                      <a:noFill/>
                    </a:lnT>
                    <a:lnB>
                      <a:noFill/>
                    </a:lnB>
                    <a:solidFill>
                      <a:srgbClr val="FFFFFF"/>
                    </a:solidFill>
                  </a:tcPr>
                </a:tc>
                <a:tc>
                  <a:txBody>
                    <a:bodyPr/>
                    <a:lstStyle/>
                    <a:p>
                      <a:pPr algn="l"/>
                      <a:r>
                        <a:rPr b="0" sz="1000" i="0" u="none">
                          <a:solidFill>
                            <a:srgbClr val="11052C"/>
                          </a:solidFill>
                          <a:latin typeface="DM Sans"/>
                        </a:rPr>
                        <a:t>Case brief is silent; verify in week one</a:t>
                      </a:r>
                    </a:p>
                  </a:txBody>
                  <a:tcPr anchor="ctr" marL="63500" marR="63500" marT="25400" marB="25400">
                    <a:lnL>
                      <a:noFill/>
                    </a:lnL>
                    <a:lnR>
                      <a:noFill/>
                    </a:lnR>
                    <a:lnT>
                      <a:noFill/>
                    </a:lnT>
                    <a:lnB>
                      <a:noFill/>
                    </a:lnB>
                    <a:solidFill>
                      <a:srgbClr val="FFFFFF"/>
                    </a:solidFill>
                  </a:tcPr>
                </a:tc>
              </a:tr>
              <a:tr h="420624">
                <a:tc>
                  <a:txBody>
                    <a:bodyPr/>
                    <a:lstStyle/>
                    <a:p>
                      <a:pPr algn="l"/>
                      <a:r>
                        <a:rPr b="1" sz="1000" i="0" u="none">
                          <a:solidFill>
                            <a:srgbClr val="11052C"/>
                          </a:solidFill>
                          <a:latin typeface="DM Sans"/>
                        </a:rPr>
                        <a:t>A5</a:t>
                      </a:r>
                    </a:p>
                  </a:txBody>
                  <a:tcPr anchor="ctr" marL="63500" marR="63500" marT="25400" marB="25400">
                    <a:lnL>
                      <a:noFill/>
                    </a:lnL>
                    <a:lnR>
                      <a:noFill/>
                    </a:lnR>
                    <a:lnT>
                      <a:noFill/>
                    </a:lnT>
                    <a:lnB>
                      <a:noFill/>
                    </a:lnB>
                    <a:solidFill>
                      <a:srgbClr val="F3E8FF"/>
                    </a:solidFill>
                  </a:tcPr>
                </a:tc>
                <a:tc>
                  <a:txBody>
                    <a:bodyPr/>
                    <a:lstStyle/>
                    <a:p>
                      <a:pPr algn="l"/>
                      <a:r>
                        <a:rPr b="0" sz="1000" i="0" u="none">
                          <a:solidFill>
                            <a:srgbClr val="11052C"/>
                          </a:solidFill>
                          <a:latin typeface="DM Sans"/>
                        </a:rPr>
                        <a:t>$8M of the asks can be met on the shared global platform at near-zero marginal cost; $12M lack a business case today and can be prepared in 60 days.</a:t>
                      </a:r>
                    </a:p>
                  </a:txBody>
                  <a:tcPr anchor="ctr" marL="63500" marR="63500" marT="25400" marB="25400">
                    <a:lnL>
                      <a:noFill/>
                    </a:lnL>
                    <a:lnR>
                      <a:noFill/>
                    </a:lnR>
                    <a:lnT>
                      <a:noFill/>
                    </a:lnT>
                    <a:lnB>
                      <a:noFill/>
                    </a:lnB>
                    <a:solidFill>
                      <a:srgbClr val="F3E8FF"/>
                    </a:solidFill>
                  </a:tcPr>
                </a:tc>
                <a:tc>
                  <a:txBody>
                    <a:bodyPr/>
                    <a:lstStyle/>
                    <a:p>
                      <a:pPr algn="l"/>
                      <a:r>
                        <a:rPr b="1" sz="1000" i="0" u="none">
                          <a:solidFill>
                            <a:srgbClr val="820AD1"/>
                          </a:solidFill>
                          <a:latin typeface="DM Sans"/>
                        </a:rPr>
                        <a:t>ASSUMPTION</a:t>
                      </a:r>
                    </a:p>
                  </a:txBody>
                  <a:tcPr anchor="ctr" marL="63500" marR="63500" marT="25400" marB="25400">
                    <a:lnL>
                      <a:noFill/>
                    </a:lnL>
                    <a:lnR>
                      <a:noFill/>
                    </a:lnR>
                    <a:lnT>
                      <a:noFill/>
                    </a:lnT>
                    <a:lnB>
                      <a:noFill/>
                    </a:lnB>
                    <a:solidFill>
                      <a:srgbClr val="F3E8FF"/>
                    </a:solidFill>
                  </a:tcPr>
                </a:tc>
                <a:tc>
                  <a:txBody>
                    <a:bodyPr/>
                    <a:lstStyle/>
                    <a:p>
                      <a:pPr algn="l"/>
                      <a:r>
                        <a:rPr b="0" sz="1000" i="0" u="none">
                          <a:solidFill>
                            <a:srgbClr val="11052C"/>
                          </a:solidFill>
                          <a:latin typeface="DM Sans"/>
                        </a:rPr>
                        <a:t>My estimate; verify with Engineering and the GMs</a:t>
                      </a:r>
                    </a:p>
                  </a:txBody>
                  <a:tcPr anchor="ctr" marL="63500" marR="63500" marT="25400" marB="25400">
                    <a:lnL>
                      <a:noFill/>
                    </a:lnL>
                    <a:lnR>
                      <a:noFill/>
                    </a:lnR>
                    <a:lnT>
                      <a:noFill/>
                    </a:lnT>
                    <a:lnB>
                      <a:noFill/>
                    </a:lnB>
                    <a:solidFill>
                      <a:srgbClr val="F3E8FF"/>
                    </a:solidFill>
                  </a:tcPr>
                </a:tc>
              </a:tr>
              <a:tr h="420624">
                <a:tc>
                  <a:txBody>
                    <a:bodyPr/>
                    <a:lstStyle/>
                    <a:p>
                      <a:pPr algn="l"/>
                      <a:r>
                        <a:rPr b="1" sz="1000" i="0" u="none">
                          <a:solidFill>
                            <a:srgbClr val="11052C"/>
                          </a:solidFill>
                          <a:latin typeface="DM Sans"/>
                        </a:rPr>
                        <a:t>A6</a:t>
                      </a:r>
                    </a:p>
                  </a:txBody>
                  <a:tcPr anchor="ctr" marL="63500" marR="63500" marT="25400" marB="25400">
                    <a:lnL>
                      <a:noFill/>
                    </a:lnL>
                    <a:lnR>
                      <a:noFill/>
                    </a:lnR>
                    <a:lnT>
                      <a:noFill/>
                    </a:lnT>
                    <a:lnB>
                      <a:noFill/>
                    </a:lnB>
                    <a:solidFill>
                      <a:srgbClr val="F3E8FF"/>
                    </a:solidFill>
                  </a:tcPr>
                </a:tc>
                <a:tc>
                  <a:txBody>
                    <a:bodyPr/>
                    <a:lstStyle/>
                    <a:p>
                      <a:pPr algn="l"/>
                      <a:r>
                        <a:rPr b="0" sz="1000" i="0" u="none">
                          <a:solidFill>
                            <a:srgbClr val="11052C"/>
                          </a:solidFill>
                          <a:latin typeface="DM Sans"/>
                        </a:rPr>
                        <a:t>Any spend above $25M is released only from H1 profit above plan, sized so the efficiency ratio stays inside the FY26 guide, and only with CFO and IR agreement.</a:t>
                      </a:r>
                    </a:p>
                  </a:txBody>
                  <a:tcPr anchor="ctr" marL="63500" marR="63500" marT="25400" marB="25400">
                    <a:lnL>
                      <a:noFill/>
                    </a:lnL>
                    <a:lnR>
                      <a:noFill/>
                    </a:lnR>
                    <a:lnT>
                      <a:noFill/>
                    </a:lnT>
                    <a:lnB>
                      <a:noFill/>
                    </a:lnB>
                    <a:solidFill>
                      <a:srgbClr val="F3E8FF"/>
                    </a:solidFill>
                  </a:tcPr>
                </a:tc>
                <a:tc>
                  <a:txBody>
                    <a:bodyPr/>
                    <a:lstStyle/>
                    <a:p>
                      <a:pPr algn="l"/>
                      <a:r>
                        <a:rPr b="1" sz="1000" i="0" u="none">
                          <a:solidFill>
                            <a:srgbClr val="820AD1"/>
                          </a:solidFill>
                          <a:latin typeface="DM Sans"/>
                        </a:rPr>
                        <a:t>RULE (proposed)</a:t>
                      </a:r>
                    </a:p>
                  </a:txBody>
                  <a:tcPr anchor="ctr" marL="63500" marR="63500" marT="25400" marB="25400">
                    <a:lnL>
                      <a:noFill/>
                    </a:lnL>
                    <a:lnR>
                      <a:noFill/>
                    </a:lnR>
                    <a:lnT>
                      <a:noFill/>
                    </a:lnT>
                    <a:lnB>
                      <a:noFill/>
                    </a:lnB>
                    <a:solidFill>
                      <a:srgbClr val="F3E8FF"/>
                    </a:solidFill>
                  </a:tcPr>
                </a:tc>
                <a:tc>
                  <a:txBody>
                    <a:bodyPr/>
                    <a:lstStyle/>
                    <a:p>
                      <a:pPr algn="l"/>
                      <a:r>
                        <a:rPr b="0" sz="1000" i="0" u="none">
                          <a:solidFill>
                            <a:srgbClr val="11052C"/>
                          </a:solidFill>
                          <a:latin typeface="DM Sans"/>
                        </a:rPr>
                        <a:t>To agree with the CFO</a:t>
                      </a:r>
                    </a:p>
                  </a:txBody>
                  <a:tcPr anchor="ctr" marL="63500" marR="63500" marT="25400" marB="25400">
                    <a:lnL>
                      <a:noFill/>
                    </a:lnL>
                    <a:lnR>
                      <a:noFill/>
                    </a:lnR>
                    <a:lnT>
                      <a:noFill/>
                    </a:lnT>
                    <a:lnB>
                      <a:noFill/>
                    </a:lnB>
                    <a:solidFill>
                      <a:srgbClr val="F3E8FF"/>
                    </a:solidFill>
                  </a:tcPr>
                </a:tc>
              </a:tr>
              <a:tr h="420624">
                <a:tc>
                  <a:txBody>
                    <a:bodyPr/>
                    <a:lstStyle/>
                    <a:p>
                      <a:pPr algn="l"/>
                      <a:r>
                        <a:rPr b="1" sz="1000" i="0" u="none">
                          <a:solidFill>
                            <a:srgbClr val="11052C"/>
                          </a:solidFill>
                          <a:latin typeface="DM Sans"/>
                        </a:rPr>
                        <a:t>A7</a:t>
                      </a:r>
                    </a:p>
                  </a:txBody>
                  <a:tcPr anchor="ctr" marL="63500" marR="63500" marT="25400" marB="25400">
                    <a:lnL>
                      <a:noFill/>
                    </a:lnL>
                    <a:lnR>
                      <a:noFill/>
                    </a:lnR>
                    <a:lnT>
                      <a:noFill/>
                    </a:lnT>
                    <a:lnB>
                      <a:noFill/>
                    </a:lnB>
                    <a:solidFill>
                      <a:srgbClr val="F3E8FF"/>
                    </a:solidFill>
                  </a:tcPr>
                </a:tc>
                <a:tc>
                  <a:txBody>
                    <a:bodyPr/>
                    <a:lstStyle/>
                    <a:p>
                      <a:pPr algn="l"/>
                      <a:r>
                        <a:rPr b="0" sz="1000" i="0" u="none">
                          <a:solidFill>
                            <a:srgbClr val="11052C"/>
                          </a:solidFill>
                          <a:latin typeface="DM Sans"/>
                        </a:rPr>
                        <a:t>Board meeting in 4 weeks; Investor Day 8 Dec 2026. The Board approves the international capital plan before the Investor Day narrative is locked.</a:t>
                      </a:r>
                    </a:p>
                  </a:txBody>
                  <a:tcPr anchor="ctr" marL="63500" marR="63500" marT="25400" marB="25400">
                    <a:lnL>
                      <a:noFill/>
                    </a:lnL>
                    <a:lnR>
                      <a:noFill/>
                    </a:lnR>
                    <a:lnT>
                      <a:noFill/>
                    </a:lnT>
                    <a:lnB>
                      <a:noFill/>
                    </a:lnB>
                    <a:solidFill>
                      <a:srgbClr val="F3E8FF"/>
                    </a:solidFill>
                  </a:tcPr>
                </a:tc>
                <a:tc>
                  <a:txBody>
                    <a:bodyPr/>
                    <a:lstStyle/>
                    <a:p>
                      <a:pPr algn="l"/>
                      <a:r>
                        <a:rPr b="1" sz="1000" i="0" u="none">
                          <a:solidFill>
                            <a:srgbClr val="820AD1"/>
                          </a:solidFill>
                          <a:latin typeface="DM Sans"/>
                        </a:rPr>
                        <a:t>FACT (dates) + ASSUMPTION (sequence)</a:t>
                      </a:r>
                    </a:p>
                  </a:txBody>
                  <a:tcPr anchor="ctr" marL="63500" marR="63500" marT="25400" marB="25400">
                    <a:lnL>
                      <a:noFill/>
                    </a:lnL>
                    <a:lnR>
                      <a:noFill/>
                    </a:lnR>
                    <a:lnT>
                      <a:noFill/>
                    </a:lnT>
                    <a:lnB>
                      <a:noFill/>
                    </a:lnB>
                    <a:solidFill>
                      <a:srgbClr val="F3E8FF"/>
                    </a:solidFill>
                  </a:tcPr>
                </a:tc>
                <a:tc>
                  <a:txBody>
                    <a:bodyPr/>
                    <a:lstStyle/>
                    <a:p>
                      <a:pPr algn="l"/>
                      <a:r>
                        <a:rPr b="0" sz="1000" i="0" u="none">
                          <a:solidFill>
                            <a:srgbClr val="11052C"/>
                          </a:solidFill>
                          <a:latin typeface="DM Sans"/>
                        </a:rPr>
                        <a:t>Case brief; Nu IR</a:t>
                      </a:r>
                    </a:p>
                  </a:txBody>
                  <a:tcPr anchor="ctr" marL="63500" marR="63500" marT="25400" marB="25400">
                    <a:lnL>
                      <a:noFill/>
                    </a:lnL>
                    <a:lnR>
                      <a:noFill/>
                    </a:lnR>
                    <a:lnT>
                      <a:noFill/>
                    </a:lnT>
                    <a:lnB>
                      <a:noFill/>
                    </a:lnB>
                    <a:solidFill>
                      <a:srgbClr val="F3E8FF"/>
                    </a:solidFill>
                  </a:tcPr>
                </a:tc>
              </a:tr>
              <a:tr h="420624">
                <a:tc>
                  <a:txBody>
                    <a:bodyPr/>
                    <a:lstStyle/>
                    <a:p>
                      <a:pPr algn="l"/>
                      <a:r>
                        <a:rPr b="1" sz="1000" i="0" u="none">
                          <a:solidFill>
                            <a:srgbClr val="11052C"/>
                          </a:solidFill>
                          <a:latin typeface="DM Sans"/>
                        </a:rPr>
                        <a:t>A8</a:t>
                      </a:r>
                    </a:p>
                  </a:txBody>
                  <a:tcPr anchor="ctr" marL="63500" marR="63500" marT="25400" marB="25400">
                    <a:lnL>
                      <a:noFill/>
                    </a:lnL>
                    <a:lnR>
                      <a:noFill/>
                    </a:lnR>
                    <a:lnT>
                      <a:noFill/>
                    </a:lnT>
                    <a:lnB>
                      <a:noFill/>
                    </a:lnB>
                    <a:solidFill>
                      <a:srgbClr val="F3E8FF"/>
                    </a:solidFill>
                  </a:tcPr>
                </a:tc>
                <a:tc>
                  <a:txBody>
                    <a:bodyPr/>
                    <a:lstStyle/>
                    <a:p>
                      <a:pPr algn="l"/>
                      <a:r>
                        <a:rPr b="0" sz="1000" i="0" u="none">
                          <a:solidFill>
                            <a:srgbClr val="11052C"/>
                          </a:solidFill>
                          <a:latin typeface="DM Sans"/>
                        </a:rPr>
                        <a:t>The HQ jurisdiction is open. Nu's revenue is above the EUR 750M Pillar Two threshold; the 2026 transitional substance carve-out is 9.4% of payroll and 7.4% of tangible assets.</a:t>
                      </a:r>
                    </a:p>
                  </a:txBody>
                  <a:tcPr anchor="ctr" marL="63500" marR="63500" marT="25400" marB="25400">
                    <a:lnL>
                      <a:noFill/>
                    </a:lnL>
                    <a:lnR>
                      <a:noFill/>
                    </a:lnR>
                    <a:lnT>
                      <a:noFill/>
                    </a:lnT>
                    <a:lnB>
                      <a:noFill/>
                    </a:lnB>
                    <a:solidFill>
                      <a:srgbClr val="F3E8FF"/>
                    </a:solidFill>
                  </a:tcPr>
                </a:tc>
                <a:tc>
                  <a:txBody>
                    <a:bodyPr/>
                    <a:lstStyle/>
                    <a:p>
                      <a:pPr algn="l"/>
                      <a:r>
                        <a:rPr b="1" sz="1000" i="0" u="none">
                          <a:solidFill>
                            <a:srgbClr val="820AD1"/>
                          </a:solidFill>
                          <a:latin typeface="DM Sans"/>
                        </a:rPr>
                        <a:t>FACT (rule) + ASSUMPTION (site)</a:t>
                      </a:r>
                    </a:p>
                  </a:txBody>
                  <a:tcPr anchor="ctr" marL="63500" marR="63500" marT="25400" marB="25400">
                    <a:lnL>
                      <a:noFill/>
                    </a:lnL>
                    <a:lnR>
                      <a:noFill/>
                    </a:lnR>
                    <a:lnT>
                      <a:noFill/>
                    </a:lnT>
                    <a:lnB>
                      <a:noFill/>
                    </a:lnB>
                    <a:solidFill>
                      <a:srgbClr val="F3E8FF"/>
                    </a:solidFill>
                  </a:tcPr>
                </a:tc>
                <a:tc>
                  <a:txBody>
                    <a:bodyPr/>
                    <a:lstStyle/>
                    <a:p>
                      <a:pPr algn="l"/>
                      <a:r>
                        <a:rPr b="0" sz="1000" i="0" u="none">
                          <a:solidFill>
                            <a:srgbClr val="11052C"/>
                          </a:solidFill>
                          <a:latin typeface="DM Sans"/>
                        </a:rPr>
                        <a:t>OECD GloBE rules; Q2'26 revenue</a:t>
                      </a:r>
                    </a:p>
                  </a:txBody>
                  <a:tcPr anchor="ctr" marL="63500" marR="63500" marT="25400" marB="25400">
                    <a:lnL>
                      <a:noFill/>
                    </a:lnL>
                    <a:lnR>
                      <a:noFill/>
                    </a:lnR>
                    <a:lnT>
                      <a:noFill/>
                    </a:lnT>
                    <a:lnB>
                      <a:noFill/>
                    </a:lnB>
                    <a:solidFill>
                      <a:srgbClr val="F3E8FF"/>
                    </a:solidFill>
                  </a:tcPr>
                </a:tc>
              </a:tr>
              <a:tr h="420624">
                <a:tc>
                  <a:txBody>
                    <a:bodyPr/>
                    <a:lstStyle/>
                    <a:p>
                      <a:pPr algn="l"/>
                      <a:r>
                        <a:rPr b="1" sz="1000" i="0" u="none">
                          <a:solidFill>
                            <a:srgbClr val="11052C"/>
                          </a:solidFill>
                          <a:latin typeface="DM Sans"/>
                        </a:rPr>
                        <a:t>A9</a:t>
                      </a:r>
                    </a:p>
                  </a:txBody>
                  <a:tcPr anchor="ctr" marL="63500" marR="63500" marT="25400" marB="25400">
                    <a:lnL>
                      <a:noFill/>
                    </a:lnL>
                    <a:lnR>
                      <a:noFill/>
                    </a:lnR>
                    <a:lnT>
                      <a:noFill/>
                    </a:lnT>
                    <a:lnB>
                      <a:noFill/>
                    </a:lnB>
                    <a:solidFill>
                      <a:srgbClr val="F3E8FF"/>
                    </a:solidFill>
                  </a:tcPr>
                </a:tc>
                <a:tc>
                  <a:txBody>
                    <a:bodyPr/>
                    <a:lstStyle/>
                    <a:p>
                      <a:pPr algn="l"/>
                      <a:r>
                        <a:rPr b="0" sz="1000" i="0" u="none">
                          <a:solidFill>
                            <a:srgbClr val="11052C"/>
                          </a:solidFill>
                          <a:latin typeface="DM Sans"/>
                        </a:rPr>
                        <a:t>Option scores and weights on slide 6 are my judgment; third-party benchmarks are directional, never load-bearing.</a:t>
                      </a:r>
                    </a:p>
                  </a:txBody>
                  <a:tcPr anchor="ctr" marL="63500" marR="63500" marT="25400" marB="25400">
                    <a:lnL>
                      <a:noFill/>
                    </a:lnL>
                    <a:lnR>
                      <a:noFill/>
                    </a:lnR>
                    <a:lnT>
                      <a:noFill/>
                    </a:lnT>
                    <a:lnB>
                      <a:noFill/>
                    </a:lnB>
                    <a:solidFill>
                      <a:srgbClr val="F3E8FF"/>
                    </a:solidFill>
                  </a:tcPr>
                </a:tc>
                <a:tc>
                  <a:txBody>
                    <a:bodyPr/>
                    <a:lstStyle/>
                    <a:p>
                      <a:pPr algn="l"/>
                      <a:r>
                        <a:rPr b="1" sz="1000" i="0" u="none">
                          <a:solidFill>
                            <a:srgbClr val="820AD1"/>
                          </a:solidFill>
                          <a:latin typeface="DM Sans"/>
                        </a:rPr>
                        <a:t>ASSUMPTION</a:t>
                      </a:r>
                    </a:p>
                  </a:txBody>
                  <a:tcPr anchor="ctr" marL="63500" marR="63500" marT="25400" marB="25400">
                    <a:lnL>
                      <a:noFill/>
                    </a:lnL>
                    <a:lnR>
                      <a:noFill/>
                    </a:lnR>
                    <a:lnT>
                      <a:noFill/>
                    </a:lnT>
                    <a:lnB>
                      <a:noFill/>
                    </a:lnB>
                    <a:solidFill>
                      <a:srgbClr val="F3E8FF"/>
                    </a:solidFill>
                  </a:tcPr>
                </a:tc>
                <a:tc>
                  <a:txBody>
                    <a:bodyPr/>
                    <a:lstStyle/>
                    <a:p>
                      <a:pPr algn="l"/>
                      <a:r>
                        <a:rPr b="0" sz="1000" i="0" u="none">
                          <a:solidFill>
                            <a:srgbClr val="11052C"/>
                          </a:solidFill>
                          <a:latin typeface="DM Sans"/>
                        </a:rPr>
                        <a:t>Slide 6; ledger</a:t>
                      </a:r>
                    </a:p>
                  </a:txBody>
                  <a:tcPr anchor="ctr" marL="63500" marR="63500" marT="25400" marB="25400">
                    <a:lnL>
                      <a:noFill/>
                    </a:lnL>
                    <a:lnR>
                      <a:noFill/>
                    </a:lnR>
                    <a:lnT>
                      <a:noFill/>
                    </a:lnT>
                    <a:lnB>
                      <a:noFill/>
                    </a:lnB>
                    <a:solidFill>
                      <a:srgbClr val="F3E8FF"/>
                    </a:solidFill>
                  </a:tcPr>
                </a:tc>
              </a:tr>
            </a:tbl>
          </a:graphicData>
        </a:graphic>
      </p:graphicFrame>
      <p:sp>
        <p:nvSpPr>
          <p:cNvPr id="27" name="TextBox 26"/>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DM Sans"/>
              </a:rPr>
              <a:t>02 // WHAT I AM ASSUMING, AND WHAT I WOULD VERIFY IN WEEK ONE</a:t>
            </a:r>
          </a:p>
        </p:txBody>
      </p:sp>
      <p:sp>
        <p:nvSpPr>
          <p:cNvPr id="28" name="TextBox 27"/>
          <p:cNvSpPr txBox="1"/>
          <p:nvPr/>
        </p:nvSpPr>
        <p:spPr>
          <a:xfrm>
            <a:off x="609600" y="704850"/>
            <a:ext cx="115824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Space Grotesk"/>
              </a:rPr>
              <a:t>Key assumptions, separated from the facts they sit on</a:t>
            </a:r>
          </a:p>
        </p:txBody>
      </p:sp>
      <p:sp>
        <p:nvSpPr>
          <p:cNvPr id="29" name="TextBox 28"/>
          <p:cNvSpPr txBox="1"/>
          <p:nvPr/>
        </p:nvSpPr>
        <p:spPr>
          <a:xfrm>
            <a:off x="609600" y="6053328"/>
            <a:ext cx="11068050" cy="419100"/>
          </a:xfrm>
          <a:prstGeom prst="rect">
            <a:avLst/>
          </a:prstGeom>
          <a:noFill/>
        </p:spPr>
        <p:txBody>
          <a:bodyPr wrap="square" lIns="0" rIns="0" tIns="0" bIns="0" anchor="t">
            <a:spAutoFit/>
          </a:bodyPr>
          <a:lstStyle/>
          <a:p>
            <a:pPr algn="l"/>
            <a:r>
              <a:rPr b="1" sz="1100" i="0" u="none">
                <a:solidFill>
                  <a:srgbClr val="3B2A54"/>
                </a:solidFill>
                <a:latin typeface="DM Sans"/>
              </a:rPr>
              <a:t>Week one: </a:t>
            </a:r>
            <a:r>
              <a:rPr b="0" sz="1100" i="0" u="none">
                <a:solidFill>
                  <a:srgbClr val="3B2A54"/>
                </a:solidFill>
                <a:latin typeface="DM Sans"/>
              </a:rPr>
              <a:t>the real MTeam positions; the Board and committee calendar; who owns the planning model today; local-CFO decision rights in Mexico and Colombia; the HQ project's current state; today's planning cycle time and forecast accuracy.</a:t>
            </a:r>
          </a:p>
        </p:txBody>
      </p:sp>
      <p:sp>
        <p:nvSpPr>
          <p:cNvPr id="30" name="TextBox 29"/>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DM Sans"/>
              </a:rPr>
              <a:t>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Rounded Rectangle 1"/>
          <p:cNvSpPr/>
          <p:nvPr/>
        </p:nvSpPr>
        <p:spPr>
          <a:xfrm>
            <a:off x="609600" y="2382142"/>
            <a:ext cx="3517850" cy="2895600"/>
          </a:xfrm>
          <a:prstGeom prst="roundRect">
            <a:avLst>
              <a:gd name="adj" fmla="val 3289"/>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37000" y="2382142"/>
            <a:ext cx="3517850" cy="2895600"/>
          </a:xfrm>
          <a:prstGeom prst="roundRect">
            <a:avLst>
              <a:gd name="adj" fmla="val 3048"/>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064400" y="2382142"/>
            <a:ext cx="3517850" cy="2895600"/>
          </a:xfrm>
          <a:prstGeom prst="roundRect">
            <a:avLst>
              <a:gd name="adj" fmla="val 3289"/>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DM Sans"/>
              </a:rPr>
              <a:t>10 // DELIVERABLE 2: THE CAPITAL QUESTION THE BOARD WILL ACTUALLY ASK</a:t>
            </a:r>
          </a:p>
        </p:txBody>
      </p:sp>
      <p:sp>
        <p:nvSpPr>
          <p:cNvPr id="6" name="TextBox 5"/>
          <p:cNvSpPr txBox="1"/>
          <p:nvPr/>
        </p:nvSpPr>
        <p:spPr>
          <a:xfrm>
            <a:off x="609600" y="704850"/>
            <a:ext cx="115824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Space Grotesk"/>
              </a:rPr>
              <a:t>Capital allocation across entities is a different decision from the opex cap; it needs its own ranking and owner</a:t>
            </a:r>
          </a:p>
        </p:txBody>
      </p:sp>
      <p:sp>
        <p:nvSpPr>
          <p:cNvPr id="7" name="TextBox 6"/>
          <p:cNvSpPr txBox="1"/>
          <p:nvPr/>
        </p:nvSpPr>
        <p:spPr>
          <a:xfrm>
            <a:off x="609600" y="6057900"/>
            <a:ext cx="11068050" cy="342900"/>
          </a:xfrm>
          <a:prstGeom prst="rect">
            <a:avLst/>
          </a:prstGeom>
          <a:noFill/>
        </p:spPr>
        <p:txBody>
          <a:bodyPr wrap="square" lIns="0" rIns="0" tIns="0" bIns="0" anchor="t">
            <a:spAutoFit/>
          </a:bodyPr>
          <a:lstStyle/>
          <a:p>
            <a:pPr algn="l"/>
            <a:r>
              <a:rPr b="0" sz="1050" i="0" u="none">
                <a:solidFill>
                  <a:srgbClr val="6B5B82"/>
                </a:solidFill>
                <a:latin typeface="DM Sans"/>
              </a:rPr>
              <a:t>Sources: [1] Nu Q2'26 release (ROE 33%); Nu announcements: Mexico banking authorization (10 Jul 2026) and $4.2B plan to 2030; OCC conditional approval of Nubank N.A. (27 Jan 2026); buyback of up to $1.0B (4 Jun 2026); Investor Day 8 Dec 2026. Cost-of-equity figures are to be set with Treasury (ASSUMPTION).</a:t>
            </a:r>
          </a:p>
        </p:txBody>
      </p:sp>
      <p:sp>
        <p:nvSpPr>
          <p:cNvPr id="8" name="TextBox 7"/>
          <p:cNvSpPr txBox="1"/>
          <p:nvPr/>
        </p:nvSpPr>
        <p:spPr>
          <a:xfrm>
            <a:off x="847725" y="2620267"/>
            <a:ext cx="3802000" cy="171450"/>
          </a:xfrm>
          <a:prstGeom prst="rect">
            <a:avLst/>
          </a:prstGeom>
          <a:noFill/>
        </p:spPr>
        <p:txBody>
          <a:bodyPr wrap="none" lIns="0" rIns="0" tIns="0" bIns="0" anchor="t">
            <a:spAutoFit/>
          </a:bodyPr>
          <a:lstStyle/>
          <a:p>
            <a:pPr algn="l"/>
            <a:r>
              <a:rPr b="1" sz="1050" i="0" u="none">
                <a:solidFill>
                  <a:srgbClr val="820AD1"/>
                </a:solidFill>
                <a:latin typeface="DM Sans"/>
              </a:rPr>
              <a:t>1. WHAT IS ON THE TABLE [1]</a:t>
            </a:r>
          </a:p>
        </p:txBody>
      </p:sp>
      <p:sp>
        <p:nvSpPr>
          <p:cNvPr id="9" name="TextBox 8"/>
          <p:cNvSpPr txBox="1"/>
          <p:nvPr/>
        </p:nvSpPr>
        <p:spPr>
          <a:xfrm>
            <a:off x="847725" y="2867917"/>
            <a:ext cx="3992100" cy="266700"/>
          </a:xfrm>
          <a:prstGeom prst="rect">
            <a:avLst/>
          </a:prstGeom>
          <a:noFill/>
        </p:spPr>
        <p:txBody>
          <a:bodyPr wrap="square" lIns="0" rIns="0" tIns="0" bIns="0" anchor="t">
            <a:spAutoFit/>
          </a:bodyPr>
          <a:lstStyle/>
          <a:p>
            <a:pPr algn="l"/>
            <a:r>
              <a:rPr b="1" sz="1650" i="0" u="none">
                <a:solidFill>
                  <a:srgbClr val="11052C"/>
                </a:solidFill>
                <a:latin typeface="Space Grotesk"/>
              </a:rPr>
              <a:t>Four uses of equity</a:t>
            </a:r>
          </a:p>
        </p:txBody>
      </p:sp>
      <p:sp>
        <p:nvSpPr>
          <p:cNvPr id="10" name="TextBox 9"/>
          <p:cNvSpPr txBox="1"/>
          <p:nvPr/>
        </p:nvSpPr>
        <p:spPr>
          <a:xfrm>
            <a:off x="847725" y="3210817"/>
            <a:ext cx="3136850" cy="1828800"/>
          </a:xfrm>
          <a:prstGeom prst="rect">
            <a:avLst/>
          </a:prstGeom>
          <a:noFill/>
        </p:spPr>
        <p:txBody>
          <a:bodyPr wrap="square" lIns="0" rIns="0" tIns="0" bIns="0" anchor="t">
            <a:spAutoFit/>
          </a:bodyPr>
          <a:lstStyle/>
          <a:p>
            <a:pPr algn="l"/>
            <a:r>
              <a:rPr b="0" sz="1350" i="0" u="none">
                <a:solidFill>
                  <a:srgbClr val="3B2A54"/>
                </a:solidFill>
                <a:latin typeface="DM Sans"/>
              </a:rPr>
              <a:t>Brazil deepening; Nu Mexico as a licensed bank since July 2026 ($4.2B planned to 2030); the US de novo charter, to be capitalized within 12 months of the January 2026 OCC approval; and the buyback of up to $1.0B announced in June 2026.</a:t>
            </a:r>
          </a:p>
        </p:txBody>
      </p:sp>
      <p:sp>
        <p:nvSpPr>
          <p:cNvPr id="11" name="TextBox 10"/>
          <p:cNvSpPr txBox="1"/>
          <p:nvPr/>
        </p:nvSpPr>
        <p:spPr>
          <a:xfrm>
            <a:off x="4575125" y="2624328"/>
            <a:ext cx="3802000" cy="171450"/>
          </a:xfrm>
          <a:prstGeom prst="rect">
            <a:avLst/>
          </a:prstGeom>
          <a:noFill/>
        </p:spPr>
        <p:txBody>
          <a:bodyPr wrap="none" lIns="0" rIns="0" tIns="0" bIns="0" anchor="t">
            <a:spAutoFit/>
          </a:bodyPr>
          <a:lstStyle/>
          <a:p>
            <a:pPr algn="l"/>
            <a:r>
              <a:rPr b="1" sz="1050" i="0" u="none">
                <a:solidFill>
                  <a:srgbClr val="5B21B6"/>
                </a:solidFill>
                <a:latin typeface="DM Sans"/>
              </a:rPr>
              <a:t>2. THE YARDSTICK</a:t>
            </a:r>
          </a:p>
        </p:txBody>
      </p:sp>
      <p:sp>
        <p:nvSpPr>
          <p:cNvPr id="12" name="TextBox 11"/>
          <p:cNvSpPr txBox="1"/>
          <p:nvPr/>
        </p:nvSpPr>
        <p:spPr>
          <a:xfrm>
            <a:off x="4575125" y="2871216"/>
            <a:ext cx="3992100" cy="266700"/>
          </a:xfrm>
          <a:prstGeom prst="rect">
            <a:avLst/>
          </a:prstGeom>
          <a:noFill/>
        </p:spPr>
        <p:txBody>
          <a:bodyPr wrap="square" lIns="0" rIns="0" tIns="0" bIns="0" anchor="t">
            <a:spAutoFit/>
          </a:bodyPr>
          <a:lstStyle/>
          <a:p>
            <a:pPr algn="l"/>
            <a:r>
              <a:rPr b="1" sz="1650" i="0" u="none">
                <a:solidFill>
                  <a:srgbClr val="11052C"/>
                </a:solidFill>
                <a:latin typeface="Space Grotesk"/>
              </a:rPr>
              <a:t>Return on allocated capital</a:t>
            </a:r>
          </a:p>
        </p:txBody>
      </p:sp>
      <p:sp>
        <p:nvSpPr>
          <p:cNvPr id="13" name="TextBox 12"/>
          <p:cNvSpPr txBox="1"/>
          <p:nvPr/>
        </p:nvSpPr>
        <p:spPr>
          <a:xfrm>
            <a:off x="4575125" y="3209544"/>
            <a:ext cx="3136850" cy="1828800"/>
          </a:xfrm>
          <a:prstGeom prst="rect">
            <a:avLst/>
          </a:prstGeom>
          <a:noFill/>
        </p:spPr>
        <p:txBody>
          <a:bodyPr wrap="square" lIns="0" rIns="0" tIns="0" bIns="0" anchor="t">
            <a:spAutoFit/>
          </a:bodyPr>
          <a:lstStyle/>
          <a:p>
            <a:pPr algn="l"/>
            <a:r>
              <a:rPr b="0" sz="1350" i="0" u="none">
                <a:solidFill>
                  <a:srgbClr val="3B2A54"/>
                </a:solidFill>
                <a:latin typeface="DM Sans"/>
              </a:rPr>
              <a:t>Rank each use by after-tax return on incremental allocated equity against that market's cost of equity, with capital headroom by entity under a downside case. A use that beats its cost of equity creates value even if it dilutes the 33% group ROE; the buyback is the bar every growth use must clear.</a:t>
            </a:r>
          </a:p>
        </p:txBody>
      </p:sp>
      <p:sp>
        <p:nvSpPr>
          <p:cNvPr id="14" name="TextBox 13"/>
          <p:cNvSpPr txBox="1"/>
          <p:nvPr/>
        </p:nvSpPr>
        <p:spPr>
          <a:xfrm>
            <a:off x="8302525" y="2620267"/>
            <a:ext cx="3802000" cy="171450"/>
          </a:xfrm>
          <a:prstGeom prst="rect">
            <a:avLst/>
          </a:prstGeom>
          <a:noFill/>
        </p:spPr>
        <p:txBody>
          <a:bodyPr wrap="none" lIns="0" rIns="0" tIns="0" bIns="0" anchor="t">
            <a:spAutoFit/>
          </a:bodyPr>
          <a:lstStyle/>
          <a:p>
            <a:pPr algn="l"/>
            <a:r>
              <a:rPr b="1" sz="1050" i="0" u="none">
                <a:solidFill>
                  <a:srgbClr val="0D9488"/>
                </a:solidFill>
                <a:latin typeface="DM Sans"/>
              </a:rPr>
              <a:t>3. WHO DECIDES, AND WHEN</a:t>
            </a:r>
          </a:p>
        </p:txBody>
      </p:sp>
      <p:sp>
        <p:nvSpPr>
          <p:cNvPr id="15" name="TextBox 14"/>
          <p:cNvSpPr txBox="1"/>
          <p:nvPr/>
        </p:nvSpPr>
        <p:spPr>
          <a:xfrm>
            <a:off x="8302525" y="2867917"/>
            <a:ext cx="3889474" cy="266700"/>
          </a:xfrm>
          <a:prstGeom prst="rect">
            <a:avLst/>
          </a:prstGeom>
          <a:noFill/>
        </p:spPr>
        <p:txBody>
          <a:bodyPr wrap="square" lIns="0" rIns="0" tIns="0" bIns="0" anchor="t">
            <a:spAutoFit/>
          </a:bodyPr>
          <a:lstStyle/>
          <a:p>
            <a:pPr algn="l"/>
            <a:r>
              <a:rPr b="1" sz="1650" i="0" u="none">
                <a:solidFill>
                  <a:srgbClr val="11052C"/>
                </a:solidFill>
                <a:latin typeface="Space Grotesk"/>
              </a:rPr>
              <a:t>Before Investor Day</a:t>
            </a:r>
          </a:p>
        </p:txBody>
      </p:sp>
      <p:sp>
        <p:nvSpPr>
          <p:cNvPr id="16" name="TextBox 15"/>
          <p:cNvSpPr txBox="1"/>
          <p:nvPr/>
        </p:nvSpPr>
        <p:spPr>
          <a:xfrm>
            <a:off x="8302525" y="3210817"/>
            <a:ext cx="3136850" cy="1828800"/>
          </a:xfrm>
          <a:prstGeom prst="rect">
            <a:avLst/>
          </a:prstGeom>
          <a:noFill/>
        </p:spPr>
        <p:txBody>
          <a:bodyPr wrap="square" lIns="0" rIns="0" tIns="0" bIns="0" anchor="t">
            <a:spAutoFit/>
          </a:bodyPr>
          <a:lstStyle/>
          <a:p>
            <a:pPr algn="l"/>
            <a:r>
              <a:rPr b="0" sz="1350" i="0" u="none">
                <a:solidFill>
                  <a:srgbClr val="3B2A54"/>
                </a:solidFill>
                <a:latin typeface="DM Sans"/>
              </a:rPr>
              <a:t>The CFO recommends the ranking, the CEO decides, the Board approves at this meeting, so the Investor Day narrative (8 Dec 2026) rests on an approved plan. My job: one page per use with the same four lines (return, capital, headroom, risk), and the chair's pre-read at T-9.</a:t>
            </a:r>
          </a:p>
        </p:txBody>
      </p:sp>
      <p:sp>
        <p:nvSpPr>
          <p:cNvPr id="17" name="TextBox 16"/>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DM Sans"/>
              </a:rPr>
              <a:t>11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Rounded Rectangle 1"/>
          <p:cNvSpPr/>
          <p:nvPr/>
        </p:nvSpPr>
        <p:spPr>
          <a:xfrm>
            <a:off x="609600" y="5292030"/>
            <a:ext cx="10972800" cy="819150"/>
          </a:xfrm>
          <a:prstGeom prst="roundRect">
            <a:avLst>
              <a:gd name="adj" fmla="val 11627"/>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19125" y="2639317"/>
            <a:ext cx="3068389"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87514" y="2639317"/>
            <a:ext cx="1326207"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13721" y="2639317"/>
            <a:ext cx="1324421"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338143" y="2639317"/>
            <a:ext cx="1487834"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825978" y="2639317"/>
            <a:ext cx="1428898"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254876" y="2639317"/>
            <a:ext cx="1015751"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270628" y="2639317"/>
            <a:ext cx="1302246"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9125" y="3372742"/>
            <a:ext cx="3068389"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87514" y="3372742"/>
            <a:ext cx="1326207"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13721" y="3372742"/>
            <a:ext cx="1324421"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38143" y="3372742"/>
            <a:ext cx="1487834"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825978" y="3372742"/>
            <a:ext cx="1428898"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254876" y="3372742"/>
            <a:ext cx="1015751"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270628" y="3372742"/>
            <a:ext cx="1302246"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125" y="4110930"/>
            <a:ext cx="3068389"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87514" y="4110930"/>
            <a:ext cx="1326207"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13721" y="4110930"/>
            <a:ext cx="1324421"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38143" y="4110930"/>
            <a:ext cx="1487834"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25978" y="4110930"/>
            <a:ext cx="1428898"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254876" y="4110930"/>
            <a:ext cx="1015751"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270628" y="4110930"/>
            <a:ext cx="1302246"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9125" y="5082480"/>
            <a:ext cx="3068389"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87514" y="5082480"/>
            <a:ext cx="1326207"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13721" y="5082480"/>
            <a:ext cx="1324421"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338143" y="5082480"/>
            <a:ext cx="1487834"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825978" y="5082480"/>
            <a:ext cx="1428898"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254876" y="5082480"/>
            <a:ext cx="1015751"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270628" y="5082480"/>
            <a:ext cx="1302246" cy="9525"/>
          </a:xfrm>
          <a:prstGeom prst="rect">
            <a:avLst/>
          </a:prstGeom>
          <a:solidFill>
            <a:srgbClr val="E2D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31" name="Table 30"/>
          <p:cNvGraphicFramePr>
            <a:graphicFrameLocks noGrp="1"/>
          </p:cNvGraphicFramePr>
          <p:nvPr/>
        </p:nvGraphicFramePr>
        <p:xfrm>
          <a:off x="609600" y="1720155"/>
          <a:ext cx="10953746" cy="3381375"/>
        </p:xfrm>
        <a:graphic>
          <a:graphicData uri="http://schemas.openxmlformats.org/drawingml/2006/table">
            <a:tbl>
              <a:tblPr firstRow="0" bandRow="0">
                <a:lnL>
                  <a:noFill/>
                </a:lnL>
                <a:lnR>
                  <a:noFill/>
                </a:lnR>
                <a:lnT>
                  <a:noFill/>
                </a:lnT>
                <a:lnB>
                  <a:noFill/>
                </a:lnB>
                <a:lnV>
                  <a:noFill/>
                </a:lnV>
                <a:lnH>
                  <a:noFill/>
                </a:lnH>
              </a:tblPr>
              <a:tblGrid>
                <a:gridCol w="3068389"/>
                <a:gridCol w="1326207"/>
                <a:gridCol w="1324421"/>
                <a:gridCol w="1487834"/>
                <a:gridCol w="1428898"/>
                <a:gridCol w="1015751"/>
                <a:gridCol w="1302246"/>
              </a:tblGrid>
              <a:tr h="845343">
                <a:tc>
                  <a:txBody>
                    <a:bodyPr/>
                    <a:lstStyle/>
                    <a:p>
                      <a:pPr algn="l"/>
                      <a:r>
                        <a:rPr b="1" sz="1350" i="0" u="none">
                          <a:solidFill>
                            <a:srgbClr val="FFFFFF"/>
                          </a:solidFill>
                          <a:latin typeface="Space Grotesk"/>
                        </a:rPr>
                        <a:t>Prioritization Approach</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Space Grotesk"/>
                        </a:rPr>
                        <a:t>Meets $25M Cap (30%)</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Space Grotesk"/>
                        </a:rPr>
                        <a:t>Growth Return (25%)</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Space Grotesk"/>
                        </a:rPr>
                        <a:t>GM Ownership (20%)</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Space Grotesk"/>
                        </a:rPr>
                        <a:t>Business Agility (15%)</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Space Grotesk"/>
                        </a:rPr>
                        <a:t>Speed (10%)</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Space Grotesk"/>
                        </a:rPr>
                        <a:t>Weighted Score</a:t>
                      </a:r>
                    </a:p>
                  </a:txBody>
                  <a:tcPr anchor="ctr" marL="63500" marR="63500" marT="25400" marB="25400">
                    <a:lnL>
                      <a:noFill/>
                    </a:lnL>
                    <a:lnR>
                      <a:noFill/>
                    </a:lnR>
                    <a:lnT>
                      <a:noFill/>
                    </a:lnT>
                    <a:lnB>
                      <a:noFill/>
                    </a:lnB>
                    <a:solidFill>
                      <a:srgbClr val="820AD1"/>
                    </a:solidFill>
                  </a:tcPr>
                </a:tc>
              </a:tr>
              <a:tr h="845343">
                <a:tc>
                  <a:txBody>
                    <a:bodyPr/>
                    <a:lstStyle/>
                    <a:p>
                      <a:pPr algn="l"/>
                      <a:r>
                        <a:rPr b="1" sz="1350" i="0" u="none">
                          <a:solidFill>
                            <a:srgbClr val="11052C"/>
                          </a:solidFill>
                          <a:latin typeface="DM Sans"/>
                        </a:rPr>
                        <a:t>1. Equal percentage cut</a:t>
                      </a:r>
                      <a:r>
                        <a:rPr b="0" sz="1350" i="0" u="none">
                          <a:solidFill>
                            <a:srgbClr val="11052C"/>
                          </a:solidFill>
                          <a:latin typeface="DM Sans"/>
                        </a:rPr>
                        <a:t> (every unit gets 42% of its ask)</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DM Sans"/>
                        </a:rPr>
                        <a:t>90</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DM Sans"/>
                        </a:rPr>
                        <a:t>40</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DM Sans"/>
                        </a:rPr>
                        <a:t>30</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DM Sans"/>
                        </a:rPr>
                        <a:t>35</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DM Sans"/>
                        </a:rPr>
                        <a:t>95</a:t>
                      </a:r>
                    </a:p>
                  </a:txBody>
                  <a:tcPr anchor="ctr" marL="63500" marR="63500" marT="25400" marB="25400">
                    <a:lnL>
                      <a:noFill/>
                    </a:lnL>
                    <a:lnR>
                      <a:noFill/>
                    </a:lnR>
                    <a:lnT>
                      <a:noFill/>
                    </a:lnT>
                    <a:lnB>
                      <a:noFill/>
                    </a:lnB>
                    <a:solidFill>
                      <a:srgbClr val="FFFFFF"/>
                    </a:solidFill>
                  </a:tcPr>
                </a:tc>
                <a:tc>
                  <a:txBody>
                    <a:bodyPr/>
                    <a:lstStyle/>
                    <a:p>
                      <a:pPr algn="l"/>
                      <a:r>
                        <a:rPr b="1" sz="1350" i="0" u="none">
                          <a:solidFill>
                            <a:srgbClr val="11052C"/>
                          </a:solidFill>
                          <a:latin typeface="DM Sans"/>
                        </a:rPr>
                        <a:t>57.8 / 100</a:t>
                      </a:r>
                    </a:p>
                  </a:txBody>
                  <a:tcPr anchor="ctr" marL="63500" marR="63500" marT="25400" marB="25400">
                    <a:lnL>
                      <a:noFill/>
                    </a:lnL>
                    <a:lnR>
                      <a:noFill/>
                    </a:lnR>
                    <a:lnT>
                      <a:noFill/>
                    </a:lnT>
                    <a:lnB>
                      <a:noFill/>
                    </a:lnB>
                    <a:solidFill>
                      <a:srgbClr val="FFFFFF"/>
                    </a:solidFill>
                  </a:tcPr>
                </a:tc>
              </a:tr>
              <a:tr h="845343">
                <a:tc>
                  <a:txBody>
                    <a:bodyPr/>
                    <a:lstStyle/>
                    <a:p>
                      <a:pPr algn="l"/>
                      <a:r>
                        <a:rPr b="1" sz="1350" i="0" u="none">
                          <a:solidFill>
                            <a:srgbClr val="11052C"/>
                          </a:solidFill>
                          <a:latin typeface="DM Sans"/>
                        </a:rPr>
                        <a:t>2. Core markets first</a:t>
                      </a:r>
                      <a:r>
                        <a:rPr b="0" sz="1350" i="0" u="none">
                          <a:solidFill>
                            <a:srgbClr val="11052C"/>
                          </a:solidFill>
                          <a:latin typeface="DM Sans"/>
                        </a:rPr>
                        <a:t> (fund Brazil, Mexico, Colombia; pause new bets)</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DM Sans"/>
                        </a:rPr>
                        <a:t>95</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DM Sans"/>
                        </a:rPr>
                        <a:t>55</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DM Sans"/>
                        </a:rPr>
                        <a:t>45</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DM Sans"/>
                        </a:rPr>
                        <a:t>30</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DM Sans"/>
                        </a:rPr>
                        <a:t>80</a:t>
                      </a:r>
                    </a:p>
                  </a:txBody>
                  <a:tcPr anchor="ctr" marL="63500" marR="63500" marT="25400" marB="25400">
                    <a:lnL>
                      <a:noFill/>
                    </a:lnL>
                    <a:lnR>
                      <a:noFill/>
                    </a:lnR>
                    <a:lnT>
                      <a:noFill/>
                    </a:lnT>
                    <a:lnB>
                      <a:noFill/>
                    </a:lnB>
                    <a:solidFill>
                      <a:srgbClr val="FFFFFF"/>
                    </a:solidFill>
                  </a:tcPr>
                </a:tc>
                <a:tc>
                  <a:txBody>
                    <a:bodyPr/>
                    <a:lstStyle/>
                    <a:p>
                      <a:pPr algn="l"/>
                      <a:r>
                        <a:rPr b="1" sz="1350" i="0" u="none">
                          <a:solidFill>
                            <a:srgbClr val="11052C"/>
                          </a:solidFill>
                          <a:latin typeface="DM Sans"/>
                        </a:rPr>
                        <a:t>63.8 / 100</a:t>
                      </a:r>
                    </a:p>
                  </a:txBody>
                  <a:tcPr anchor="ctr" marL="63500" marR="63500" marT="25400" marB="25400">
                    <a:lnL>
                      <a:noFill/>
                    </a:lnL>
                    <a:lnR>
                      <a:noFill/>
                    </a:lnR>
                    <a:lnT>
                      <a:noFill/>
                    </a:lnT>
                    <a:lnB>
                      <a:noFill/>
                    </a:lnB>
                    <a:solidFill>
                      <a:srgbClr val="FFFFFF"/>
                    </a:solidFill>
                  </a:tcPr>
                </a:tc>
              </a:tr>
              <a:tr h="845346">
                <a:tc>
                  <a:txBody>
                    <a:bodyPr/>
                    <a:lstStyle/>
                    <a:p>
                      <a:pPr algn="l"/>
                      <a:r>
                        <a:rPr b="1" sz="1350" i="0" u="none">
                          <a:solidFill>
                            <a:srgbClr val="11052C"/>
                          </a:solidFill>
                          <a:latin typeface="DM Sans"/>
                        </a:rPr>
                        <a:t>3. Business-case readiness + staged release</a:t>
                      </a:r>
                      <a:r>
                        <a:rPr b="0" sz="1350" i="0" u="none">
                          <a:solidFill>
                            <a:srgbClr val="11052C"/>
                          </a:solidFill>
                          <a:latin typeface="DM Sans"/>
                        </a:rPr>
                        <a:t> (recommended)</a:t>
                      </a:r>
                    </a:p>
                  </a:txBody>
                  <a:tcPr anchor="ctr" marL="63500" marR="63500" marT="25400" marB="25400">
                    <a:lnL>
                      <a:noFill/>
                    </a:lnL>
                    <a:lnR>
                      <a:noFill/>
                    </a:lnR>
                    <a:lnT>
                      <a:noFill/>
                    </a:lnT>
                    <a:lnB>
                      <a:noFill/>
                    </a:lnB>
                    <a:solidFill>
                      <a:srgbClr val="F3E8FF"/>
                    </a:solidFill>
                  </a:tcPr>
                </a:tc>
                <a:tc>
                  <a:txBody>
                    <a:bodyPr/>
                    <a:lstStyle/>
                    <a:p>
                      <a:pPr algn="l"/>
                      <a:r>
                        <a:rPr b="1" sz="1350" i="0" u="none">
                          <a:solidFill>
                            <a:srgbClr val="11052C"/>
                          </a:solidFill>
                          <a:latin typeface="DM Sans"/>
                        </a:rPr>
                        <a:t>100</a:t>
                      </a:r>
                    </a:p>
                  </a:txBody>
                  <a:tcPr anchor="ctr" marL="63500" marR="63500" marT="25400" marB="25400">
                    <a:lnL>
                      <a:noFill/>
                    </a:lnL>
                    <a:lnR>
                      <a:noFill/>
                    </a:lnR>
                    <a:lnT>
                      <a:noFill/>
                    </a:lnT>
                    <a:lnB>
                      <a:noFill/>
                    </a:lnB>
                    <a:solidFill>
                      <a:srgbClr val="F3E8FF"/>
                    </a:solidFill>
                  </a:tcPr>
                </a:tc>
                <a:tc>
                  <a:txBody>
                    <a:bodyPr/>
                    <a:lstStyle/>
                    <a:p>
                      <a:pPr algn="l"/>
                      <a:r>
                        <a:rPr b="1" sz="1350" i="0" u="none">
                          <a:solidFill>
                            <a:srgbClr val="11052C"/>
                          </a:solidFill>
                          <a:latin typeface="DM Sans"/>
                        </a:rPr>
                        <a:t>95</a:t>
                      </a:r>
                    </a:p>
                  </a:txBody>
                  <a:tcPr anchor="ctr" marL="63500" marR="63500" marT="25400" marB="25400">
                    <a:lnL>
                      <a:noFill/>
                    </a:lnL>
                    <a:lnR>
                      <a:noFill/>
                    </a:lnR>
                    <a:lnT>
                      <a:noFill/>
                    </a:lnT>
                    <a:lnB>
                      <a:noFill/>
                    </a:lnB>
                    <a:solidFill>
                      <a:srgbClr val="F3E8FF"/>
                    </a:solidFill>
                  </a:tcPr>
                </a:tc>
                <a:tc>
                  <a:txBody>
                    <a:bodyPr/>
                    <a:lstStyle/>
                    <a:p>
                      <a:pPr algn="l"/>
                      <a:r>
                        <a:rPr b="1" sz="1350" i="0" u="none">
                          <a:solidFill>
                            <a:srgbClr val="11052C"/>
                          </a:solidFill>
                          <a:latin typeface="DM Sans"/>
                        </a:rPr>
                        <a:t>85</a:t>
                      </a:r>
                    </a:p>
                  </a:txBody>
                  <a:tcPr anchor="ctr" marL="63500" marR="63500" marT="25400" marB="25400">
                    <a:lnL>
                      <a:noFill/>
                    </a:lnL>
                    <a:lnR>
                      <a:noFill/>
                    </a:lnR>
                    <a:lnT>
                      <a:noFill/>
                    </a:lnT>
                    <a:lnB>
                      <a:noFill/>
                    </a:lnB>
                    <a:solidFill>
                      <a:srgbClr val="F3E8FF"/>
                    </a:solidFill>
                  </a:tcPr>
                </a:tc>
                <a:tc>
                  <a:txBody>
                    <a:bodyPr/>
                    <a:lstStyle/>
                    <a:p>
                      <a:pPr algn="l"/>
                      <a:r>
                        <a:rPr b="1" sz="1350" i="0" u="none">
                          <a:solidFill>
                            <a:srgbClr val="11052C"/>
                          </a:solidFill>
                          <a:latin typeface="DM Sans"/>
                        </a:rPr>
                        <a:t>90</a:t>
                      </a:r>
                    </a:p>
                  </a:txBody>
                  <a:tcPr anchor="ctr" marL="63500" marR="63500" marT="25400" marB="25400">
                    <a:lnL>
                      <a:noFill/>
                    </a:lnL>
                    <a:lnR>
                      <a:noFill/>
                    </a:lnR>
                    <a:lnT>
                      <a:noFill/>
                    </a:lnT>
                    <a:lnB>
                      <a:noFill/>
                    </a:lnB>
                    <a:solidFill>
                      <a:srgbClr val="F3E8FF"/>
                    </a:solidFill>
                  </a:tcPr>
                </a:tc>
                <a:tc>
                  <a:txBody>
                    <a:bodyPr/>
                    <a:lstStyle/>
                    <a:p>
                      <a:pPr algn="l"/>
                      <a:r>
                        <a:rPr b="1" sz="1350" i="0" u="none">
                          <a:solidFill>
                            <a:srgbClr val="11052C"/>
                          </a:solidFill>
                          <a:latin typeface="DM Sans"/>
                        </a:rPr>
                        <a:t>75</a:t>
                      </a:r>
                    </a:p>
                  </a:txBody>
                  <a:tcPr anchor="ctr" marL="63500" marR="63500" marT="25400" marB="25400">
                    <a:lnL>
                      <a:noFill/>
                    </a:lnL>
                    <a:lnR>
                      <a:noFill/>
                    </a:lnR>
                    <a:lnT>
                      <a:noFill/>
                    </a:lnT>
                    <a:lnB>
                      <a:noFill/>
                    </a:lnB>
                    <a:solidFill>
                      <a:srgbClr val="F3E8FF"/>
                    </a:solidFill>
                  </a:tcPr>
                </a:tc>
                <a:tc>
                  <a:txBody>
                    <a:bodyPr/>
                    <a:lstStyle/>
                    <a:p>
                      <a:pPr algn="l"/>
                      <a:r>
                        <a:rPr b="1" sz="1650" i="0" u="none">
                          <a:solidFill>
                            <a:srgbClr val="820AD1"/>
                          </a:solidFill>
                          <a:latin typeface="DM Sans"/>
                        </a:rPr>
                        <a:t>91.8 / 100</a:t>
                      </a:r>
                    </a:p>
                  </a:txBody>
                  <a:tcPr anchor="ctr" marL="63500" marR="63500" marT="25400" marB="25400">
                    <a:lnL>
                      <a:noFill/>
                    </a:lnL>
                    <a:lnR>
                      <a:noFill/>
                    </a:lnR>
                    <a:lnT>
                      <a:noFill/>
                    </a:lnT>
                    <a:lnB>
                      <a:noFill/>
                    </a:lnB>
                    <a:solidFill>
                      <a:srgbClr val="F3E8FF"/>
                    </a:solidFill>
                  </a:tcPr>
                </a:tc>
              </a:tr>
            </a:tbl>
          </a:graphicData>
        </a:graphic>
      </p:graphicFrame>
      <p:sp>
        <p:nvSpPr>
          <p:cNvPr id="32" name="TextBox 31"/>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DM Sans"/>
              </a:rPr>
              <a:t>APPENDIX B // OPTION SCORES AND WEIGHT SENSITIVITY</a:t>
            </a:r>
          </a:p>
        </p:txBody>
      </p:sp>
      <p:sp>
        <p:nvSpPr>
          <p:cNvPr id="33" name="TextBox 32"/>
          <p:cNvSpPr txBox="1"/>
          <p:nvPr/>
        </p:nvSpPr>
        <p:spPr>
          <a:xfrm>
            <a:off x="609600" y="704850"/>
            <a:ext cx="115824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Space Grotesk"/>
              </a:rPr>
              <a:t>Option 3 stays first under every +/-10 point change to any single weight</a:t>
            </a:r>
          </a:p>
        </p:txBody>
      </p:sp>
      <p:sp>
        <p:nvSpPr>
          <p:cNvPr id="34" name="TextBox 33"/>
          <p:cNvSpPr txBox="1"/>
          <p:nvPr/>
        </p:nvSpPr>
        <p:spPr>
          <a:xfrm>
            <a:off x="609600" y="6229350"/>
            <a:ext cx="11582400" cy="171450"/>
          </a:xfrm>
          <a:prstGeom prst="rect">
            <a:avLst/>
          </a:prstGeom>
          <a:noFill/>
        </p:spPr>
        <p:txBody>
          <a:bodyPr wrap="none" lIns="0" rIns="0" tIns="0" bIns="0" anchor="t">
            <a:spAutoFit/>
          </a:bodyPr>
          <a:lstStyle/>
          <a:p>
            <a:pPr algn="l"/>
            <a:r>
              <a:rPr b="0" sz="1050" i="0" u="none">
                <a:solidFill>
                  <a:srgbClr val="6B5B82"/>
                </a:solidFill>
                <a:latin typeface="DM Sans"/>
              </a:rPr>
              <a:t>Weighted total = sum of score x weight. Base weights: cap 30%, growth return 25%, GM ownership 20%, agility 15%, speed 10%.</a:t>
            </a:r>
          </a:p>
        </p:txBody>
      </p:sp>
      <p:sp>
        <p:nvSpPr>
          <p:cNvPr id="35" name="TextBox 34"/>
          <p:cNvSpPr txBox="1"/>
          <p:nvPr/>
        </p:nvSpPr>
        <p:spPr>
          <a:xfrm>
            <a:off x="847725" y="5473005"/>
            <a:ext cx="10591800" cy="457200"/>
          </a:xfrm>
          <a:prstGeom prst="rect">
            <a:avLst/>
          </a:prstGeom>
          <a:noFill/>
        </p:spPr>
        <p:txBody>
          <a:bodyPr wrap="square" lIns="0" rIns="0" tIns="0" bIns="0" anchor="t">
            <a:spAutoFit/>
          </a:bodyPr>
          <a:lstStyle/>
          <a:p>
            <a:pPr algn="l"/>
            <a:r>
              <a:rPr b="1" sz="1350" i="0" u="none">
                <a:solidFill>
                  <a:srgbClr val="11052C"/>
                </a:solidFill>
                <a:latin typeface="DM Sans"/>
              </a:rPr>
              <a:t>Sensitivity (my calculation): </a:t>
            </a:r>
            <a:r>
              <a:rPr b="0" sz="1350" i="0" u="none">
                <a:solidFill>
                  <a:srgbClr val="11052C"/>
                </a:solidFill>
                <a:latin typeface="DM Sans"/>
              </a:rPr>
              <a:t>moving any one weight by +/-10 points and rebalancing the others pro rata leaves the order 3 &gt; 2 &gt; 1 unchanged; the smallest gap between option 3 and option 2 across all cases is above 20 points. Scores are judgment (A9).</a:t>
            </a:r>
          </a:p>
        </p:txBody>
      </p:sp>
      <p:sp>
        <p:nvSpPr>
          <p:cNvPr id="36" name="TextBox 35"/>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DM Sans"/>
              </a:rPr>
              <a:t>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