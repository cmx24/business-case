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7"/>
    <ns0:sldId id="257" ns1:id="rId8"/>
    <ns0:sldId id="276" ns1:id="rId31"/>
    <ns0:sldId id="258" ns1:id="rId9"/>
    <ns0:sldId id="259" ns1:id="rId10"/>
    <ns0:sldId id="260" ns1:id="rId11"/>
    <ns0:sldId id="261" ns1:id="rId12"/>
    <ns0:sldId id="262" ns1:id="rId13"/>
    <ns0:sldId id="267" ns1:id="rId18"/>
    <ns0:sldId id="263" ns1:id="rId14"/>
    <ns0:sldId id="268" ns1:id="rId19"/>
    <ns0:sldId id="277" ns1:id="rId32"/>
    <ns0:sldId id="264" ns1:id="rId15"/>
    <ns0:sldId id="272" ns1:id="rId23"/>
    <ns0:sldId id="265" ns1:id="rId16"/>
    <ns0:sldId id="266" ns1:id="rId17"/>
    <ns0:sldId id="269" ns1:id="rId20"/>
    <ns0:sldId id="270" ns1:id="rId21"/>
    <ns0:sldId id="275" ns1:id="rId26"/>
    <ns0:sldId id="271" ns1:id="rId22"/>
    <ns0:sldId id="273" ns1:id="rId24"/>
    <ns0:sldId id="278" ns1:id="rId33"/>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6" Type="http://schemas.openxmlformats.org/officeDocument/2006/relationships/slide" Target="slides/slide20.xml"/><Relationship Id="rId30" Type="http://schemas.openxmlformats.org/officeDocument/2006/relationships/notesMaster" Target="notesMasters/notesMaster1.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3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3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3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3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3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Sheet1!$C$2:$C$6</c:f>
              <c:numCache>
                <c:formatCode>General</c:formatCode>
                <c:ptCount val="5"/>
                <c:pt idx="0">
                  <c:v>60</c:v>
                </c:pt>
                <c:pt idx="1">
                  <c:v>8</c:v>
                </c:pt>
                <c:pt idx="2">
                  <c:v>12</c:v>
                </c:pt>
                <c:pt idx="3">
                  <c:v>15</c:v>
                </c:pt>
                <c:pt idx="4">
                  <c:v>25</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1052C"/>
                </a:solidFill>
                <a:latin typeface="Arial"/>
              </a:defRPr>
            </a:pPr>
          </a:p>
        </c:txPr>
        <c:crossAx val="-2113994440"/>
        <c:crosses val="autoZero"/>
        <c:auto val="1"/>
        <c:lblAlgn val="ctr"/>
        <c:lblOffset val="100"/>
        <c:noMultiLvlLbl val="0"/>
      </c:catAx>
      <c:valAx>
        <c:axId val="-2113994440"/>
        <c:scaling>
          <c:max val="62.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live problems, four deliverables, one ask at the end. Hardest question: 'Why should we believe a 60-day-old view?' Answer: because every number here is either a public Nu figure with its source or an assumption I list on slide 3 and would verify in week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decisions, each with a number. Hardest question: 'Why $25M and not a reallocation inside the existing base?' Answer: the cap is the CFO's constraint from the FY26 efficiency-ratio guide of about 20%; the model reallocates inside it every quarter,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facts and assumptions are kept apart on purpose; the brief asked for it and the CFO will test it. Hardest question: 'Which assumption, if wrong, breaks the plan?' Answer: A4. If the dispute is about regulatory capital by entity, slide 12 becomes the main event and the opex split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do not oversell $35M to a CFO who reports $5.9B a quarter; sell the precedent. Hardest question: 'If it is immaterial, why not just approve the $60M?' Answer: because the efficiency ratio is guided at ~20% and every unvetted central dollar is a dollar that is not in a customer-facing cohort.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this is the one idea the rest of the deck hangs on. Hardest question: 'Credit lines have repayment data in 30 days; a new vertical does not. What do you gate on?' Answer: leading indicators (activation, retention, CAC, unit cost) in the first quarter; payback is the lagging confirmation at the second gate.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options you rejected and why. Hardest question: 'Your scores are made up.' Answer: yes, they are judgment, labeled as such; the test that matters is that the winner survives every +/-10 point weight change, and it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whole $60M is answered; nothing is 'cut', each piece has a path. Hardest question: 'The $8M platform saving is convenient. Where does it come from?' Answer: it is my estimate (A5) from the asks that duplicate features the global code base already ships; Engineering confirms it in week one or the number moves to the case track.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cap is hard; anything above it is a rule with a formula, not a hope. Hardest question: 'Rule A6 is a loophole GMs will game.' Answer: it is funded only from profit that is already in the bank, sized by formula, and the CFO and IR sign it; a GM cannot trigger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meetings, each with an owner and an output; nothing else is added to the calendar. Hardest question: 'How many people is this?' Answer: the hub is small (model, template, pack); the partners are the finance people already attached to markets, re-pointed at cases and gates.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fix for two opposing executives is a shared yardstick, not a compromise number. Hardest question: 'What if the dispute is really about capital for Mexico and the US?' Answer: then slide 12 is the decision and this slide only sets the opex envelope; I check which it is in week one (A4).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panel you know the Board topic is capital, not a $25M opex line. Hardest question: 'Where should the next dollar of equity go?' Answer: wherever return on allocated capital beats the local cost of equity by the widest margin after the downside; today that case is strongest in Brazil deepening and Mexico, with the US sized to its 100 bps envelope until its credit models mature. Recent context to have ready: on 30 Sep 2026 Nu said it is not pursuing a transaction with Monzo and that its capital allocation framework is unchanged; the buyback runs 4 Jun 2026 to 3 Jun 2027; Q3'26 results are due 12 Nov 2026, before Investor Day. Board question: 'You want the ranking approved but show no return or cost-of-equity figures.' Answer: the Board approves the yardstick and the Mexico and US capitalization sequence at this meeting; Treasury's numbers are in the pack by T-16 and the ranking page is the one I present.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a Board rhythm is a calendar with owners, not a sprint metaphor. Dates around it: Q3'26 results 12 Nov 2026; Investor Day 8 Dec 2026 (announced 2 Sep, first ever, New York). Hardest question: 'Materials are already late. What do you cut?' Answer: the outline is locked today; anything not in it goes to the appendix or the next meeting; the capital plan and statutory items are the two things that cannot slip.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for a bank the entity question is a licensing question first. Hardest question: 'Would you be a statutory director of the HQ entity?' Answer: no. Statutory officers must pass fit-and-proper tests and carry personal liability; the Chief of Staff runs the process, the licensed executives hold the seats.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moves, in order, every time. Hardest question: 'Give me a real example.' Answer: [Pit wall: insert one case from your career here: the leader, what they asked for, what you offered instead, and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HQ is a governance project before it is a real-estate project. Hardest question: 'What is the dollar value of the incentives?' Answer: none is claimed yet; it depends on the site, and any figure before gate 1 would be a guess. The exit test at gate 1 produces the number. Tax question: 'Nu Holdings is Cayman-incorporated; does a corporate HQ move the place of effective management, and which jurisdiction collects the Pillar Two top-up?' Answer: gate 1's exit test includes a tax-residence opinion; the carve-out only bites where a qualified domestic minimum top-up tax applies (Brazil has one since 2025), so it is a site-selection input, not a saving.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rules, each tied to a mechanism on an earlier slide. Examples to give in Q&amp;A [Pit wall: insert three from your career, one per rule: the situation, your role, the decision,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downside is handled by the rule, not by a meeting. Hardest question: 'What would make you stop?' Answer: two of four indicators below plan for a unit, the efficiency ratio above the guide for the company, or credit cost above plan for rule A6. All three are observable at quarter close. Context a short-seller would raise: NPL 90+ rose 35 bps to 6.9% in Q2'26 (management called it seasonal); the Brazil election runoff is 25 Oct 2026; sell-side is split (JPMorgan raised its target in October, Itau BBA downgraded on consumer-credit risk). Short-seller question: 'The A6 valve spends H1 beats instead of letting them reach net income; is that not the padding you claim to remove?' Answer: it is capped, formula-sized inside the ~20% guide, CFO- and IR-signed, and disclosed as upside spend, not a change to guidance; and it only exists in the year the beat exists.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one clock. Tenure days on this slide (today is Day 60, 20 Oct 2026); HQ gates are D+n from the charter signed today; funding gates follow the FY27 fiscal calendar (A10). Hardest question: 'Why does the first release wait until January?' Answer: because the cap is FY27's envelope; the Board approves the plan on Day 88, the cases are vetted in December, and nobody is asked to prove a Q1 indicator in 37 days.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not on thanks. Then open Q&amp;A with the assumptions slide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Not presented; the two appendix pages are backup for Q&amp;A.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If asked about any number, this is the page.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options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ounded Rectangle 1"/>
          <p:cNvSpPr/>
          <p:nvPr/>
        </p:nvSpPr>
        <p:spPr>
          <a:xfrm>
            <a:off x="685800" y="5122068"/>
            <a:ext cx="10820400" cy="762000"/>
          </a:xfrm>
          <a:prstGeom prst="roundRect">
            <a:avLst>
              <a:gd name="adj" fmla="val 10000"/>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5605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263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973931"/>
            <a:ext cx="11506200" cy="190500"/>
          </a:xfrm>
          <a:prstGeom prst="rect">
            <a:avLst/>
          </a:prstGeom>
          <a:noFill/>
        </p:spPr>
        <p:txBody>
          <a:bodyPr wrap="none" lIns="0" rIns="0" tIns="0" bIns="0" anchor="t">
            <a:spAutoFit/>
          </a:bodyPr>
          <a:lstStyle/>
          <a:p>
            <a:pPr algn="l"/>
            <a:r>
              <a:rPr b="1" sz="1125" i="0" u="none">
                <a:solidFill>
                  <a:srgbClr val="C084FC"/>
                </a:solidFill>
                <a:latin typeface="Arial"/>
              </a:rPr>
              <a:t>NU HOLDINGS LTD. // OFFICE OF THE CFO &amp; CORPORATE GOVERNANCE</a:t>
            </a:r>
          </a:p>
        </p:txBody>
      </p:sp>
      <p:sp>
        <p:nvSpPr>
          <p:cNvPr id="7" name="TextBox 6"/>
          <p:cNvSpPr txBox="1"/>
          <p:nvPr/>
        </p:nvSpPr>
        <p:spPr>
          <a:xfrm>
            <a:off x="685800" y="1297781"/>
            <a:ext cx="10601325" cy="1023937"/>
          </a:xfrm>
          <a:prstGeom prst="rect">
            <a:avLst/>
          </a:prstGeom>
          <a:noFill/>
        </p:spPr>
        <p:txBody>
          <a:bodyPr wrap="square" lIns="0" rIns="0" tIns="0" bIns="0" anchor="t">
            <a:spAutoFit/>
          </a:bodyPr>
          <a:lstStyle/>
          <a:p>
            <a:pPr algn="l">
              <a:lnSpc>
                <a:spcPts val="4032"/>
              </a:lnSpc>
            </a:pPr>
            <a:r>
              <a:rPr b="1" sz="3600" i="0" u="none">
                <a:solidFill>
                  <a:srgbClr val="FFFFFF"/>
                </a:solidFill>
                <a:latin typeface="Arial"/>
              </a:rPr>
              <a:t>Chief of Staff to the CFO: a planning engine, a Board rhythm and an HQ charter</a:t>
            </a:r>
          </a:p>
        </p:txBody>
      </p:sp>
      <p:sp>
        <p:nvSpPr>
          <p:cNvPr id="8" name="TextBox 7"/>
          <p:cNvSpPr txBox="1"/>
          <p:nvPr/>
        </p:nvSpPr>
        <p:spPr>
          <a:xfrm>
            <a:off x="685800" y="2493168"/>
            <a:ext cx="9239250" cy="495300"/>
          </a:xfrm>
          <a:prstGeom prst="rect">
            <a:avLst/>
          </a:prstGeom>
          <a:noFill/>
        </p:spPr>
        <p:txBody>
          <a:bodyPr wrap="square" lIns="0" rIns="0" tIns="0" bIns="0" anchor="t">
            <a:spAutoFit/>
          </a:bodyPr>
          <a:lstStyle/>
          <a:p>
            <a:pPr algn="l"/>
            <a:r>
              <a:rPr b="0" sz="1500" i="0" u="none">
                <a:solidFill>
                  <a:srgbClr val="E9D5FF"/>
                </a:solidFill>
                <a:latin typeface="Arial"/>
              </a:rPr>
              <a:t>Case resolution, 60 days into the role. Prepared by Cassio Modelli for the Nu panel, October 2026. Nu figures are from public Q2'26 filings; my assumptions are listed on slide 3.</a:t>
            </a:r>
          </a:p>
        </p:txBody>
      </p:sp>
      <p:sp>
        <p:nvSpPr>
          <p:cNvPr id="9" name="TextBox 8"/>
          <p:cNvSpPr txBox="1"/>
          <p:nvPr/>
        </p:nvSpPr>
        <p:spPr>
          <a:xfrm>
            <a:off x="914400" y="5274468"/>
            <a:ext cx="10458450" cy="457200"/>
          </a:xfrm>
          <a:prstGeom prst="rect">
            <a:avLst/>
          </a:prstGeom>
          <a:noFill/>
        </p:spPr>
        <p:txBody>
          <a:bodyPr wrap="square" lIns="0" rIns="0" tIns="0" bIns="0" anchor="t">
            <a:spAutoFit/>
          </a:bodyPr>
          <a:lstStyle/>
          <a:p>
            <a:pPr algn="l"/>
            <a:r>
              <a:rPr b="1" sz="1350" i="0" u="none">
                <a:solidFill>
                  <a:srgbClr val="FFFFFF"/>
                </a:solidFill>
                <a:latin typeface="Arial"/>
              </a:rPr>
              <a:t>Four deliverables: (1) Planning and prioritization engine  (2) C-suite alignment and Board rhythm  (3) HQ execution roadmap  (4) How I lead</a:t>
            </a:r>
          </a:p>
        </p:txBody>
      </p:sp>
      <p:sp>
        <p:nvSpPr>
          <p:cNvPr id="10" name="TextBox 9"/>
          <p:cNvSpPr txBox="1"/>
          <p:nvPr/>
        </p:nvSpPr>
        <p:spPr>
          <a:xfrm>
            <a:off x="87630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1 // PLANNING</a:t>
            </a:r>
          </a:p>
        </p:txBody>
      </p:sp>
      <p:sp>
        <p:nvSpPr>
          <p:cNvPr id="11" name="TextBox 10"/>
          <p:cNvSpPr txBox="1"/>
          <p:nvPr/>
        </p:nvSpPr>
        <p:spPr>
          <a:xfrm>
            <a:off x="876300" y="3674268"/>
            <a:ext cx="4067109" cy="247650"/>
          </a:xfrm>
          <a:prstGeom prst="rect">
            <a:avLst/>
          </a:prstGeom>
          <a:noFill/>
        </p:spPr>
        <p:txBody>
          <a:bodyPr wrap="square" lIns="0" rIns="0" tIns="0" bIns="0" anchor="t">
            <a:spAutoFit/>
          </a:bodyPr>
          <a:lstStyle/>
          <a:p>
            <a:pPr algn="l"/>
            <a:r>
              <a:rPr b="1" sz="1500" i="0" u="none">
                <a:solidFill>
                  <a:srgbClr val="FFFFFF"/>
                </a:solidFill>
                <a:latin typeface="Arial"/>
              </a:rPr>
              <a:t>$60M Asks vs. $25M Cap</a:t>
            </a:r>
          </a:p>
        </p:txBody>
      </p:sp>
      <p:sp>
        <p:nvSpPr>
          <p:cNvPr id="12" name="TextBox 11"/>
          <p:cNvSpPr txBox="1"/>
          <p:nvPr/>
        </p:nvSpPr>
        <p:spPr>
          <a:xfrm>
            <a:off x="87630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Bring planning in-house and answer $60M of growth asks inside a $25M cost cap.</a:t>
            </a:r>
          </a:p>
        </p:txBody>
      </p:sp>
      <p:sp>
        <p:nvSpPr>
          <p:cNvPr id="13" name="TextBox 12"/>
          <p:cNvSpPr txBox="1"/>
          <p:nvPr/>
        </p:nvSpPr>
        <p:spPr>
          <a:xfrm>
            <a:off x="454655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2 // GOVERNANCE</a:t>
            </a:r>
          </a:p>
        </p:txBody>
      </p:sp>
      <p:sp>
        <p:nvSpPr>
          <p:cNvPr id="14" name="TextBox 13"/>
          <p:cNvSpPr txBox="1"/>
          <p:nvPr/>
        </p:nvSpPr>
        <p:spPr>
          <a:xfrm>
            <a:off x="4546550" y="3674268"/>
            <a:ext cx="4067109" cy="247650"/>
          </a:xfrm>
          <a:prstGeom prst="rect">
            <a:avLst/>
          </a:prstGeom>
          <a:noFill/>
        </p:spPr>
        <p:txBody>
          <a:bodyPr wrap="square" lIns="0" rIns="0" tIns="0" bIns="0" anchor="t">
            <a:spAutoFit/>
          </a:bodyPr>
          <a:lstStyle/>
          <a:p>
            <a:pPr algn="l"/>
            <a:r>
              <a:rPr b="1" sz="1500" i="0" u="none">
                <a:solidFill>
                  <a:srgbClr val="FFFFFF"/>
                </a:solidFill>
                <a:latin typeface="Arial"/>
              </a:rPr>
              <a:t>4-Week Board Crunch</a:t>
            </a:r>
          </a:p>
        </p:txBody>
      </p:sp>
      <p:sp>
        <p:nvSpPr>
          <p:cNvPr id="15" name="TextBox 14"/>
          <p:cNvSpPr txBox="1"/>
          <p:nvPr/>
        </p:nvSpPr>
        <p:spPr>
          <a:xfrm>
            <a:off x="454655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Settle two opposing capital views and get the Board book out on time.</a:t>
            </a:r>
          </a:p>
        </p:txBody>
      </p:sp>
      <p:sp>
        <p:nvSpPr>
          <p:cNvPr id="16" name="TextBox 15"/>
          <p:cNvSpPr txBox="1"/>
          <p:nvPr/>
        </p:nvSpPr>
        <p:spPr>
          <a:xfrm>
            <a:off x="821680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3 // SPECIAL PROJECT</a:t>
            </a:r>
          </a:p>
        </p:txBody>
      </p:sp>
      <p:sp>
        <p:nvSpPr>
          <p:cNvPr id="17" name="TextBox 16"/>
          <p:cNvSpPr txBox="1"/>
          <p:nvPr/>
        </p:nvSpPr>
        <p:spPr>
          <a:xfrm>
            <a:off x="8216800" y="3674268"/>
            <a:ext cx="3975199" cy="247650"/>
          </a:xfrm>
          <a:prstGeom prst="rect">
            <a:avLst/>
          </a:prstGeom>
          <a:noFill/>
        </p:spPr>
        <p:txBody>
          <a:bodyPr wrap="square" lIns="0" rIns="0" tIns="0" bIns="0" anchor="t">
            <a:spAutoFit/>
          </a:bodyPr>
          <a:lstStyle/>
          <a:p>
            <a:pPr algn="l"/>
            <a:r>
              <a:rPr b="1" sz="1500" i="0" u="none">
                <a:solidFill>
                  <a:srgbClr val="FFFFFF"/>
                </a:solidFill>
                <a:latin typeface="Arial"/>
              </a:rPr>
              <a:t>New Regional HQ Deal</a:t>
            </a:r>
          </a:p>
        </p:txBody>
      </p:sp>
      <p:sp>
        <p:nvSpPr>
          <p:cNvPr id="18" name="TextBox 17"/>
          <p:cNvSpPr txBox="1"/>
          <p:nvPr/>
        </p:nvSpPr>
        <p:spPr>
          <a:xfrm>
            <a:off x="821680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Lead legal, tax and campus terms across jurisdictions without line authority.</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34792"/>
            <a:ext cx="10972800" cy="1219200"/>
          </a:xfrm>
          <a:prstGeom prst="roundRect">
            <a:avLst>
              <a:gd name="adj" fmla="val 7812"/>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0042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324992"/>
            <a:ext cx="2600325" cy="1981200"/>
          </a:xfrm>
          <a:prstGeom prst="roundRect">
            <a:avLst>
              <a:gd name="adj" fmla="val 5434"/>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8207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01 // EXECUTIVE SUMMARY &amp; CORE RECOMMENDATION</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Fund FY27's $25M through two business-case gates, lock the Board plan 16 days out, and charter the HQ project this week</a:t>
            </a:r>
          </a:p>
        </p:txBody>
      </p:sp>
      <p:sp>
        <p:nvSpPr>
          <p:cNvPr id="9" name="TextBox 8"/>
          <p:cNvSpPr txBox="1"/>
          <p:nvPr/>
        </p:nvSpPr>
        <p:spPr>
          <a:xfrm>
            <a:off x="847725"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1 // PLANNING</a:t>
            </a:r>
          </a:p>
        </p:txBody>
      </p:sp>
      <p:sp>
        <p:nvSpPr>
          <p:cNvPr id="10" name="TextBox 9"/>
          <p:cNvSpPr txBox="1"/>
          <p:nvPr/>
        </p:nvSpPr>
        <p:spPr>
          <a:xfrm>
            <a:off x="847725"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$25M in two gates</a:t>
            </a:r>
          </a:p>
        </p:txBody>
      </p:sp>
      <p:sp>
        <p:nvSpPr>
          <p:cNvPr id="11" name="TextBox 10"/>
          <p:cNvSpPr txBox="1"/>
          <p:nvPr/>
        </p:nvSpPr>
        <p:spPr>
          <a:xfrm>
            <a:off x="847725"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Every ask gets a business case; $15M at FY27 start, $10M at Q1 close on indicators. No flat haircuts.</a:t>
            </a:r>
          </a:p>
        </p:txBody>
      </p:sp>
      <p:sp>
        <p:nvSpPr>
          <p:cNvPr id="12" name="TextBox 11"/>
          <p:cNvSpPr txBox="1"/>
          <p:nvPr/>
        </p:nvSpPr>
        <p:spPr>
          <a:xfrm>
            <a:off x="3638550"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2 // BOARD</a:t>
            </a:r>
          </a:p>
        </p:txBody>
      </p:sp>
      <p:sp>
        <p:nvSpPr>
          <p:cNvPr id="13" name="TextBox 12"/>
          <p:cNvSpPr txBox="1"/>
          <p:nvPr/>
        </p:nvSpPr>
        <p:spPr>
          <a:xfrm>
            <a:off x="3638550"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T-16 lock, T-7 book</a:t>
            </a:r>
          </a:p>
        </p:txBody>
      </p:sp>
      <p:sp>
        <p:nvSpPr>
          <p:cNvPr id="14" name="TextBox 13"/>
          <p:cNvSpPr txBox="1"/>
          <p:nvPr/>
        </p:nvSpPr>
        <p:spPr>
          <a:xfrm>
            <a:off x="3638550"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One options memo settles the capital dispute at T-16; the Board book ships at T-7 with written Q&amp;A.</a:t>
            </a:r>
          </a:p>
        </p:txBody>
      </p:sp>
      <p:sp>
        <p:nvSpPr>
          <p:cNvPr id="15" name="TextBox 14"/>
          <p:cNvSpPr txBox="1"/>
          <p:nvPr/>
        </p:nvSpPr>
        <p:spPr>
          <a:xfrm>
            <a:off x="6429375" y="2560320"/>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3 // HQ PROJECT</a:t>
            </a:r>
          </a:p>
        </p:txBody>
      </p:sp>
      <p:sp>
        <p:nvSpPr>
          <p:cNvPr id="16" name="TextBox 15"/>
          <p:cNvSpPr txBox="1"/>
          <p:nvPr/>
        </p:nvSpPr>
        <p:spPr>
          <a:xfrm>
            <a:off x="6429375" y="2807208"/>
            <a:ext cx="2787848" cy="266700"/>
          </a:xfrm>
          <a:prstGeom prst="rect">
            <a:avLst/>
          </a:prstGeom>
          <a:noFill/>
        </p:spPr>
        <p:txBody>
          <a:bodyPr wrap="square" lIns="0" rIns="0" tIns="0" bIns="0" anchor="t">
            <a:spAutoFit/>
          </a:bodyPr>
          <a:lstStyle/>
          <a:p>
            <a:pPr algn="l"/>
            <a:r>
              <a:rPr b="1" sz="1650" i="0" u="none">
                <a:solidFill>
                  <a:srgbClr val="11052C"/>
                </a:solidFill>
                <a:latin typeface="Arial"/>
              </a:rPr>
              <a:t>4 gates, 120 days</a:t>
            </a:r>
          </a:p>
        </p:txBody>
      </p:sp>
      <p:sp>
        <p:nvSpPr>
          <p:cNvPr id="17" name="TextBox 16"/>
          <p:cNvSpPr txBox="1"/>
          <p:nvPr/>
        </p:nvSpPr>
        <p:spPr>
          <a:xfrm>
            <a:off x="6429375" y="3154680"/>
            <a:ext cx="2219325" cy="914400"/>
          </a:xfrm>
          <a:prstGeom prst="rect">
            <a:avLst/>
          </a:prstGeom>
          <a:noFill/>
        </p:spPr>
        <p:txBody>
          <a:bodyPr wrap="square" lIns="0" rIns="0" tIns="0" bIns="0" anchor="t">
            <a:spAutoFit/>
          </a:bodyPr>
          <a:lstStyle/>
          <a:p>
            <a:pPr algn="l"/>
            <a:r>
              <a:rPr b="0" sz="1350" i="0" u="none">
                <a:solidFill>
                  <a:srgbClr val="3B2A54"/>
                </a:solidFill>
                <a:latin typeface="Arial"/>
              </a:rPr>
              <a:t>Tax substance, grant terms, officer liability and lease, each with an owner and an exit test.</a:t>
            </a:r>
          </a:p>
        </p:txBody>
      </p:sp>
      <p:sp>
        <p:nvSpPr>
          <p:cNvPr id="18" name="TextBox 17"/>
          <p:cNvSpPr txBox="1"/>
          <p:nvPr/>
        </p:nvSpPr>
        <p:spPr>
          <a:xfrm>
            <a:off x="9220200"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4 // LEADERSHIP</a:t>
            </a:r>
          </a:p>
        </p:txBody>
      </p:sp>
      <p:sp>
        <p:nvSpPr>
          <p:cNvPr id="19" name="TextBox 18"/>
          <p:cNvSpPr txBox="1"/>
          <p:nvPr/>
        </p:nvSpPr>
        <p:spPr>
          <a:xfrm>
            <a:off x="9220200"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Rigor in the squads</a:t>
            </a:r>
          </a:p>
        </p:txBody>
      </p:sp>
      <p:sp>
        <p:nvSpPr>
          <p:cNvPr id="20" name="TextBox 19"/>
          <p:cNvSpPr txBox="1"/>
          <p:nvPr/>
        </p:nvSpPr>
        <p:spPr>
          <a:xfrm>
            <a:off x="9220200"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I work inside the business units with the numbers, not above them with a veto.</a:t>
            </a:r>
          </a:p>
        </p:txBody>
      </p:sp>
      <p:sp>
        <p:nvSpPr>
          <p:cNvPr id="21" name="TextBox 20"/>
          <p:cNvSpPr txBox="1"/>
          <p:nvPr/>
        </p:nvSpPr>
        <p:spPr>
          <a:xfrm>
            <a:off x="914400" y="4763392"/>
            <a:ext cx="11277600" cy="171450"/>
          </a:xfrm>
          <a:prstGeom prst="rect">
            <a:avLst/>
          </a:prstGeom>
          <a:noFill/>
        </p:spPr>
        <p:txBody>
          <a:bodyPr wrap="none" lIns="0" rIns="0" tIns="0" bIns="0" anchor="t">
            <a:spAutoFit/>
          </a:bodyPr>
          <a:lstStyle/>
          <a:p>
            <a:pPr algn="l"/>
            <a:r>
              <a:rPr b="1" sz="1050" i="0" u="none">
                <a:solidFill>
                  <a:srgbClr val="C084FC"/>
                </a:solidFill>
                <a:latin typeface="Arial"/>
              </a:rPr>
              <a:t>THE ASK</a:t>
            </a:r>
          </a:p>
        </p:txBody>
      </p:sp>
      <p:sp>
        <p:nvSpPr>
          <p:cNvPr id="22" name="TextBox 21"/>
          <p:cNvSpPr txBox="1"/>
          <p:nvPr/>
        </p:nvSpPr>
        <p:spPr>
          <a:xfrm>
            <a:off x="914400" y="4972942"/>
            <a:ext cx="10458450" cy="552450"/>
          </a:xfrm>
          <a:prstGeom prst="rect">
            <a:avLst/>
          </a:prstGeom>
          <a:noFill/>
        </p:spPr>
        <p:txBody>
          <a:bodyPr wrap="square" lIns="0" rIns="0" tIns="0" bIns="0" anchor="t">
            <a:spAutoFit/>
          </a:bodyPr>
          <a:lstStyle/>
          <a:p>
            <a:pPr algn="l"/>
            <a:r>
              <a:rPr b="1" sz="1500" i="0" u="none">
                <a:solidFill>
                  <a:srgbClr val="FFFFFF"/>
                </a:solidFill>
                <a:latin typeface="Arial"/>
              </a:rPr>
              <a:t>Approve the $25M FY27 cap in two gates, with a CFO- and IR-gated valve of up to $15M that is not in plan; the T-16 / T-7 Board calendar; and the HQ project charter. I report on all three at Day 90.</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568773"/>
            <a:ext cx="4169568" cy="2609850"/>
          </a:xfrm>
          <a:prstGeom prst="roundRect">
            <a:avLst>
              <a:gd name="adj" fmla="val 437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22068" y="167818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22068" y="3192660"/>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22068" y="470713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03 // WHY THE CAP MATTERS AT NU'S SCALE</a:t>
            </a:r>
          </a:p>
        </p:txBody>
      </p:sp>
      <p:sp>
        <p:nvSpPr>
          <p:cNvPr id="7" name="TextBox 6"/>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$35M gap is small against a ~$23B revenue base; the precedent and the FY26 efficiency guide are what matter</a:t>
            </a:r>
          </a:p>
        </p:txBody>
      </p:sp>
      <p:sp>
        <p:nvSpPr>
          <p:cNvPr id="8" name="TextBox 7"/>
          <p:cNvSpPr txBox="1"/>
          <p:nvPr/>
        </p:nvSpPr>
        <p:spPr>
          <a:xfrm>
            <a:off x="609600" y="616446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Holdings Q2'26 earnings release and 6-K (138.9M customers; cost to serve $1.0; ARPAC $17.1; efficiency ratio 19.5%; FY26 ~20% per the Q2'26 call). Materiality: my calculation on annualized Q2'26 managerial revenue of ~$23.5B.</a:t>
            </a:r>
          </a:p>
        </p:txBody>
      </p:sp>
      <p:sp>
        <p:nvSpPr>
          <p:cNvPr id="9" name="TextBox 8"/>
          <p:cNvSpPr txBox="1"/>
          <p:nvPr/>
        </p:nvSpPr>
        <p:spPr>
          <a:xfrm>
            <a:off x="792480" y="2930723"/>
            <a:ext cx="3803808" cy="190500"/>
          </a:xfrm>
          <a:prstGeom prst="rect">
            <a:avLst/>
          </a:prstGeom>
          <a:noFill/>
        </p:spPr>
        <p:txBody>
          <a:bodyPr wrap="square" lIns="0" rIns="0" tIns="0" bIns="0" anchor="t">
            <a:spAutoFit/>
          </a:bodyPr>
          <a:lstStyle/>
          <a:p>
            <a:pPr algn="ctr"/>
            <a:r>
              <a:rPr b="1" sz="1125" i="0" u="none">
                <a:solidFill>
                  <a:srgbClr val="C084FC"/>
                </a:solidFill>
                <a:latin typeface="Arial"/>
              </a:rPr>
              <a:t>THE GAP</a:t>
            </a:r>
          </a:p>
        </p:txBody>
      </p:sp>
      <p:sp>
        <p:nvSpPr>
          <p:cNvPr id="10" name="TextBox 9"/>
          <p:cNvSpPr txBox="1"/>
          <p:nvPr/>
        </p:nvSpPr>
        <p:spPr>
          <a:xfrm>
            <a:off x="792480" y="3235523"/>
            <a:ext cx="3803808" cy="952500"/>
          </a:xfrm>
          <a:prstGeom prst="rect">
            <a:avLst/>
          </a:prstGeom>
          <a:noFill/>
        </p:spPr>
        <p:txBody>
          <a:bodyPr wrap="square" lIns="0" rIns="0" tIns="0" bIns="0" anchor="t">
            <a:spAutoFit/>
          </a:bodyPr>
          <a:lstStyle/>
          <a:p>
            <a:pPr algn="ctr">
              <a:lnSpc>
                <a:spcPts val="7500"/>
              </a:lnSpc>
            </a:pPr>
            <a:r>
              <a:rPr b="1" sz="7500" i="0" u="none">
                <a:solidFill>
                  <a:srgbClr val="FFFFFF"/>
                </a:solidFill>
                <a:latin typeface="Arial"/>
              </a:rPr>
              <a:t>$35M</a:t>
            </a:r>
          </a:p>
        </p:txBody>
      </p:sp>
      <p:sp>
        <p:nvSpPr>
          <p:cNvPr id="11" name="TextBox 10"/>
          <p:cNvSpPr txBox="1"/>
          <p:nvPr/>
        </p:nvSpPr>
        <p:spPr>
          <a:xfrm>
            <a:off x="792480" y="4340423"/>
            <a:ext cx="3803808" cy="685800"/>
          </a:xfrm>
          <a:prstGeom prst="rect">
            <a:avLst/>
          </a:prstGeom>
          <a:noFill/>
        </p:spPr>
        <p:txBody>
          <a:bodyPr wrap="square" lIns="0" rIns="0" tIns="0" bIns="0" anchor="t">
            <a:spAutoFit/>
          </a:bodyPr>
          <a:lstStyle/>
          <a:p>
            <a:pPr algn="ctr"/>
            <a:r>
              <a:rPr b="0" sz="1425" i="0" u="none">
                <a:solidFill>
                  <a:srgbClr val="E9D5FF"/>
                </a:solidFill>
                <a:latin typeface="Arial"/>
              </a:rPr>
              <a:t>$60M of asks vs a $25M cost cap: about 15 bps of annualized revenue, under 1% of ~$4.6B opex</a:t>
            </a:r>
          </a:p>
        </p:txBody>
      </p:sp>
      <p:sp>
        <p:nvSpPr>
          <p:cNvPr id="12" name="TextBox 11"/>
          <p:cNvSpPr txBox="1"/>
          <p:nvPr/>
        </p:nvSpPr>
        <p:spPr>
          <a:xfrm>
            <a:off x="5341143" y="1859160"/>
            <a:ext cx="6850856" cy="257175"/>
          </a:xfrm>
          <a:prstGeom prst="rect">
            <a:avLst/>
          </a:prstGeom>
          <a:noFill/>
        </p:spPr>
        <p:txBody>
          <a:bodyPr wrap="square" lIns="0" rIns="0" tIns="0" bIns="0" anchor="t">
            <a:spAutoFit/>
          </a:bodyPr>
          <a:lstStyle/>
          <a:p>
            <a:pPr algn="l"/>
            <a:r>
              <a:rPr b="1" sz="1575" i="0" u="none">
                <a:solidFill>
                  <a:srgbClr val="820AD1"/>
                </a:solidFill>
                <a:latin typeface="Arial"/>
              </a:rPr>
              <a:t>1. Keep the efficiency ratio near 20% [1]</a:t>
            </a:r>
          </a:p>
        </p:txBody>
      </p:sp>
      <p:sp>
        <p:nvSpPr>
          <p:cNvPr id="13" name="TextBox 12"/>
          <p:cNvSpPr txBox="1"/>
          <p:nvPr/>
        </p:nvSpPr>
        <p:spPr>
          <a:xfrm>
            <a:off x="5341143" y="2173485"/>
            <a:ext cx="6117431" cy="685800"/>
          </a:xfrm>
          <a:prstGeom prst="rect">
            <a:avLst/>
          </a:prstGeom>
          <a:noFill/>
        </p:spPr>
        <p:txBody>
          <a:bodyPr wrap="square" lIns="0" rIns="0" tIns="0" bIns="0" anchor="t">
            <a:spAutoFit/>
          </a:bodyPr>
          <a:lstStyle/>
          <a:p>
            <a:pPr algn="l"/>
            <a:r>
              <a:rPr b="0" sz="1350" i="0" u="none">
                <a:solidFill>
                  <a:srgbClr val="3B2A54"/>
                </a:solidFill>
                <a:latin typeface="Arial"/>
              </a:rPr>
              <a:t>Q2'26 came in at 19.5% (17.6% in Q1), with international expansion named as one driver. Management expects about 20% for FY26. Unvetted overhead is what moves that number the wrong way.</a:t>
            </a:r>
          </a:p>
        </p:txBody>
      </p:sp>
      <p:sp>
        <p:nvSpPr>
          <p:cNvPr id="14" name="TextBox 13"/>
          <p:cNvSpPr txBox="1"/>
          <p:nvPr/>
        </p:nvSpPr>
        <p:spPr>
          <a:xfrm>
            <a:off x="5341143" y="3373635"/>
            <a:ext cx="6850856" cy="257175"/>
          </a:xfrm>
          <a:prstGeom prst="rect">
            <a:avLst/>
          </a:prstGeom>
          <a:noFill/>
        </p:spPr>
        <p:txBody>
          <a:bodyPr wrap="square" lIns="0" rIns="0" tIns="0" bIns="0" anchor="t">
            <a:spAutoFit/>
          </a:bodyPr>
          <a:lstStyle/>
          <a:p>
            <a:pPr algn="l"/>
            <a:r>
              <a:rPr b="1" sz="1575" i="0" u="none">
                <a:solidFill>
                  <a:srgbClr val="820AD1"/>
                </a:solidFill>
                <a:latin typeface="Arial"/>
              </a:rPr>
              <a:t>2. Protect the cost-to-serve edge [1]</a:t>
            </a:r>
          </a:p>
        </p:txBody>
      </p:sp>
      <p:sp>
        <p:nvSpPr>
          <p:cNvPr id="15" name="TextBox 14"/>
          <p:cNvSpPr txBox="1"/>
          <p:nvPr/>
        </p:nvSpPr>
        <p:spPr>
          <a:xfrm>
            <a:off x="5341143" y="3687960"/>
            <a:ext cx="6117431" cy="685800"/>
          </a:xfrm>
          <a:prstGeom prst="rect">
            <a:avLst/>
          </a:prstGeom>
          <a:noFill/>
        </p:spPr>
        <p:txBody>
          <a:bodyPr wrap="square" lIns="0" rIns="0" tIns="0" bIns="0" anchor="t">
            <a:spAutoFit/>
          </a:bodyPr>
          <a:lstStyle/>
          <a:p>
            <a:pPr algn="l"/>
            <a:r>
              <a:rPr b="0" sz="1350" i="0" u="none">
                <a:solidFill>
                  <a:srgbClr val="3B2A54"/>
                </a:solidFill>
                <a:latin typeface="Arial"/>
              </a:rPr>
              <a:t>Monthly cost to serve per active customer is $1.0 (Q2'26, up from $0.8 a year earlier) against $17.1 of monthly ARPAC. The margin is wide; it stays wide only if central costs scale slower than customers.</a:t>
            </a:r>
          </a:p>
        </p:txBody>
      </p:sp>
      <p:sp>
        <p:nvSpPr>
          <p:cNvPr id="16" name="TextBox 15"/>
          <p:cNvSpPr txBox="1"/>
          <p:nvPr/>
        </p:nvSpPr>
        <p:spPr>
          <a:xfrm>
            <a:off x="5341143" y="4888110"/>
            <a:ext cx="6850856" cy="257175"/>
          </a:xfrm>
          <a:prstGeom prst="rect">
            <a:avLst/>
          </a:prstGeom>
          <a:noFill/>
        </p:spPr>
        <p:txBody>
          <a:bodyPr wrap="square" lIns="0" rIns="0" tIns="0" bIns="0" anchor="t">
            <a:spAutoFit/>
          </a:bodyPr>
          <a:lstStyle/>
          <a:p>
            <a:pPr algn="l"/>
            <a:r>
              <a:rPr b="1" sz="1575" i="0" u="none">
                <a:solidFill>
                  <a:srgbClr val="820AD1"/>
                </a:solidFill>
                <a:latin typeface="Arial"/>
              </a:rPr>
              <a:t>3. Set the precedent for the first in-house cycle</a:t>
            </a:r>
          </a:p>
        </p:txBody>
      </p:sp>
      <p:sp>
        <p:nvSpPr>
          <p:cNvPr id="17" name="TextBox 16"/>
          <p:cNvSpPr txBox="1"/>
          <p:nvPr/>
        </p:nvSpPr>
        <p:spPr>
          <a:xfrm>
            <a:off x="5341143" y="5202435"/>
            <a:ext cx="6117431" cy="685800"/>
          </a:xfrm>
          <a:prstGeom prst="rect">
            <a:avLst/>
          </a:prstGeom>
          <a:noFill/>
        </p:spPr>
        <p:txBody>
          <a:bodyPr wrap="square" lIns="0" rIns="0" tIns="0" bIns="0" anchor="t">
            <a:spAutoFit/>
          </a:bodyPr>
          <a:lstStyle/>
          <a:p>
            <a:pPr algn="l"/>
            <a:r>
              <a:rPr b="0" sz="1350" i="0" u="none">
                <a:solidFill>
                  <a:srgbClr val="3B2A54"/>
                </a:solidFill>
                <a:latin typeface="Arial"/>
              </a:rPr>
              <a:t>This is the first budget cycle planned centrally. How the $35M is closed decides whether GMs bring real cases next year or pad their asks. The process is the product.</a:t>
            </a:r>
          </a:p>
        </p:txBody>
      </p:sp>
      <p:sp>
        <p:nvSpPr>
          <p:cNvPr id="18" name="TextBox 17"/>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1805433"/>
            <a:ext cx="10972800" cy="1181100"/>
          </a:xfrm>
          <a:prstGeom prst="roundRect">
            <a:avLst>
              <a:gd name="adj" fmla="val 8064"/>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081783"/>
            <a:ext cx="3517850" cy="2286000"/>
          </a:xfrm>
          <a:prstGeom prst="roundRect">
            <a:avLst>
              <a:gd name="adj" fmla="val 462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70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644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04 // DELIVERABLE 1: THE PLANNING PRINCIPLE</a:t>
            </a:r>
          </a:p>
        </p:txBody>
      </p:sp>
      <p:sp>
        <p:nvSpPr>
          <p:cNvPr id="7" name="TextBox 6"/>
          <p:cNvSpPr txBox="1"/>
          <p:nvPr/>
        </p:nvSpPr>
        <p:spPr>
          <a:xfrm>
            <a:off x="609600" y="704850"/>
            <a:ext cx="109728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Budgets should be underwritten like credit lines: start small, gate on data, raise fast when the cohort proves out</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Holdings Form 20-F (credit underwriting; 'low-and-grow'). [2] Directional only, not load-bearing: multi-year studies of active capital reallocation (e.g. McKinsey, 1,600 US companies) associate it with higher shareholder returns.</a:t>
            </a:r>
          </a:p>
        </p:txBody>
      </p:sp>
      <p:sp>
        <p:nvSpPr>
          <p:cNvPr id="9" name="TextBox 8"/>
          <p:cNvSpPr txBox="1"/>
          <p:nvPr/>
        </p:nvSpPr>
        <p:spPr>
          <a:xfrm>
            <a:off x="876300" y="1995933"/>
            <a:ext cx="10534650" cy="800100"/>
          </a:xfrm>
          <a:prstGeom prst="rect">
            <a:avLst/>
          </a:prstGeom>
          <a:noFill/>
        </p:spPr>
        <p:txBody>
          <a:bodyPr wrap="square" lIns="0" rIns="0" tIns="0" bIns="0" anchor="t">
            <a:spAutoFit/>
          </a:bodyPr>
          <a:lstStyle/>
          <a:p>
            <a:pPr algn="l"/>
            <a:r>
              <a:rPr b="1" sz="1575" i="0" u="none">
                <a:solidFill>
                  <a:srgbClr val="FFFFFF"/>
                </a:solidFill>
                <a:latin typeface="Arial"/>
              </a:rPr>
              <a:t>Why this fits Nu: </a:t>
            </a:r>
            <a:r>
              <a:rPr b="0" sz="1575" i="0" u="none">
                <a:solidFill>
                  <a:srgbClr val="FFFFFF"/>
                </a:solidFill>
                <a:latin typeface="Arial"/>
              </a:rPr>
              <a:t>in credit, Nu starts customers on small limits and raises them on repayment behavior. Applying the same logic to budgets replaces one annual negotiation with quarterly evidence. It is Nu's own test-and-learn discipline, applied to Nu's own money.</a:t>
            </a:r>
          </a:p>
        </p:txBody>
      </p:sp>
      <p:sp>
        <p:nvSpPr>
          <p:cNvPr id="10" name="TextBox 9"/>
          <p:cNvSpPr txBox="1"/>
          <p:nvPr/>
        </p:nvSpPr>
        <p:spPr>
          <a:xfrm>
            <a:off x="866775" y="3453258"/>
            <a:ext cx="3754375" cy="171450"/>
          </a:xfrm>
          <a:prstGeom prst="rect">
            <a:avLst/>
          </a:prstGeom>
          <a:noFill/>
        </p:spPr>
        <p:txBody>
          <a:bodyPr wrap="none" lIns="0" rIns="0" tIns="0" bIns="0" anchor="t">
            <a:spAutoFit/>
          </a:bodyPr>
          <a:lstStyle/>
          <a:p>
            <a:pPr algn="l"/>
            <a:r>
              <a:rPr b="1" sz="1050" i="0" u="none">
                <a:solidFill>
                  <a:srgbClr val="820AD1"/>
                </a:solidFill>
                <a:latin typeface="Arial"/>
              </a:rPr>
              <a:t>1. NU CREDIT UNDERWRITING [1]</a:t>
            </a:r>
          </a:p>
        </p:txBody>
      </p:sp>
      <p:sp>
        <p:nvSpPr>
          <p:cNvPr id="11" name="TextBox 10"/>
          <p:cNvSpPr txBox="1"/>
          <p:nvPr/>
        </p:nvSpPr>
        <p:spPr>
          <a:xfrm>
            <a:off x="866775" y="3700908"/>
            <a:ext cx="3942094" cy="285750"/>
          </a:xfrm>
          <a:prstGeom prst="rect">
            <a:avLst/>
          </a:prstGeom>
          <a:noFill/>
        </p:spPr>
        <p:txBody>
          <a:bodyPr wrap="square" lIns="0" rIns="0" tIns="0" bIns="0" anchor="t">
            <a:spAutoFit/>
          </a:bodyPr>
          <a:lstStyle/>
          <a:p>
            <a:pPr algn="l"/>
            <a:r>
              <a:rPr b="1" sz="1725" i="0" u="none">
                <a:solidFill>
                  <a:srgbClr val="11052C"/>
                </a:solidFill>
                <a:latin typeface="Arial"/>
              </a:rPr>
              <a:t>Small Tests First</a:t>
            </a:r>
          </a:p>
        </p:txBody>
      </p:sp>
      <p:sp>
        <p:nvSpPr>
          <p:cNvPr id="12" name="TextBox 11"/>
          <p:cNvSpPr txBox="1"/>
          <p:nvPr/>
        </p:nvSpPr>
        <p:spPr>
          <a:xfrm>
            <a:off x="866775" y="4081908"/>
            <a:ext cx="3098750" cy="914400"/>
          </a:xfrm>
          <a:prstGeom prst="rect">
            <a:avLst/>
          </a:prstGeom>
          <a:noFill/>
        </p:spPr>
        <p:txBody>
          <a:bodyPr wrap="square" lIns="0" rIns="0" tIns="0" bIns="0" anchor="t">
            <a:spAutoFit/>
          </a:bodyPr>
          <a:lstStyle/>
          <a:p>
            <a:pPr algn="l"/>
            <a:r>
              <a:rPr b="0" sz="1350" i="0" u="none">
                <a:solidFill>
                  <a:srgbClr val="3B2A54"/>
                </a:solidFill>
                <a:latin typeface="Arial"/>
              </a:rPr>
              <a:t>Nu's 20-F describes low-and-grow underwriting: small initial limits, raised as repayment data comes in. Losses stay controlled because exposure grows only behind evidence.</a:t>
            </a:r>
          </a:p>
        </p:txBody>
      </p:sp>
      <p:sp>
        <p:nvSpPr>
          <p:cNvPr id="13" name="TextBox 12"/>
          <p:cNvSpPr txBox="1"/>
          <p:nvPr/>
        </p:nvSpPr>
        <p:spPr>
          <a:xfrm>
            <a:off x="4594175" y="3453258"/>
            <a:ext cx="3754375" cy="171450"/>
          </a:xfrm>
          <a:prstGeom prst="rect">
            <a:avLst/>
          </a:prstGeom>
          <a:noFill/>
        </p:spPr>
        <p:txBody>
          <a:bodyPr wrap="none" lIns="0" rIns="0" tIns="0" bIns="0" anchor="t">
            <a:spAutoFit/>
          </a:bodyPr>
          <a:lstStyle/>
          <a:p>
            <a:pPr algn="l"/>
            <a:r>
              <a:rPr b="1" sz="1050" i="0" u="none">
                <a:solidFill>
                  <a:srgbClr val="5B21B6"/>
                </a:solidFill>
                <a:latin typeface="Arial"/>
              </a:rPr>
              <a:t>2. WHAT CHANGES FOR THE CFO</a:t>
            </a:r>
          </a:p>
        </p:txBody>
      </p:sp>
      <p:sp>
        <p:nvSpPr>
          <p:cNvPr id="14" name="TextBox 13"/>
          <p:cNvSpPr txBox="1"/>
          <p:nvPr/>
        </p:nvSpPr>
        <p:spPr>
          <a:xfrm>
            <a:off x="4594175" y="3700908"/>
            <a:ext cx="3942094" cy="285750"/>
          </a:xfrm>
          <a:prstGeom prst="rect">
            <a:avLst/>
          </a:prstGeom>
          <a:noFill/>
        </p:spPr>
        <p:txBody>
          <a:bodyPr wrap="square" lIns="0" rIns="0" tIns="0" bIns="0" anchor="t">
            <a:spAutoFit/>
          </a:bodyPr>
          <a:lstStyle/>
          <a:p>
            <a:pPr algn="l"/>
            <a:r>
              <a:rPr b="1" sz="1725" i="0" u="none">
                <a:solidFill>
                  <a:srgbClr val="11052C"/>
                </a:solidFill>
                <a:latin typeface="Arial"/>
              </a:rPr>
              <a:t>Evidence replaces negotiation</a:t>
            </a:r>
          </a:p>
        </p:txBody>
      </p:sp>
      <p:sp>
        <p:nvSpPr>
          <p:cNvPr id="15" name="TextBox 14"/>
          <p:cNvSpPr txBox="1"/>
          <p:nvPr/>
        </p:nvSpPr>
        <p:spPr>
          <a:xfrm>
            <a:off x="4594175" y="4081908"/>
            <a:ext cx="3098750" cy="1143000"/>
          </a:xfrm>
          <a:prstGeom prst="rect">
            <a:avLst/>
          </a:prstGeom>
          <a:noFill/>
        </p:spPr>
        <p:txBody>
          <a:bodyPr wrap="square" lIns="0" rIns="0" tIns="0" bIns="0" anchor="t">
            <a:spAutoFit/>
          </a:bodyPr>
          <a:lstStyle/>
          <a:p>
            <a:pPr algn="l"/>
            <a:r>
              <a:rPr b="0" sz="1350" i="0" u="none">
                <a:solidFill>
                  <a:srgbClr val="3B2A54"/>
                </a:solidFill>
                <a:latin typeface="Arial"/>
              </a:rPr>
              <a:t>Each release decision reads the same four indicators for every unit: activation, 30-day retention, CAC vs plan, unit cost vs plan. Reallocation across units happens every quarter, not once a year.</a:t>
            </a:r>
          </a:p>
        </p:txBody>
      </p:sp>
      <p:sp>
        <p:nvSpPr>
          <p:cNvPr id="16" name="TextBox 15"/>
          <p:cNvSpPr txBox="1"/>
          <p:nvPr/>
        </p:nvSpPr>
        <p:spPr>
          <a:xfrm>
            <a:off x="8321575" y="3453258"/>
            <a:ext cx="3754375" cy="171450"/>
          </a:xfrm>
          <a:prstGeom prst="rect">
            <a:avLst/>
          </a:prstGeom>
          <a:noFill/>
        </p:spPr>
        <p:txBody>
          <a:bodyPr wrap="none" lIns="0" rIns="0" tIns="0" bIns="0" anchor="t">
            <a:spAutoFit/>
          </a:bodyPr>
          <a:lstStyle/>
          <a:p>
            <a:pPr algn="l"/>
            <a:r>
              <a:rPr b="1" sz="1050" i="0" u="none">
                <a:solidFill>
                  <a:srgbClr val="0D9488"/>
                </a:solidFill>
                <a:latin typeface="Arial"/>
              </a:rPr>
              <a:t>3. WHAT THIS MEANS FOR GMs</a:t>
            </a:r>
          </a:p>
        </p:txBody>
      </p:sp>
      <p:sp>
        <p:nvSpPr>
          <p:cNvPr id="17" name="TextBox 16"/>
          <p:cNvSpPr txBox="1"/>
          <p:nvPr/>
        </p:nvSpPr>
        <p:spPr>
          <a:xfrm>
            <a:off x="8321575" y="3700908"/>
            <a:ext cx="3870424" cy="285750"/>
          </a:xfrm>
          <a:prstGeom prst="rect">
            <a:avLst/>
          </a:prstGeom>
          <a:noFill/>
        </p:spPr>
        <p:txBody>
          <a:bodyPr wrap="square" lIns="0" rIns="0" tIns="0" bIns="0" anchor="t">
            <a:spAutoFit/>
          </a:bodyPr>
          <a:lstStyle/>
          <a:p>
            <a:pPr algn="l"/>
            <a:r>
              <a:rPr b="1" sz="1725" i="0" u="none">
                <a:solidFill>
                  <a:srgbClr val="11052C"/>
                </a:solidFill>
                <a:latin typeface="Arial"/>
              </a:rPr>
              <a:t>Earn Next Stage via Data</a:t>
            </a:r>
          </a:p>
        </p:txBody>
      </p:sp>
      <p:sp>
        <p:nvSpPr>
          <p:cNvPr id="18" name="TextBox 17"/>
          <p:cNvSpPr txBox="1"/>
          <p:nvPr/>
        </p:nvSpPr>
        <p:spPr>
          <a:xfrm>
            <a:off x="8321575" y="4081908"/>
            <a:ext cx="3098750" cy="1143000"/>
          </a:xfrm>
          <a:prstGeom prst="rect">
            <a:avLst/>
          </a:prstGeom>
          <a:noFill/>
        </p:spPr>
        <p:txBody>
          <a:bodyPr wrap="square" lIns="0" rIns="0" tIns="0" bIns="0" anchor="t">
            <a:spAutoFit/>
          </a:bodyPr>
          <a:lstStyle/>
          <a:p>
            <a:pPr algn="l"/>
            <a:r>
              <a:rPr b="0" sz="1350" i="0" u="none">
                <a:solidFill>
                  <a:srgbClr val="3B2A54"/>
                </a:solidFill>
                <a:latin typeface="Arial"/>
              </a:rPr>
              <a:t>GMs stop fighting for one annual cheque. They get a funded Q1 start and a published rule for unlocking the next stage, so the conversation moves from positions to indicators.</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Arial"/>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Arial"/>
                        </a:rPr>
                        <a:t>1. Equal percentage cut</a:t>
                      </a:r>
                      <a:r>
                        <a:rPr b="0" sz="1350" i="0" u="none">
                          <a:solidFill>
                            <a:srgbClr val="11052C"/>
                          </a:solidFill>
                          <a:latin typeface="Arial"/>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Arial"/>
                        </a:rPr>
                        <a:t>2. Core markets first</a:t>
                      </a:r>
                      <a:r>
                        <a:rPr b="0" sz="1350" i="0" u="none">
                          <a:solidFill>
                            <a:srgbClr val="11052C"/>
                          </a:solidFill>
                          <a:latin typeface="Arial"/>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Arial"/>
                        </a:rPr>
                        <a:t>3. Business-case readiness + staged release</a:t>
                      </a:r>
                      <a:r>
                        <a:rPr b="0" sz="1350" i="0" u="none">
                          <a:solidFill>
                            <a:srgbClr val="11052C"/>
                          </a:solidFill>
                          <a:latin typeface="Arial"/>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Arial"/>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05 // DELIVERABLE 1: THREE WAYS TO CLOSE $35M</a:t>
            </a:r>
          </a:p>
        </p:txBody>
      </p:sp>
      <p:sp>
        <p:nvSpPr>
          <p:cNvPr id="33" name="TextBox 32"/>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Three ways to close $35M: staged readiness wins on return and ownership; flat cuts win only on speed</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Arial"/>
              </a:rPr>
              <a:t>Scores 0-100 per criterion; weighted total = sum of score x weight. Re-run with each weight +/-10 points: option 3 stays first in every case.</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Arial"/>
              </a:rPr>
              <a:t>How to read it: </a:t>
            </a:r>
            <a:r>
              <a:rPr b="0" sz="1350" i="0" u="none">
                <a:solidFill>
                  <a:srgbClr val="11052C"/>
                </a:solidFill>
                <a:latin typeface="Arial"/>
              </a:rPr>
              <a:t>scores and weights are my judgment (assumption A9). The ranking does not change if any weight moves by 10 points. Option 1 loses on return and ownership: across-the-board cuts teach GMs to pad next year's ask and starve launches below viable scale. Option 2 is honest but gives the new bets nothing to earn.</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3" name="TextBox 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06 // DELIVERABLE 1: THE $60M BRIDGE</a:t>
            </a:r>
          </a:p>
        </p:txBody>
      </p:sp>
      <p:sp>
        <p:nvSpPr>
          <p:cNvPr id="4" name="TextBox 3"/>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$60M of asks become $25M of funded spend: $8M delivered on the platform, $12M sent back for a case, $15M conditional</a:t>
            </a:r>
          </a:p>
        </p:txBody>
      </p:sp>
      <p:sp>
        <p:nvSpPr>
          <p:cNvPr id="5" name="TextBox 4"/>
          <p:cNvSpPr txBox="1"/>
          <p:nvPr/>
        </p:nvSpPr>
        <p:spPr>
          <a:xfrm>
            <a:off x="609600" y="6019800"/>
            <a:ext cx="11068050" cy="381000"/>
          </a:xfrm>
          <a:prstGeom prst="rect">
            <a:avLst/>
          </a:prstGeom>
          <a:noFill/>
        </p:spPr>
        <p:txBody>
          <a:bodyPr wrap="square" lIns="0" rIns="0" tIns="0" bIns="0" anchor="t">
            <a:spAutoFit/>
          </a:bodyPr>
          <a:lstStyle/>
          <a:p>
            <a:pPr algn="l"/>
            <a:r>
              <a:rPr b="1" sz="1125" i="0" u="none">
                <a:solidFill>
                  <a:srgbClr val="3B2A54"/>
                </a:solidFill>
                <a:latin typeface="Arial"/>
              </a:rPr>
              <a:t>No arbitrary cuts: </a:t>
            </a:r>
            <a:r>
              <a:rPr b="0" sz="1125" i="0" u="none">
                <a:solidFill>
                  <a:srgbClr val="3B2A54"/>
                </a:solidFill>
                <a:latin typeface="Arial"/>
              </a:rPr>
              <a:t>$8M of country asks are met by reusing the shared global code base at near-zero marginal cost (A5); $12M of early ideas enter a 60-day business-case track with my team; $15M is conditional on H1 profit above plan under rule A6. $25M is funded now in two gates.</a:t>
            </a:r>
          </a:p>
        </p:txBody>
      </p:sp>
      <p:graphicFrame>
        <p:nvGraphicFramePr>
          <p:cNvPr id="6" name="Chart 5"/>
          <p:cNvGraphicFramePr>
            <a:graphicFrameLocks noGrp="1"/>
          </p:cNvGraphicFramePr>
          <p:nvPr/>
        </p:nvGraphicFramePr>
        <p:xfrm>
          <a:off x="822960" y="1600200"/>
          <a:ext cx="10515600" cy="4023360"/>
        </p:xfrm>
        <a:graphic>
          <a:graphicData uri="http://schemas.openxmlformats.org/drawingml/2006/chart">
            <c:chart xmlns:c="http://schemas.openxmlformats.org/drawingml/2006/chart" r:id="rId3"/>
          </a:graphicData>
        </a:graphic>
      </p:graphicFrame>
      <p:sp>
        <p:nvSpPr>
          <p:cNvPr id="7" name="TextBox 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401192"/>
            <a:ext cx="5353050" cy="3063240"/>
          </a:xfrm>
          <a:prstGeom prst="roundRect">
            <a:avLst>
              <a:gd name="adj" fmla="val 333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2401192"/>
            <a:ext cx="5353050" cy="3063240"/>
          </a:xfrm>
          <a:prstGeom prst="roundRect">
            <a:avLst>
              <a:gd name="adj" fmla="val 349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07 // DELIVERABLE 1: THE OPERATING MODEL AND THE RELEASE RULE</a:t>
            </a:r>
          </a:p>
        </p:txBody>
      </p:sp>
      <p:sp>
        <p:nvSpPr>
          <p:cNvPr id="5" name="TextBox 4"/>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Hub-and-spoke: one model and one calendar centrally, finance partners inside each market and vertical</a:t>
            </a:r>
          </a:p>
        </p:txBody>
      </p:sp>
      <p:sp>
        <p:nvSpPr>
          <p:cNvPr id="6" name="TextBox 5"/>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Q2'26 release (efficiency ratio 19.5%; FY26 guide ~20% per the call). Cycle-time target is mine; the directional benchmark for central planning hubs (Hackett Group) is in the ledger and not load-bearing.</a:t>
            </a:r>
          </a:p>
        </p:txBody>
      </p:sp>
      <p:sp>
        <p:nvSpPr>
          <p:cNvPr id="7" name="TextBox 6"/>
          <p:cNvSpPr txBox="1"/>
          <p:nvPr/>
        </p:nvSpPr>
        <p:spPr>
          <a:xfrm>
            <a:off x="866775" y="2658367"/>
            <a:ext cx="6048375" cy="171450"/>
          </a:xfrm>
          <a:prstGeom prst="rect">
            <a:avLst/>
          </a:prstGeom>
          <a:noFill/>
        </p:spPr>
        <p:txBody>
          <a:bodyPr wrap="none" lIns="0" rIns="0" tIns="0" bIns="0" anchor="t">
            <a:spAutoFit/>
          </a:bodyPr>
          <a:lstStyle/>
          <a:p>
            <a:pPr algn="l"/>
            <a:r>
              <a:rPr b="1" sz="1050" i="0" u="none">
                <a:solidFill>
                  <a:srgbClr val="820AD1"/>
                </a:solidFill>
                <a:latin typeface="Arial"/>
              </a:rPr>
              <a:t>WHY HUB-AND-SPOKE WORKS</a:t>
            </a:r>
          </a:p>
        </p:txBody>
      </p:sp>
      <p:sp>
        <p:nvSpPr>
          <p:cNvPr id="8" name="TextBox 7"/>
          <p:cNvSpPr txBox="1"/>
          <p:nvPr/>
        </p:nvSpPr>
        <p:spPr>
          <a:xfrm>
            <a:off x="866775" y="2906017"/>
            <a:ext cx="6350793" cy="285750"/>
          </a:xfrm>
          <a:prstGeom prst="rect">
            <a:avLst/>
          </a:prstGeom>
          <a:noFill/>
        </p:spPr>
        <p:txBody>
          <a:bodyPr wrap="square" lIns="0" rIns="0" tIns="0" bIns="0" anchor="t">
            <a:spAutoFit/>
          </a:bodyPr>
          <a:lstStyle/>
          <a:p>
            <a:pPr algn="l"/>
            <a:r>
              <a:rPr b="1" sz="1725" i="0" u="none">
                <a:solidFill>
                  <a:srgbClr val="11052C"/>
                </a:solidFill>
                <a:latin typeface="Arial"/>
              </a:rPr>
              <a:t>One source of truth, local speed</a:t>
            </a:r>
          </a:p>
        </p:txBody>
      </p:sp>
      <p:sp>
        <p:nvSpPr>
          <p:cNvPr id="9" name="TextBox 8"/>
          <p:cNvSpPr txBox="1"/>
          <p:nvPr/>
        </p:nvSpPr>
        <p:spPr>
          <a:xfrm>
            <a:off x="6486525" y="2660904"/>
            <a:ext cx="5705475" cy="171450"/>
          </a:xfrm>
          <a:prstGeom prst="rect">
            <a:avLst/>
          </a:prstGeom>
          <a:noFill/>
        </p:spPr>
        <p:txBody>
          <a:bodyPr wrap="none" lIns="0" rIns="0" tIns="0" bIns="0" anchor="t">
            <a:spAutoFit/>
          </a:bodyPr>
          <a:lstStyle/>
          <a:p>
            <a:pPr algn="l"/>
            <a:r>
              <a:rPr b="1" sz="1050" i="0" u="none">
                <a:solidFill>
                  <a:srgbClr val="5B21B6"/>
                </a:solidFill>
                <a:latin typeface="Arial"/>
              </a:rPr>
              <a:t>HOW THE $25M CAP UNLOCKS</a:t>
            </a:r>
          </a:p>
        </p:txBody>
      </p:sp>
      <p:sp>
        <p:nvSpPr>
          <p:cNvPr id="10" name="TextBox 9"/>
          <p:cNvSpPr txBox="1"/>
          <p:nvPr/>
        </p:nvSpPr>
        <p:spPr>
          <a:xfrm>
            <a:off x="6486525" y="2907792"/>
            <a:ext cx="5705475" cy="285750"/>
          </a:xfrm>
          <a:prstGeom prst="rect">
            <a:avLst/>
          </a:prstGeom>
          <a:noFill/>
        </p:spPr>
        <p:txBody>
          <a:bodyPr wrap="square" lIns="0" rIns="0" tIns="0" bIns="0" anchor="t">
            <a:spAutoFit/>
          </a:bodyPr>
          <a:lstStyle/>
          <a:p>
            <a:pPr algn="l"/>
            <a:r>
              <a:rPr b="1" sz="1725" i="0" u="none">
                <a:solidFill>
                  <a:srgbClr val="11052C"/>
                </a:solidFill>
                <a:latin typeface="Arial"/>
              </a:rPr>
              <a:t>Two gates inside the cap, one valve above it</a:t>
            </a:r>
          </a:p>
        </p:txBody>
      </p:sp>
      <p:sp>
        <p:nvSpPr>
          <p:cNvPr id="11" name="TextBox 10"/>
          <p:cNvSpPr txBox="1"/>
          <p:nvPr/>
        </p:nvSpPr>
        <p:spPr>
          <a:xfrm>
            <a:off x="1000125" y="327749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2" name="TextBox 11"/>
          <p:cNvSpPr txBox="1"/>
          <p:nvPr/>
        </p:nvSpPr>
        <p:spPr>
          <a:xfrm>
            <a:off x="1057275" y="3306067"/>
            <a:ext cx="4743450" cy="914400"/>
          </a:xfrm>
          <a:prstGeom prst="rect">
            <a:avLst/>
          </a:prstGeom>
          <a:noFill/>
        </p:spPr>
        <p:txBody>
          <a:bodyPr wrap="square" lIns="57150" rIns="0" tIns="0" bIns="0" anchor="t">
            <a:spAutoFit/>
          </a:bodyPr>
          <a:lstStyle/>
          <a:p>
            <a:pPr algn="l"/>
            <a:r>
              <a:rPr b="1" sz="1250" i="0" u="none">
                <a:solidFill>
                  <a:srgbClr val="3B2A54"/>
                </a:solidFill>
                <a:latin typeface="Arial"/>
              </a:rPr>
              <a:t>Central planning hub (6-8 people, A10): </a:t>
            </a:r>
            <a:r>
              <a:rPr b="0" sz="1250" i="0" u="none">
                <a:solidFill>
                  <a:srgbClr val="3B2A54"/>
                </a:solidFill>
                <a:latin typeface="Arial"/>
              </a:rPr>
              <a:t>takes the annual cycle and the single model in-house from the business units; reads Nu's data platform, not spreadsheets. KPIs: cycle time under 40 days, forecast accuracy, 100% of spend with an approved case.</a:t>
            </a:r>
          </a:p>
        </p:txBody>
      </p:sp>
      <p:sp>
        <p:nvSpPr>
          <p:cNvPr id="13" name="TextBox 12"/>
          <p:cNvSpPr txBox="1"/>
          <p:nvPr/>
        </p:nvSpPr>
        <p:spPr>
          <a:xfrm>
            <a:off x="1000125" y="42871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4" name="TextBox 13"/>
          <p:cNvSpPr txBox="1"/>
          <p:nvPr/>
        </p:nvSpPr>
        <p:spPr>
          <a:xfrm>
            <a:off x="1057275" y="4315717"/>
            <a:ext cx="4743450" cy="685800"/>
          </a:xfrm>
          <a:prstGeom prst="rect">
            <a:avLst/>
          </a:prstGeom>
          <a:noFill/>
        </p:spPr>
        <p:txBody>
          <a:bodyPr wrap="square" lIns="57150" rIns="0" tIns="0" bIns="0" anchor="t">
            <a:spAutoFit/>
          </a:bodyPr>
          <a:lstStyle/>
          <a:p>
            <a:pPr algn="l"/>
            <a:r>
              <a:rPr b="1" sz="1250" i="0" u="none">
                <a:solidFill>
                  <a:srgbClr val="3B2A54"/>
                </a:solidFill>
                <a:latin typeface="Arial"/>
              </a:rPr>
              <a:t>Embedded finance partners: </a:t>
            </a:r>
            <a:r>
              <a:rPr b="0" sz="1250" i="0" u="none">
                <a:solidFill>
                  <a:srgbClr val="3B2A54"/>
                </a:solidFill>
                <a:latin typeface="Arial"/>
              </a:rPr>
              <a:t>solid line to the hub, dotted line to the GM; in place by Day 95. They build the cases with the GMs and own the indicator read-outs at each gate.</a:t>
            </a:r>
          </a:p>
        </p:txBody>
      </p:sp>
      <p:sp>
        <p:nvSpPr>
          <p:cNvPr id="15" name="TextBox 14"/>
          <p:cNvSpPr txBox="1"/>
          <p:nvPr/>
        </p:nvSpPr>
        <p:spPr>
          <a:xfrm>
            <a:off x="6619875" y="327355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6" name="TextBox 15"/>
          <p:cNvSpPr txBox="1"/>
          <p:nvPr/>
        </p:nvSpPr>
        <p:spPr>
          <a:xfrm>
            <a:off x="6677025" y="3310128"/>
            <a:ext cx="4743450" cy="457200"/>
          </a:xfrm>
          <a:prstGeom prst="rect">
            <a:avLst/>
          </a:prstGeom>
          <a:noFill/>
        </p:spPr>
        <p:txBody>
          <a:bodyPr wrap="square" lIns="57150" rIns="0" tIns="0" bIns="0" anchor="t">
            <a:spAutoFit/>
          </a:bodyPr>
          <a:lstStyle/>
          <a:p>
            <a:pPr algn="l"/>
            <a:r>
              <a:rPr b="1" sz="1250" i="0" u="none">
                <a:solidFill>
                  <a:srgbClr val="3B2A54"/>
                </a:solidFill>
                <a:latin typeface="Arial"/>
              </a:rPr>
              <a:t>Gate 1, $15M at FY27 start (1 Jan): </a:t>
            </a:r>
            <a:r>
              <a:rPr b="0" sz="1250" i="0" u="none">
                <a:solidFill>
                  <a:srgbClr val="3B2A54"/>
                </a:solidFill>
                <a:latin typeface="Arial"/>
              </a:rPr>
              <a:t>released to the vetted cases ($10.5M core markets, $4.5M new bets).</a:t>
            </a:r>
          </a:p>
        </p:txBody>
      </p:sp>
      <p:sp>
        <p:nvSpPr>
          <p:cNvPr id="17" name="TextBox 16"/>
          <p:cNvSpPr txBox="1"/>
          <p:nvPr/>
        </p:nvSpPr>
        <p:spPr>
          <a:xfrm>
            <a:off x="6619875" y="3895344"/>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8" name="TextBox 17"/>
          <p:cNvSpPr txBox="1"/>
          <p:nvPr/>
        </p:nvSpPr>
        <p:spPr>
          <a:xfrm>
            <a:off x="6677025" y="3922776"/>
            <a:ext cx="4743450" cy="713232"/>
          </a:xfrm>
          <a:prstGeom prst="rect">
            <a:avLst/>
          </a:prstGeom>
          <a:noFill/>
        </p:spPr>
        <p:txBody>
          <a:bodyPr wrap="square" lIns="57150" rIns="0" tIns="0" bIns="0" anchor="t">
            <a:spAutoFit/>
          </a:bodyPr>
          <a:lstStyle/>
          <a:p>
            <a:pPr algn="l"/>
            <a:r>
              <a:rPr b="1" sz="1250" i="0" u="none">
                <a:solidFill>
                  <a:srgbClr val="3B2A54"/>
                </a:solidFill>
                <a:latin typeface="Arial"/>
              </a:rPr>
              <a:t>Gate 2, $10M at Q1 close (31 Mar): </a:t>
            </a:r>
            <a:r>
              <a:rPr b="0" sz="1250" i="0" u="none">
                <a:solidFill>
                  <a:srgbClr val="3B2A54"/>
                </a:solidFill>
                <a:latin typeface="Arial"/>
              </a:rPr>
              <a:t>completes the $25M cap; released to units whose Q1 indicators (activation, 30-day retention, CAC and unit cost vs plan) hold.</a:t>
            </a:r>
          </a:p>
        </p:txBody>
      </p:sp>
      <p:sp>
        <p:nvSpPr>
          <p:cNvPr id="19" name="TextBox 18"/>
          <p:cNvSpPr txBox="1"/>
          <p:nvPr/>
        </p:nvSpPr>
        <p:spPr>
          <a:xfrm>
            <a:off x="6619875" y="4681728"/>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0" name="TextBox 19"/>
          <p:cNvSpPr txBox="1"/>
          <p:nvPr/>
        </p:nvSpPr>
        <p:spPr>
          <a:xfrm>
            <a:off x="6677025" y="4709160"/>
            <a:ext cx="4743450" cy="713232"/>
          </a:xfrm>
          <a:prstGeom prst="rect">
            <a:avLst/>
          </a:prstGeom>
          <a:noFill/>
        </p:spPr>
        <p:txBody>
          <a:bodyPr wrap="square" lIns="57150" rIns="0" tIns="0" bIns="0" anchor="t">
            <a:spAutoFit/>
          </a:bodyPr>
          <a:lstStyle/>
          <a:p>
            <a:pPr algn="l"/>
            <a:r>
              <a:rPr b="1" sz="1250" i="0" u="none">
                <a:solidFill>
                  <a:srgbClr val="3B2A54"/>
                </a:solidFill>
                <a:latin typeface="Arial"/>
              </a:rPr>
              <a:t>The A6 valve: </a:t>
            </a:r>
            <a:r>
              <a:rPr b="0" sz="1250" i="0" u="none">
                <a:solidFill>
                  <a:srgbClr val="3B2A54"/>
                </a:solidFill>
                <a:latin typeface="Arial"/>
              </a:rPr>
              <a:t>up to $15M in H2, only from H1 profit above plan, inside the efficiency guide, with CFO and IR sign-off. Not in the base plan.</a:t>
            </a:r>
          </a:p>
        </p:txBody>
      </p:sp>
      <p:sp>
        <p:nvSpPr>
          <p:cNvPr id="21" name="TextBox 2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00100"/>
          </a:xfrm>
          <a:prstGeom prst="roundRect">
            <a:avLst>
              <a:gd name="adj" fmla="val 11904"/>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09 // DELIVERABLE 2: SETTLING THE TWO VIEWS</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Core markets and new bets are judged on different indicators, so both executives can sign the FY27 opex lock</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Q2'26 release (ARPAC $17.1; ROE 33%); Q1'26 earnings presentation cohort slide ($30.8 monthly ARPAC at 96 months since origination vs $15.9 total). The horizon split follows the three-horizons framing (Baghai, Coley and White), used here as a frame, not as evidence.</a:t>
            </a:r>
          </a:p>
        </p:txBody>
      </p:sp>
      <p:sp>
        <p:nvSpPr>
          <p:cNvPr id="8" name="TextBox 7"/>
          <p:cNvSpPr txBox="1"/>
          <p:nvPr/>
        </p:nvSpPr>
        <p:spPr>
          <a:xfrm>
            <a:off x="857250" y="4744342"/>
            <a:ext cx="10572750" cy="457200"/>
          </a:xfrm>
          <a:prstGeom prst="rect">
            <a:avLst/>
          </a:prstGeom>
          <a:noFill/>
        </p:spPr>
        <p:txBody>
          <a:bodyPr wrap="square" lIns="0" rIns="0" tIns="0" bIns="0" anchor="t">
            <a:spAutoFit/>
          </a:bodyPr>
          <a:lstStyle/>
          <a:p>
            <a:pPr algn="l"/>
            <a:r>
              <a:rPr b="1" sz="1250" i="0" u="none">
                <a:solidFill>
                  <a:srgbClr val="FFFFFF"/>
                </a:solidFill>
                <a:latin typeface="Arial"/>
              </a:rPr>
              <a:t>Why both can sign: </a:t>
            </a:r>
            <a:r>
              <a:rPr b="0" sz="1250" i="0" u="none">
                <a:solidFill>
                  <a:srgbClr val="FFFFFF"/>
                </a:solidFill>
                <a:latin typeface="Arial"/>
              </a:rPr>
              <a:t>core markets get 70% of the first release to protect the year; new bets get a protected $4.5M start plus first claim on up to $14M across gate 2 and the A6 valve, if it opens. I write the one-page options memo; the CFO recommends; the CEO decides; the Board chair gets the pre-read. This is opex (A4); equity for Mexico and the US charter is the Board's own decision, next slide but one.</a:t>
            </a:r>
          </a:p>
        </p:txBody>
      </p:sp>
      <p:sp>
        <p:nvSpPr>
          <p:cNvPr id="9" name="TextBox 8"/>
          <p:cNvSpPr txBox="1"/>
          <p:nvPr/>
        </p:nvSpPr>
        <p:spPr>
          <a:xfrm>
            <a:off x="847725" y="2525017"/>
            <a:ext cx="6119812" cy="171450"/>
          </a:xfrm>
          <a:prstGeom prst="rect">
            <a:avLst/>
          </a:prstGeom>
          <a:noFill/>
        </p:spPr>
        <p:txBody>
          <a:bodyPr wrap="none" lIns="0" rIns="0" tIns="0" bIns="0" anchor="t">
            <a:spAutoFit/>
          </a:bodyPr>
          <a:lstStyle/>
          <a:p>
            <a:pPr algn="l"/>
            <a:r>
              <a:rPr b="1" sz="1050" i="0" u="none">
                <a:solidFill>
                  <a:srgbClr val="820AD1"/>
                </a:solidFill>
                <a:latin typeface="Arial"/>
              </a:rPr>
              <a:t>HORIZON 1: CORE MARKETS (BRAZIL, MEXICO, COLOMBIA)</a:t>
            </a:r>
          </a:p>
        </p:txBody>
      </p:sp>
      <p:sp>
        <p:nvSpPr>
          <p:cNvPr id="10" name="TextBox 9"/>
          <p:cNvSpPr txBox="1"/>
          <p:nvPr/>
        </p:nvSpPr>
        <p:spPr>
          <a:xfrm>
            <a:off x="847725" y="2753617"/>
            <a:ext cx="6425803" cy="285750"/>
          </a:xfrm>
          <a:prstGeom prst="rect">
            <a:avLst/>
          </a:prstGeom>
          <a:noFill/>
        </p:spPr>
        <p:txBody>
          <a:bodyPr wrap="square" lIns="0" rIns="0" tIns="0" bIns="0" anchor="t">
            <a:spAutoFit/>
          </a:bodyPr>
          <a:lstStyle/>
          <a:p>
            <a:pPr algn="l"/>
            <a:r>
              <a:rPr b="1" sz="1725" i="0" u="none">
                <a:solidFill>
                  <a:srgbClr val="11052C"/>
                </a:solidFill>
                <a:latin typeface="Arial"/>
              </a:rPr>
              <a:t>70% of the gate-1 release ($10.5M)</a:t>
            </a:r>
          </a:p>
        </p:txBody>
      </p:sp>
      <p:sp>
        <p:nvSpPr>
          <p:cNvPr id="11" name="TextBox 10"/>
          <p:cNvSpPr txBox="1"/>
          <p:nvPr/>
        </p:nvSpPr>
        <p:spPr>
          <a:xfrm>
            <a:off x="847725" y="3134617"/>
            <a:ext cx="4991100" cy="685800"/>
          </a:xfrm>
          <a:prstGeom prst="rect">
            <a:avLst/>
          </a:prstGeom>
          <a:noFill/>
        </p:spPr>
        <p:txBody>
          <a:bodyPr wrap="square" lIns="0" rIns="0" tIns="0" bIns="0" anchor="t">
            <a:spAutoFit/>
          </a:bodyPr>
          <a:lstStyle/>
          <a:p>
            <a:pPr algn="l"/>
            <a:r>
              <a:rPr b="0" sz="1350" i="0" u="none">
                <a:solidFill>
                  <a:srgbClr val="3B2A54"/>
                </a:solidFill>
                <a:latin typeface="Arial"/>
              </a:rPr>
              <a:t>Mature cohorts reach ~$31 of monthly ARPAC at eight years vs $17.1 for the group, at 33% ROE (Q2'26). Proven markets get the first, largest release [1].</a:t>
            </a:r>
          </a:p>
        </p:txBody>
      </p:sp>
      <p:sp>
        <p:nvSpPr>
          <p:cNvPr id="12" name="TextBox 11"/>
          <p:cNvSpPr txBox="1"/>
          <p:nvPr/>
        </p:nvSpPr>
        <p:spPr>
          <a:xfrm>
            <a:off x="847725" y="3915667"/>
            <a:ext cx="6119812" cy="228600"/>
          </a:xfrm>
          <a:prstGeom prst="rect">
            <a:avLst/>
          </a:prstGeom>
          <a:noFill/>
        </p:spPr>
        <p:txBody>
          <a:bodyPr wrap="square" lIns="0" rIns="0" tIns="0" bIns="0" anchor="t">
            <a:spAutoFit/>
          </a:bodyPr>
          <a:lstStyle/>
          <a:p>
            <a:pPr algn="l"/>
            <a:r>
              <a:rPr b="1" sz="1300" i="0" u="none">
                <a:solidFill>
                  <a:srgbClr val="0D9488"/>
                </a:solidFill>
                <a:latin typeface="Arial"/>
              </a:rPr>
              <a:t>Full year: $16.5M in the cap + up to $5.0M (rule A6)</a:t>
            </a:r>
          </a:p>
        </p:txBody>
      </p:sp>
      <p:sp>
        <p:nvSpPr>
          <p:cNvPr id="13" name="TextBox 12"/>
          <p:cNvSpPr txBox="1"/>
          <p:nvPr/>
        </p:nvSpPr>
        <p:spPr>
          <a:xfrm>
            <a:off x="6448425" y="2525017"/>
            <a:ext cx="5743575" cy="171450"/>
          </a:xfrm>
          <a:prstGeom prst="rect">
            <a:avLst/>
          </a:prstGeom>
          <a:noFill/>
        </p:spPr>
        <p:txBody>
          <a:bodyPr wrap="none" lIns="0" rIns="0" tIns="0" bIns="0" anchor="t">
            <a:spAutoFit/>
          </a:bodyPr>
          <a:lstStyle/>
          <a:p>
            <a:pPr algn="l"/>
            <a:r>
              <a:rPr b="1" sz="1050" i="0" u="none">
                <a:solidFill>
                  <a:srgbClr val="5B21B6"/>
                </a:solidFill>
                <a:latin typeface="Arial"/>
              </a:rPr>
              <a:t>HORIZON 2 &amp; 3: NEW BETS (NEW VERTICALS AND MARKETS)</a:t>
            </a:r>
          </a:p>
        </p:txBody>
      </p:sp>
      <p:sp>
        <p:nvSpPr>
          <p:cNvPr id="14" name="TextBox 13"/>
          <p:cNvSpPr txBox="1"/>
          <p:nvPr/>
        </p:nvSpPr>
        <p:spPr>
          <a:xfrm>
            <a:off x="6448425" y="2753617"/>
            <a:ext cx="5743575" cy="285750"/>
          </a:xfrm>
          <a:prstGeom prst="rect">
            <a:avLst/>
          </a:prstGeom>
          <a:noFill/>
        </p:spPr>
        <p:txBody>
          <a:bodyPr wrap="square" lIns="0" rIns="0" tIns="0" bIns="0" anchor="t">
            <a:spAutoFit/>
          </a:bodyPr>
          <a:lstStyle/>
          <a:p>
            <a:pPr algn="l"/>
            <a:r>
              <a:rPr b="1" sz="1725" i="0" u="none">
                <a:solidFill>
                  <a:srgbClr val="11052C"/>
                </a:solidFill>
                <a:latin typeface="Arial"/>
              </a:rPr>
              <a:t>30% of the gate-1 release ($4.5M)</a:t>
            </a:r>
          </a:p>
        </p:txBody>
      </p:sp>
      <p:sp>
        <p:nvSpPr>
          <p:cNvPr id="15" name="TextBox 14"/>
          <p:cNvSpPr txBox="1"/>
          <p:nvPr/>
        </p:nvSpPr>
        <p:spPr>
          <a:xfrm>
            <a:off x="6448425" y="3134617"/>
            <a:ext cx="4991100" cy="685800"/>
          </a:xfrm>
          <a:prstGeom prst="rect">
            <a:avLst/>
          </a:prstGeom>
          <a:noFill/>
        </p:spPr>
        <p:txBody>
          <a:bodyPr wrap="square" lIns="0" rIns="0" tIns="0" bIns="0" anchor="t">
            <a:spAutoFit/>
          </a:bodyPr>
          <a:lstStyle/>
          <a:p>
            <a:pPr algn="l"/>
            <a:r>
              <a:rPr b="0" sz="1350" i="0" u="none">
                <a:solidFill>
                  <a:srgbClr val="3B2A54"/>
                </a:solidFill>
                <a:latin typeface="Arial"/>
              </a:rPr>
              <a:t>A new bet judged on mature-market profit in its first quarter always loses. New bets are graded on activation, retention and unit cost until a cohort can show payback.</a:t>
            </a:r>
          </a:p>
        </p:txBody>
      </p:sp>
      <p:sp>
        <p:nvSpPr>
          <p:cNvPr id="16" name="TextBox 15"/>
          <p:cNvSpPr txBox="1"/>
          <p:nvPr/>
        </p:nvSpPr>
        <p:spPr>
          <a:xfrm>
            <a:off x="6448425" y="3915667"/>
            <a:ext cx="5743575" cy="228600"/>
          </a:xfrm>
          <a:prstGeom prst="rect">
            <a:avLst/>
          </a:prstGeom>
          <a:noFill/>
        </p:spPr>
        <p:txBody>
          <a:bodyPr wrap="square" lIns="0" rIns="0" tIns="0" bIns="0" anchor="t">
            <a:spAutoFit/>
          </a:bodyPr>
          <a:lstStyle/>
          <a:p>
            <a:pPr algn="l"/>
            <a:r>
              <a:rPr b="1" sz="1300" i="0" u="none">
                <a:solidFill>
                  <a:srgbClr val="820AD1"/>
                </a:solidFill>
                <a:latin typeface="Arial"/>
              </a:rPr>
              <a:t>Full year: $8.5M in the cap + up to $10.0M (rule A6)</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19150"/>
          </a:xfrm>
          <a:prstGeom prst="roundRect">
            <a:avLst>
              <a:gd name="adj" fmla="val 11627"/>
            </a:avLst>
          </a:prstGeom>
          <a:solidFill>
            <a:srgbClr val="F3E8FF"/>
          </a:solidFill>
          <a:ln w="9525">
            <a:solidFill>
              <a:srgbClr val="820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12 // DELIVERABLE 2: THE 28-DAY BOARD RHYTHM</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Board book ships at T-7 with written Q&amp;A, after a T-16 executive lock and a T-10 input freeze</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IR calendar (Investor Day 8 Dec 2026). The T-7 book and written-Q&amp;A practice follows common director guidance (e.g. NACD); the time-split figures often quoted for it are directional and not used here.</a:t>
            </a:r>
          </a:p>
        </p:txBody>
      </p:sp>
      <p:sp>
        <p:nvSpPr>
          <p:cNvPr id="10" name="TextBox 9"/>
          <p:cNvSpPr txBox="1"/>
          <p:nvPr/>
        </p:nvSpPr>
        <p:spPr>
          <a:xfrm>
            <a:off x="866775" y="4753867"/>
            <a:ext cx="10553700" cy="457200"/>
          </a:xfrm>
          <a:prstGeom prst="rect">
            <a:avLst/>
          </a:prstGeom>
          <a:noFill/>
        </p:spPr>
        <p:txBody>
          <a:bodyPr wrap="square" lIns="0" rIns="0" tIns="0" bIns="0" anchor="t">
            <a:spAutoFit/>
          </a:bodyPr>
          <a:lstStyle/>
          <a:p>
            <a:pPr algn="l"/>
            <a:r>
              <a:rPr b="1" sz="1350" i="0" u="none">
                <a:solidFill>
                  <a:srgbClr val="11052C"/>
                </a:solidFill>
                <a:latin typeface="Arial"/>
              </a:rPr>
              <a:t>Why this meeting matters more than most: </a:t>
            </a:r>
            <a:r>
              <a:rPr b="0" sz="1350" i="0" u="none">
                <a:solidFill>
                  <a:srgbClr val="11052C"/>
                </a:solidFill>
                <a:latin typeface="Arial"/>
              </a:rPr>
              <a:t>it is the last Board before Investor Day (8 Dec 2026). The capital plan approved here is the one the market hears. Statutory governance for the expanding entity set is on slide 14.</a:t>
            </a:r>
          </a:p>
        </p:txBody>
      </p:sp>
      <p:sp>
        <p:nvSpPr>
          <p:cNvPr id="11" name="TextBox 10"/>
          <p:cNvSpPr txBox="1"/>
          <p:nvPr/>
        </p:nvSpPr>
        <p:spPr>
          <a:xfrm>
            <a:off x="809625" y="2467867"/>
            <a:ext cx="2768203" cy="171450"/>
          </a:xfrm>
          <a:prstGeom prst="rect">
            <a:avLst/>
          </a:prstGeom>
          <a:noFill/>
        </p:spPr>
        <p:txBody>
          <a:bodyPr wrap="none" lIns="0" rIns="0" tIns="0" bIns="0" anchor="t">
            <a:spAutoFit/>
          </a:bodyPr>
          <a:lstStyle/>
          <a:p>
            <a:pPr algn="l"/>
            <a:r>
              <a:rPr b="1" sz="1050" i="0" u="none">
                <a:solidFill>
                  <a:srgbClr val="B91C1C"/>
                </a:solidFill>
                <a:latin typeface="Arial"/>
              </a:rPr>
              <a:t>WEEK 1 (DAYS 28–21)</a:t>
            </a:r>
          </a:p>
        </p:txBody>
      </p:sp>
      <p:sp>
        <p:nvSpPr>
          <p:cNvPr id="12" name="TextBox 11"/>
          <p:cNvSpPr txBox="1"/>
          <p:nvPr/>
        </p:nvSpPr>
        <p:spPr>
          <a:xfrm>
            <a:off x="809625"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Shared Storyboard</a:t>
            </a:r>
          </a:p>
        </p:txBody>
      </p:sp>
      <p:sp>
        <p:nvSpPr>
          <p:cNvPr id="13" name="TextBox 12"/>
          <p:cNvSpPr txBox="1"/>
          <p:nvPr/>
        </p:nvSpPr>
        <p:spPr>
          <a:xfrm>
            <a:off x="809625"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I issue the locked outline and standard data tables today, so units stop building rival decks. Owner: me, with the Corporate Secretary.</a:t>
            </a:r>
          </a:p>
        </p:txBody>
      </p:sp>
      <p:sp>
        <p:nvSpPr>
          <p:cNvPr id="14" name="TextBox 13"/>
          <p:cNvSpPr txBox="1"/>
          <p:nvPr/>
        </p:nvSpPr>
        <p:spPr>
          <a:xfrm>
            <a:off x="3595687" y="2467867"/>
            <a:ext cx="2768203" cy="171450"/>
          </a:xfrm>
          <a:prstGeom prst="rect">
            <a:avLst/>
          </a:prstGeom>
          <a:noFill/>
        </p:spPr>
        <p:txBody>
          <a:bodyPr wrap="none" lIns="0" rIns="0" tIns="0" bIns="0" anchor="t">
            <a:spAutoFit/>
          </a:bodyPr>
          <a:lstStyle/>
          <a:p>
            <a:pPr algn="l"/>
            <a:r>
              <a:rPr b="1" sz="1050" i="0" u="none">
                <a:solidFill>
                  <a:srgbClr val="D97706"/>
                </a:solidFill>
                <a:latin typeface="Arial"/>
              </a:rPr>
              <a:t>WEEK 2 (DAYS 20–14)</a:t>
            </a:r>
          </a:p>
        </p:txBody>
      </p:sp>
      <p:sp>
        <p:nvSpPr>
          <p:cNvPr id="15" name="TextBox 14"/>
          <p:cNvSpPr txBox="1"/>
          <p:nvPr/>
        </p:nvSpPr>
        <p:spPr>
          <a:xfrm>
            <a:off x="3595687"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Executive Lock</a:t>
            </a:r>
          </a:p>
        </p:txBody>
      </p:sp>
      <p:sp>
        <p:nvSpPr>
          <p:cNvPr id="16" name="TextBox 15"/>
          <p:cNvSpPr txBox="1"/>
          <p:nvPr/>
        </p:nvSpPr>
        <p:spPr>
          <a:xfrm>
            <a:off x="3595687"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One-to-one pre-alignment at T-21; the capital options memo settles the 70/30 lock with CEO and CFO at T-16.</a:t>
            </a:r>
          </a:p>
        </p:txBody>
      </p:sp>
      <p:sp>
        <p:nvSpPr>
          <p:cNvPr id="17" name="TextBox 16"/>
          <p:cNvSpPr txBox="1"/>
          <p:nvPr/>
        </p:nvSpPr>
        <p:spPr>
          <a:xfrm>
            <a:off x="6381750" y="2467867"/>
            <a:ext cx="2768203" cy="171450"/>
          </a:xfrm>
          <a:prstGeom prst="rect">
            <a:avLst/>
          </a:prstGeom>
          <a:noFill/>
        </p:spPr>
        <p:txBody>
          <a:bodyPr wrap="none" lIns="0" rIns="0" tIns="0" bIns="0" anchor="t">
            <a:spAutoFit/>
          </a:bodyPr>
          <a:lstStyle/>
          <a:p>
            <a:pPr algn="l"/>
            <a:r>
              <a:rPr b="1" sz="1050" i="0" u="none">
                <a:solidFill>
                  <a:srgbClr val="820AD1"/>
                </a:solidFill>
                <a:latin typeface="Arial"/>
              </a:rPr>
              <a:t>WEEK 3 (DAYS 13–7)</a:t>
            </a:r>
          </a:p>
        </p:txBody>
      </p:sp>
      <p:sp>
        <p:nvSpPr>
          <p:cNvPr id="18" name="TextBox 17"/>
          <p:cNvSpPr txBox="1"/>
          <p:nvPr/>
        </p:nvSpPr>
        <p:spPr>
          <a:xfrm>
            <a:off x="6381750"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Single-Pen Edit</a:t>
            </a:r>
          </a:p>
        </p:txBody>
      </p:sp>
      <p:sp>
        <p:nvSpPr>
          <p:cNvPr id="19" name="TextBox 18"/>
          <p:cNvSpPr txBox="1"/>
          <p:nvPr/>
        </p:nvSpPr>
        <p:spPr>
          <a:xfrm>
            <a:off x="6381750"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Inputs freeze at T-10 for single-pen editing; committee chairs pre-briefed at T-9; book on the portal at T-7.</a:t>
            </a:r>
          </a:p>
        </p:txBody>
      </p:sp>
      <p:sp>
        <p:nvSpPr>
          <p:cNvPr id="20" name="TextBox 19"/>
          <p:cNvSpPr txBox="1"/>
          <p:nvPr/>
        </p:nvSpPr>
        <p:spPr>
          <a:xfrm>
            <a:off x="9167812" y="2467867"/>
            <a:ext cx="2768203" cy="171450"/>
          </a:xfrm>
          <a:prstGeom prst="rect">
            <a:avLst/>
          </a:prstGeom>
          <a:noFill/>
        </p:spPr>
        <p:txBody>
          <a:bodyPr wrap="none" lIns="0" rIns="0" tIns="0" bIns="0" anchor="t">
            <a:spAutoFit/>
          </a:bodyPr>
          <a:lstStyle/>
          <a:p>
            <a:pPr algn="l"/>
            <a:r>
              <a:rPr b="1" sz="1050" i="0" u="none">
                <a:solidFill>
                  <a:srgbClr val="0D9488"/>
                </a:solidFill>
                <a:latin typeface="Arial"/>
              </a:rPr>
              <a:t>WEEK 4 (DAYS 6–0)</a:t>
            </a:r>
          </a:p>
        </p:txBody>
      </p:sp>
      <p:sp>
        <p:nvSpPr>
          <p:cNvPr id="21" name="TextBox 20"/>
          <p:cNvSpPr txBox="1"/>
          <p:nvPr/>
        </p:nvSpPr>
        <p:spPr>
          <a:xfrm>
            <a:off x="9167812"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Strategy, not read-outs</a:t>
            </a:r>
          </a:p>
        </p:txBody>
      </p:sp>
      <p:sp>
        <p:nvSpPr>
          <p:cNvPr id="22" name="TextBox 21"/>
          <p:cNvSpPr txBox="1"/>
          <p:nvPr/>
        </p:nvSpPr>
        <p:spPr>
          <a:xfrm>
            <a:off x="9167812"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Directors' data questions answered in writing by T-3, so the live session is spent on the capital plan, not read-outs.</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949130"/>
            <a:ext cx="10972800" cy="762000"/>
          </a:xfrm>
          <a:prstGeom prst="roundRect">
            <a:avLst>
              <a:gd name="adj" fmla="val 125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074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5189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14 // DELIVERABLE 3: THE HQ CHARTER</a:t>
            </a:r>
          </a:p>
        </p:txBody>
      </p:sp>
      <p:sp>
        <p:nvSpPr>
          <p:cNvPr id="7" name="TextBox 6"/>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HQ charter: four gates in 120 days from signature, each with an owner, an exit test and a stop condition</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OECD GloBE Model Rules, Art. 5.3 and the Art. 9.2 transitional rates for 2026. [2] Location-incentive practice (e.g. Deloitte, Site Selection) is directional. [3] Cross-border director-liability guidance (e.g. NACD, Baker McKenzie) is directional. No savings figure is claimed until a site is chosen.</a:t>
            </a:r>
          </a:p>
        </p:txBody>
      </p:sp>
      <p:sp>
        <p:nvSpPr>
          <p:cNvPr id="9" name="TextBox 8"/>
          <p:cNvSpPr txBox="1"/>
          <p:nvPr/>
        </p:nvSpPr>
        <p:spPr>
          <a:xfrm>
            <a:off x="857250" y="5101530"/>
            <a:ext cx="10572750" cy="457200"/>
          </a:xfrm>
          <a:prstGeom prst="rect">
            <a:avLst/>
          </a:prstGeom>
          <a:noFill/>
        </p:spPr>
        <p:txBody>
          <a:bodyPr wrap="square" lIns="0" rIns="0" tIns="0" bIns="0" anchor="t">
            <a:spAutoFit/>
          </a:bodyPr>
          <a:lstStyle/>
          <a:p>
            <a:pPr algn="l"/>
            <a:r>
              <a:rPr b="1" sz="1250" i="0" u="none">
                <a:solidFill>
                  <a:srgbClr val="FFFFFF"/>
                </a:solidFill>
                <a:latin typeface="Arial"/>
              </a:rPr>
              <a:t>Leading it as an interim across non-finance teams: </a:t>
            </a:r>
            <a:r>
              <a:rPr b="0" sz="1250" i="0" u="none">
                <a:solidFill>
                  <a:srgbClr val="FFFFFF"/>
                </a:solidFill>
                <a:latin typeface="Arial"/>
              </a:rPr>
              <a:t>one weekly pod (Legal, Tax, People, Workplace), one decision log, 48-hour escalation to the CFO, and a five-item risk register reviewed at every gate: tax residence, clawback, officer liability, site politics, key-person dependence on me. Jurisdiction is open (A8).</a:t>
            </a:r>
          </a:p>
        </p:txBody>
      </p:sp>
      <p:sp>
        <p:nvSpPr>
          <p:cNvPr id="10" name="TextBox 9"/>
          <p:cNvSpPr txBox="1"/>
          <p:nvPr/>
        </p:nvSpPr>
        <p:spPr>
          <a:xfrm>
            <a:off x="828675" y="2167830"/>
            <a:ext cx="3865624" cy="171450"/>
          </a:xfrm>
          <a:prstGeom prst="rect">
            <a:avLst/>
          </a:prstGeom>
          <a:noFill/>
        </p:spPr>
        <p:txBody>
          <a:bodyPr wrap="none" lIns="0" rIns="0" tIns="0" bIns="0" anchor="t">
            <a:spAutoFit/>
          </a:bodyPr>
          <a:lstStyle/>
          <a:p>
            <a:pPr algn="l"/>
            <a:r>
              <a:rPr b="1" sz="1050" i="0" u="none">
                <a:solidFill>
                  <a:srgbClr val="820AD1"/>
                </a:solidFill>
                <a:latin typeface="Arial"/>
              </a:rPr>
              <a:t>1. TAX SUBSTANCE (GATE 1, D+30) [1]</a:t>
            </a:r>
          </a:p>
        </p:txBody>
      </p:sp>
      <p:sp>
        <p:nvSpPr>
          <p:cNvPr id="11" name="TextBox 10"/>
          <p:cNvSpPr txBox="1"/>
          <p:nvPr/>
        </p:nvSpPr>
        <p:spPr>
          <a:xfrm>
            <a:off x="828675" y="2396430"/>
            <a:ext cx="4058905" cy="257175"/>
          </a:xfrm>
          <a:prstGeom prst="rect">
            <a:avLst/>
          </a:prstGeom>
          <a:noFill/>
        </p:spPr>
        <p:txBody>
          <a:bodyPr wrap="square" lIns="0" rIns="0" tIns="0" bIns="0" anchor="t">
            <a:spAutoFit/>
          </a:bodyPr>
          <a:lstStyle/>
          <a:p>
            <a:pPr algn="l"/>
            <a:r>
              <a:rPr b="1" sz="1400" i="0" u="none">
                <a:solidFill>
                  <a:srgbClr val="11052C"/>
                </a:solidFill>
                <a:latin typeface="Arial"/>
              </a:rPr>
              <a:t>Incentives tied to real payroll</a:t>
            </a:r>
          </a:p>
        </p:txBody>
      </p:sp>
      <p:sp>
        <p:nvSpPr>
          <p:cNvPr id="12" name="TextBox 11"/>
          <p:cNvSpPr txBox="1"/>
          <p:nvPr/>
        </p:nvSpPr>
        <p:spPr>
          <a:xfrm>
            <a:off x="828675"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rule: </a:t>
            </a:r>
            <a:r>
              <a:rPr b="0" sz="1200" i="0" u="none">
                <a:solidFill>
                  <a:srgbClr val="3B2A54"/>
                </a:solidFill>
                <a:latin typeface="Arial"/>
              </a:rPr>
              <a:t>Nu is above the EUR 750M Pillar Two threshold. In 2026 only 9.4% of payroll and 7.4% of tangible assets are carved out of the 15% top-up base, so incentives without people and assets on the ground are worth less than they look.</a:t>
            </a:r>
          </a:p>
          <a:p>
            <a:pPr algn="l"/>
            <a:r>
              <a:rPr b="1" sz="1200" i="0" u="none">
                <a:solidFill>
                  <a:srgbClr val="3B2A54"/>
                </a:solidFill>
                <a:latin typeface="Arial"/>
              </a:rPr>
              <a:t>My action: </a:t>
            </a:r>
            <a:r>
              <a:rPr b="0" sz="1200" i="0" u="none">
                <a:solidFill>
                  <a:srgbClr val="3B2A54"/>
                </a:solidFill>
                <a:latin typeface="Arial"/>
              </a:rPr>
              <a:t>campus build-out grants and payroll credits. Tax owns the gate; exit test: modeled effective rate holds under Pillar Two.</a:t>
            </a:r>
          </a:p>
        </p:txBody>
      </p:sp>
      <p:sp>
        <p:nvSpPr>
          <p:cNvPr id="13" name="TextBox 12"/>
          <p:cNvSpPr txBox="1"/>
          <p:nvPr/>
        </p:nvSpPr>
        <p:spPr>
          <a:xfrm>
            <a:off x="4549824" y="2167830"/>
            <a:ext cx="3865624" cy="171450"/>
          </a:xfrm>
          <a:prstGeom prst="rect">
            <a:avLst/>
          </a:prstGeom>
          <a:noFill/>
        </p:spPr>
        <p:txBody>
          <a:bodyPr wrap="none" lIns="0" rIns="0" tIns="0" bIns="0" anchor="t">
            <a:spAutoFit/>
          </a:bodyPr>
          <a:lstStyle/>
          <a:p>
            <a:pPr algn="l"/>
            <a:r>
              <a:rPr b="1" sz="1050" i="0" u="none">
                <a:solidFill>
                  <a:srgbClr val="5B21B6"/>
                </a:solidFill>
                <a:latin typeface="Arial"/>
              </a:rPr>
              <a:t>2. GRANT TERMS (GATE 2, D+60) [2]</a:t>
            </a:r>
          </a:p>
        </p:txBody>
      </p:sp>
      <p:sp>
        <p:nvSpPr>
          <p:cNvPr id="14" name="TextBox 13"/>
          <p:cNvSpPr txBox="1"/>
          <p:nvPr/>
        </p:nvSpPr>
        <p:spPr>
          <a:xfrm>
            <a:off x="4549824" y="2396430"/>
            <a:ext cx="4058905" cy="257175"/>
          </a:xfrm>
          <a:prstGeom prst="rect">
            <a:avLst/>
          </a:prstGeom>
          <a:noFill/>
        </p:spPr>
        <p:txBody>
          <a:bodyPr wrap="square" lIns="0" rIns="0" tIns="0" bIns="0" anchor="t">
            <a:spAutoFit/>
          </a:bodyPr>
          <a:lstStyle/>
          <a:p>
            <a:pPr algn="l"/>
            <a:r>
              <a:rPr b="1" sz="1400" i="0" u="none">
                <a:solidFill>
                  <a:srgbClr val="11052C"/>
                </a:solidFill>
                <a:latin typeface="Arial"/>
              </a:rPr>
              <a:t>Proportional, clawback-proof</a:t>
            </a:r>
          </a:p>
        </p:txBody>
      </p:sp>
      <p:sp>
        <p:nvSpPr>
          <p:cNvPr id="15" name="TextBox 14"/>
          <p:cNvSpPr txBox="1"/>
          <p:nvPr/>
        </p:nvSpPr>
        <p:spPr>
          <a:xfrm>
            <a:off x="4549824"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risk: </a:t>
            </a:r>
            <a:r>
              <a:rPr b="0" sz="1200" i="0" u="none">
                <a:solidFill>
                  <a:srgbClr val="3B2A54"/>
                </a:solidFill>
                <a:latin typeface="Arial"/>
              </a:rPr>
              <a:t>municipal grants carry headcount clawbacks that bite when hiring pace or hybrid work changes.</a:t>
            </a:r>
          </a:p>
          <a:p>
            <a:pPr algn="l"/>
            <a:r>
              <a:rPr b="1" sz="1200" i="0" u="none">
                <a:solidFill>
                  <a:srgbClr val="3B2A54"/>
                </a:solidFill>
                <a:latin typeface="Arial"/>
              </a:rPr>
              <a:t>My action: </a:t>
            </a:r>
            <a:r>
              <a:rPr b="0" sz="1200" i="0" u="none">
                <a:solidFill>
                  <a:srgbClr val="3B2A54"/>
                </a:solidFill>
                <a:latin typeface="Arial"/>
              </a:rPr>
              <a:t>proportional scaling (85% of headcount keeps 85% of the grant) and a 24-month grace period. Legal owns the gate; exit test: no cliff-edge clawback in the signed term sheet.</a:t>
            </a:r>
          </a:p>
        </p:txBody>
      </p:sp>
      <p:sp>
        <p:nvSpPr>
          <p:cNvPr id="16" name="TextBox 15"/>
          <p:cNvSpPr txBox="1"/>
          <p:nvPr/>
        </p:nvSpPr>
        <p:spPr>
          <a:xfrm>
            <a:off x="8270974" y="2167830"/>
            <a:ext cx="3865624" cy="171450"/>
          </a:xfrm>
          <a:prstGeom prst="rect">
            <a:avLst/>
          </a:prstGeom>
          <a:noFill/>
        </p:spPr>
        <p:txBody>
          <a:bodyPr wrap="none" lIns="0" rIns="0" tIns="0" bIns="0" anchor="t">
            <a:spAutoFit/>
          </a:bodyPr>
          <a:lstStyle/>
          <a:p>
            <a:pPr algn="l"/>
            <a:r>
              <a:rPr b="1" sz="1050" i="0" u="none">
                <a:solidFill>
                  <a:srgbClr val="0D9488"/>
                </a:solidFill>
                <a:latin typeface="Arial"/>
              </a:rPr>
              <a:t>3. OFFICERS (GATE 3, D+90) [3]</a:t>
            </a:r>
          </a:p>
        </p:txBody>
      </p:sp>
      <p:sp>
        <p:nvSpPr>
          <p:cNvPr id="17" name="TextBox 16"/>
          <p:cNvSpPr txBox="1"/>
          <p:nvPr/>
        </p:nvSpPr>
        <p:spPr>
          <a:xfrm>
            <a:off x="8270974" y="2396430"/>
            <a:ext cx="3921025" cy="257175"/>
          </a:xfrm>
          <a:prstGeom prst="rect">
            <a:avLst/>
          </a:prstGeom>
          <a:noFill/>
        </p:spPr>
        <p:txBody>
          <a:bodyPr wrap="square" lIns="0" rIns="0" tIns="0" bIns="0" anchor="t">
            <a:spAutoFit/>
          </a:bodyPr>
          <a:lstStyle/>
          <a:p>
            <a:pPr algn="l"/>
            <a:r>
              <a:rPr b="1" sz="1400" i="0" u="none">
                <a:solidFill>
                  <a:srgbClr val="11052C"/>
                </a:solidFill>
                <a:latin typeface="Arial"/>
              </a:rPr>
              <a:t>Fit-and-proper officers, D&amp;O</a:t>
            </a:r>
          </a:p>
        </p:txBody>
      </p:sp>
      <p:sp>
        <p:nvSpPr>
          <p:cNvPr id="18" name="TextBox 17"/>
          <p:cNvSpPr txBox="1"/>
          <p:nvPr/>
        </p:nvSpPr>
        <p:spPr>
          <a:xfrm>
            <a:off x="8270974"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risk: </a:t>
            </a:r>
            <a:r>
              <a:rPr b="0" sz="1200" i="0" u="none">
                <a:solidFill>
                  <a:srgbClr val="3B2A54"/>
                </a:solidFill>
                <a:latin typeface="Arial"/>
              </a:rPr>
              <a:t>statutory directors carry personal liability for tax and labor filings; early commercial signing can create a taxable presence before the entity is ready.</a:t>
            </a:r>
          </a:p>
          <a:p>
            <a:pPr algn="l"/>
            <a:r>
              <a:rPr b="1" sz="1200" i="0" u="none">
                <a:solidFill>
                  <a:srgbClr val="3B2A54"/>
                </a:solidFill>
                <a:latin typeface="Arial"/>
              </a:rPr>
              <a:t>My action: </a:t>
            </a:r>
            <a:r>
              <a:rPr b="0" sz="1200" i="0" u="none">
                <a:solidFill>
                  <a:srgbClr val="3B2A54"/>
                </a:solidFill>
                <a:latin typeface="Arial"/>
              </a:rPr>
              <a:t>officers who pass the regulator's test, dual signature above category limits, D&amp;O bound before activation. Legal and People own the gate. Gate 4 (D+120): the lease.</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15 // DELIVERABLE 4: HOW I LEAD</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How I lead without line authority: three rules I hold myself to, and what I would not touch in the first 90 days</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the fair-process principle follows Kim and Mauborgne (HBR). The rest is how I work; examples from my own record are in the speaker notes and are the first thing I would share in Q&amp;A.</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Arial"/>
              </a:rPr>
              <a:t>1. FAIR PROCESS FIRST</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Arial"/>
              </a:rPr>
              <a:t>Publish the rule, then negotiate</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people accept outcomes they argued against when the criteria were public before the decision. I publish the scoring rubric on day one and never change it mid-cycle.</a:t>
            </a:r>
          </a:p>
          <a:p>
            <a:pPr algn="l"/>
            <a:r>
              <a:rPr b="1" sz="1350" i="0" u="none">
                <a:solidFill>
                  <a:srgbClr val="3B2A54"/>
                </a:solidFill>
                <a:latin typeface="Arial"/>
              </a:rPr>
              <a:t>In practice: </a:t>
            </a:r>
            <a:r>
              <a:rPr b="0" sz="1350" i="0" u="none">
                <a:solidFill>
                  <a:srgbClr val="3B2A54"/>
                </a:solidFill>
                <a:latin typeface="Arial"/>
              </a:rPr>
              <a:t>every GM sees the same four indicators and the same release rule.</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Arial"/>
              </a:rPr>
              <a:t>2. NO PUBLIC AMBUSHES</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Arial"/>
              </a:rPr>
              <a:t>Fix the numbers privately</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model gaps are closed one-to-one before anything reaches the CFO or the Board. Credibility with senior people comes from never surprising them in a room.</a:t>
            </a:r>
          </a:p>
          <a:p>
            <a:pPr algn="l"/>
            <a:r>
              <a:rPr b="1" sz="1350" i="0" u="none">
                <a:solidFill>
                  <a:srgbClr val="3B2A54"/>
                </a:solidFill>
                <a:latin typeface="Arial"/>
              </a:rPr>
              <a:t>In practice: </a:t>
            </a:r>
            <a:r>
              <a:rPr b="0" sz="1350" i="0" u="none">
                <a:solidFill>
                  <a:srgbClr val="3B2A54"/>
                </a:solidFill>
                <a:latin typeface="Arial"/>
              </a:rPr>
              <a:t>the bi-weekly GM one-to-ones and the T-16 lock exist for this.</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Arial"/>
              </a:rPr>
              <a:t>3. HANDS-ON RIGOR</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Arial"/>
              </a:rPr>
              <a:t>Own the model and the clauses</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influence is only trusted when the hands-on FP&amp;A and governance rigor is mine. I build the model and read the clauses myself.</a:t>
            </a:r>
          </a:p>
          <a:p>
            <a:pPr algn="l"/>
            <a:r>
              <a:rPr b="1" sz="1350" i="0" u="none">
                <a:solidFill>
                  <a:srgbClr val="3B2A54"/>
                </a:solidFill>
                <a:latin typeface="Arial"/>
              </a:rPr>
              <a:t>What I would not touch: </a:t>
            </a:r>
            <a:r>
              <a:rPr b="0" sz="1350" i="0" u="none">
                <a:solidFill>
                  <a:srgbClr val="3B2A54"/>
                </a:solidFill>
                <a:latin typeface="Arial"/>
              </a:rPr>
              <a:t>local-CFO decision rights in Mexico and Colombia, credit-model governance, the IR calendar.</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463040"/>
          <a:ext cx="10972799" cy="4562475"/>
        </p:xfrm>
        <a:graphic>
          <a:graphicData uri="http://schemas.openxmlformats.org/drawingml/2006/table">
            <a:tbl>
              <a:tblPr firstRow="0" bandRow="0">
                <a:lnL>
                  <a:noFill/>
                </a:lnL>
                <a:lnR>
                  <a:noFill/>
                </a:lnR>
                <a:lnT>
                  <a:noFill/>
                </a:lnT>
                <a:lnB>
                  <a:noFill/>
                </a:lnB>
                <a:lnV>
                  <a:noFill/>
                </a:lnV>
                <a:lnH>
                  <a:noFill/>
                </a:lnH>
              </a:tblPr>
              <a:tblGrid>
                <a:gridCol w="1743075"/>
                <a:gridCol w="1202382"/>
                <a:gridCol w="4180284"/>
                <a:gridCol w="3847058"/>
              </a:tblGrid>
              <a:tr h="912495">
                <a:tc>
                  <a:txBody>
                    <a:bodyPr/>
                    <a:lstStyle/>
                    <a:p>
                      <a:pPr algn="l"/>
                      <a:r>
                        <a:rPr b="1" sz="1350" i="0" u="none">
                          <a:solidFill>
                            <a:srgbClr val="FFFFFF"/>
                          </a:solidFill>
                          <a:latin typeface="Arial"/>
                        </a:rPr>
                        <a:t>Operating Rhythm</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Cadence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What happens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Owner and output</a:t>
                      </a:r>
                    </a:p>
                  </a:txBody>
                  <a:tcPr anchor="ctr" marL="63500" marR="63500" marT="25400" marB="25400">
                    <a:lnL>
                      <a:noFill/>
                    </a:lnL>
                    <a:lnR>
                      <a:noFill/>
                    </a:lnR>
                    <a:lnT>
                      <a:noFill/>
                    </a:lnT>
                    <a:lnB>
                      <a:noFill/>
                    </a:lnB>
                    <a:solidFill>
                      <a:srgbClr val="820AD1"/>
                    </a:solidFill>
                  </a:tcPr>
                </a:tc>
              </a:tr>
              <a:tr h="912495">
                <a:tc>
                  <a:txBody>
                    <a:bodyPr/>
                    <a:lstStyle/>
                    <a:p>
                      <a:pPr algn="l"/>
                      <a:r>
                        <a:rPr b="1" sz="1350" i="0" u="none">
                          <a:solidFill>
                            <a:srgbClr val="11052C"/>
                          </a:solidFill>
                          <a:latin typeface="Arial"/>
                        </a:rPr>
                        <a:t>1. Embedded Squad Clinics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Finance partners join the country and vertical stand-ups and model unit economics with the GMs before anything reaches formal review.</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Finance partner. Output: a business case in the standard template, co-signed by the GM.</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2. Bilateral Pre-Alignment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Bi-Weekly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I meet each GM privately to stress-test assumptions and design the staged option before it is seen by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Me. Output: no surprises at the T-16 lock; every ask has a conditional-yes path.</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3. HQ pod</a:t>
                      </a:r>
                      <a:r>
                        <a:rPr b="0" sz="1350" i="0" u="none">
                          <a:solidFill>
                            <a:srgbClr val="11052C"/>
                          </a:solidFill>
                          <a:latin typeface="Arial"/>
                        </a:rPr>
                        <a:t> (Deliverable 3)</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Weekly (45m)</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Legal, Tax, Workplace and People leads around one decision log with 48-hour escalation to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Me (chair). Output: the gate pack for the next HQ gate, with owner and exit test.</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4. Quarterly Tranche Release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Quarterly</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Read the four indicators per unit against plan and release or hold the next stage.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CFO decides on my recommendation. Output: release memo, published to the GMs the same day.</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08 // DELIVERABLE 1: THE CADENCE</a:t>
            </a:r>
          </a:p>
        </p:txBody>
      </p:sp>
      <p:sp>
        <p:nvSpPr>
          <p:cNvPr id="24" name="TextBox 23"/>
          <p:cNvSpPr txBox="1"/>
          <p:nvPr/>
        </p:nvSpPr>
        <p:spPr>
          <a:xfrm>
            <a:off x="609600" y="704850"/>
            <a:ext cx="109728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Four meetings, each with an owner and an output</a:t>
            </a:r>
          </a:p>
        </p:txBody>
      </p:sp>
      <p:sp>
        <p:nvSpPr>
          <p:cNvPr id="25" name="TextBox 24"/>
          <p:cNvSpPr txBox="1"/>
          <p:nvPr/>
        </p:nvSpPr>
        <p:spPr>
          <a:xfrm>
            <a:off x="609600" y="635508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Decision roles follow a RAPID-style split: finance partners recommend, GMs provide input, I assemble the pack, the CFO decides, the hub performs.</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715767"/>
            <a:ext cx="10972800" cy="1028700"/>
          </a:xfrm>
          <a:prstGeom prst="roundRect">
            <a:avLst>
              <a:gd name="adj" fmla="val 925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1915417"/>
            <a:ext cx="2614612" cy="2609850"/>
          </a:xfrm>
          <a:prstGeom prst="roundRect">
            <a:avLst>
              <a:gd name="adj" fmla="val 4032"/>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10 // DELIVERABLE 2: WHEN A SENIOR GM PUSHES BACK</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When a senior GM pushes back: validate the goal privately, move to criteria, offer a conditional yes, co-present the result</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 Kim and Mauborgne, 'Fair Process: Managing in the Knowledge Economy', Harvard Business Review. Everything else on this slide is practice, not research.</a:t>
            </a:r>
          </a:p>
        </p:txBody>
      </p:sp>
      <p:sp>
        <p:nvSpPr>
          <p:cNvPr id="10" name="TextBox 9"/>
          <p:cNvSpPr txBox="1"/>
          <p:nvPr/>
        </p:nvSpPr>
        <p:spPr>
          <a:xfrm>
            <a:off x="857250" y="4887217"/>
            <a:ext cx="10572750" cy="685800"/>
          </a:xfrm>
          <a:prstGeom prst="rect">
            <a:avLst/>
          </a:prstGeom>
          <a:noFill/>
        </p:spPr>
        <p:txBody>
          <a:bodyPr wrap="square" lIns="0" rIns="0" tIns="0" bIns="0" anchor="t">
            <a:spAutoFit/>
          </a:bodyPr>
          <a:lstStyle/>
          <a:p>
            <a:pPr algn="l"/>
            <a:r>
              <a:rPr b="1" sz="1350" i="0" u="none">
                <a:solidFill>
                  <a:srgbClr val="FFFFFF"/>
                </a:solidFill>
                <a:latin typeface="Arial"/>
              </a:rPr>
              <a:t>Why this works without line authority: </a:t>
            </a:r>
            <a:r>
              <a:rPr b="0" sz="1350" i="0" u="none">
                <a:solidFill>
                  <a:srgbClr val="FFFFFF"/>
                </a:solidFill>
                <a:latin typeface="Arial"/>
              </a:rPr>
              <a:t>fair process (early engagement, a clear explanation, published expectations) is what makes senior people accept an outcome they argued against. The rule is public on day one; the conversation is private; the sign-off is joint.</a:t>
            </a:r>
          </a:p>
        </p:txBody>
      </p:sp>
      <p:sp>
        <p:nvSpPr>
          <p:cNvPr id="11" name="TextBox 10"/>
          <p:cNvSpPr txBox="1"/>
          <p:nvPr/>
        </p:nvSpPr>
        <p:spPr>
          <a:xfrm>
            <a:off x="828675" y="2134492"/>
            <a:ext cx="2720578" cy="171450"/>
          </a:xfrm>
          <a:prstGeom prst="rect">
            <a:avLst/>
          </a:prstGeom>
          <a:noFill/>
        </p:spPr>
        <p:txBody>
          <a:bodyPr wrap="none" lIns="0" rIns="0" tIns="0" bIns="0" anchor="t">
            <a:spAutoFit/>
          </a:bodyPr>
          <a:lstStyle/>
          <a:p>
            <a:pPr algn="l"/>
            <a:r>
              <a:rPr b="1" sz="1050" i="0" u="none">
                <a:solidFill>
                  <a:srgbClr val="820AD1"/>
                </a:solidFill>
                <a:latin typeface="Arial"/>
              </a:rPr>
              <a:t>STEP 1 // DE-ESCALATE</a:t>
            </a:r>
          </a:p>
        </p:txBody>
      </p:sp>
      <p:sp>
        <p:nvSpPr>
          <p:cNvPr id="12" name="TextBox 11"/>
          <p:cNvSpPr txBox="1"/>
          <p:nvPr/>
        </p:nvSpPr>
        <p:spPr>
          <a:xfrm>
            <a:off x="828675"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Separate the person from the numbers</a:t>
            </a:r>
          </a:p>
        </p:txBody>
      </p:sp>
      <p:sp>
        <p:nvSpPr>
          <p:cNvPr id="13" name="TextBox 12"/>
          <p:cNvSpPr txBox="1"/>
          <p:nvPr/>
        </p:nvSpPr>
        <p:spPr>
          <a:xfrm>
            <a:off x="828675"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I meet the GM privately first and confirm the strategic goal before any budget line is discussed. Nobody is corrected in front of the CFO.</a:t>
            </a:r>
          </a:p>
        </p:txBody>
      </p:sp>
      <p:sp>
        <p:nvSpPr>
          <p:cNvPr id="14" name="TextBox 13"/>
          <p:cNvSpPr txBox="1"/>
          <p:nvPr/>
        </p:nvSpPr>
        <p:spPr>
          <a:xfrm>
            <a:off x="3614737" y="2134492"/>
            <a:ext cx="2720578" cy="171450"/>
          </a:xfrm>
          <a:prstGeom prst="rect">
            <a:avLst/>
          </a:prstGeom>
          <a:noFill/>
        </p:spPr>
        <p:txBody>
          <a:bodyPr wrap="none" lIns="0" rIns="0" tIns="0" bIns="0" anchor="t">
            <a:spAutoFit/>
          </a:bodyPr>
          <a:lstStyle/>
          <a:p>
            <a:pPr algn="l"/>
            <a:r>
              <a:rPr b="1" sz="1050" i="0" u="none">
                <a:solidFill>
                  <a:srgbClr val="5B21B6"/>
                </a:solidFill>
                <a:latin typeface="Arial"/>
              </a:rPr>
              <a:t>STEP 2 // REFRAME</a:t>
            </a:r>
          </a:p>
        </p:txBody>
      </p:sp>
      <p:sp>
        <p:nvSpPr>
          <p:cNvPr id="15" name="TextBox 14"/>
          <p:cNvSpPr txBox="1"/>
          <p:nvPr/>
        </p:nvSpPr>
        <p:spPr>
          <a:xfrm>
            <a:off x="3614737"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From positions to criteria</a:t>
            </a:r>
          </a:p>
        </p:txBody>
      </p:sp>
      <p:sp>
        <p:nvSpPr>
          <p:cNvPr id="16" name="TextBox 15"/>
          <p:cNvSpPr txBox="1"/>
          <p:nvPr/>
        </p:nvSpPr>
        <p:spPr>
          <a:xfrm>
            <a:off x="3614737"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Move from 'I need $25M' to 'which indicators would prove this works?' The published rule does the arguing, not me.</a:t>
            </a:r>
          </a:p>
        </p:txBody>
      </p:sp>
      <p:sp>
        <p:nvSpPr>
          <p:cNvPr id="17" name="TextBox 16"/>
          <p:cNvSpPr txBox="1"/>
          <p:nvPr/>
        </p:nvSpPr>
        <p:spPr>
          <a:xfrm>
            <a:off x="6400800" y="2134492"/>
            <a:ext cx="2720578" cy="171450"/>
          </a:xfrm>
          <a:prstGeom prst="rect">
            <a:avLst/>
          </a:prstGeom>
          <a:noFill/>
        </p:spPr>
        <p:txBody>
          <a:bodyPr wrap="none" lIns="0" rIns="0" tIns="0" bIns="0" anchor="t">
            <a:spAutoFit/>
          </a:bodyPr>
          <a:lstStyle/>
          <a:p>
            <a:pPr algn="l"/>
            <a:r>
              <a:rPr b="1" sz="1050" i="0" u="none">
                <a:solidFill>
                  <a:srgbClr val="D97706"/>
                </a:solidFill>
                <a:latin typeface="Arial"/>
              </a:rPr>
              <a:t>STEP 3 // CO-DESIGN</a:t>
            </a:r>
          </a:p>
        </p:txBody>
      </p:sp>
      <p:sp>
        <p:nvSpPr>
          <p:cNvPr id="18" name="TextBox 17"/>
          <p:cNvSpPr txBox="1"/>
          <p:nvPr/>
        </p:nvSpPr>
        <p:spPr>
          <a:xfrm>
            <a:off x="6400800"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Offer a conditional yes</a:t>
            </a:r>
          </a:p>
        </p:txBody>
      </p:sp>
      <p:sp>
        <p:nvSpPr>
          <p:cNvPr id="19" name="TextBox 18"/>
          <p:cNvSpPr txBox="1"/>
          <p:nvPr/>
        </p:nvSpPr>
        <p:spPr>
          <a:xfrm>
            <a:off x="6400800"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Replace a flat no with a staged yes: the $4.5M Q1 start today and a reserved claim on gate 2 once the indicators hold.</a:t>
            </a:r>
          </a:p>
        </p:txBody>
      </p:sp>
      <p:sp>
        <p:nvSpPr>
          <p:cNvPr id="20" name="TextBox 19"/>
          <p:cNvSpPr txBox="1"/>
          <p:nvPr/>
        </p:nvSpPr>
        <p:spPr>
          <a:xfrm>
            <a:off x="9186862" y="2130552"/>
            <a:ext cx="2720578" cy="171450"/>
          </a:xfrm>
          <a:prstGeom prst="rect">
            <a:avLst/>
          </a:prstGeom>
          <a:noFill/>
        </p:spPr>
        <p:txBody>
          <a:bodyPr wrap="none" lIns="0" rIns="0" tIns="0" bIns="0" anchor="t">
            <a:spAutoFit/>
          </a:bodyPr>
          <a:lstStyle/>
          <a:p>
            <a:pPr algn="l"/>
            <a:r>
              <a:rPr b="1" sz="1050" i="0" u="none">
                <a:solidFill>
                  <a:srgbClr val="0D9488"/>
                </a:solidFill>
                <a:latin typeface="Arial"/>
              </a:rPr>
              <a:t>STEP 4 // INSTITUTIONALIZE</a:t>
            </a:r>
          </a:p>
        </p:txBody>
      </p:sp>
      <p:sp>
        <p:nvSpPr>
          <p:cNvPr id="21" name="TextBox 20"/>
          <p:cNvSpPr txBox="1"/>
          <p:nvPr/>
        </p:nvSpPr>
        <p:spPr>
          <a:xfrm>
            <a:off x="9186862" y="2359152"/>
            <a:ext cx="2386584" cy="493776"/>
          </a:xfrm>
          <a:prstGeom prst="rect">
            <a:avLst/>
          </a:prstGeom>
          <a:noFill/>
        </p:spPr>
        <p:txBody>
          <a:bodyPr wrap="square" lIns="0" rIns="0" tIns="0" bIns="0" anchor="t">
            <a:spAutoFit/>
          </a:bodyPr>
          <a:lstStyle/>
          <a:p>
            <a:pPr algn="l"/>
            <a:r>
              <a:rPr b="1" sz="1500" i="0" u="none">
                <a:solidFill>
                  <a:srgbClr val="11052C"/>
                </a:solidFill>
                <a:latin typeface="Arial"/>
              </a:rPr>
              <a:t>Co-present at the lock</a:t>
            </a:r>
          </a:p>
        </p:txBody>
      </p:sp>
      <p:sp>
        <p:nvSpPr>
          <p:cNvPr id="22" name="TextBox 21"/>
          <p:cNvSpPr txBox="1"/>
          <p:nvPr/>
        </p:nvSpPr>
        <p:spPr>
          <a:xfrm>
            <a:off x="9186862" y="2935224"/>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The GM and I present the staged plan together at the T-16 lock. There is no back channel to the CEO because there is nothing left to appeal.</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719072"/>
          <a:ext cx="10953748" cy="4023360"/>
        </p:xfrm>
        <a:graphic>
          <a:graphicData uri="http://schemas.openxmlformats.org/drawingml/2006/table">
            <a:tbl>
              <a:tblPr firstRow="0" bandRow="0">
                <a:lnL>
                  <a:noFill/>
                </a:lnL>
                <a:lnR>
                  <a:noFill/>
                </a:lnR>
                <a:lnT>
                  <a:noFill/>
                </a:lnT>
                <a:lnB>
                  <a:noFill/>
                </a:lnB>
                <a:lnV>
                  <a:noFill/>
                </a:lnV>
                <a:lnH>
                  <a:noFill/>
                </a:lnH>
              </a:tblPr>
              <a:tblGrid>
                <a:gridCol w="3301900"/>
                <a:gridCol w="2618333"/>
                <a:gridCol w="2391816"/>
                <a:gridCol w="2641699"/>
              </a:tblGrid>
              <a:tr h="457200">
                <a:tc>
                  <a:txBody>
                    <a:bodyPr/>
                    <a:lstStyle/>
                    <a:p>
                      <a:pPr algn="l"/>
                      <a:r>
                        <a:rPr b="1" sz="1350" i="0" u="none">
                          <a:solidFill>
                            <a:srgbClr val="FFFFFF"/>
                          </a:solidFill>
                          <a:latin typeface="Arial"/>
                        </a:rPr>
                        <a:t>Dimension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Downside (market slows)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Base plan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Upside (H1 beats plan)</a:t>
                      </a:r>
                    </a:p>
                  </a:txBody>
                  <a:tcPr anchor="ctr" marL="63500" marR="63500" marT="25400" marB="25400">
                    <a:lnL>
                      <a:noFill/>
                    </a:lnL>
                    <a:lnR>
                      <a:noFill/>
                    </a:lnR>
                    <a:lnT>
                      <a:noFill/>
                    </a:lnT>
                    <a:lnB>
                      <a:noFill/>
                    </a:lnB>
                    <a:solidFill>
                      <a:srgbClr val="820AD1"/>
                    </a:solidFill>
                  </a:tcPr>
                </a:tc>
              </a:tr>
              <a:tr h="713232">
                <a:tc>
                  <a:txBody>
                    <a:bodyPr/>
                    <a:lstStyle/>
                    <a:p>
                      <a:pPr algn="l"/>
                      <a:r>
                        <a:rPr b="1" sz="1100" i="0" u="none">
                          <a:solidFill>
                            <a:srgbClr val="11052C"/>
                          </a:solidFill>
                          <a:latin typeface="Arial"/>
                        </a:rPr>
                        <a:t>1. Funded spend vs the $25M cap</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$15.0M (gate 2 held at Q1 close)</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$25.0M ($15M gate 1 + $10M gate 2)</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$25.0M</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2. Release above the cap (rule A6)</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$0</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$0 (not assumed)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Up to $15.0M from H1 profit above plan, inside the ~20% FY26 guide</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3. Reversal triggers (stop or hold)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A unit below plan on two of four indicators: its gate-2 share is held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Efficiency ratio above the FY26 guide at Q1 close: gate 2 held for all units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Credit cost or NPL 90+ above plan: rule A6 is not used</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4. Top risks and owners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GMs game the indicators: finance partners own the read-out</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Board book slips: outline locked today; anything outside it goes to the appendix</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HQ: tax residence, clawback, officer liability, site politics, key-person risk</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5. What I report at Day 90</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First monthly indicator read-outs per unit (gate 2 decided at Q1 close)</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820AD1"/>
                          </a:solidFill>
                          <a:latin typeface="Arial"/>
                        </a:rPr>
                        <a:t>Board delivered at T-0; capital plan approved; cycle-time and forecast baselines</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HQ gates 1 and 2 cleared; gate 3 pack ready</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16 // RISKS, SCENARIOS AND REVERSAL TRIGGERS</a:t>
            </a:r>
          </a:p>
        </p:txBody>
      </p:sp>
      <p:sp>
        <p:nvSpPr>
          <p:cNvPr id="28" name="TextBox 2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If Q1 indicators miss, gate 2 is held; the A6 valve opens only on an H1 profit beat, inside the efficiency guide</a:t>
            </a:r>
          </a:p>
        </p:txBody>
      </p:sp>
      <p:sp>
        <p:nvSpPr>
          <p:cNvPr id="29" name="TextBox 28"/>
          <p:cNvSpPr txBox="1"/>
          <p:nvPr/>
        </p:nvSpPr>
        <p:spPr>
          <a:xfrm>
            <a:off x="609600" y="5989320"/>
            <a:ext cx="11068050" cy="419100"/>
          </a:xfrm>
          <a:prstGeom prst="rect">
            <a:avLst/>
          </a:prstGeom>
          <a:noFill/>
        </p:spPr>
        <p:txBody>
          <a:bodyPr wrap="square" lIns="0" rIns="0" tIns="0" bIns="0" anchor="t">
            <a:spAutoFit/>
          </a:bodyPr>
          <a:lstStyle/>
          <a:p>
            <a:pPr algn="l"/>
            <a:r>
              <a:rPr b="1" sz="1150" i="0" u="none">
                <a:solidFill>
                  <a:srgbClr val="3B2A54"/>
                </a:solidFill>
                <a:latin typeface="Arial"/>
              </a:rPr>
              <a:t>For the Board: </a:t>
            </a:r>
            <a:r>
              <a:rPr b="0" sz="1150" i="0" u="none">
                <a:solidFill>
                  <a:srgbClr val="3B2A54"/>
                </a:solidFill>
                <a:latin typeface="Arial"/>
              </a:rPr>
              <a:t>funding above $15M is released only on evidence, so margins are protected automatically if conditions tighten, with no mid-year freeze. No value figures are claimed beyond the spend lines; they would be guesses before HQ gate 1.</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63092"/>
            <a:ext cx="3505200" cy="3352800"/>
          </a:xfrm>
          <a:prstGeom prst="roundRect">
            <a:avLst>
              <a:gd name="adj" fmla="val 284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17 // THE NEXT 90 DAYS</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Days 61-150 (today to mid-January): Board approved by Day 88, hub in place by Day 95, FY27 gate 1 open on 1 January</a:t>
            </a:r>
          </a:p>
        </p:txBody>
      </p:sp>
      <p:sp>
        <p:nvSpPr>
          <p:cNvPr id="7" name="TextBox 6"/>
          <p:cNvSpPr txBox="1"/>
          <p:nvPr/>
        </p:nvSpPr>
        <p:spPr>
          <a:xfrm>
            <a:off x="866775" y="2620267"/>
            <a:ext cx="3738562" cy="171450"/>
          </a:xfrm>
          <a:prstGeom prst="rect">
            <a:avLst/>
          </a:prstGeom>
          <a:noFill/>
        </p:spPr>
        <p:txBody>
          <a:bodyPr wrap="none" lIns="0" rIns="0" tIns="0" bIns="0" anchor="t">
            <a:spAutoFit/>
          </a:bodyPr>
          <a:lstStyle/>
          <a:p>
            <a:pPr algn="l"/>
            <a:r>
              <a:rPr b="1" sz="1050" i="0" u="none">
                <a:solidFill>
                  <a:srgbClr val="B91C1C"/>
                </a:solidFill>
                <a:latin typeface="Arial"/>
              </a:rPr>
              <a:t>DAYS 61–90 // ALIGN &amp; STABILIZE</a:t>
            </a:r>
          </a:p>
        </p:txBody>
      </p:sp>
      <p:sp>
        <p:nvSpPr>
          <p:cNvPr id="8" name="TextBox 7"/>
          <p:cNvSpPr txBox="1"/>
          <p:nvPr/>
        </p:nvSpPr>
        <p:spPr>
          <a:xfrm>
            <a:off x="866775" y="2867917"/>
            <a:ext cx="3925490" cy="266700"/>
          </a:xfrm>
          <a:prstGeom prst="rect">
            <a:avLst/>
          </a:prstGeom>
          <a:noFill/>
        </p:spPr>
        <p:txBody>
          <a:bodyPr wrap="square" lIns="0" rIns="0" tIns="0" bIns="0" anchor="t">
            <a:spAutoFit/>
          </a:bodyPr>
          <a:lstStyle/>
          <a:p>
            <a:pPr algn="l"/>
            <a:r>
              <a:rPr b="1" sz="1650" i="0" u="none">
                <a:solidFill>
                  <a:srgbClr val="11052C"/>
                </a:solidFill>
                <a:latin typeface="Arial"/>
              </a:rPr>
              <a:t>Lock the Board and gate 1</a:t>
            </a:r>
          </a:p>
        </p:txBody>
      </p:sp>
      <p:sp>
        <p:nvSpPr>
          <p:cNvPr id="9" name="TextBox 8"/>
          <p:cNvSpPr txBox="1"/>
          <p:nvPr/>
        </p:nvSpPr>
        <p:spPr>
          <a:xfrm>
            <a:off x="4600575" y="2615695"/>
            <a:ext cx="3738562" cy="171450"/>
          </a:xfrm>
          <a:prstGeom prst="rect">
            <a:avLst/>
          </a:prstGeom>
          <a:noFill/>
        </p:spPr>
        <p:txBody>
          <a:bodyPr wrap="none" lIns="0" rIns="0" tIns="0" bIns="0" anchor="t">
            <a:spAutoFit/>
          </a:bodyPr>
          <a:lstStyle/>
          <a:p>
            <a:pPr algn="l"/>
            <a:r>
              <a:rPr b="1" sz="1050" i="0" u="none">
                <a:solidFill>
                  <a:srgbClr val="820AD1"/>
                </a:solidFill>
                <a:latin typeface="Arial"/>
              </a:rPr>
              <a:t>DAYS 91–120 // EMBED &amp; NEGOTIATE</a:t>
            </a:r>
          </a:p>
        </p:txBody>
      </p:sp>
      <p:sp>
        <p:nvSpPr>
          <p:cNvPr id="10" name="TextBox 9"/>
          <p:cNvSpPr txBox="1"/>
          <p:nvPr/>
        </p:nvSpPr>
        <p:spPr>
          <a:xfrm>
            <a:off x="4600575" y="2863345"/>
            <a:ext cx="3925490" cy="266700"/>
          </a:xfrm>
          <a:prstGeom prst="rect">
            <a:avLst/>
          </a:prstGeom>
          <a:noFill/>
        </p:spPr>
        <p:txBody>
          <a:bodyPr wrap="square" lIns="0" rIns="0" tIns="0" bIns="0" anchor="t">
            <a:spAutoFit/>
          </a:bodyPr>
          <a:lstStyle/>
          <a:p>
            <a:pPr algn="l"/>
            <a:r>
              <a:rPr b="1" sz="1650" i="0" u="none">
                <a:solidFill>
                  <a:srgbClr val="11052C"/>
                </a:solidFill>
                <a:latin typeface="Arial"/>
              </a:rPr>
              <a:t>Stand up the hub; HQ gate 2</a:t>
            </a:r>
          </a:p>
        </p:txBody>
      </p:sp>
      <p:sp>
        <p:nvSpPr>
          <p:cNvPr id="11" name="TextBox 10"/>
          <p:cNvSpPr txBox="1"/>
          <p:nvPr/>
        </p:nvSpPr>
        <p:spPr>
          <a:xfrm>
            <a:off x="8334375" y="2615695"/>
            <a:ext cx="3738562" cy="171450"/>
          </a:xfrm>
          <a:prstGeom prst="rect">
            <a:avLst/>
          </a:prstGeom>
          <a:noFill/>
        </p:spPr>
        <p:txBody>
          <a:bodyPr wrap="none" lIns="0" rIns="0" tIns="0" bIns="0" anchor="t">
            <a:spAutoFit/>
          </a:bodyPr>
          <a:lstStyle/>
          <a:p>
            <a:pPr algn="l"/>
            <a:r>
              <a:rPr b="1" sz="1050" i="0" u="none">
                <a:solidFill>
                  <a:srgbClr val="0D9488"/>
                </a:solidFill>
                <a:latin typeface="Arial"/>
              </a:rPr>
              <a:t>DAYS 121–150 // SCALE &amp; EXECUTE</a:t>
            </a:r>
          </a:p>
        </p:txBody>
      </p:sp>
      <p:sp>
        <p:nvSpPr>
          <p:cNvPr id="12" name="TextBox 11"/>
          <p:cNvSpPr txBox="1"/>
          <p:nvPr/>
        </p:nvSpPr>
        <p:spPr>
          <a:xfrm>
            <a:off x="8334375" y="2863345"/>
            <a:ext cx="3857625" cy="266700"/>
          </a:xfrm>
          <a:prstGeom prst="rect">
            <a:avLst/>
          </a:prstGeom>
          <a:noFill/>
        </p:spPr>
        <p:txBody>
          <a:bodyPr wrap="square" lIns="0" rIns="0" tIns="0" bIns="0" anchor="t">
            <a:spAutoFit/>
          </a:bodyPr>
          <a:lstStyle/>
          <a:p>
            <a:pPr algn="l"/>
            <a:r>
              <a:rPr b="1" sz="1650" i="0" u="none">
                <a:solidFill>
                  <a:srgbClr val="11052C"/>
                </a:solidFill>
                <a:latin typeface="Arial"/>
              </a:rPr>
              <a:t>FY27 opens; HQ gate 3</a:t>
            </a:r>
          </a:p>
        </p:txBody>
      </p:sp>
      <p:sp>
        <p:nvSpPr>
          <p:cNvPr id="13" name="TextBox 12"/>
          <p:cNvSpPr txBox="1"/>
          <p:nvPr/>
        </p:nvSpPr>
        <p:spPr>
          <a:xfrm>
            <a:off x="1000125" y="3220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4" name="TextBox 13"/>
          <p:cNvSpPr txBox="1"/>
          <p:nvPr/>
        </p:nvSpPr>
        <p:spPr>
          <a:xfrm>
            <a:off x="1057275" y="3248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Today (T-28): </a:t>
            </a:r>
            <a:r>
              <a:rPr b="0" sz="1350" i="0" u="none">
                <a:solidFill>
                  <a:srgbClr val="3B2A54"/>
                </a:solidFill>
                <a:latin typeface="Arial"/>
              </a:rPr>
              <a:t>Board outline issued; HQ charter signed; gate 1 launched.</a:t>
            </a:r>
          </a:p>
        </p:txBody>
      </p:sp>
      <p:sp>
        <p:nvSpPr>
          <p:cNvPr id="15" name="TextBox 14"/>
          <p:cNvSpPr txBox="1"/>
          <p:nvPr/>
        </p:nvSpPr>
        <p:spPr>
          <a:xfrm>
            <a:off x="1000125" y="3982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6" name="TextBox 15"/>
          <p:cNvSpPr txBox="1"/>
          <p:nvPr/>
        </p:nvSpPr>
        <p:spPr>
          <a:xfrm>
            <a:off x="1057275" y="4010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72 (T-16): </a:t>
            </a:r>
            <a:r>
              <a:rPr b="0" sz="1350" i="0" u="none">
                <a:solidFill>
                  <a:srgbClr val="3B2A54"/>
                </a:solidFill>
                <a:latin typeface="Arial"/>
              </a:rPr>
              <a:t>options memo settles the 70/30 lock with CEO, CFO, MTeam.</a:t>
            </a:r>
          </a:p>
        </p:txBody>
      </p:sp>
      <p:sp>
        <p:nvSpPr>
          <p:cNvPr id="17" name="TextBox 16"/>
          <p:cNvSpPr txBox="1"/>
          <p:nvPr/>
        </p:nvSpPr>
        <p:spPr>
          <a:xfrm>
            <a:off x="1000125" y="4744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8" name="TextBox 17"/>
          <p:cNvSpPr txBox="1"/>
          <p:nvPr/>
        </p:nvSpPr>
        <p:spPr>
          <a:xfrm>
            <a:off x="1057275" y="4772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88 (T-0): </a:t>
            </a:r>
            <a:r>
              <a:rPr b="0" sz="1350" i="0" u="none">
                <a:solidFill>
                  <a:srgbClr val="3B2A54"/>
                </a:solidFill>
                <a:latin typeface="Arial"/>
              </a:rPr>
              <a:t>Board approves the FY27 plan; gate-1 allocation memo published.</a:t>
            </a:r>
          </a:p>
        </p:txBody>
      </p:sp>
      <p:sp>
        <p:nvSpPr>
          <p:cNvPr id="19" name="TextBox 18"/>
          <p:cNvSpPr txBox="1"/>
          <p:nvPr/>
        </p:nvSpPr>
        <p:spPr>
          <a:xfrm>
            <a:off x="4733925" y="3215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0" name="TextBox 19"/>
          <p:cNvSpPr txBox="1"/>
          <p:nvPr/>
        </p:nvSpPr>
        <p:spPr>
          <a:xfrm>
            <a:off x="47910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95: </a:t>
            </a:r>
            <a:r>
              <a:rPr b="0" sz="1350" i="0" u="none">
                <a:solidFill>
                  <a:srgbClr val="3B2A54"/>
                </a:solidFill>
                <a:latin typeface="Arial"/>
              </a:rPr>
              <a:t>hub stood up; finance partners embedded in each market and vertical.</a:t>
            </a:r>
          </a:p>
        </p:txBody>
      </p:sp>
      <p:sp>
        <p:nvSpPr>
          <p:cNvPr id="21" name="TextBox 20"/>
          <p:cNvSpPr txBox="1"/>
          <p:nvPr/>
        </p:nvSpPr>
        <p:spPr>
          <a:xfrm>
            <a:off x="4733925" y="3977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2" name="TextBox 21"/>
          <p:cNvSpPr txBox="1"/>
          <p:nvPr/>
        </p:nvSpPr>
        <p:spPr>
          <a:xfrm>
            <a:off x="47910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Arial"/>
              </a:rPr>
              <a:t>Day 105: </a:t>
            </a:r>
            <a:r>
              <a:rPr b="0" sz="1350" i="0" u="none">
                <a:solidFill>
                  <a:srgbClr val="3B2A54"/>
                </a:solidFill>
                <a:latin typeface="Arial"/>
              </a:rPr>
              <a:t>squad clinics running; $12M case track under way.</a:t>
            </a:r>
          </a:p>
        </p:txBody>
      </p:sp>
      <p:sp>
        <p:nvSpPr>
          <p:cNvPr id="23" name="TextBox 22"/>
          <p:cNvSpPr txBox="1"/>
          <p:nvPr/>
        </p:nvSpPr>
        <p:spPr>
          <a:xfrm>
            <a:off x="4733925" y="45111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4" name="TextBox 23"/>
          <p:cNvSpPr txBox="1"/>
          <p:nvPr/>
        </p:nvSpPr>
        <p:spPr>
          <a:xfrm>
            <a:off x="47910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120 (HQ D+60): </a:t>
            </a:r>
            <a:r>
              <a:rPr b="0" sz="1350" i="0" u="none">
                <a:solidFill>
                  <a:srgbClr val="3B2A54"/>
                </a:solidFill>
                <a:latin typeface="Arial"/>
              </a:rPr>
              <a:t>gate 2 cleared: proportional grant terms, 24-month grace.</a:t>
            </a:r>
          </a:p>
        </p:txBody>
      </p:sp>
      <p:sp>
        <p:nvSpPr>
          <p:cNvPr id="25" name="TextBox 24"/>
          <p:cNvSpPr txBox="1"/>
          <p:nvPr/>
        </p:nvSpPr>
        <p:spPr>
          <a:xfrm>
            <a:off x="8467725" y="3215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6" name="TextBox 25"/>
          <p:cNvSpPr txBox="1"/>
          <p:nvPr/>
        </p:nvSpPr>
        <p:spPr>
          <a:xfrm>
            <a:off x="85248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133 (1 Jan): </a:t>
            </a:r>
            <a:r>
              <a:rPr b="0" sz="1350" i="0" u="none">
                <a:solidFill>
                  <a:srgbClr val="3B2A54"/>
                </a:solidFill>
                <a:latin typeface="Arial"/>
              </a:rPr>
              <a:t>FY27 starts; $15M gate 1 opens to the vetted cases.</a:t>
            </a:r>
          </a:p>
        </p:txBody>
      </p:sp>
      <p:sp>
        <p:nvSpPr>
          <p:cNvPr id="27" name="TextBox 26"/>
          <p:cNvSpPr txBox="1"/>
          <p:nvPr/>
        </p:nvSpPr>
        <p:spPr>
          <a:xfrm>
            <a:off x="8467725" y="3977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8" name="TextBox 27"/>
          <p:cNvSpPr txBox="1"/>
          <p:nvPr/>
        </p:nvSpPr>
        <p:spPr>
          <a:xfrm>
            <a:off x="85248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Arial"/>
              </a:rPr>
              <a:t>Day 150 (HQ D+90): </a:t>
            </a:r>
            <a:r>
              <a:rPr b="0" sz="1350" i="0" u="none">
                <a:solidFill>
                  <a:srgbClr val="3B2A54"/>
                </a:solidFill>
                <a:latin typeface="Arial"/>
              </a:rPr>
              <a:t>gate 3 cleared; Day-90 report to the CFO.</a:t>
            </a:r>
          </a:p>
        </p:txBody>
      </p:sp>
      <p:sp>
        <p:nvSpPr>
          <p:cNvPr id="29" name="TextBox 28"/>
          <p:cNvSpPr txBox="1"/>
          <p:nvPr/>
        </p:nvSpPr>
        <p:spPr>
          <a:xfrm>
            <a:off x="8467725" y="45111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30" name="TextBox 29"/>
          <p:cNvSpPr txBox="1"/>
          <p:nvPr/>
        </p:nvSpPr>
        <p:spPr>
          <a:xfrm>
            <a:off x="85248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Beyond: </a:t>
            </a:r>
            <a:r>
              <a:rPr b="0" sz="1350" i="0" u="none">
                <a:solidFill>
                  <a:srgbClr val="3B2A54"/>
                </a:solidFill>
                <a:latin typeface="Arial"/>
              </a:rPr>
              <a:t>gate 2 at Q1 close (31 Mar); HQ gate 4 at D+120.</a:t>
            </a:r>
          </a:p>
        </p:txBody>
      </p:sp>
      <p:sp>
        <p:nvSpPr>
          <p:cNvPr id="31" name="TextBox 3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8FF"/>
        </a:solidFill>
        <a:effectLst/>
      </p:bgPr>
    </p:bg>
    <p:spTree>
      <p:nvGrpSpPr>
        <p:cNvPr id="1" name=""/>
        <p:cNvGrpSpPr/>
        <p:nvPr/>
      </p:nvGrpSpPr>
      <p:grpSpPr/>
      <p:sp>
        <p:nvSpPr>
          <p:cNvPr id="2" name="Rectangle 1"/>
          <p:cNvSpPr/>
          <p:nvPr/>
        </p:nvSpPr>
        <p:spPr>
          <a:xfrm>
            <a:off x="5715000" y="3629025"/>
            <a:ext cx="762000" cy="38100"/>
          </a:xfrm>
          <a:prstGeom prst="rect">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05125" y="2428875"/>
            <a:ext cx="6381750" cy="200025"/>
          </a:xfrm>
          <a:prstGeom prst="rect">
            <a:avLst/>
          </a:prstGeom>
          <a:noFill/>
        </p:spPr>
        <p:txBody>
          <a:bodyPr wrap="none" lIns="0" rIns="0" tIns="0" bIns="0" anchor="t">
            <a:spAutoFit/>
          </a:bodyPr>
          <a:lstStyle/>
          <a:p>
            <a:pPr algn="ctr"/>
            <a:r>
              <a:rPr b="1" sz="1200" i="0" u="none">
                <a:solidFill>
                  <a:srgbClr val="820AD1"/>
                </a:solidFill>
                <a:latin typeface="Arial"/>
              </a:rPr>
              <a:t>SUPPORTING GOVERNANCE, EVIDENCE &amp; METHODOLOGY</a:t>
            </a:r>
          </a:p>
        </p:txBody>
      </p:sp>
      <p:sp>
        <p:nvSpPr>
          <p:cNvPr id="4" name="TextBox 3"/>
          <p:cNvSpPr txBox="1"/>
          <p:nvPr/>
        </p:nvSpPr>
        <p:spPr>
          <a:xfrm>
            <a:off x="945356" y="2781300"/>
            <a:ext cx="10301287" cy="657225"/>
          </a:xfrm>
          <a:prstGeom prst="rect">
            <a:avLst/>
          </a:prstGeom>
          <a:noFill/>
        </p:spPr>
        <p:txBody>
          <a:bodyPr wrap="square" lIns="0" rIns="0" tIns="0" bIns="0" anchor="t">
            <a:spAutoFit/>
          </a:bodyPr>
          <a:lstStyle/>
          <a:p>
            <a:pPr algn="ctr"/>
            <a:r>
              <a:rPr b="1" sz="4050" i="0" u="none">
                <a:solidFill>
                  <a:srgbClr val="11052C"/>
                </a:solidFill>
                <a:latin typeface="Arial"/>
              </a:rPr>
              <a:t>Appendices &amp; Reference Ledger</a:t>
            </a:r>
          </a:p>
        </p:txBody>
      </p:sp>
      <p:sp>
        <p:nvSpPr>
          <p:cNvPr id="5" name="TextBox 4"/>
          <p:cNvSpPr txBox="1"/>
          <p:nvPr/>
        </p:nvSpPr>
        <p:spPr>
          <a:xfrm>
            <a:off x="1214437" y="3933825"/>
            <a:ext cx="9763125" cy="495300"/>
          </a:xfrm>
          <a:prstGeom prst="rect">
            <a:avLst/>
          </a:prstGeom>
          <a:noFill/>
        </p:spPr>
        <p:txBody>
          <a:bodyPr wrap="square" lIns="0" rIns="0" tIns="0" bIns="0" anchor="t">
            <a:spAutoFit/>
          </a:bodyPr>
          <a:lstStyle/>
          <a:p>
            <a:pPr algn="ctr"/>
            <a:r>
              <a:rPr b="0" sz="1500" i="0" u="none">
                <a:solidFill>
                  <a:srgbClr val="3B2A54"/>
                </a:solidFill>
                <a:latin typeface="Arial"/>
              </a:rPr>
              <a:t>Appendix A: Sources and assumptions ledger   |   Appendix B: Option scores and weight sensitivity</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18" name="Table 17"/>
          <p:cNvGraphicFramePr>
            <a:graphicFrameLocks noGrp="1"/>
          </p:cNvGraphicFramePr>
          <p:nvPr/>
        </p:nvGraphicFramePr>
        <p:xfrm>
          <a:off x="609600" y="1600200"/>
          <a:ext cx="10972800" cy="3931920"/>
        </p:xfrm>
        <a:graphic>
          <a:graphicData uri="http://schemas.openxmlformats.org/drawingml/2006/table">
            <a:tbl>
              <a:tblPr firstRow="0" bandRow="0">
                <a:lnL>
                  <a:noFill/>
                </a:lnL>
                <a:lnR>
                  <a:noFill/>
                </a:lnR>
                <a:lnT>
                  <a:noFill/>
                </a:lnT>
                <a:lnB>
                  <a:noFill/>
                </a:lnB>
                <a:lnV>
                  <a:noFill/>
                </a:lnV>
                <a:lnH>
                  <a:noFill/>
                </a:lnH>
              </a:tblPr>
              <a:tblGrid>
                <a:gridCol w="1737360"/>
                <a:gridCol w="3383280"/>
                <a:gridCol w="2286000"/>
                <a:gridCol w="3566160"/>
              </a:tblGrid>
              <a:tr h="502920">
                <a:tc>
                  <a:txBody>
                    <a:bodyPr/>
                    <a:lstStyle/>
                    <a:p>
                      <a:pPr algn="l"/>
                      <a:r>
                        <a:rPr b="1" sz="1350" i="0" u="none">
                          <a:solidFill>
                            <a:srgbClr val="FFFFFF"/>
                          </a:solidFill>
                          <a:latin typeface="Arial"/>
                        </a:rPr>
                        <a:t>Stage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Trigger for a local entity</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Operating setup</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Officers, signing and insurance</a:t>
                      </a:r>
                    </a:p>
                  </a:txBody>
                  <a:tcPr anchor="ctr" marL="63500" marR="63500" marT="25400" marB="25400">
                    <a:lnL>
                      <a:noFill/>
                    </a:lnL>
                    <a:lnR>
                      <a:noFill/>
                    </a:lnR>
                    <a:lnT>
                      <a:noFill/>
                    </a:lnT>
                    <a:lnB>
                      <a:noFill/>
                    </a:lnB>
                    <a:solidFill>
                      <a:srgbClr val="820AD1"/>
                    </a:solidFill>
                  </a:tcPr>
                </a:tc>
              </a:tr>
              <a:tr h="1143000">
                <a:tc>
                  <a:txBody>
                    <a:bodyPr/>
                    <a:lstStyle/>
                    <a:p>
                      <a:pPr algn="l"/>
                      <a:r>
                        <a:rPr b="1" sz="1100" i="0" u="none">
                          <a:solidFill>
                            <a:srgbClr val="11052C"/>
                          </a:solidFill>
                          <a:latin typeface="Arial"/>
                        </a:rPr>
                        <a:t>1. Market test</a:t>
                      </a:r>
                      <a:r>
                        <a:rPr b="0" sz="1100" i="0" u="none">
                          <a:solidFill>
                            <a:srgbClr val="11052C"/>
                          </a:solidFill>
                          <a:latin typeface="Arial"/>
                        </a:rPr>
                        <a:t> (new countries)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No local license needed, no taxable presence created; served from an existing licensed entity or a partner bank.</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No local entity. Cross-border or partner model.</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Arial"/>
                        </a:rPr>
                        <a:t>Central signing only. No local director.</a:t>
                      </a:r>
                      <a:r>
                        <a:rPr b="0" sz="1100" i="0" u="none">
                          <a:solidFill>
                            <a:srgbClr val="11052C"/>
                          </a:solidFill>
                          <a:latin typeface="Arial"/>
                        </a:rPr>
                        <a:t> Prevents an accidental permanent establishment.</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Arial"/>
                        </a:rPr>
                        <a:t>2. Licensed scale-up</a:t>
                      </a:r>
                      <a:r>
                        <a:rPr b="0" sz="1100" i="0" u="none">
                          <a:solidFill>
                            <a:srgbClr val="11052C"/>
                          </a:solidFill>
                          <a:latin typeface="Arial"/>
                        </a:rPr>
                        <a:t> (US charter, new verticals)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A regulator requires a local licensed entity (deposits, lending, custody), or substance rules require local payroll and assets.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Dedicated licensed entity with its own capital plan and headroom.</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Arial"/>
                        </a:rPr>
                        <a:t>Fit-and-proper directors;</a:t>
                      </a:r>
                      <a:r>
                        <a:rPr b="0" sz="1100" i="0" u="none">
                          <a:solidFill>
                            <a:srgbClr val="11052C"/>
                          </a:solidFill>
                          <a:latin typeface="Arial"/>
                        </a:rPr>
                        <a:t> two central officers plus one local leader; dual signature above a set limit; D&amp;O bound before activation.</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Arial"/>
                        </a:rPr>
                        <a:t>3. Core hub</a:t>
                      </a:r>
                      <a:r>
                        <a:rPr b="0" sz="1100" i="0" u="none">
                          <a:solidFill>
                            <a:srgbClr val="11052C"/>
                          </a:solidFill>
                          <a:latin typeface="Arial"/>
                        </a:rPr>
                        <a:t> (Mexico as a bank since Aug 2026; Colombia; the HQ)</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Full banking or fintech license in force; local CFO in place (already so in Mexico and Colombia).</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Full licensed entity; regional campus where the HQ decision lands.</a:t>
                      </a:r>
                    </a:p>
                  </a:txBody>
                  <a:tcPr anchor="ctr" marL="63500" marR="63500" marT="25400" marB="25400">
                    <a:lnL>
                      <a:noFill/>
                    </a:lnL>
                    <a:lnR>
                      <a:noFill/>
                    </a:lnR>
                    <a:lnT>
                      <a:noFill/>
                    </a:lnT>
                    <a:lnB>
                      <a:noFill/>
                    </a:lnB>
                    <a:solidFill>
                      <a:srgbClr val="F3E8FF"/>
                    </a:solidFill>
                  </a:tcPr>
                </a:tc>
                <a:tc>
                  <a:txBody>
                    <a:bodyPr/>
                    <a:lstStyle/>
                    <a:p>
                      <a:pPr algn="l"/>
                      <a:r>
                        <a:rPr b="1" sz="1100" i="0" u="none">
                          <a:solidFill>
                            <a:srgbClr val="11052C"/>
                          </a:solidFill>
                          <a:latin typeface="Arial"/>
                        </a:rPr>
                        <a:t>Audit and Risk Committee oversight;</a:t>
                      </a:r>
                      <a:r>
                        <a:rPr b="0" sz="1100" i="0" u="none">
                          <a:solidFill>
                            <a:srgbClr val="11052C"/>
                          </a:solidFill>
                          <a:latin typeface="Arial"/>
                        </a:rPr>
                        <a:t> dual signature above limits set by category; director liability insurance; annual review of powers of attorney.</a:t>
                      </a:r>
                    </a:p>
                  </a:txBody>
                  <a:tcPr anchor="ctr" marL="63500" marR="63500" marT="25400" marB="25400">
                    <a:lnL>
                      <a:noFill/>
                    </a:lnL>
                    <a:lnR>
                      <a:noFill/>
                    </a:lnR>
                    <a:lnT>
                      <a:noFill/>
                    </a:lnT>
                    <a:lnB>
                      <a:noFill/>
                    </a:lnB>
                    <a:solidFill>
                      <a:srgbClr val="F3E8FF"/>
                    </a:solidFill>
                  </a:tcPr>
                </a:tc>
              </a:tr>
            </a:tbl>
          </a:graphicData>
        </a:graphic>
      </p:graphicFrame>
      <p:sp>
        <p:nvSpPr>
          <p:cNvPr id="19" name="TextBox 18"/>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13 // DELIVERABLE 2: STATUTORY GOVERNANCE ACROSS NEW ENTITIES</a:t>
            </a:r>
          </a:p>
        </p:txBody>
      </p:sp>
      <p:sp>
        <p:nvSpPr>
          <p:cNvPr id="20" name="TextBox 19"/>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model: open an entity only when a license or tax substance requires it; officers and signing follow the stage</a:t>
            </a:r>
          </a:p>
        </p:txBody>
      </p:sp>
      <p:sp>
        <p:nvSpPr>
          <p:cNvPr id="21" name="TextBox 20"/>
          <p:cNvSpPr txBox="1"/>
          <p:nvPr/>
        </p:nvSpPr>
        <p:spPr>
          <a:xfrm>
            <a:off x="609600" y="61722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announcements (US launch via Lead Bank, 10 Sep 2026; OCC conditional approval, 29 Jan 2026; Mexico bank authorization, 10 Jul 2026; local finance leadership in Mexico and Colombia per the CFO appointment release). Signing limits are proposals (ASSUMPTION).</a:t>
            </a:r>
          </a:p>
        </p:txBody>
      </p:sp>
      <p:sp>
        <p:nvSpPr>
          <p:cNvPr id="22" name="TextBox 21"/>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508760"/>
          <a:ext cx="10972800" cy="4297680"/>
        </p:xfrm>
        <a:graphic>
          <a:graphicData uri="http://schemas.openxmlformats.org/drawingml/2006/table">
            <a:tbl>
              <a:tblPr firstRow="0" bandRow="0">
                <a:lnL>
                  <a:noFill/>
                </a:lnL>
                <a:lnR>
                  <a:noFill/>
                </a:lnR>
                <a:lnT>
                  <a:noFill/>
                </a:lnT>
                <a:lnB>
                  <a:noFill/>
                </a:lnB>
                <a:lnV>
                  <a:noFill/>
                </a:lnV>
                <a:lnH>
                  <a:noFill/>
                </a:lnH>
              </a:tblPr>
              <a:tblGrid>
                <a:gridCol w="1645920"/>
                <a:gridCol w="2194560"/>
                <a:gridCol w="4206240"/>
                <a:gridCol w="2926080"/>
              </a:tblGrid>
              <a:tr h="457200">
                <a:tc>
                  <a:txBody>
                    <a:bodyPr/>
                    <a:lstStyle/>
                    <a:p>
                      <a:pPr algn="l"/>
                      <a:r>
                        <a:rPr b="1" sz="1350" i="0" u="none">
                          <a:solidFill>
                            <a:srgbClr val="FFFFFF"/>
                          </a:solidFill>
                          <a:latin typeface="Arial"/>
                        </a:rPr>
                        <a:t>Topic</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Source and 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Data point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Where it is used</a:t>
                      </a:r>
                    </a:p>
                  </a:txBody>
                  <a:tcPr anchor="ctr" marL="63500" marR="63500" marT="25400" marB="25400">
                    <a:lnL>
                      <a:noFill/>
                    </a:lnL>
                    <a:lnR>
                      <a:noFill/>
                    </a:lnR>
                    <a:lnT>
                      <a:noFill/>
                    </a:lnT>
                    <a:lnB>
                      <a:noFill/>
                    </a:lnB>
                    <a:solidFill>
                      <a:srgbClr val="820AD1"/>
                    </a:solidFill>
                  </a:tcPr>
                </a:tc>
              </a:tr>
              <a:tr h="960120">
                <a:tc>
                  <a:txBody>
                    <a:bodyPr/>
                    <a:lstStyle/>
                    <a:p>
                      <a:pPr algn="l"/>
                      <a:r>
                        <a:rPr b="1" sz="1050" i="0" u="none">
                          <a:solidFill>
                            <a:srgbClr val="11052C"/>
                          </a:solidFill>
                          <a:latin typeface="Arial"/>
                        </a:rPr>
                        <a:t>1. Nu scale and efficiency</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Nu Q2'26 release and 6-K; 20-F</a:t>
                      </a:r>
                      <a:r>
                        <a:rPr b="0" sz="1050" i="0" u="none">
                          <a:solidFill>
                            <a:srgbClr val="11052C"/>
                          </a:solidFill>
                          <a:latin typeface="Arial"/>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138.9M customers; ARPAC $17.1; cost to serve $1.0; efficiency ratio 19.5% (FY26 ~20% per the call); ROE 33%; net income $1.06B; low-and-grow underwriting.</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Slides 4, 5, 8, 10, 17: the cap, the planning principle, the 70/30 release.</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2. Corporate events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Nu announcements; OCC; Nu IR</a:t>
                      </a:r>
                      <a:r>
                        <a:rPr b="0" sz="1050" i="0" u="none">
                          <a:solidFill>
                            <a:srgbClr val="11052C"/>
                          </a:solidFill>
                          <a:latin typeface="Arial"/>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Mexico bank authorization 10 Jul 2026 (bank operations from 6 Aug), $4.2B plan to 2030; OCC conditional approval 29 Jan 2026 (capitalize within 12 months); US launch via Lead Bank 10 Sep 2026; buyback up to $1.0B (4 Jun 2026); CFO since 13 Jul 2026; Q3'26 results 12 Nov 2026; Investor Day 8 Dec 2026.</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Slides 12, 13, 14: the capital question and the Board calendar.</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3. HQ tax rules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OECD GloBE Model Rules</a:t>
                      </a:r>
                      <a:r>
                        <a:rPr b="0" sz="1050" i="0" u="none">
                          <a:solidFill>
                            <a:srgbClr val="11052C"/>
                          </a:solidFill>
                          <a:latin typeface="Arial"/>
                        </a:rPr>
                        <a:t> | FACT (rule); ASSUMPTION (site)</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EUR 750M threshold; 15% minimum; 2026 transitional carve-out 9.4% of payroll and 7.4% of tangible assets (Art. 9.2).</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 15, gate 1. No savings figure is claimed before a site is chosen.</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4. Directional benchmarks</a:t>
                      </a:r>
                    </a:p>
                  </a:txBody>
                  <a:tcPr anchor="ctr" marL="63500" marR="63500" marT="25400" marB="25400">
                    <a:lnL>
                      <a:noFill/>
                    </a:lnL>
                    <a:lnR>
                      <a:noFill/>
                    </a:lnR>
                    <a:lnT>
                      <a:noFill/>
                    </a:lnT>
                    <a:lnB>
                      <a:noFill/>
                    </a:lnB>
                    <a:solidFill>
                      <a:srgbClr val="F3E8FF"/>
                    </a:solidFill>
                  </a:tcPr>
                </a:tc>
                <a:tc>
                  <a:txBody>
                    <a:bodyPr/>
                    <a:lstStyle/>
                    <a:p>
                      <a:pPr algn="l"/>
                      <a:r>
                        <a:rPr b="1" sz="1050" i="0" u="none">
                          <a:solidFill>
                            <a:srgbClr val="11052C"/>
                          </a:solidFill>
                          <a:latin typeface="Arial"/>
                        </a:rPr>
                        <a:t>Hackett, McKinsey, Gartner, HBR, NACD, Deloitte</a:t>
                      </a:r>
                      <a:r>
                        <a:rPr b="0" sz="1050" i="0" u="none">
                          <a:solidFill>
                            <a:srgbClr val="11052C"/>
                          </a:solidFill>
                          <a:latin typeface="Arial"/>
                        </a:rPr>
                        <a:t> | CONTEXT, not load-bearing</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Arial"/>
                        </a:rPr>
                        <a:t>Central hubs shorten planning cycles; active reallocators earn higher returns; fair process wins acceptance; T-7 Board books shift meeting time to strategy.</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Arial"/>
                        </a:rPr>
                        <a:t>Named in footers only. No headline rests on them.</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APPENDIX A // SOURCES AND ASSUMPTIONS LEDGER</a:t>
            </a:r>
          </a:p>
        </p:txBody>
      </p:sp>
      <p:sp>
        <p:nvSpPr>
          <p:cNvPr id="24" name="TextBox 23"/>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Every number in the deck is a sourced fact, a labeled assumption, or a directional benchmark that carries no weight</a:t>
            </a:r>
          </a:p>
        </p:txBody>
      </p:sp>
      <p:sp>
        <p:nvSpPr>
          <p:cNvPr id="25" name="TextBox 24"/>
          <p:cNvSpPr txBox="1"/>
          <p:nvPr/>
        </p:nvSpPr>
        <p:spPr>
          <a:xfrm>
            <a:off x="609600" y="608076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My assumptions (A3-A6, A9, A10) are on slide 3 with their basis. Research assisted by AI tools; every figure, calculation and recommendation was checked by me.</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ectangle 1"/>
          <p:cNvSpPr/>
          <p:nvPr/>
        </p:nvSpPr>
        <p:spPr>
          <a:xfrm>
            <a:off x="5753100" y="4227016"/>
            <a:ext cx="685800" cy="3810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91953" y="2116633"/>
            <a:ext cx="7608093" cy="190500"/>
          </a:xfrm>
          <a:prstGeom prst="rect">
            <a:avLst/>
          </a:prstGeom>
          <a:noFill/>
        </p:spPr>
        <p:txBody>
          <a:bodyPr wrap="none" lIns="0" rIns="0" tIns="0" bIns="0" anchor="t">
            <a:spAutoFit/>
          </a:bodyPr>
          <a:lstStyle/>
          <a:p>
            <a:pPr algn="ctr"/>
            <a:r>
              <a:rPr b="1" sz="1125" i="0" u="none">
                <a:solidFill>
                  <a:srgbClr val="C084FC"/>
                </a:solidFill>
                <a:latin typeface="Arial"/>
              </a:rPr>
              <a:t>NU HOLDINGS LTD. // OFFICE OF THE CFO &amp; CORPORATE GOVERNANCE</a:t>
            </a:r>
          </a:p>
        </p:txBody>
      </p:sp>
      <p:sp>
        <p:nvSpPr>
          <p:cNvPr id="4" name="TextBox 3"/>
          <p:cNvSpPr txBox="1"/>
          <p:nvPr/>
        </p:nvSpPr>
        <p:spPr>
          <a:xfrm>
            <a:off x="345281" y="2459533"/>
            <a:ext cx="10972800" cy="1576982"/>
          </a:xfrm>
          <a:prstGeom prst="rect">
            <a:avLst/>
          </a:prstGeom>
          <a:noFill/>
        </p:spPr>
        <p:txBody>
          <a:bodyPr wrap="square" lIns="0" rIns="0" tIns="0" bIns="0" anchor="t">
            <a:spAutoFit/>
          </a:bodyPr>
          <a:lstStyle/>
          <a:p>
            <a:pPr algn="ctr">
              <a:lnSpc>
                <a:spcPts val="4140"/>
              </a:lnSpc>
            </a:pPr>
            <a:r>
              <a:rPr b="1" sz="3400" i="0" u="none">
                <a:solidFill>
                  <a:srgbClr val="FFFFFF"/>
                </a:solidFill>
                <a:latin typeface="Arial"/>
              </a:rPr>
              <a:t>The ask: approve the $25M FY27 cap in two gates with the A6 valve stated, the T-16 / T-7 Board calendar, and the HQ charter. I report back at Day 90.</a:t>
            </a:r>
          </a:p>
        </p:txBody>
      </p:sp>
      <p:sp>
        <p:nvSpPr>
          <p:cNvPr id="5" name="TextBox 4"/>
          <p:cNvSpPr txBox="1"/>
          <p:nvPr/>
        </p:nvSpPr>
        <p:spPr>
          <a:xfrm>
            <a:off x="1371600" y="4493716"/>
            <a:ext cx="9445752" cy="822960"/>
          </a:xfrm>
          <a:prstGeom prst="rect">
            <a:avLst/>
          </a:prstGeom>
          <a:noFill/>
        </p:spPr>
        <p:txBody>
          <a:bodyPr wrap="square" lIns="0" rIns="0" tIns="0" bIns="0" anchor="t">
            <a:spAutoFit/>
          </a:bodyPr>
          <a:lstStyle/>
          <a:p>
            <a:pPr algn="ctr"/>
            <a:r>
              <a:rPr b="0" sz="1500" i="0" u="none">
                <a:solidFill>
                  <a:srgbClr val="E9D5FF"/>
                </a:solidFill>
                <a:latin typeface="Arial"/>
              </a:rPr>
              <a:t>KPIs at Day 90: 100% of gate-1 spend with an approved case; Board book at T-7; HQ gates 1 and 2 cleared. Stop rules: two of four indicators below plan, or the efficiency ratio above the FY26 guide.</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188720"/>
          <a:ext cx="10972800" cy="4352544"/>
        </p:xfrm>
        <a:graphic>
          <a:graphicData uri="http://schemas.openxmlformats.org/drawingml/2006/table">
            <a:tbl>
              <a:tblPr firstRow="0" bandRow="0">
                <a:lnL>
                  <a:noFill/>
                </a:lnL>
                <a:lnR>
                  <a:noFill/>
                </a:lnR>
                <a:lnT>
                  <a:noFill/>
                </a:lnT>
                <a:lnB>
                  <a:noFill/>
                </a:lnB>
                <a:lnV>
                  <a:noFill/>
                </a:lnV>
                <a:lnH>
                  <a:noFill/>
                </a:lnH>
              </a:tblPr>
              <a:tblGrid>
                <a:gridCol w="457200"/>
                <a:gridCol w="6858000"/>
                <a:gridCol w="1554480"/>
                <a:gridCol w="2103120"/>
              </a:tblGrid>
              <a:tr h="329184">
                <a:tc>
                  <a:txBody>
                    <a:bodyPr/>
                    <a:lstStyle/>
                    <a:p>
                      <a:pPr algn="l"/>
                      <a:r>
                        <a:rPr b="1" sz="1350" i="0" u="none">
                          <a:solidFill>
                            <a:srgbClr val="FFFFFF"/>
                          </a:solidFill>
                          <a:latin typeface="Arial"/>
                        </a:rPr>
                        <a: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Assumption or fact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Basis</a:t>
                      </a:r>
                    </a:p>
                  </a:txBody>
                  <a:tcPr anchor="ctr" marL="63500" marR="63500" marT="25400" marB="25400">
                    <a:lnL>
                      <a:noFill/>
                    </a:lnL>
                    <a:lnR>
                      <a:noFill/>
                    </a:lnR>
                    <a:lnT>
                      <a:noFill/>
                    </a:lnT>
                    <a:lnB>
                      <a:noFill/>
                    </a:lnB>
                    <a:solidFill>
                      <a:srgbClr val="820AD1"/>
                    </a:solidFill>
                  </a:tcPr>
                </a:tc>
              </a:tr>
              <a:tr h="402336">
                <a:tc>
                  <a:txBody>
                    <a:bodyPr/>
                    <a:lstStyle/>
                    <a:p>
                      <a:pPr algn="l"/>
                      <a:r>
                        <a:rPr b="1" sz="1000" i="0" u="none">
                          <a:solidFill>
                            <a:srgbClr val="11052C"/>
                          </a:solidFill>
                          <a:latin typeface="Arial"/>
                        </a:rPr>
                        <a:t>A1</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Nu Q2'26: 138.9M customers, monthly ARPAC $17.1, cost to serve $1.0, efficiency ratio 19.5%, ROE 33%, net income $1.06B.</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FACT</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Q2'26 earnings release and 6-K</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A2</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Management expects the FY26 efficiency ratio near 20% and guided US spend at no more than about 100 bps of it.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FACT (wording to re-check)</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Q2'26 earnings call</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A3</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The $60M asks and the $25M cap are the case's figures. At Nu's scale $35M is about 15 bps of annualized revenue; the stakes are the operating model and the precedent, not the amount.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Case brief; my calculation on Q2'26 revenue</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A4</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The two MTeam members disagree about the growth-opex envelope (core markets vs new bets), not about regulatory capital by entity.</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Case brief is silent; verify in week one</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A5</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$8M of the asks can be met on the shared global platform at near-zero marginal cost; $12M lack a business case today and can be prepared in 60 days.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My estimate; verify with Engineering and the GMs</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A6</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Any spend above $25M is released only from H1 profit above plan, sized so the efficiency ratio stays inside the FY26 guide, and only with CFO and IR agreement.</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RULE (proposed)</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To agree with the CFO</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A7</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Board meeting in 4 weeks; Investor Day 8 Dec 2026. The Board approves the international capital plan before the Investor Day narrative is locked.</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FACT (dates) + ASSUMPTION (sequence)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Case brief; Nu IR</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A8</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The HQ jurisdiction is open. Nu's revenue is above the EUR 750M Pillar Two threshold; the 2026 transitional substance carve-out is 9.4% of payroll and 7.4% of tangible assets.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FACT (rule) + ASSUMPTION (site)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OECD GloBE rules; Q2'26 revenue</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A9</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Option scores and weights on slide 6 are my judgment; third-party benchmarks are directional, never load-bearing.</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Slide 6; ledger</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A10</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The cap is the FY27 growth-opex envelope: gate 1 opens at FY27 start (1 Jan 2027), gate 2 at Q1 close (31 Mar) on Q1 indicators, the A6 valve at H1 close. The hub needs 6-8 people.</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 (fiscal calendar, sizing)</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Nu reports on a calendar fiscal year; sizing is mine</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02 // WHAT I AM ASSUMING, AND WHAT I WOULD VERIFY IN WEEK ONE</a:t>
            </a:r>
          </a:p>
        </p:txBody>
      </p:sp>
      <p:sp>
        <p:nvSpPr>
          <p:cNvPr id="28" name="TextBox 2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Key assumptions, separated from the facts they sit on</a:t>
            </a:r>
          </a:p>
        </p:txBody>
      </p:sp>
      <p:sp>
        <p:nvSpPr>
          <p:cNvPr id="29" name="TextBox 28"/>
          <p:cNvSpPr txBox="1"/>
          <p:nvPr/>
        </p:nvSpPr>
        <p:spPr>
          <a:xfrm>
            <a:off x="609600" y="6053328"/>
            <a:ext cx="11068050" cy="419100"/>
          </a:xfrm>
          <a:prstGeom prst="rect">
            <a:avLst/>
          </a:prstGeom>
          <a:noFill/>
        </p:spPr>
        <p:txBody>
          <a:bodyPr wrap="square" lIns="0" rIns="0" tIns="0" bIns="0" anchor="t">
            <a:spAutoFit/>
          </a:bodyPr>
          <a:lstStyle/>
          <a:p>
            <a:pPr algn="l"/>
            <a:r>
              <a:rPr b="1" sz="1100" i="0" u="none">
                <a:solidFill>
                  <a:srgbClr val="3B2A54"/>
                </a:solidFill>
                <a:latin typeface="Arial"/>
              </a:rPr>
              <a:t>Week one: </a:t>
            </a:r>
            <a:r>
              <a:rPr b="0" sz="1100" i="0" u="none">
                <a:solidFill>
                  <a:srgbClr val="3B2A54"/>
                </a:solidFill>
                <a:latin typeface="Arial"/>
              </a:rPr>
              <a:t>the real MTeam positions; the Board and committee calendar; who owns the planning model today; local-CFO decision rights in Mexico and Colombia; the HQ project's current state; today's planning cycle time and forecast accuracy.</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11 // DELIVERABLE 2: THE CAPITAL QUESTION THE BOARD WILL ACTUALLY ASK</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Equity by entity is the Board's larger decision than the opex cap; it gets its own ranking, yardstick and owner</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Q2'26 release (ROE 33%); Nu announcements: Mexico banking authorization (10 Jul 2026, operations as a bank from 6 Aug) and $4.2B plan to 2030; OCC conditional approval of Nubank N.A. (29 Jan 2026); buyback of up to $1.0B (4 Jun 2026); Investor Day 8 Dec 2026. Cost-of-equity figures are to be set with Treasury (ASSUMPTION).</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Arial"/>
              </a:rPr>
              <a:t>1. WHAT IS ON THE TABLE [1]</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Arial"/>
              </a:rPr>
              <a:t>Four uses of equity</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Brazil deepening; Nu Mexico, authorized as a bank in July 2026 and operating as one since August ($4.2B planned to 2030); the US de novo charter, to be capitalized within 12 months of the 29 January 2026 OCC approval; and the buyback of up to $1.0B announced in June 2026.</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Arial"/>
              </a:rPr>
              <a:t>2. THE YARDSTICK</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Arial"/>
              </a:rPr>
              <a:t>Return on allocated capital</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Rank each use by after-tax return on incremental allocated equity against that market's cost of equity, with capital headroom by entity under a downside case. A use that beats its cost of equity creates value even if it dilutes the 33% group ROE; the buyback is the bar every growth use must clear.</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Arial"/>
              </a:rPr>
              <a:t>3. WHO DECIDES, AND WHEN</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Arial"/>
              </a:rPr>
              <a:t>Before Investor Day</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The CFO recommends the ranking, the CEO decides, the Board approves at this meeting, so the Investor Day narrative (8 Dec 2026) rests on an approved plan. My job: one page per use with the same four lines (return, capital, headroom, risk), and the chair's pre-read at T-9.</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Arial"/>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Arial"/>
                        </a:rPr>
                        <a:t>1. Equal percentage cut</a:t>
                      </a:r>
                      <a:r>
                        <a:rPr b="0" sz="1350" i="0" u="none">
                          <a:solidFill>
                            <a:srgbClr val="11052C"/>
                          </a:solidFill>
                          <a:latin typeface="Arial"/>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Arial"/>
                        </a:rPr>
                        <a:t>2. Core markets first</a:t>
                      </a:r>
                      <a:r>
                        <a:rPr b="0" sz="1350" i="0" u="none">
                          <a:solidFill>
                            <a:srgbClr val="11052C"/>
                          </a:solidFill>
                          <a:latin typeface="Arial"/>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Arial"/>
                        </a:rPr>
                        <a:t>3. Business-case readiness + staged release</a:t>
                      </a:r>
                      <a:r>
                        <a:rPr b="0" sz="1350" i="0" u="none">
                          <a:solidFill>
                            <a:srgbClr val="11052C"/>
                          </a:solidFill>
                          <a:latin typeface="Arial"/>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Arial"/>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APPENDIX B // OPTION SCORES AND WEIGHT SENSITIVITY</a:t>
            </a:r>
          </a:p>
        </p:txBody>
      </p:sp>
      <p:sp>
        <p:nvSpPr>
          <p:cNvPr id="33" name="TextBox 32"/>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Option 3 stays first under every +/-10 point change to any single weight</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Arial"/>
              </a:rPr>
              <a:t>Weighted total = sum of score x weight. Base weights: cap 30%, growth return 25%, GM ownership 20%, agility 15%, speed 10%.</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Arial"/>
              </a:rPr>
              <a:t>Sensitivity (my calculation): </a:t>
            </a:r>
            <a:r>
              <a:rPr b="0" sz="1350" i="0" u="none">
                <a:solidFill>
                  <a:srgbClr val="11052C"/>
                </a:solidFill>
                <a:latin typeface="Arial"/>
              </a:rPr>
              <a:t>moving any one weight by +/-10 points and rebalancing the others pro rata leaves the order 3 &gt; 2 &gt; 1 unchanged; the smallest gap between option 3 and option 2 across all cases is above 20 points. Scores are judgment (A9).</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