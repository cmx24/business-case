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</ns0:sldIdLst>
  <ns0:sldSz cx="12192000" cy="6858000" type="screen4x3"/>
  <ns0:notesSz cx="6858000" cy="9144000"/>
  <ns0:embeddedFontLst>
    <ns0:embeddedFont>
      <ns0:font typeface="Space Grotesk"/>
      <ns0:bold ns1:id="rIdFont27"/>
    </ns0:embeddedFont>
    <ns0:embeddedFont>
      <ns0:font typeface="DM Sans"/>
      <ns0:bold ns1:id="rIdFont28"/>
      <ns0:regular ns1:id="rIdFont29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Font27" Type="http://schemas.openxmlformats.org/officeDocument/2006/relationships/font" Target="fonts/86e04e12-0014-4e8c-8d1f-e8939686d6b2.fntdata" /><ns0:Relationship Id="rIdFont28" Type="http://schemas.openxmlformats.org/officeDocument/2006/relationships/font" Target="fonts/4c8d79fe-a470-4154-9465-855f7fe70eb3.fntdata" /><ns0:Relationship Id="rIdFont29" Type="http://schemas.openxmlformats.org/officeDocument/2006/relationships/font" Target="fonts/36a7a413-e9c3-4200-947f-035ae743eef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122068"/>
            <a:ext cx="10820400" cy="762000"/>
          </a:xfrm>
          <a:prstGeom prst="roundRect">
            <a:avLst>
              <a:gd name="adj" fmla="val 10000"/>
            </a:avLst>
          </a:prstGeom>
          <a:solidFill>
            <a:srgbClr val="820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3255168"/>
            <a:ext cx="3479750" cy="1600200"/>
          </a:xfrm>
          <a:prstGeom prst="roundRect">
            <a:avLst>
              <a:gd name="adj" fmla="val 5952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56050" y="3255168"/>
            <a:ext cx="3479750" cy="1600200"/>
          </a:xfrm>
          <a:prstGeom prst="roundRect">
            <a:avLst>
              <a:gd name="adj" fmla="val 5952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26300" y="3255168"/>
            <a:ext cx="3479750" cy="1600200"/>
          </a:xfrm>
          <a:prstGeom prst="roundRect">
            <a:avLst>
              <a:gd name="adj" fmla="val 5952"/>
            </a:avLst>
          </a:prstGeom>
          <a:solidFill>
            <a:srgbClr val="2A0C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73931"/>
            <a:ext cx="115062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084FC"/>
                </a:solidFill>
                <a:latin typeface="DM Sans"/>
              </a:rPr>
              <a:t>NU HOLDINGS LTD. // OFFICE OF THE CFO &amp; CORPORATE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297781"/>
            <a:ext cx="10601325" cy="1023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32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Connecting Financial Discipline, Board Rhythm, and Ways of Working as Nu Scales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93168"/>
            <a:ext cx="9239250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E9D5FF"/>
                </a:solidFill>
                <a:latin typeface="DM Sans"/>
              </a:rPr>
              <a:t>60-Day Mandate: Recap of our three core challenges and the four deliverables our team will use to bridge strategy and execution.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74468"/>
            <a:ext cx="10458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Four Core Deliverables: (1) Planning &amp; Prioritization Engine • (2) Executive Alignment &amp; Board Rhythm • (3) HQ Execution Roadmap • (4) Team Operating Philosophy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445668"/>
            <a:ext cx="3873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DM Sans"/>
              </a:rPr>
              <a:t>PILLAR 1 // PLANNING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674268"/>
            <a:ext cx="406710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$60M Asks vs. $25M Cap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979068"/>
            <a:ext cx="319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8B4FE"/>
                </a:solidFill>
                <a:latin typeface="DM Sans"/>
              </a:rPr>
              <a:t>Bring planning in-house to prioritize $60M of growth demands within a $25M cost target.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6550" y="3445668"/>
            <a:ext cx="3873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DM Sans"/>
              </a:rPr>
              <a:t>PILLAR 2 //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6550" y="3674268"/>
            <a:ext cx="406710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4-Week Board Crunch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550" y="3979068"/>
            <a:ext cx="319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8B4FE"/>
                </a:solidFill>
                <a:latin typeface="DM Sans"/>
              </a:rPr>
              <a:t>Resolve executive deadlock on capital priorities and get lagging Board materials on track.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6800" y="3445668"/>
            <a:ext cx="38734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DM Sans"/>
              </a:rPr>
              <a:t>PILLAR 3 // SPECIAL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00" y="3674268"/>
            <a:ext cx="3975199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Space Grotesk"/>
              </a:rPr>
              <a:t>New Regional HQ Deal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6800" y="3979068"/>
            <a:ext cx="3194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D8B4FE"/>
                </a:solidFill>
                <a:latin typeface="DM Sans"/>
              </a:rPr>
              <a:t>Lead legal, tax, and campus negotiations across jurisdictions without direct line authority.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34792"/>
            <a:ext cx="10972800" cy="1219200"/>
          </a:xfrm>
          <a:prstGeom prst="roundRect">
            <a:avLst>
              <a:gd name="adj" fmla="val 7812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24992"/>
            <a:ext cx="2600325" cy="1981200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324992"/>
            <a:ext cx="2600325" cy="1981200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439292"/>
            <a:ext cx="2600325" cy="1752600"/>
          </a:xfrm>
          <a:prstGeom prst="roundRect">
            <a:avLst>
              <a:gd name="adj" fmla="val 5434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324992"/>
            <a:ext cx="2600325" cy="1981200"/>
          </a:xfrm>
          <a:prstGeom prst="roundRect">
            <a:avLst>
              <a:gd name="adj" fmla="val 480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01 // EXECUTIVE SUMMARY &amp; CORE RECOMMENDATION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Our Office Acts as the Connective Tissue Between Ambition and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56311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DELIVERABLE 1 //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810767"/>
            <a:ext cx="278784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Staged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53667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Require rigorous business cases and release the $25M cap in quarterly stages.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8550" y="256311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DELIVERABLE 2 // 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8550" y="2810767"/>
            <a:ext cx="278784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Shared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153667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Unify executive views 16 days out and centralize Board drafting 10 days 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267741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DELIVERABLE 3 // HQ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925067"/>
            <a:ext cx="278784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4-Gate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267967"/>
            <a:ext cx="221932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Coordinate Legal, Tax, and People through four risk-clearing decision gates.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2563117"/>
            <a:ext cx="2655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DELIVERABLE 4 //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2810767"/>
            <a:ext cx="278784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Embedded Catalyst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153667"/>
            <a:ext cx="221932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Operate inside business units as trusted thought partners rather than gatekeepers.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63392"/>
            <a:ext cx="11277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084FC"/>
                </a:solidFill>
                <a:latin typeface="DM Sans"/>
              </a:rPr>
              <a:t>IMMEDIATE LEADERSHIP MANDATE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72942"/>
            <a:ext cx="1045845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FFFFF"/>
                </a:solidFill>
                <a:latin typeface="DM Sans"/>
              </a:rPr>
              <a:t>Authorize the $25M staged funding model, lock the 28-day Board calendar, and sign the HQ project charter.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68773"/>
            <a:ext cx="4169568" cy="2609850"/>
          </a:xfrm>
          <a:prstGeom prst="roundRect">
            <a:avLst>
              <a:gd name="adj" fmla="val 4379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122068" y="1678185"/>
            <a:ext cx="6460331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2068" y="3192660"/>
            <a:ext cx="6460331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22068" y="4707135"/>
            <a:ext cx="6460331" cy="1362075"/>
          </a:xfrm>
          <a:prstGeom prst="roundRect">
            <a:avLst>
              <a:gd name="adj" fmla="val 6993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02 // THE SCALE CHALLENGE AT NUBANK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Scaling Past 140M Customers Requires Shared Rules Across All Regions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16446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Nu Holdings 2025–2026 Filings (140M+ users, ~$0.80 cost-to-serve, 19.5% efficiency ratio). [2] The Hackett Group Finance Benchmark (centralized vs. fragmented planning cost/cycle time). [3] PwC Global Subsidiary Governance Survey ($150k–$250k annual entity upkeep).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78" y="2930723"/>
            <a:ext cx="454521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084FC"/>
                </a:solidFill>
                <a:latin typeface="DM Sans"/>
              </a:rPr>
              <a:t>BUDGET GAP TO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778" y="3235523"/>
            <a:ext cx="4545210" cy="952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1" sz="7500" i="0" u="none">
                <a:solidFill>
                  <a:srgbClr val="FFFFFF"/>
                </a:solidFill>
                <a:latin typeface="Space Grotesk"/>
              </a:rPr>
              <a:t>$35M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778" y="4340423"/>
            <a:ext cx="454521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425" i="0" u="none">
                <a:solidFill>
                  <a:srgbClr val="E9D5FF"/>
                </a:solidFill>
                <a:latin typeface="DM Sans"/>
              </a:rPr>
              <a:t>$60M Business Unit Requests vs. $25M Cost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1143" y="1859160"/>
            <a:ext cx="68508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820AD1"/>
                </a:solidFill>
                <a:latin typeface="Space Grotesk"/>
              </a:rPr>
              <a:t>1. Protect Our ~$0.80 Cost-to-Serve Advantage [1]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1143" y="2173485"/>
            <a:ext cx="611743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Nu's public filings show a ~$0.80 monthly cost per active user and a 19.5% efficiency ratio—meaning $35M in unvetted overhead directly erodes our margin edge.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1143" y="3373635"/>
            <a:ext cx="68508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820AD1"/>
                </a:solidFill>
                <a:latin typeface="Space Grotesk"/>
              </a:rPr>
              <a:t>2. Eliminate the 35% Cost Penalty of Siloed Planning [2]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1143" y="3687960"/>
            <a:ext cx="611743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Hackett Group data shows decentralized finance teams cost 35% more and take 29% longer to close budgets—explaining why our GMs and Board deck are out of sync.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1143" y="4888110"/>
            <a:ext cx="6850856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820AD1"/>
                </a:solidFill>
                <a:latin typeface="Space Grotesk"/>
              </a:rPr>
              <a:t>3. Avoid $200k/Year Per Entity in Premature Legal Sprawl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1143" y="5202435"/>
            <a:ext cx="6117431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PwC data proves each foreign subsidiary adds ~$200k/year in audit and legal upkeep plus personal director risk—requiring strict rules for our HQ and new countries.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05433"/>
            <a:ext cx="10972800" cy="1181100"/>
          </a:xfrm>
          <a:prstGeom prst="roundRect">
            <a:avLst>
              <a:gd name="adj" fmla="val 8064"/>
            </a:avLst>
          </a:prstGeom>
          <a:solidFill>
            <a:srgbClr val="820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310383"/>
            <a:ext cx="3517850" cy="2057400"/>
          </a:xfrm>
          <a:prstGeom prst="roundRect">
            <a:avLst>
              <a:gd name="adj" fmla="val 462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7000" y="3196083"/>
            <a:ext cx="351785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64400" y="3196083"/>
            <a:ext cx="3517850" cy="2286000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03 // DELIVERABLE 1: APPLYING NUBANK'S DNA TO CORPORATE PLANNING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Use Nu's "Test, Learn, and Scale" Credit Method to Allocate Budgets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Nu Holdings Form 20-F ("Low-and-Grow" cohort credit underwriting). [2] McKinsey Dynamic Capital Allocation Benchmark (companies reallocating capital across quarterly gates achieve 30%+ higher TSR than static budget peers).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1995933"/>
            <a:ext cx="105346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FFFFFF"/>
                </a:solidFill>
                <a:latin typeface="DM Sans"/>
              </a:rPr>
              <a:t>Why This Fits Nu: In credit, we start customers with small lines and increase limits fast when repayment data proves out. Applying that exact logic to budgets outperforms static annual plans by 30%+ in shareholder return [2].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567558"/>
            <a:ext cx="375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1. NU CREDIT UNDERWRITING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815208"/>
            <a:ext cx="394209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Small Tests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196208"/>
            <a:ext cx="30987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Nu's 20-F filings show we keep credit losses low by testing small initial cohorts before scaling credit lines across millions of users.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4175" y="3453258"/>
            <a:ext cx="375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2. DYNAMIC CAPITAL STUDY 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4175" y="3700908"/>
            <a:ext cx="394209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+30% Higher Returns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175" y="4081908"/>
            <a:ext cx="3098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McKinsey research across 1,600 companies proves that shifting budget quarterly toward winning projects drives 30% higher returns than fixed annual budgets.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575" y="3453258"/>
            <a:ext cx="3754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3. WHAT THIS MEANS FOR GMs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575" y="3700908"/>
            <a:ext cx="387042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Earn Next Stage via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575" y="4081908"/>
            <a:ext cx="30987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Instead of fighting for a single annual check, GMs receive Q1 seed funding and automatically unlock Q2 and H2 stages when customer payback hits target.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92030"/>
            <a:ext cx="10972800" cy="819150"/>
          </a:xfrm>
          <a:prstGeom prst="roundRect">
            <a:avLst>
              <a:gd name="adj" fmla="val 1162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2639317"/>
            <a:ext cx="306838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87514" y="2639317"/>
            <a:ext cx="1326207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13721" y="2639317"/>
            <a:ext cx="132442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38143" y="2639317"/>
            <a:ext cx="148783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25978" y="2639317"/>
            <a:ext cx="142889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254876" y="2639317"/>
            <a:ext cx="1015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70628" y="2639317"/>
            <a:ext cx="130224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" y="3372742"/>
            <a:ext cx="306838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87514" y="3372742"/>
            <a:ext cx="1326207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13721" y="3372742"/>
            <a:ext cx="132442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8143" y="3372742"/>
            <a:ext cx="148783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25978" y="3372742"/>
            <a:ext cx="142889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254876" y="3372742"/>
            <a:ext cx="1015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270628" y="3372742"/>
            <a:ext cx="130224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125" y="4110930"/>
            <a:ext cx="306838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87514" y="4110930"/>
            <a:ext cx="1326207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13721" y="4110930"/>
            <a:ext cx="132442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38143" y="4110930"/>
            <a:ext cx="148783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25978" y="4110930"/>
            <a:ext cx="142889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4876" y="4110930"/>
            <a:ext cx="1015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270628" y="4110930"/>
            <a:ext cx="130224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9125" y="5082480"/>
            <a:ext cx="306838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87514" y="5082480"/>
            <a:ext cx="1326207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13721" y="5082480"/>
            <a:ext cx="132442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38143" y="5082480"/>
            <a:ext cx="148783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25978" y="5082480"/>
            <a:ext cx="142889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54876" y="5082480"/>
            <a:ext cx="1015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70628" y="5082480"/>
            <a:ext cx="130224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09600" y="1720155"/>
          <a:ext cx="10953746" cy="3381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68389"/>
                <a:gridCol w="1326207"/>
                <a:gridCol w="1324421"/>
                <a:gridCol w="1487834"/>
                <a:gridCol w="1428898"/>
                <a:gridCol w="1015751"/>
                <a:gridCol w="1302246"/>
              </a:tblGrid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Prioritization Approach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Meets $25M Cap (30%)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Growth Return (25%)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GM Ownership (20%)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Business Agility (15%)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Speed (10%)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Weighted Score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Equal Percentage Reduction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(Give every unit 42% of their ask)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57.8 / 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Core Markets Only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(Fund Latin America; pause new verticals)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63.8 / 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534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Business Case Readiness + Staged Funding (Recommended)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75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650" i="0" u="none">
                          <a:solidFill>
                            <a:srgbClr val="820AD1"/>
                          </a:solidFill>
                          <a:latin typeface="DM Sans"/>
                        </a:rPr>
                        <a:t>91.8 / 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04 // DELIVERABLE 1: CHOOSING THE RIGHT PRIORITIZATION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Rigorous Business Case Readiness and Staged Funding Beat Flat Haircuts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9600" y="622935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Gartner Corporate Planning Survey (2025: flat pro-rata budget cuts induce sandbagging and reduce new-initiative survival rates by 40%).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5473005"/>
            <a:ext cx="1059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052C"/>
                </a:solidFill>
                <a:latin typeface="DM Sans"/>
              </a:rPr>
              <a:t>Why Option 1 Fails in Practice:</a:t>
            </a:r>
            <a:r>
              <a:rPr b="0" sz="1350" i="0" u="none">
                <a:solidFill>
                  <a:srgbClr val="11052C"/>
                </a:solidFill>
                <a:latin typeface="DM Sans"/>
              </a:rPr>
              <a:t> Gartner budget research shows across-the-board percentage cuts encourage GMs to pad future requests by 20%–30% while underfunding high-return launches below minimum viable scale [1].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05 // DELIVERABLE 1: PRIORITIZING THE $60M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Sequence the $60M Pipeline by Business Case Readiness and Shared 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019800"/>
            <a:ext cx="110680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B2A54"/>
                </a:solidFill>
                <a:latin typeface="DM Sans"/>
              </a:rPr>
              <a:t>Zero Arbitrary Cuts:</a:t>
            </a:r>
            <a:r>
              <a:rPr b="0" sz="1125" i="0" u="none">
                <a:solidFill>
                  <a:srgbClr val="3B2A54"/>
                </a:solidFill>
                <a:latin typeface="DM Sans"/>
              </a:rPr>
              <a:t> $8M of country requests are met for $0 extra spend by reusing Nu's single global code base; $12M of early ideas enter structured preparation with our team; $15M unlocks in H2 if H1 revenue beats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401192"/>
            <a:ext cx="5353050" cy="2857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467867"/>
            <a:ext cx="5353050" cy="2724150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06 // DELIVERABLE 1: IN-HOUSING THE GLOBAL PLANNING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Combine a Central Modeling Hub With Embedded Business Unit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The Hackett Group &amp; APQC (centralized planning hubs reduce budget cycle time by 29% and finance cost by 35%). [2] Gartner Finance Practice (2025: embedded finance partners increase commercial decision speed by 34%).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658367"/>
            <a:ext cx="60483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WHY HUB-AND-SPOKE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906017"/>
            <a:ext cx="635079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One Source of Truth + Local 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2725042"/>
            <a:ext cx="57054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HOW THE $25M CAP UNLOCKS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525" y="2972692"/>
            <a:ext cx="57054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Three Performance Release Gates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327749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5" y="3306067"/>
            <a:ext cx="4743450" cy="9144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Central Modeling Hub: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Owns company-wide targets, shared business case templates, and Board reporting—cutting cycle time by 29% (from 56 to 40 days per Hackett Group data) [1].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42871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4315717"/>
            <a:ext cx="474345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Embedded Finance Partners: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Sit inside country and vertical squads, improving forecast accuracy and decision speed by 34% (Gartner benchmark) [2].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9875" y="334416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7025" y="3372742"/>
            <a:ext cx="47434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Stage 1 ($15M in Q1):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Released on Day 1 to fully vetted cases ($10.5M Core Markets / $4.5M New Bets).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9875" y="389661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3925192"/>
            <a:ext cx="47434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Stage 2 ($10M in Q2):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Completes the $25M cap; unlocks only for units hitting 90% of Q1 customer payback targets.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9875" y="4449067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4477642"/>
            <a:ext cx="474345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Stage 3 (Up to $15M in H2):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Self-funded pool that unlocks only if H1 company profit beats plan dollar-for-dollar.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892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86892"/>
            <a:ext cx="53721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2286892"/>
            <a:ext cx="5372100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07 // DELIVERABLE 2: ALIGNING THE C-SUITE ON CAPITAL PRIORITIES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Settle the Core vs. New Vertical Standoff Using Horizon-Specific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Nu Holdings Cohort Disclosures ($27+ mature monthly revenue per active customer vs. $17 company average). [2] Baghai, Coley &amp; White / HBR Three-Horizons Model (70/20/10 benchmark for balancing core execution vs. new ventures).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744342"/>
            <a:ext cx="10572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Why Both Executives Agree:</a:t>
            </a:r>
            <a:r>
              <a:rPr b="0" sz="1350" i="0" u="none">
                <a:solidFill>
                  <a:srgbClr val="FFFFFF"/>
                </a:solidFill>
                <a:latin typeface="DM Sans"/>
              </a:rPr>
              <a:t> Core Markets get 70% of upfront cash to hit annual earnings targets, while New Bets get a protected $4.5M Q1 runway plus first claim on up to $14.0M in Q2/H2 stages once pilot metrics prove 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525017"/>
            <a:ext cx="6119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HORIZON 1: CORE MARKETS (BRAZIL, MEXICO, COLOMBIA)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753617"/>
            <a:ext cx="642580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70% of Q1 Capital ($10.5M)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134617"/>
            <a:ext cx="4991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Nu filings show mature Latin American cohorts generate $27+/month in revenue with 32%+ return on equity—justifying immediate scale [1].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915667"/>
            <a:ext cx="611981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D9488"/>
                </a:solidFill>
                <a:latin typeface="DM Sans"/>
              </a:rPr>
              <a:t>Full-Year Path: $16.5M from base cap + $5.0M H2 upside.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2525017"/>
            <a:ext cx="57435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HORIZON 2 &amp; 3: NEW BETS (US, GLOBAL &amp; VERTICALS)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8425" y="2753617"/>
            <a:ext cx="574357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11052C"/>
                </a:solidFill>
                <a:latin typeface="Space Grotesk"/>
              </a:rPr>
              <a:t>30% of Q1 Capital ($4.5M)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3134617"/>
            <a:ext cx="49911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HBR's Three-Horizons research shows judging new ventures on mature profit metrics kills innovation—so we grade Q1 on pilot retention and unit cost [2].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915667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20AD1"/>
                </a:solidFill>
                <a:latin typeface="DM Sans"/>
              </a:rPr>
              <a:t>Full-Year Path: $8.5M from base cap + $10.0M H2 priority.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72892"/>
            <a:ext cx="10972800" cy="819150"/>
          </a:xfrm>
          <a:prstGeom prst="roundRect">
            <a:avLst>
              <a:gd name="adj" fmla="val 11627"/>
            </a:avLst>
          </a:prstGeom>
          <a:solidFill>
            <a:srgbClr val="F3E8FF"/>
          </a:solidFill>
          <a:ln w="9525">
            <a:solidFill>
              <a:srgbClr val="820A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67842"/>
            <a:ext cx="2614612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5662" y="2267842"/>
            <a:ext cx="2614612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1725" y="2267842"/>
            <a:ext cx="2614612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7787" y="2267842"/>
            <a:ext cx="2614612" cy="209550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08 // DELIVERABLE 2: STRUCTURING A SEAMLESS 4-WEEK BOARD RHYTHM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Our Governance Team Drives a 28-Day Sprint to Deliver One Unified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National Association of Corporate Directors (NACD 2025: shipping Board books 7 days out with written Q&amp;A shifts live meeting time from 70% read-outs to 80% strategy). [2] PwC Global Subsidiary Governance Survey ($150k–$250k annual entity upkeep).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753867"/>
            <a:ext cx="10553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052C"/>
                </a:solidFill>
                <a:latin typeface="DM Sans"/>
              </a:rPr>
              <a:t>Statutory Entity Rule for Board Approval:</a:t>
            </a:r>
            <a:r>
              <a:rPr b="0" sz="1350" i="0" u="none">
                <a:solidFill>
                  <a:srgbClr val="11052C"/>
                </a:solidFill>
                <a:latin typeface="DM Sans"/>
              </a:rPr>
              <a:t> Because PwC data shows each new foreign subsidiary costs ~$200k/year in legal and audit fees, we require new markets to reach $5M in revenue or 15+ local staff before incorporating [2].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467867"/>
            <a:ext cx="2768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DM Sans"/>
              </a:rPr>
              <a:t>WEEK 1 (DAYS 28–21)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696467"/>
            <a:ext cx="29066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Shared Storyboard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020317"/>
            <a:ext cx="23098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Issue a locked slide outline and standard data tables today so business units stop building conflicting decks in silos.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5687" y="2467867"/>
            <a:ext cx="2768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DM Sans"/>
              </a:rPr>
              <a:t>WEEK 2 (DAYS 20–14)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5687" y="2696467"/>
            <a:ext cx="29066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Executive 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5687" y="3020317"/>
            <a:ext cx="23098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Run 1-on-1 pre-alignment sessions at Day 21 and formally lock the 70/30 capital plan with the C-suite at Day 16.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1750" y="2467867"/>
            <a:ext cx="2768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WEEK 3 (DAYS 13–7)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1750" y="2696467"/>
            <a:ext cx="29066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Single-Pen Edit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1750" y="3020317"/>
            <a:ext cx="23098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Freeze inputs at Day 10 for central team editing, pre-brief Committee Chairs at Day 9, and publish to portal at Day 7 [1].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7812" y="2467867"/>
            <a:ext cx="276820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WEEK 4 (DAYS 6–0)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7812" y="2696467"/>
            <a:ext cx="290661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80% Strategy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7812" y="3020317"/>
            <a:ext cx="2309812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Answer routine data questions in writing by Day 3 so 80% of live Board time is spent on strategic debate [1].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949130"/>
            <a:ext cx="10972800" cy="762000"/>
          </a:xfrm>
          <a:prstGeom prst="roundRect">
            <a:avLst>
              <a:gd name="adj" fmla="val 12500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48755"/>
            <a:ext cx="3530649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1948755"/>
            <a:ext cx="3530649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1948755"/>
            <a:ext cx="3530649" cy="2828925"/>
          </a:xfrm>
          <a:prstGeom prst="roundRect">
            <a:avLst>
              <a:gd name="adj" fmla="val 3367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09 // DELIVERABLE 3: HIGH-VISIBILITY REGIONAL HQ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Govern the New Headquarters Through Four Risk-Clearing Decision Gates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OECD Pillar Two Model Rules Art. 5.3 &amp; 9.2 (2026 transitional carve-out: 9.4% payroll / 7.4% tangible assets). [2] Deloitte Location Incentives Benchmark (2025). [3] NACD / Baker McKenzie Cross-Border Director Liability Guide (2025).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5101530"/>
            <a:ext cx="105727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4-Stage Execution Gate:</a:t>
            </a:r>
            <a:r>
              <a:rPr b="0" sz="1350" i="0" u="none">
                <a:solidFill>
                  <a:srgbClr val="FFFFFF"/>
                </a:solidFill>
                <a:latin typeface="DM Sans"/>
              </a:rPr>
              <a:t> Gate 1 (Day 30): OECD Tax Substance Clearance → Gate 2 (Day 60): Clawback-Proof Grant Terms → Gate 3 (Day 90): Statutory Officer &amp; Insurance Shield → Gate 4 (Day 120): Modular Campus 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2167830"/>
            <a:ext cx="3865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1. PROTECT TAX INCENTIVES [1]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2396430"/>
            <a:ext cx="405890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052C"/>
                </a:solidFill>
                <a:latin typeface="Space Grotesk"/>
              </a:rPr>
              <a:t>Real Payroll &amp; Asset Shield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2729805"/>
            <a:ext cx="31877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Data: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Under 2026 OECD global tax rules, companies over €750M revenue pay a 15% minimum tax unless profits are backed by 9.4% local payroll and 7.4% physical assets.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Action: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Structure city incentives as direct campus buildout grants and payroll credits, saving $15.6M.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824" y="2167830"/>
            <a:ext cx="3865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2. PREVENT GRANT CLAWBACKS [2]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9824" y="2396430"/>
            <a:ext cx="405890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052C"/>
                </a:solidFill>
                <a:latin typeface="Space Grotesk"/>
              </a:rPr>
              <a:t>Proportional Hiring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9824" y="2729805"/>
            <a:ext cx="31877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Data: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Site Selection studies show over 30% of corporate municipal grants face clawback disputes when hybrid work or macro shifts alter hiring pace.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Action: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Negotiate proportional scaling (85% headcount keeps 85% of grant) and a 24-month grace period.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0974" y="2167830"/>
            <a:ext cx="386562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3. SHIELD STATUTORY OFFICERS [3]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0974" y="2396430"/>
            <a:ext cx="392102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1052C"/>
                </a:solidFill>
                <a:latin typeface="Space Grotesk"/>
              </a:rPr>
              <a:t>Dual Control &amp; D&amp;O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0974" y="2729805"/>
            <a:ext cx="3187749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Data: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Civil- and common-law rules hold local statutory directors personally liable for tax/labor filings, while early sales signing triggers corporate tax.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Action: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Mandate dual signatures over $250k and bind local director insurance before entity activation.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82142"/>
            <a:ext cx="3517850" cy="289560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7000" y="2267842"/>
            <a:ext cx="3517850" cy="31242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64400" y="2382142"/>
            <a:ext cx="3517850" cy="289560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10 // DELIVERABLE 4: LEADERSHIP STYLE &amp; TEAM OPERATING PHILOSOPHY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Three Behavioral Science Principles Shape How Our Team Leads Without Authority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Kim &amp; Mauborgne, HBR ("Fair Process: Managing in the Knowledge Economy"). [2] Amy Edmondson (Harvard, 1999) &amp; Google Project Aristotle. [3] Norton, Mochon &amp; Ariely (Harvard/Duke, 2012) &amp; Gartner Finance Business Partnering Benchmark (2025).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620267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1. PROCEDURAL JUSTICE [1]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867917"/>
            <a:ext cx="39921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Fair Process Wins Buy-In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10817"/>
            <a:ext cx="31368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Research: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Kim &amp; Mauborgne's HBR study of 19 corporations found executives support tough budget trade-offs when three rules hold: early engagement, clear explanation, and transparent expectations.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Practice: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Publish our scoring rubric openly on Day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5125" y="2505967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2. PSYCHOLOGICAL SAFETY [2]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5125" y="2753617"/>
            <a:ext cx="39921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Zero Public Ambushes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5125" y="3096517"/>
            <a:ext cx="313685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Research: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Edmondson's Harvard studies and Google's Project Aristotle (180 teams) prove psychological safety is the #1 driver of team effectiveness—reducing defensive risk-hiding by 47%.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Practice: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Fix model gaps privately with GMs before C-suite reviews.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2620267"/>
            <a:ext cx="3802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3. CO-CREATION EFFECT [3]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525" y="2867917"/>
            <a:ext cx="388947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Build Inside the Squads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525" y="3210817"/>
            <a:ext cx="313685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The Research: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Harvard behavioral experiments (Norton &amp; Ariely) show people value solutions 60%+ higher when they help build them, and Gartner shows embedded finance speeds decisions by 34%.</a:t>
            </a:r>
            <a:r>
              <a:t>
</a:t>
            </a:r>
            <a:r>
              <a:rPr b="1" sz="1350" i="0" u="none">
                <a:solidFill>
                  <a:srgbClr val="3B2A54"/>
                </a:solidFill>
                <a:latin typeface="DM Sans"/>
              </a:rPr>
              <a:t>Our Practice: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Co-author business cases inside GM squads.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062608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52675" y="2062608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555057" y="2062608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35341" y="2062608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24633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352675" y="3024633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555057" y="3024633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35341" y="3024633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3986658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52675" y="3986658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55057" y="3986658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35341" y="3986658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4948683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52675" y="4948683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55057" y="4948683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35341" y="4948683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5910708"/>
            <a:ext cx="1743075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52675" y="5910708"/>
            <a:ext cx="120238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5057" y="5910708"/>
            <a:ext cx="418028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35341" y="5910708"/>
            <a:ext cx="3847058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1362521"/>
          <a:ext cx="10972799" cy="4562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43075"/>
                <a:gridCol w="1202382"/>
                <a:gridCol w="4180284"/>
                <a:gridCol w="3847058"/>
              </a:tblGrid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Operating Rhythm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Cadence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How Our Team Works Inside the Business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Measurable Impact (Backed by Research)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Embedded Squad Clinics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Weekly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Finance Partners attend country &amp; vertical product standups to help GMs model unit economics before formal budget reviews.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Increases decision speed and forecast alignment by </a:t>
                      </a:r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34%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compared to centralized gatekeeping (Gartner) [1].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Bilateral Pre-Alignment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Bi-Weekly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Chief of Staff meets 1-on-1 with GMs to stress-test assumptions privately and co-design staged funding options.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Eliminates executive ambushes and cuts interpersonal relationship friction by </a:t>
                      </a:r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over 50%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(HBR Conflict Study) [2].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Cross-Vertical HQ Pod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Weekly (45m)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Unify Legal, Tax, Workplace, and People leads around a single RAPID decision log with 48-hour blocker escalation [3].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Bain RAPID research shows explicit decision-role clarity reduces cross-functional project delays by </a:t>
                      </a:r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40%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[3].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91249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4. Quarterly Tranche Release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Quarterly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Facilitate a fast, objective review of Q1/Q2 cohort payback metrics to release the next stage of capital.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Turns Finance from an annual blocker into an ongoing growth accelerator trusted by both GMs and the CFO.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11 // DELIVERABLE 4: INSERTING OUR TEAM INTO BUSINESS UNIT MANAGEMENT (2/3)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How Our Team Integrates Into Daily Business Rhythms as a Catalyst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Gartner Finance Business Partnering Study (2025). [2] Jehn (1995) &amp; Gallo, HBR Guide to Managing Conflict (separating cognitive task debate from personal turf conflict). [3] Bain &amp; Company RAPID Decision Effectiveness Benchmark.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715767"/>
            <a:ext cx="10972800" cy="1028700"/>
          </a:xfrm>
          <a:prstGeom prst="roundRect">
            <a:avLst>
              <a:gd name="adj" fmla="val 9259"/>
            </a:avLst>
          </a:prstGeom>
          <a:solidFill>
            <a:srgbClr val="190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915417"/>
            <a:ext cx="2614612" cy="260985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95662" y="1915417"/>
            <a:ext cx="2614612" cy="260985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1725" y="1915417"/>
            <a:ext cx="2614612" cy="2609850"/>
          </a:xfrm>
          <a:prstGeom prst="roundRect">
            <a:avLst>
              <a:gd name="adj" fmla="val 3649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7787" y="2039242"/>
            <a:ext cx="2614612" cy="2362200"/>
          </a:xfrm>
          <a:prstGeom prst="roundRect">
            <a:avLst>
              <a:gd name="adj" fmla="val 4032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12 // DELIVERABLE 4: CONFLICT RESOLUTION &amp; INFLUENCE PLAYBOOK (3/3)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Four-Step Playbook for Turning Senior GM Pushback Into Shared Alignment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Fisher, Ury &amp; Patton, Harvard Negotiation Project ("Principled Negotiation: Focusing on Interests and Objective Criteria"). [2] Edmondson &amp; Besieux (2021) on framing productive voice and inquiry in executive teams. [3] Kotter (HBR) on coalition building.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887217"/>
            <a:ext cx="105727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FFFFF"/>
                </a:solidFill>
                <a:latin typeface="DM Sans"/>
              </a:rPr>
              <a:t>How We Balance High-Level Influence With Technical Rigor:</a:t>
            </a:r>
            <a:r>
              <a:rPr b="0" sz="1350" i="0" u="none">
                <a:solidFill>
                  <a:srgbClr val="FFFFFF"/>
                </a:solidFill>
                <a:latin typeface="DM Sans"/>
              </a:rPr>
              <a:t> Senior leaders only trust a strategic catalyst whose numbers are bulletproof. Our team pairs high-empathy 1-on-1 coaching with hands-on ownership of every financial formula and governance clause.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2134492"/>
            <a:ext cx="2720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STEP 1 // DE-ESCALATE 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2363092"/>
            <a:ext cx="238529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Separate Person From 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2934592"/>
            <a:ext cx="2271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Using Harvard Program on Negotiation methods, meet privately to validate the GM's strategic goal before discussing budget constraints.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4737" y="2134492"/>
            <a:ext cx="2720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5B21B6"/>
                </a:solidFill>
                <a:latin typeface="DM Sans"/>
              </a:rPr>
              <a:t>STEP 2 // REFRAME [1]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4737" y="2363092"/>
            <a:ext cx="238529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Shift From Positions to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4737" y="2934592"/>
            <a:ext cx="2271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Move the conversation away from "I need $25M" (a rigid position) to "What customer payback proves this works?" (objective criteria).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34492"/>
            <a:ext cx="2720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DM Sans"/>
              </a:rPr>
              <a:t>STEP 3 // CO-DESIGN [2]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363092"/>
            <a:ext cx="2385298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Offer a "Conditional Yes"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34592"/>
            <a:ext cx="2271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Replace a flat rejection with staged backing: fund the $4.5M Q1 pilot today and contractually reserve Q2/H2 cash once pilot metrics hit.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6862" y="2258317"/>
            <a:ext cx="272057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STEP 4 // INSTITUTIONALIZE [3]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6862" y="2486917"/>
            <a:ext cx="285660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1052C"/>
                </a:solidFill>
                <a:latin typeface="Space Grotesk"/>
              </a:rPr>
              <a:t>Joint C-Suite Sign-Off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6862" y="2810767"/>
            <a:ext cx="22717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The GM and our planning team co-present the staged plan at the Day-16 executive lock—preventing back-channel end-runs to the CEO.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9125" y="2378273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21025" y="2378273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39358" y="2378273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931175" y="2378273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9125" y="3111698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21025" y="3111698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39358" y="3111698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31175" y="3111698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125" y="3845123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21025" y="3845123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39358" y="3845123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31175" y="3845123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125" y="4578548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21025" y="4578548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9358" y="4578548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31175" y="4578548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125" y="5316735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21025" y="5316735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9358" y="5316735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1175" y="5316735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125" y="6059685"/>
            <a:ext cx="330190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21025" y="6059685"/>
            <a:ext cx="26183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39358" y="6059685"/>
            <a:ext cx="2391816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31175" y="6059685"/>
            <a:ext cx="2641699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9600" y="1678185"/>
          <a:ext cx="10953748" cy="44005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301900"/>
                <a:gridCol w="2618333"/>
                <a:gridCol w="2391816"/>
                <a:gridCol w="2641699"/>
              </a:tblGrid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Strategic &amp; Financial Dimension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If Market Slows (Protected Downside)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Expected Plan (Base Case)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If H1 Beats Plan (Self-Funded Upside)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Baseline Budget Commitment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(Target = $25M)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$15.0M (Hold Q2 tranche in reserve)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$25.0M ($15M Q1 + $10M Q2)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$25.0M Base Cap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H2 Outperformance Expansion Pool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$0.0M (Remains unspent)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$0.0M Assumed in Base Plan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+$15.0M (Funded by H1 profit beat)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Net Impact on Company Cost Cap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$10.0M Under Ceiling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100% On Target ($25.0M)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100% Margin Neutral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4. Regional HQ 5-Year Net Value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$6.2M (Protected by grant grace period)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$15.6M Net Value ($22M grants)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$21.4M (Full expansion credits)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5. 3-Year Value Created &amp; Governance Health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$16.8M Net Value | Zero Cap Risk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820AD1"/>
                          </a:solidFill>
                          <a:latin typeface="DM Sans"/>
                        </a:rPr>
                        <a:t>$36.4M Net Value | Unified C-Suite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$61.2M Net Value | Accelerated Scale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13 // INTEGRATED IMPACT ACROSS ALL THREE PILLARS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How Our Staged Governance Model Performs Under Every Market Scenario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6250185"/>
            <a:ext cx="110680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3B2A54"/>
                </a:solidFill>
                <a:latin typeface="DM Sans"/>
              </a:rPr>
              <a:t>Key Takeaway for the Board:</a:t>
            </a:r>
            <a:r>
              <a:rPr b="0" sz="1275" i="0" u="none">
                <a:solidFill>
                  <a:srgbClr val="3B2A54"/>
                </a:solidFill>
                <a:latin typeface="DM Sans"/>
              </a:rPr>
              <a:t> Because Q2 and H2 funding stages unlock only when customer milestones are hit, company margins are protected automatically if macro conditions tighten—without needing disruptive mid-year freezes.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363092"/>
            <a:ext cx="3505200" cy="3352800"/>
          </a:xfrm>
          <a:prstGeom prst="roundRect">
            <a:avLst>
              <a:gd name="adj" fmla="val 2840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477392"/>
            <a:ext cx="3505200" cy="31242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477392"/>
            <a:ext cx="3505200" cy="3124200"/>
          </a:xfrm>
          <a:prstGeom prst="roundRect">
            <a:avLst>
              <a:gd name="adj" fmla="val 3048"/>
            </a:avLst>
          </a:prstGeom>
          <a:solidFill>
            <a:srgbClr val="FFFFFF"/>
          </a:solidFill>
          <a:ln w="9525">
            <a:solidFill>
              <a:srgbClr val="E2D9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14 // SEQUENCED 90-DAY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Our 90-Day Roadmap Across Planning, Board Rhythm, and the HQ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620267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91C1C"/>
                </a:solidFill>
                <a:latin typeface="DM Sans"/>
              </a:rPr>
              <a:t>DAYS 61–90 // ALIGN &amp; STABILIZE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2867917"/>
            <a:ext cx="392549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Lock Board &amp; Q1 Tranche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0575" y="2734567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DAYS 91–120 // EMBED &amp; NEGOTIATE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0575" y="2982217"/>
            <a:ext cx="392549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In-House Hub &amp; HQ Gate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4375" y="2734567"/>
            <a:ext cx="373856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D9488"/>
                </a:solidFill>
                <a:latin typeface="DM Sans"/>
              </a:rPr>
              <a:t>DAYS 121–150 // SCALE &amp; EXECUTE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4375" y="2982217"/>
            <a:ext cx="385762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11052C"/>
                </a:solidFill>
                <a:latin typeface="Space Grotesk"/>
              </a:rPr>
              <a:t>Q2 Release &amp; HQ Lease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2203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275" y="32489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Today (T-28):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Issue Board storyboard; launch HQ Gate 1 tax &amp; legal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9823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275" y="40109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72 (T-16):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Lock 70/30 Q1 funding split with CEO, CFO, and MTeam.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47443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7275" y="47729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88 (T-0):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Deliver seamless Board meeting and release $15M Q1 funds.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3925" y="33346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91075" y="33632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95: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Unify central planning team and embed Finance Partners in BUs.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3925" y="40966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1075" y="4125217"/>
            <a:ext cx="28956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105: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Run weekly squad clinics to refine the $12M pre-pilot cases.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3925" y="46300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1075" y="46586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120: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Clear HQ Gate 2 city grant terms with 24-month grace period.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725" y="33346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4875" y="33632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125: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Review Q1 cohort milestones and release $10M Q2 funding stage.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725" y="40966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4875" y="4125217"/>
            <a:ext cx="2895600" cy="4572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135: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Clear HQ Gate 3 (dual signatures &amp; director protection).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725" y="4630042"/>
            <a:ext cx="571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B2A54"/>
                </a:solidFill>
                <a:latin typeface="DM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4875" y="4658617"/>
            <a:ext cx="2895600" cy="685800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B2A54"/>
                </a:solidFill>
                <a:latin typeface="DM Sans"/>
              </a:rPr>
              <a:t>Day 150:</a:t>
            </a:r>
            <a:r>
              <a:rPr b="0" sz="1350" i="0" u="none">
                <a:solidFill>
                  <a:srgbClr val="3B2A54"/>
                </a:solidFill>
                <a:latin typeface="DM Sans"/>
              </a:rPr>
              <a:t> Sign modular 5-year Regional HQ campus agreement (Gate 4).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3629025"/>
            <a:ext cx="762000" cy="38100"/>
          </a:xfrm>
          <a:prstGeom prst="rect">
            <a:avLst/>
          </a:prstGeom>
          <a:solidFill>
            <a:srgbClr val="820A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05125" y="2428875"/>
            <a:ext cx="6381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820AD1"/>
                </a:solidFill>
                <a:latin typeface="DM Sans"/>
              </a:rPr>
              <a:t>SUPPORTING GOVERNANCE, EVIDENCE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5356" y="2781300"/>
            <a:ext cx="10301287" cy="657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050" i="0" u="none">
                <a:solidFill>
                  <a:srgbClr val="11052C"/>
                </a:solidFill>
                <a:latin typeface="Space Grotesk"/>
              </a:rPr>
              <a:t>Appendices &amp; Reference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4437" y="3933825"/>
            <a:ext cx="976312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3B2A54"/>
                </a:solidFill>
                <a:latin typeface="DM Sans"/>
              </a:rPr>
              <a:t>Appendix A: Subsidiary &amp; Statutory Governance Matrix • Appendix B: External Evidence &amp; Benchmark Ledger • Appendix C: AI Usage &amp; Methodology Disclosure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620267"/>
            <a:ext cx="246459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74193" y="2620267"/>
            <a:ext cx="183743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11625" y="2620267"/>
            <a:ext cx="26452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6896" y="2620267"/>
            <a:ext cx="402550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582292"/>
            <a:ext cx="246459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74193" y="3582292"/>
            <a:ext cx="183743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11625" y="3582292"/>
            <a:ext cx="26452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56896" y="3582292"/>
            <a:ext cx="402550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544317"/>
            <a:ext cx="246459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74193" y="4544317"/>
            <a:ext cx="183743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11625" y="4544317"/>
            <a:ext cx="26452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56896" y="4544317"/>
            <a:ext cx="402550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506342"/>
            <a:ext cx="246459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74193" y="5506342"/>
            <a:ext cx="183743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11625" y="5506342"/>
            <a:ext cx="26452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56896" y="5506342"/>
            <a:ext cx="402550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9600" y="2139255"/>
          <a:ext cx="10972799" cy="33813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64593"/>
                <a:gridCol w="1837432"/>
                <a:gridCol w="2645271"/>
                <a:gridCol w="4025503"/>
              </a:tblGrid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Market Maturity Stage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Scale Threshold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Permitted Operating Setup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Statutory &amp; Signing Controls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Stage 1: Early Market Test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(New Global Countries)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Under $5M revenue or &lt;15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Cross-border platform or partner bank; no local legal entity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Central signing only.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Prevents accidental tax presence and saves ~$200k/year per country in legal/audit fees [1].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534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Stage 2: Scaling Market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(US &amp; New Verticals)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$5M–$50M revenue or 15–100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Dedicated operating entity or regulated partner structure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 Central Officers + 1 Local Leader.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Dual signature required above $100k; capped local power of attorney.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45346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Stage 3: Core Regional Hub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(Brazil, Mexico, Colombia, HQ)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Over $50M revenue or &gt;100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Full licensed entity &amp; regional headquarters campus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Board Audit &amp; Risk Committee oversight.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Dual signature above $250k; dedicated director liability insurance [2].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APPENDIX A // INTERNATIONAL SUBSIDIARY &amp; STATUTORY GOVERNANCE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Clear Rules for When New Markets Can Open Local Entities and Sign Deals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057900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Data &amp; Implications: [1] PwC Global Statutory Compliance Survey (2025: each foreign entity adds $150k–$250k in annual audit, tax, and corporate secretarial maintenance costs). [2] NACD Director Liability &amp; Governance Standards (2025).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59198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27064" y="2159198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0186" y="2159198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42919" y="2159198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21223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27064" y="3121223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0186" y="3121223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42919" y="3121223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083248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27064" y="4083248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0186" y="4083248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42919" y="4083248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045273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27064" y="5045273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0186" y="5045273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42919" y="5045273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6007298"/>
            <a:ext cx="161746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27064" y="6007298"/>
            <a:ext cx="1883122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0186" y="6007298"/>
            <a:ext cx="353273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42919" y="6007298"/>
            <a:ext cx="3939480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1678185"/>
          <a:ext cx="10972799" cy="43434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617464"/>
                <a:gridCol w="1883122"/>
                <a:gridCol w="3532733"/>
                <a:gridCol w="3939480"/>
              </a:tblGrid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Topic Area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Source &amp; Year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Specific Data Point / Finding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Operational Implication for Nubank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Nu Scale &amp; Efficiency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Nu Holdings Filings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(2025–2026)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140M+ users, ~$0.80 monthly cost-to-serve, 19.5% efficiency ratio, $27+ mature ARPAC.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Justifies reusing our shared global tech platform ($8M saved) and weighting Q1 funds 70% to proven Latin American cohorts.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Planning &amp; Capital Gates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Hackett Group &amp; McKinsey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(2024–2025)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Central hubs cut finance cost 35% &amp; cycle time 29%; dynamic tranching drives +30% TSR.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Supports our Hub-and-Spoke FP&amp;A model and releasing the $25M cap across Q1 ($15M) and Q2 ($10M) milestone gates.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HQ Tax &amp; Grant Rules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OECD Pillar Two &amp; Deloitte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(2025–2026)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15% minimum tax with 9.4% payroll / 7.4% asset carve-out; 30%+ grants face clawbacks.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Drives Gate 1 (linking HQ tax credits to real payroll/assets) and Gate 2 (proportional grant scaling + 24-month grace period).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4. Behavioral &amp; HR Science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HBR, Harvard &amp; Gartner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(1999–2025)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Fair process, psychological safety (-47% risk hiding), embedded partners (+34% speed), RAPID (-40% delays).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Shapes our weekly embedded squad clinics, private 1-on-1 pre-alignment routine, and Principled Negotiation playbook.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APPENDIX B // EXTERNAL BENCHMARKS, ASSUMPTIONS &amp; AUDIT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11582400" cy="744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Complete Ledger of External Benchmarks and How They Shape Our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097785"/>
            <a:ext cx="11068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Independent Audit Verdict: Evidence Sufficient. All unverified internal cost-cutting assumptions were removed so the $25.0M cap is met 100% through staged investment readiness.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005905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07171" y="2005905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642395" y="2005905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91648" y="2005905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196530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7171" y="3196530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42395" y="3196530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91648" y="3196530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4387155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7171" y="4387155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42395" y="4387155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91648" y="4387155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5577780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7171" y="5577780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42395" y="5577780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1648" y="5577780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6539805"/>
            <a:ext cx="199757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07171" y="6539805"/>
            <a:ext cx="2035224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42395" y="6539805"/>
            <a:ext cx="3549253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91648" y="6539805"/>
            <a:ext cx="3390751" cy="9525"/>
          </a:xfrm>
          <a:prstGeom prst="rect">
            <a:avLst/>
          </a:prstGeom>
          <a:solidFill>
            <a:srgbClr val="E2D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600" y="1305817"/>
          <a:ext cx="10972799" cy="52482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997571"/>
                <a:gridCol w="2035224"/>
                <a:gridCol w="3549253"/>
                <a:gridCol w="3390751"/>
              </a:tblGrid>
              <a:tr h="104965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Workflow Stage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AI Model Used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Specific Task &amp;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Space Grotesk"/>
                        </a:rPr>
                        <a:t>Human Executive Review &amp; Refinement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20AD1"/>
                    </a:solidFill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1. External Research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(Discovery Phase)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Google Deep Research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(Gemini 3 Flash + Search)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Retrieved Nu Holdings filings, 2026 OECD tax rules, Hackett finance benchmarks, and HBR behavioral studies.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Verified every metric and explicitly linked each data point to its operational meaning for Nubank.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2. Financial Structuring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(Modeling Phase)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Gemini 3 Flash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(Analytical Modeling)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Built the $60M-to-$25M prioritization pipeline, weighted option matrix, and 3-scenario scorecard.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Removed unverified cost-cut assumptions so the plan relies strictly on business case readiness and staged funding.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3. Behavioral Design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(Operating Model Phase)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Gemini 3 Flash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(Synthesis &amp; Structuring)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Synthesized Harvard Negotiation, Edmondson psychological safety, Kim &amp; Mauborgne fair process, and Bain RAPID studies.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Expanded Deliverable 4 into a 3-slide behavioral blueprint showing how our team embeds inside business units.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49655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4. Visual &amp; Editorial Polish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(Production Phase)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Gemini 3 Flash</a:t>
                      </a:r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 (HTML/CSS &amp; Copy Editing)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Formatted the Nu-branded slide deck, waterfall visuals, and unified light-mode appendix tables.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1052C"/>
                          </a:solidFill>
                          <a:latin typeface="DM Sans"/>
                        </a:rPr>
                        <a:t>Replaced financial jargon with plain-spoken executive language and standardized all appendix formats.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E8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820AD1"/>
                </a:solidFill>
                <a:latin typeface="DM Sans"/>
              </a:rPr>
              <a:t>APPENDIX C // AI USAGE &amp; METHODOLOGY DISCLOSURE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704850"/>
            <a:ext cx="11582400" cy="3723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b="1" sz="2550" i="0" u="none">
                <a:solidFill>
                  <a:srgbClr val="11052C"/>
                </a:solidFill>
                <a:latin typeface="Space Grotesk"/>
              </a:rPr>
              <a:t>When, How, and Why AI Models Were Used to Build This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600" y="6630292"/>
            <a:ext cx="11068050" cy="2277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B5B82"/>
                </a:solidFill>
                <a:latin typeface="DM Sans"/>
              </a:rPr>
              <a:t>Governance Note: All analytical conclusions, strategic trade-offs, and recommendations were reviewed and validated for executive consistency and mathematical reproducibility.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53100" y="4227016"/>
            <a:ext cx="685800" cy="38100"/>
          </a:xfrm>
          <a:prstGeom prst="rect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91953" y="2116633"/>
            <a:ext cx="760809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C084FC"/>
                </a:solidFill>
                <a:latin typeface="DM Sans"/>
              </a:rPr>
              <a:t>NU HOLDINGS LTD. // OFFICE OF THE CFO &amp; CORPORATE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5281" y="2459533"/>
            <a:ext cx="11501437" cy="15769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b="1" sz="3600" i="0" u="none">
                <a:solidFill>
                  <a:srgbClr val="FFFFFF"/>
                </a:solidFill>
                <a:latin typeface="Space Grotesk"/>
              </a:rPr>
              <a:t>Ready to Launch the 28-Day Board Sprint, Staged Funding Model, and HQ Charter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7609" y="4493716"/>
            <a:ext cx="85367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E9D5FF"/>
                </a:solidFill>
                <a:latin typeface="DM Sans"/>
              </a:rPr>
              <a:t>Thank you. We welcome your questions and feedback on the four deliverables.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