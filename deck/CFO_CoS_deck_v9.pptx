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autoCompressPictures="0">
  <ns0:sldMasterIdLst>
    <ns0:sldMasterId id="2147483648" ns1:id="rId1"/>
  </ns0:sldMasterIdLst>
  <ns0:sldIdLst>
    <ns0:sldId id="256" ns1:id="rId2"/>
    <ns0:sldId id="257" ns1:id="rId3"/>
    <ns0:sldId id="258" ns1:id="rId4"/>
    <ns0:sldId id="259" ns1:id="rId5"/>
    <ns0:sldId id="260" ns1:id="rId6"/>
    <ns0:sldId id="261" ns1:id="rId7"/>
    <ns0:sldId id="262" ns1:id="rId8"/>
    <ns0:sldId id="263" ns1:id="rId9"/>
    <ns0:sldId id="264" ns1:id="rId10"/>
    <ns0:sldId id="265" ns1:id="rId11"/>
    <ns0:sldId id="266" ns1:id="rId12"/>
    <ns0:sldId id="267" ns1:id="rId13"/>
    <ns0:sldId id="268" ns1:id="rId14"/>
    <ns0:sldId id="269" ns1:id="rId15"/>
    <ns0:sldId id="270" ns1:id="rId16"/>
    <ns0:sldId id="271" ns1:id="rId17"/>
    <ns0:sldId id="272" ns1:id="rId18"/>
    <ns0:sldId id="273" ns1:id="rId19"/>
    <ns0:sldId id="274" ns1:id="rId20"/>
    <ns0:sldId id="275" ns1:id="rId21"/>
    <ns0:sldId id="276" ns1:id="rId22"/>
    <ns0:sldId id="277" ns1:id="rId23"/>
    <ns0:sldId id="278" ns1:id="rId24"/>
    <ns0:sldId id="279" ns1:id="rId25"/>
    <ns0:sldId id="280" ns1:id="rId26"/>
    <ns0:sldId id="281" ns1:id="rId27"/>
  </ns0:sldIdLst>
  <ns0:sldSz cx="12192000" cy="6858000"/>
  <ns0:notesSz cx="6858000" cy="9144000"/>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printerSettings" Target="printerSettings/printerSettings1.bin"/><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base</c:v>
                </c:pt>
              </c:strCache>
            </c:strRef>
          </c:tx>
          <c:spPr>
            <a:noFill/>
            <a:ln>
              <a:noFill/>
            </a:ln>
          </c:spPr>
          <c:cat>
            <c:strRef>
              <c:f>Sheet1!$A$2:$A$6</c:f>
              <c:strCache>
                <c:ptCount val="5"/>
                <c:pt idx="0">
                  <c:v>GM asks</c:v>
                </c:pt>
                <c:pt idx="1">
                  <c:v>Reallocate: shared platform</c:v>
                </c:pt>
                <c:pt idx="2">
                  <c:v>Stage: 60-day case track</c:v>
                </c:pt>
                <c:pt idx="3">
                  <c:v>Defer: H2 reserve, not in plan</c:v>
                </c:pt>
                <c:pt idx="4">
                  <c:v>Fund now and stage: two releases</c:v>
                </c:pt>
              </c:strCache>
            </c:strRef>
          </c:cat>
          <c:val>
            <c:numRef>
              <c:f>Sheet1!$B$2:$B$6</c:f>
              <c:numCache>
                <c:formatCode>General</c:formatCode>
                <c:ptCount val="5"/>
                <c:pt idx="0">
                  <c:v>0</c:v>
                </c:pt>
                <c:pt idx="1">
                  <c:v>52</c:v>
                </c:pt>
                <c:pt idx="2">
                  <c:v>40</c:v>
                </c:pt>
                <c:pt idx="3">
                  <c:v>25</c:v>
                </c:pt>
                <c:pt idx="4">
                  <c:v>0</c:v>
                </c:pt>
              </c:numCache>
            </c:numRef>
          </c:val>
        </c:ser>
        <c:ser>
          <c:idx val="1"/>
          <c:order val="1"/>
          <c:tx>
            <c:strRef>
              <c:f>Sheet1!$C$1</c:f>
              <c:strCache>
                <c:ptCount val="1"/>
                <c:pt idx="0">
                  <c:v>value</c:v>
                </c:pt>
              </c:strCache>
            </c:strRef>
          </c:tx>
          <c:dPt>
            <c:idx val="0"/>
            <c:spPr>
              <a:solidFill>
                <a:srgbClr val="5B4B7A"/>
              </a:solidFill>
            </c:spPr>
          </c:dPt>
          <c:dPt>
            <c:idx val="1"/>
            <c:spPr>
              <a:solidFill>
                <a:srgbClr val="8B5CF6"/>
              </a:solidFill>
            </c:spPr>
          </c:dPt>
          <c:dPt>
            <c:idx val="2"/>
            <c:spPr>
              <a:solidFill>
                <a:srgbClr val="8B5CF6"/>
              </a:solidFill>
            </c:spPr>
          </c:dPt>
          <c:dPt>
            <c:idx val="3"/>
            <c:spPr>
              <a:solidFill>
                <a:srgbClr val="D97706"/>
              </a:solidFill>
            </c:spPr>
          </c:dPt>
          <c:dPt>
            <c:idx val="4"/>
            <c:spPr>
              <a:solidFill>
                <a:srgbClr val="820AD1"/>
              </a:solidFill>
            </c:spPr>
          </c:dPt>
          <c:dLbls>
            <c:dLbl>
              <c:idx val="0"/>
              <c:tx>
                <c:rich>
                  <a:bodyPr/>
                  <a:lstStyle/>
                  <a:p>
                    <a:r>
                      <a:rPr sz="1200" b="1">
                        <a:solidFill>
                          <a:srgbClr val="FFFFFF"/>
                        </a:solidFill>
                        <a:latin typeface="Arial"/>
                      </a:rPr>
                      <a:t>$60M</a:t>
                    </a:r>
                  </a:p>
                </c:rich>
              </c:tx>
              <c:dLblPos val="inEnd"/>
              <c:showLegendKey val="0"/>
              <c:showVal val="1"/>
              <c:showCatName val="0"/>
              <c:showSerName val="0"/>
              <c:showPercent val="0"/>
              <c:showBubbleSize val="0"/>
            </c:dLbl>
            <c:dLbl>
              <c:idx val="1"/>
              <c:tx>
                <c:rich>
                  <a:bodyPr/>
                  <a:lstStyle/>
                  <a:p>
                    <a:r>
                      <a:rPr sz="1200" b="1">
                        <a:solidFill>
                          <a:srgbClr val="FFFFFF"/>
                        </a:solidFill>
                        <a:latin typeface="Arial"/>
                      </a:rPr>
                      <a:t>$8M</a:t>
                    </a:r>
                  </a:p>
                </c:rich>
              </c:tx>
              <c:dLblPos val="inEnd"/>
              <c:showLegendKey val="0"/>
              <c:showVal val="1"/>
              <c:showCatName val="0"/>
              <c:showSerName val="0"/>
              <c:showPercent val="0"/>
              <c:showBubbleSize val="0"/>
            </c:dLbl>
            <c:dLbl>
              <c:idx val="2"/>
              <c:tx>
                <c:rich>
                  <a:bodyPr/>
                  <a:lstStyle/>
                  <a:p>
                    <a:r>
                      <a:rPr sz="1200" b="1">
                        <a:solidFill>
                          <a:srgbClr val="FFFFFF"/>
                        </a:solidFill>
                        <a:latin typeface="Arial"/>
                      </a:rPr>
                      <a:t>$12M</a:t>
                    </a:r>
                  </a:p>
                </c:rich>
              </c:tx>
              <c:dLblPos val="inEnd"/>
              <c:showLegendKey val="0"/>
              <c:showVal val="1"/>
              <c:showCatName val="0"/>
              <c:showSerName val="0"/>
              <c:showPercent val="0"/>
              <c:showBubbleSize val="0"/>
            </c:dLbl>
            <c:dLbl>
              <c:idx val="3"/>
              <c:tx>
                <c:rich>
                  <a:bodyPr/>
                  <a:lstStyle/>
                  <a:p>
                    <a:r>
                      <a:rPr sz="1200" b="1">
                        <a:solidFill>
                          <a:srgbClr val="FFFFFF"/>
                        </a:solidFill>
                        <a:latin typeface="Arial"/>
                      </a:rPr>
                      <a:t>$15M</a:t>
                    </a:r>
                  </a:p>
                </c:rich>
              </c:tx>
              <c:dLblPos val="inEnd"/>
              <c:showLegendKey val="0"/>
              <c:showVal val="1"/>
              <c:showCatName val="0"/>
              <c:showSerName val="0"/>
              <c:showPercent val="0"/>
              <c:showBubbleSize val="0"/>
            </c:dLbl>
            <c:dLbl>
              <c:idx val="4"/>
              <c:tx>
                <c:rich>
                  <a:bodyPr/>
                  <a:lstStyle/>
                  <a:p>
                    <a:r>
                      <a:rPr sz="1200" b="1">
                        <a:solidFill>
                          <a:srgbClr val="FFFFFF"/>
                        </a:solidFill>
                        <a:latin typeface="Arial"/>
                      </a:rPr>
                      <a:t>$25M</a:t>
                    </a:r>
                  </a:p>
                </c:rich>
              </c:tx>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Sheet1!$A$2:$A$6</c:f>
              <c:strCache>
                <c:ptCount val="5"/>
                <c:pt idx="0">
                  <c:v>GM asks</c:v>
                </c:pt>
                <c:pt idx="1">
                  <c:v>Reallocate: shared platform</c:v>
                </c:pt>
                <c:pt idx="2">
                  <c:v>Stage: 60-day case track</c:v>
                </c:pt>
                <c:pt idx="3">
                  <c:v>Defer: H2 reserve, not in plan</c:v>
                </c:pt>
                <c:pt idx="4">
                  <c:v>Fund now and stage: two releases</c:v>
                </c:pt>
              </c:strCache>
            </c:strRef>
          </c:cat>
          <c:val>
            <c:numRef>
              <c:f>Sheet1!$C$2:$C$6</c:f>
              <c:numCache>
                <c:formatCode>General</c:formatCode>
                <c:ptCount val="5"/>
                <c:pt idx="0">
                  <c:v>60</c:v>
                </c:pt>
                <c:pt idx="1">
                  <c:v>8</c:v>
                </c:pt>
                <c:pt idx="2">
                  <c:v>12</c:v>
                </c:pt>
                <c:pt idx="3">
                  <c:v>15</c:v>
                </c:pt>
                <c:pt idx="4">
                  <c:v>25</c:v>
                </c:pt>
              </c:numCache>
            </c:numRef>
          </c:val>
        </c:ser>
        <c:gapWidth val="55"/>
        <c:overlap val="100"/>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100">
                <a:solidFill>
                  <a:srgbClr val="11052C"/>
                </a:solidFill>
                <a:latin typeface="Arial"/>
              </a:defRPr>
            </a:pPr>
          </a:p>
        </c:txPr>
        <c:crossAx val="-2113994440"/>
        <c:crosses val="autoZero"/>
        <c:auto val="1"/>
        <c:lblAlgn val="ctr"/>
        <c:lblOffset val="100"/>
        <c:noMultiLvlLbl val="0"/>
      </c:catAx>
      <c:valAx>
        <c:axId val="-2113994440"/>
        <c:scaling>
          <c:max val="61.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Triage: the Board date is fixed, so it goes first; the budget sets the precedent; the HQ is paced by gates.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way of deciding, used three times. Three decisions, each with a number. The reserve is stated up front, with its conditions.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A4 matters most: if the dispute is about capital by entity, slide 7 carries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broken is the process, not the number. $35M is about 0.2 points of efficiency ratio; $25M is about 0.15.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dollar gets one of five answers: fund now, stage, reallocate, defer or stop; the reserve opens only on its conditions.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to six people, one model, three meetings; every ask states its people and engineering capacity; three ways it fails, each with an answer.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Equity by entity first. On opex, both positions go in the memo as options; I recommend 70/30; the CEO decides and the dissent is recorded.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four moves every time; the GM keeps the goal and earns the next release.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 is late because nothing is locked. If the two executives still disagree at the lock, the CEO decides and the dissent is recorded.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governance project before a real-estate deal: hard tests pick what can be considered, criteria rank it, the CEO and CFO pick.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 0 is the charter. Four decision gates: can we, what may we offer, who may bind Nu, do we commit. The CFO decides each on my pack; nothing is signed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Experts own the judgment, I own the process, the CFO owns the residual risk. Licensed executives sign; I hold no power of attorney. Disagreements get 48 hours, then both options go to the CFO with mine.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function works: propose, implement, assess, and change course fast; built with the markets, not for them.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owns what across the three problems, and how the function learns with the markets every quarter.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dates, three stop rules, the ask: one way of deciding, used three times, reported on in 90 days.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presented.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0530"/>
        </a:solidFill>
        <a:effectLst/>
      </p:bgPr>
    </p:bg>
    <p:spTree>
      <p:nvGrpSpPr>
        <p:cNvPr id="1" name=""/>
        <p:cNvGrpSpPr/>
        <p:nvPr/>
      </p:nvGrpSpPr>
      <p:grpSpPr/>
      <p:sp>
        <p:nvSpPr>
          <p:cNvPr id="2" name="TextBox 1"/>
          <p:cNvSpPr txBox="1"/>
          <p:nvPr/>
        </p:nvSpPr>
        <p:spPr>
          <a:xfrm>
            <a:off x="612648" y="685800"/>
            <a:ext cx="10972800" cy="274320"/>
          </a:xfrm>
          <a:prstGeom prst="rect">
            <a:avLst/>
          </a:prstGeom>
          <a:noFill/>
        </p:spPr>
        <p:txBody>
          <a:bodyPr wrap="square" anchor="t">
            <a:spAutoFit/>
          </a:bodyPr>
          <a:lstStyle/>
          <a:p>
            <a:pPr algn="l"/>
            <a:r>
              <a:rPr sz="1050" b="1">
                <a:solidFill>
                  <a:srgbClr val="C084FC"/>
                </a:solidFill>
                <a:latin typeface="Arial"/>
              </a:rPr>
              <a:t>NU HOLDINGS  //  OFFICE OF THE CFO AND CORPORATE GOVERNANCE</a:t>
            </a:r>
          </a:p>
        </p:txBody>
      </p:sp>
      <p:sp>
        <p:nvSpPr>
          <p:cNvPr id="3" name="TextBox 2"/>
          <p:cNvSpPr txBox="1"/>
          <p:nvPr/>
        </p:nvSpPr>
        <p:spPr>
          <a:xfrm>
            <a:off x="612648" y="1005840"/>
            <a:ext cx="10515600" cy="1188720"/>
          </a:xfrm>
          <a:prstGeom prst="rect">
            <a:avLst/>
          </a:prstGeom>
          <a:noFill/>
        </p:spPr>
        <p:txBody>
          <a:bodyPr wrap="square" anchor="t">
            <a:spAutoFit/>
          </a:bodyPr>
          <a:lstStyle/>
          <a:p>
            <a:pPr algn="l"/>
            <a:r>
              <a:rPr sz="3600" b="1">
                <a:solidFill>
                  <a:srgbClr val="FFFFFF"/>
                </a:solidFill>
                <a:latin typeface="Arial"/>
              </a:rPr>
              <a:t>Chief of Staff to the CFO: planning, the Board and the new HQ</a:t>
            </a:r>
          </a:p>
        </p:txBody>
      </p:sp>
      <p:sp>
        <p:nvSpPr>
          <p:cNvPr id="4" name="TextBox 3"/>
          <p:cNvSpPr txBox="1"/>
          <p:nvPr/>
        </p:nvSpPr>
        <p:spPr>
          <a:xfrm>
            <a:off x="612648" y="2240280"/>
            <a:ext cx="9601200" cy="685800"/>
          </a:xfrm>
          <a:prstGeom prst="rect">
            <a:avLst/>
          </a:prstGeom>
          <a:noFill/>
        </p:spPr>
        <p:txBody>
          <a:bodyPr wrap="square" anchor="t">
            <a:spAutoFit/>
          </a:bodyPr>
          <a:lstStyle/>
          <a:p>
            <a:pPr algn="l"/>
            <a:r>
              <a:rPr sz="1500" b="0">
                <a:solidFill>
                  <a:srgbClr val="E9D5FF"/>
                </a:solidFill>
                <a:latin typeface="Arial"/>
              </a:rPr>
              <a:t>Case presentation, 60 days into the role. Cassio Modelli, October 2026. Nu figures are public Q2'26 data; my assumptions are on slide 3.</a:t>
            </a:r>
          </a:p>
        </p:txBody>
      </p:sp>
      <p:sp>
        <p:nvSpPr>
          <p:cNvPr id="5" name="Rounded Rectangle 4"/>
          <p:cNvSpPr/>
          <p:nvPr/>
        </p:nvSpPr>
        <p:spPr>
          <a:xfrm>
            <a:off x="612648" y="3154680"/>
            <a:ext cx="3474720" cy="1600200"/>
          </a:xfrm>
          <a:prstGeom prst="roundRect">
            <a:avLst>
              <a:gd name="adj" fmla="val 5000"/>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22376" y="3264408"/>
            <a:ext cx="3255263" cy="1417320"/>
          </a:xfrm>
          <a:prstGeom prst="rect">
            <a:avLst/>
          </a:prstGeom>
          <a:noFill/>
        </p:spPr>
        <p:txBody>
          <a:bodyPr wrap="square" anchor="t">
            <a:spAutoFit/>
          </a:bodyPr>
          <a:lstStyle/>
          <a:p>
            <a:pPr algn="l">
              <a:spcAft>
                <a:spcPts val="300"/>
              </a:spcAft>
            </a:pPr>
            <a:r>
              <a:rPr sz="950" b="1">
                <a:solidFill>
                  <a:srgbClr val="C084FC"/>
                </a:solidFill>
                <a:latin typeface="Arial"/>
              </a:rPr>
              <a:t>PLANNING</a:t>
            </a:r>
          </a:p>
          <a:p>
            <a:pPr algn="l">
              <a:spcAft>
                <a:spcPts val="600"/>
              </a:spcAft>
            </a:pPr>
            <a:r>
              <a:rPr sz="1500" b="1">
                <a:solidFill>
                  <a:srgbClr val="FFFFFF"/>
                </a:solidFill>
                <a:latin typeface="Arial"/>
              </a:rPr>
              <a:t>$60M of asks, a $25M cap</a:t>
            </a:r>
          </a:p>
          <a:p>
            <a:pPr algn="l">
              <a:spcAft>
                <a:spcPts val="400"/>
              </a:spcAft>
            </a:pPr>
            <a:r>
              <a:rPr sz="1300" b="0">
                <a:solidFill>
                  <a:srgbClr val="E9D5FF"/>
                </a:solidFill>
                <a:latin typeface="Arial"/>
              </a:rPr>
              <a:t>Bring planning in-house and give every ask an answer.</a:t>
            </a:r>
          </a:p>
        </p:txBody>
      </p:sp>
      <p:sp>
        <p:nvSpPr>
          <p:cNvPr id="7" name="Rounded Rectangle 6"/>
          <p:cNvSpPr/>
          <p:nvPr/>
        </p:nvSpPr>
        <p:spPr>
          <a:xfrm>
            <a:off x="4315968" y="3154680"/>
            <a:ext cx="3474720" cy="1600200"/>
          </a:xfrm>
          <a:prstGeom prst="roundRect">
            <a:avLst>
              <a:gd name="adj" fmla="val 5000"/>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425696" y="3264408"/>
            <a:ext cx="3255263" cy="1417320"/>
          </a:xfrm>
          <a:prstGeom prst="rect">
            <a:avLst/>
          </a:prstGeom>
          <a:noFill/>
        </p:spPr>
        <p:txBody>
          <a:bodyPr wrap="square" anchor="t">
            <a:spAutoFit/>
          </a:bodyPr>
          <a:lstStyle/>
          <a:p>
            <a:pPr algn="l">
              <a:spcAft>
                <a:spcPts val="300"/>
              </a:spcAft>
            </a:pPr>
            <a:r>
              <a:rPr sz="950" b="1">
                <a:solidFill>
                  <a:srgbClr val="C084FC"/>
                </a:solidFill>
                <a:latin typeface="Arial"/>
              </a:rPr>
              <a:t>GOVERNANCE</a:t>
            </a:r>
          </a:p>
          <a:p>
            <a:pPr algn="l">
              <a:spcAft>
                <a:spcPts val="600"/>
              </a:spcAft>
            </a:pPr>
            <a:r>
              <a:rPr sz="1500" b="1">
                <a:solidFill>
                  <a:srgbClr val="FFFFFF"/>
                </a:solidFill>
                <a:latin typeface="Arial"/>
              </a:rPr>
              <a:t>A Board in four weeks</a:t>
            </a:r>
          </a:p>
          <a:p>
            <a:pPr algn="l">
              <a:spcAft>
                <a:spcPts val="400"/>
              </a:spcAft>
            </a:pPr>
            <a:r>
              <a:rPr sz="1300" b="0">
                <a:solidFill>
                  <a:srgbClr val="E9D5FF"/>
                </a:solidFill>
                <a:latin typeface="Arial"/>
              </a:rPr>
              <a:t>Two executives disagree on capital, and the Board book is late.</a:t>
            </a:r>
          </a:p>
        </p:txBody>
      </p:sp>
      <p:sp>
        <p:nvSpPr>
          <p:cNvPr id="9" name="Rounded Rectangle 8"/>
          <p:cNvSpPr/>
          <p:nvPr/>
        </p:nvSpPr>
        <p:spPr>
          <a:xfrm>
            <a:off x="8019288" y="3154680"/>
            <a:ext cx="3474720" cy="1600200"/>
          </a:xfrm>
          <a:prstGeom prst="roundRect">
            <a:avLst>
              <a:gd name="adj" fmla="val 5000"/>
            </a:avLst>
          </a:prstGeom>
          <a:solidFill>
            <a:srgbClr val="2A0C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129015" y="3264408"/>
            <a:ext cx="3255263" cy="1417320"/>
          </a:xfrm>
          <a:prstGeom prst="rect">
            <a:avLst/>
          </a:prstGeom>
          <a:noFill/>
        </p:spPr>
        <p:txBody>
          <a:bodyPr wrap="square" anchor="t">
            <a:spAutoFit/>
          </a:bodyPr>
          <a:lstStyle/>
          <a:p>
            <a:pPr algn="l">
              <a:spcAft>
                <a:spcPts val="300"/>
              </a:spcAft>
            </a:pPr>
            <a:r>
              <a:rPr sz="950" b="1">
                <a:solidFill>
                  <a:srgbClr val="C084FC"/>
                </a:solidFill>
                <a:latin typeface="Arial"/>
              </a:rPr>
              <a:t>SPECIAL PROJECT</a:t>
            </a:r>
          </a:p>
          <a:p>
            <a:pPr algn="l">
              <a:spcAft>
                <a:spcPts val="600"/>
              </a:spcAft>
            </a:pPr>
            <a:r>
              <a:rPr sz="1500" b="1">
                <a:solidFill>
                  <a:srgbClr val="FFFFFF"/>
                </a:solidFill>
                <a:latin typeface="Arial"/>
              </a:rPr>
              <a:t>A new HQ</a:t>
            </a:r>
          </a:p>
          <a:p>
            <a:pPr algn="l">
              <a:spcAft>
                <a:spcPts val="400"/>
              </a:spcAft>
            </a:pPr>
            <a:r>
              <a:rPr sz="1300" b="0">
                <a:solidFill>
                  <a:srgbClr val="E9D5FF"/>
                </a:solidFill>
                <a:latin typeface="Arial"/>
              </a:rPr>
              <a:t>Legal, tax, compliance and campus terms across jurisdictions, with no line authority.</a:t>
            </a:r>
          </a:p>
        </p:txBody>
      </p:sp>
      <p:sp>
        <p:nvSpPr>
          <p:cNvPr id="11" name="Rounded Rectangle 10"/>
          <p:cNvSpPr/>
          <p:nvPr/>
        </p:nvSpPr>
        <p:spPr>
          <a:xfrm>
            <a:off x="612648" y="4983480"/>
            <a:ext cx="10881360" cy="868680"/>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95528" y="5074920"/>
            <a:ext cx="10515600" cy="722375"/>
          </a:xfrm>
          <a:prstGeom prst="rect">
            <a:avLst/>
          </a:prstGeom>
          <a:noFill/>
        </p:spPr>
        <p:txBody>
          <a:bodyPr wrap="square" anchor="ctr">
            <a:spAutoFit/>
          </a:bodyPr>
          <a:lstStyle/>
          <a:p>
            <a:pPr algn="l"/>
            <a:r>
              <a:rPr sz="1350" b="1">
                <a:solidFill>
                  <a:srgbClr val="11052C"/>
                </a:solidFill>
                <a:latin typeface="Arial"/>
              </a:rPr>
              <a:t>How I triaged them: </a:t>
            </a:r>
            <a:r>
              <a:rPr sz="1350" b="0">
                <a:solidFill>
                  <a:srgbClr val="11052C"/>
                </a:solidFill>
                <a:latin typeface="Arial"/>
              </a:rPr>
              <a:t>the Board date is fixed, so it goes first. The budget sets the precedent for every cycle after it. The HQ is chartered now and paced by gates.</a:t>
            </a:r>
          </a:p>
        </p:txBody>
      </p:sp>
      <p:sp>
        <p:nvSpPr>
          <p:cNvPr id="13" name="TextBox 12"/>
          <p:cNvSpPr txBox="1"/>
          <p:nvPr/>
        </p:nvSpPr>
        <p:spPr>
          <a:xfrm>
            <a:off x="11292840" y="6446520"/>
            <a:ext cx="731520" cy="274320"/>
          </a:xfrm>
          <a:prstGeom prst="rect">
            <a:avLst/>
          </a:prstGeom>
          <a:noFill/>
        </p:spPr>
        <p:txBody>
          <a:bodyPr wrap="square" anchor="t">
            <a:spAutoFit/>
          </a:bodyPr>
          <a:lstStyle/>
          <a:p>
            <a:pPr algn="r"/>
            <a:r>
              <a:rPr sz="900" b="0">
                <a:solidFill>
                  <a:srgbClr val="C084FC"/>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THE ANSWER</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One way of deciding, used three times: the plan, the Board, the HQ</a:t>
            </a:r>
          </a:p>
        </p:txBody>
      </p:sp>
      <p:sp>
        <p:nvSpPr>
          <p:cNvPr id="4" name="TextBox 3"/>
          <p:cNvSpPr txBox="1"/>
          <p:nvPr/>
        </p:nvSpPr>
        <p:spPr>
          <a:xfrm>
            <a:off x="612648" y="1280160"/>
            <a:ext cx="10789920" cy="594360"/>
          </a:xfrm>
          <a:prstGeom prst="rect">
            <a:avLst/>
          </a:prstGeom>
          <a:noFill/>
        </p:spPr>
        <p:txBody>
          <a:bodyPr wrap="square" anchor="t">
            <a:spAutoFit/>
          </a:bodyPr>
          <a:lstStyle/>
          <a:p>
            <a:pPr algn="l"/>
            <a:r>
              <a:rPr sz="1250" b="1">
                <a:solidFill>
                  <a:srgbClr val="11052C"/>
                </a:solidFill>
                <a:latin typeface="Arial"/>
              </a:rPr>
              <a:t>The same mechanism runs all three. </a:t>
            </a:r>
            <a:r>
              <a:rPr sz="1250" b="0">
                <a:solidFill>
                  <a:srgbClr val="11052C"/>
                </a:solidFill>
                <a:latin typeface="Arial"/>
              </a:rPr>
              <a:t>The rule is published before the argument. Options go to one named decision owner, on a date. The decision, the rationale and the dissent are recorded. Only exceptions come back up.</a:t>
            </a:r>
          </a:p>
        </p:txBody>
      </p:sp>
      <p:sp>
        <p:nvSpPr>
          <p:cNvPr id="5" name="Rounded Rectangle 4"/>
          <p:cNvSpPr/>
          <p:nvPr/>
        </p:nvSpPr>
        <p:spPr>
          <a:xfrm>
            <a:off x="612648" y="2011680"/>
            <a:ext cx="2560320" cy="21945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22376" y="2121408"/>
            <a:ext cx="2340863" cy="2011679"/>
          </a:xfrm>
          <a:prstGeom prst="rect">
            <a:avLst/>
          </a:prstGeom>
          <a:noFill/>
        </p:spPr>
        <p:txBody>
          <a:bodyPr wrap="square" anchor="t">
            <a:spAutoFit/>
          </a:bodyPr>
          <a:lstStyle/>
          <a:p>
            <a:pPr algn="l">
              <a:spcAft>
                <a:spcPts val="300"/>
              </a:spcAft>
            </a:pPr>
            <a:r>
              <a:rPr sz="950" b="1">
                <a:solidFill>
                  <a:srgbClr val="820AD1"/>
                </a:solidFill>
                <a:latin typeface="Arial"/>
              </a:rPr>
              <a:t>DELIVERABLE 1  //  PLANNING</a:t>
            </a:r>
          </a:p>
          <a:p>
            <a:pPr algn="l">
              <a:spcAft>
                <a:spcPts val="600"/>
              </a:spcAft>
            </a:pPr>
            <a:r>
              <a:rPr sz="1500" b="1">
                <a:solidFill>
                  <a:srgbClr val="11052C"/>
                </a:solidFill>
                <a:latin typeface="Arial"/>
              </a:rPr>
              <a:t>$25M in two releases</a:t>
            </a:r>
          </a:p>
          <a:p>
            <a:pPr algn="l">
              <a:spcAft>
                <a:spcPts val="400"/>
              </a:spcAft>
            </a:pPr>
            <a:r>
              <a:rPr sz="1250" b="0">
                <a:solidFill>
                  <a:srgbClr val="3B2A54"/>
                </a:solidFill>
                <a:latin typeface="Arial"/>
              </a:rPr>
              <a:t>Every ask needs a business case. $15M on 1 January, $10M at Q1 close if the numbers hold. No flat cuts.</a:t>
            </a:r>
          </a:p>
        </p:txBody>
      </p:sp>
      <p:sp>
        <p:nvSpPr>
          <p:cNvPr id="7" name="Rounded Rectangle 6"/>
          <p:cNvSpPr/>
          <p:nvPr/>
        </p:nvSpPr>
        <p:spPr>
          <a:xfrm>
            <a:off x="3355848" y="2011680"/>
            <a:ext cx="2560320" cy="21945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465576" y="2121408"/>
            <a:ext cx="2340863" cy="2011679"/>
          </a:xfrm>
          <a:prstGeom prst="rect">
            <a:avLst/>
          </a:prstGeom>
          <a:noFill/>
        </p:spPr>
        <p:txBody>
          <a:bodyPr wrap="square" anchor="t">
            <a:spAutoFit/>
          </a:bodyPr>
          <a:lstStyle/>
          <a:p>
            <a:pPr algn="l">
              <a:spcAft>
                <a:spcPts val="300"/>
              </a:spcAft>
            </a:pPr>
            <a:r>
              <a:rPr sz="950" b="1">
                <a:solidFill>
                  <a:srgbClr val="820AD1"/>
                </a:solidFill>
                <a:latin typeface="Arial"/>
              </a:rPr>
              <a:t>DELIVERABLE 2  //  BOARD</a:t>
            </a:r>
          </a:p>
          <a:p>
            <a:pPr algn="l">
              <a:spcAft>
                <a:spcPts val="600"/>
              </a:spcAft>
            </a:pPr>
            <a:r>
              <a:rPr sz="1500" b="1">
                <a:solidFill>
                  <a:srgbClr val="11052C"/>
                </a:solidFill>
                <a:latin typeface="Arial"/>
              </a:rPr>
              <a:t>One test, one decision owner</a:t>
            </a:r>
          </a:p>
          <a:p>
            <a:pPr algn="l">
              <a:spcAft>
                <a:spcPts val="400"/>
              </a:spcAft>
            </a:pPr>
            <a:r>
              <a:rPr sz="1250" b="0">
                <a:solidFill>
                  <a:srgbClr val="3B2A54"/>
                </a:solidFill>
                <a:latin typeface="Arial"/>
              </a:rPr>
              <a:t>Both executives' positions go into the memo; the CEO decides at the lock; the dissent is recorded. The book ships 7 days before the Board.</a:t>
            </a:r>
          </a:p>
        </p:txBody>
      </p:sp>
      <p:sp>
        <p:nvSpPr>
          <p:cNvPr id="9" name="Rounded Rectangle 8"/>
          <p:cNvSpPr/>
          <p:nvPr/>
        </p:nvSpPr>
        <p:spPr>
          <a:xfrm>
            <a:off x="6099048" y="2011680"/>
            <a:ext cx="2560320" cy="21945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08776" y="2121408"/>
            <a:ext cx="2340863" cy="2011679"/>
          </a:xfrm>
          <a:prstGeom prst="rect">
            <a:avLst/>
          </a:prstGeom>
          <a:noFill/>
        </p:spPr>
        <p:txBody>
          <a:bodyPr wrap="square" anchor="t">
            <a:spAutoFit/>
          </a:bodyPr>
          <a:lstStyle/>
          <a:p>
            <a:pPr algn="l">
              <a:spcAft>
                <a:spcPts val="300"/>
              </a:spcAft>
            </a:pPr>
            <a:r>
              <a:rPr sz="950" b="1">
                <a:solidFill>
                  <a:srgbClr val="820AD1"/>
                </a:solidFill>
                <a:latin typeface="Arial"/>
              </a:rPr>
              <a:t>DELIVERABLE 3  //  HQ</a:t>
            </a:r>
          </a:p>
          <a:p>
            <a:pPr algn="l">
              <a:spcAft>
                <a:spcPts val="600"/>
              </a:spcAft>
            </a:pPr>
            <a:r>
              <a:rPr sz="1500" b="1">
                <a:solidFill>
                  <a:srgbClr val="11052C"/>
                </a:solidFill>
                <a:latin typeface="Arial"/>
              </a:rPr>
              <a:t>Four decision gates in 120 days</a:t>
            </a:r>
          </a:p>
          <a:p>
            <a:pPr algn="l">
              <a:spcAft>
                <a:spcPts val="400"/>
              </a:spcAft>
            </a:pPr>
            <a:r>
              <a:rPr sz="1250" b="0">
                <a:solidFill>
                  <a:srgbClr val="3B2A54"/>
                </a:solidFill>
                <a:latin typeface="Arial"/>
              </a:rPr>
              <a:t>Can we, what may we offer, who may bind Nu, do we commit: each the CFO's call on a pack I assemble. Licensed executives sign.</a:t>
            </a:r>
          </a:p>
        </p:txBody>
      </p:sp>
      <p:sp>
        <p:nvSpPr>
          <p:cNvPr id="11" name="Rounded Rectangle 10"/>
          <p:cNvSpPr/>
          <p:nvPr/>
        </p:nvSpPr>
        <p:spPr>
          <a:xfrm>
            <a:off x="8842248" y="2011680"/>
            <a:ext cx="2560320" cy="21945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951976" y="2121408"/>
            <a:ext cx="2340863" cy="2011679"/>
          </a:xfrm>
          <a:prstGeom prst="rect">
            <a:avLst/>
          </a:prstGeom>
          <a:noFill/>
        </p:spPr>
        <p:txBody>
          <a:bodyPr wrap="square" anchor="t">
            <a:spAutoFit/>
          </a:bodyPr>
          <a:lstStyle/>
          <a:p>
            <a:pPr algn="l">
              <a:spcAft>
                <a:spcPts val="300"/>
              </a:spcAft>
            </a:pPr>
            <a:r>
              <a:rPr sz="950" b="1">
                <a:solidFill>
                  <a:srgbClr val="820AD1"/>
                </a:solidFill>
                <a:latin typeface="Arial"/>
              </a:rPr>
              <a:t>DELIVERABLE 4  //  LEADERSHIP</a:t>
            </a:r>
          </a:p>
          <a:p>
            <a:pPr algn="l">
              <a:spcAft>
                <a:spcPts val="600"/>
              </a:spcAft>
            </a:pPr>
            <a:r>
              <a:rPr sz="1500" b="1">
                <a:solidFill>
                  <a:srgbClr val="11052C"/>
                </a:solidFill>
                <a:latin typeface="Arial"/>
              </a:rPr>
              <a:t>Built with the markets</a:t>
            </a:r>
          </a:p>
          <a:p>
            <a:pPr algn="l">
              <a:spcAft>
                <a:spcPts val="400"/>
              </a:spcAft>
            </a:pPr>
            <a:r>
              <a:rPr sz="1250" b="0">
                <a:solidFill>
                  <a:srgbClr val="3B2A54"/>
                </a:solidFill>
                <a:latin typeface="Arial"/>
              </a:rPr>
              <a:t>We work inside the markets' numbers: propose, implement, assess, and change course fast. The CFO owns the decision.</a:t>
            </a:r>
          </a:p>
        </p:txBody>
      </p:sp>
      <p:sp>
        <p:nvSpPr>
          <p:cNvPr id="13" name="Rounded Rectangle 12"/>
          <p:cNvSpPr/>
          <p:nvPr/>
        </p:nvSpPr>
        <p:spPr>
          <a:xfrm>
            <a:off x="612648" y="4389120"/>
            <a:ext cx="10789920" cy="137160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95528" y="4480559"/>
            <a:ext cx="10424160" cy="1225296"/>
          </a:xfrm>
          <a:prstGeom prst="rect">
            <a:avLst/>
          </a:prstGeom>
          <a:noFill/>
        </p:spPr>
        <p:txBody>
          <a:bodyPr wrap="square" anchor="ctr">
            <a:spAutoFit/>
          </a:bodyPr>
          <a:lstStyle/>
          <a:p>
            <a:pPr algn="l"/>
            <a:r>
              <a:rPr sz="1500" b="1">
                <a:solidFill>
                  <a:srgbClr val="C084FC"/>
                </a:solidFill>
                <a:latin typeface="Arial"/>
              </a:rPr>
              <a:t>THE ASK  </a:t>
            </a:r>
          </a:p>
          <a:p>
            <a:pPr algn="l"/>
            <a:r>
              <a:rPr sz="1500" b="1">
                <a:solidFill>
                  <a:srgbClr val="FFFFFF"/>
                </a:solidFill>
                <a:latin typeface="Arial"/>
              </a:rPr>
              <a:t>Approve the $25M FY27 cap in two releases, the Board calendar and the HQ charter. Up to $15M more is held in reserve, outside the plan: the CFO decides, and Risk can block it. I report back in 90 days.</a:t>
            </a:r>
          </a:p>
        </p:txBody>
      </p:sp>
      <p:sp>
        <p:nvSpPr>
          <p:cNvPr id="15" name="TextBox 1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WHAT I KNOW AND WHAT I AM ASSUMING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What I know, and the assumptions that could break the plan</a:t>
            </a:r>
          </a:p>
        </p:txBody>
      </p:sp>
      <p:graphicFrame>
        <p:nvGraphicFramePr>
          <p:cNvPr id="4" name="Table 3"/>
          <p:cNvGraphicFramePr>
            <a:graphicFrameLocks noGrp="1"/>
          </p:cNvGraphicFramePr>
          <p:nvPr/>
        </p:nvGraphicFramePr>
        <p:xfrm>
          <a:off x="612648" y="1554480"/>
          <a:ext cx="10972800" cy="3026664"/>
        </p:xfrm>
        <a:graphic>
          <a:graphicData uri="http://schemas.openxmlformats.org/drawingml/2006/table">
            <a:tbl>
              <a:tblPr>
                <a:tableStyleId>{5C22544A-7EE6-4342-B048-85BDC9FD1C3A}</a:tableStyleId>
              </a:tblPr>
              <a:tblGrid>
                <a:gridCol w="502920"/>
                <a:gridCol w="6720840"/>
                <a:gridCol w="1783080"/>
                <a:gridCol w="1965960"/>
              </a:tblGrid>
              <a:tr h="274320">
                <a:tc>
                  <a:txBody>
                    <a:bodyPr wrap="square"/>
                    <a:lstStyle/>
                    <a:p>
                      <a:r>
                        <a:rPr sz="1100" b="1">
                          <a:solidFill>
                            <a:srgbClr val="FFFFFF"/>
                          </a:solidFill>
                          <a:latin typeface="Arial"/>
                        </a:rPr>
                        <a:t>#</a:t>
                      </a:r>
                    </a:p>
                  </a:txBody>
                  <a:tcPr marL="64008" marR="64008" marT="36576" marB="36576" anchor="ctr">
                    <a:solidFill>
                      <a:srgbClr val="820AD1"/>
                    </a:solidFill>
                  </a:tcPr>
                </a:tc>
                <a:tc>
                  <a:txBody>
                    <a:bodyPr wrap="square"/>
                    <a:lstStyle/>
                    <a:p>
                      <a:r>
                        <a:rPr sz="1100" b="1">
                          <a:solidFill>
                            <a:srgbClr val="FFFFFF"/>
                          </a:solidFill>
                          <a:latin typeface="Arial"/>
                        </a:rPr>
                        <a:t>Statement</a:t>
                      </a:r>
                    </a:p>
                  </a:txBody>
                  <a:tcPr marL="64008" marR="64008" marT="36576" marB="36576" anchor="ctr">
                    <a:solidFill>
                      <a:srgbClr val="820AD1"/>
                    </a:solidFill>
                  </a:tcPr>
                </a:tc>
                <a:tc>
                  <a:txBody>
                    <a:bodyPr wrap="square"/>
                    <a:lstStyle/>
                    <a:p>
                      <a:r>
                        <a:rPr sz="1100" b="1">
                          <a:solidFill>
                            <a:srgbClr val="FFFFFF"/>
                          </a:solidFill>
                          <a:latin typeface="Arial"/>
                        </a:rPr>
                        <a:t>Class</a:t>
                      </a:r>
                    </a:p>
                  </a:txBody>
                  <a:tcPr marL="64008" marR="64008" marT="36576" marB="36576" anchor="ctr">
                    <a:solidFill>
                      <a:srgbClr val="820AD1"/>
                    </a:solidFill>
                  </a:tcPr>
                </a:tc>
                <a:tc>
                  <a:txBody>
                    <a:bodyPr wrap="square"/>
                    <a:lstStyle/>
                    <a:p>
                      <a:r>
                        <a:rPr sz="1100" b="1">
                          <a:solidFill>
                            <a:srgbClr val="FFFFFF"/>
                          </a:solidFill>
                          <a:latin typeface="Arial"/>
                        </a:rPr>
                        <a:t>Basis</a:t>
                      </a:r>
                    </a:p>
                  </a:txBody>
                  <a:tcPr marL="64008" marR="64008" marT="36576" marB="36576" anchor="ctr">
                    <a:solidFill>
                      <a:srgbClr val="820AD1"/>
                    </a:solidFill>
                  </a:tcPr>
                </a:tc>
              </a:tr>
              <a:tr h="393192">
                <a:tc>
                  <a:txBody>
                    <a:bodyPr wrap="square"/>
                    <a:lstStyle/>
                    <a:p>
                      <a:r>
                        <a:rPr sz="1050" b="1">
                          <a:solidFill>
                            <a:srgbClr val="11052C"/>
                          </a:solidFill>
                          <a:latin typeface="Arial"/>
                        </a:rPr>
                        <a:t>A1</a:t>
                      </a:r>
                    </a:p>
                  </a:txBody>
                  <a:tcPr marL="64008" marR="64008" marT="36576" marB="36576" anchor="ctr">
                    <a:solidFill>
                      <a:srgbClr val="FFFFFF"/>
                    </a:solidFill>
                  </a:tcPr>
                </a:tc>
                <a:tc>
                  <a:txBody>
                    <a:bodyPr wrap="square"/>
                    <a:lstStyle/>
                    <a:p>
                      <a:r>
                        <a:rPr sz="1050" b="0">
                          <a:solidFill>
                            <a:srgbClr val="3B2A54"/>
                          </a:solidFill>
                          <a:latin typeface="Arial"/>
                        </a:rPr>
                        <a:t>Nu Q2'26: 138.9M customers; monthly ARPAC $17.1; cost to serve $1.0; efficiency ratio 19.5%; ROE 33%; net income $1.06B.</a:t>
                      </a:r>
                    </a:p>
                  </a:txBody>
                  <a:tcPr marL="64008" marR="64008" marT="36576" marB="36576" anchor="ctr">
                    <a:solidFill>
                      <a:srgbClr val="FFFFFF"/>
                    </a:solidFill>
                  </a:tcPr>
                </a:tc>
                <a:tc>
                  <a:txBody>
                    <a:bodyPr wrap="square"/>
                    <a:lstStyle/>
                    <a:p>
                      <a:r>
                        <a:rPr sz="1050" b="0">
                          <a:solidFill>
                            <a:srgbClr val="3B2A54"/>
                          </a:solidFill>
                          <a:latin typeface="Arial"/>
                        </a:rPr>
                        <a:t>FACT</a:t>
                      </a:r>
                    </a:p>
                  </a:txBody>
                  <a:tcPr marL="64008" marR="64008" marT="36576" marB="36576" anchor="ctr">
                    <a:solidFill>
                      <a:srgbClr val="FFFFFF"/>
                    </a:solidFill>
                  </a:tcPr>
                </a:tc>
                <a:tc>
                  <a:txBody>
                    <a:bodyPr wrap="square"/>
                    <a:lstStyle/>
                    <a:p>
                      <a:r>
                        <a:rPr sz="1050" b="0">
                          <a:solidFill>
                            <a:srgbClr val="3B2A54"/>
                          </a:solidFill>
                          <a:latin typeface="Arial"/>
                        </a:rPr>
                        <a:t>Q2'26 release and 6-K</a:t>
                      </a:r>
                    </a:p>
                  </a:txBody>
                  <a:tcPr marL="64008" marR="64008" marT="36576" marB="36576" anchor="ctr">
                    <a:solidFill>
                      <a:srgbClr val="FFFFFF"/>
                    </a:solidFill>
                  </a:tcPr>
                </a:tc>
              </a:tr>
              <a:tr h="393192">
                <a:tc>
                  <a:txBody>
                    <a:bodyPr wrap="square"/>
                    <a:lstStyle/>
                    <a:p>
                      <a:r>
                        <a:rPr sz="1050" b="1">
                          <a:solidFill>
                            <a:srgbClr val="11052C"/>
                          </a:solidFill>
                          <a:latin typeface="Arial"/>
                        </a:rPr>
                        <a:t>A2</a:t>
                      </a:r>
                    </a:p>
                  </a:txBody>
                  <a:tcPr marL="64008" marR="64008" marT="36576" marB="36576" anchor="ctr">
                    <a:solidFill>
                      <a:srgbClr val="F7F2FD"/>
                    </a:solidFill>
                  </a:tcPr>
                </a:tc>
                <a:tc>
                  <a:txBody>
                    <a:bodyPr wrap="square"/>
                    <a:lstStyle/>
                    <a:p>
                      <a:r>
                        <a:rPr sz="1050" b="0">
                          <a:solidFill>
                            <a:srgbClr val="3B2A54"/>
                          </a:solidFill>
                          <a:latin typeface="Arial"/>
                        </a:rPr>
                        <a:t>Management expects the FY26 efficiency ratio near 20% and will keep the US entry within about 100 bps of efficiency-ratio impact.</a:t>
                      </a:r>
                    </a:p>
                  </a:txBody>
                  <a:tcPr marL="64008" marR="64008" marT="36576" marB="36576" anchor="ctr">
                    <a:solidFill>
                      <a:srgbClr val="F7F2FD"/>
                    </a:solidFill>
                  </a:tcPr>
                </a:tc>
                <a:tc>
                  <a:txBody>
                    <a:bodyPr wrap="square"/>
                    <a:lstStyle/>
                    <a:p>
                      <a:r>
                        <a:rPr sz="1050" b="0">
                          <a:solidFill>
                            <a:srgbClr val="3B2A54"/>
                          </a:solidFill>
                          <a:latin typeface="Arial"/>
                        </a:rPr>
                        <a:t>FACT (management guidance)</a:t>
                      </a:r>
                    </a:p>
                  </a:txBody>
                  <a:tcPr marL="64008" marR="64008" marT="36576" marB="36576" anchor="ctr">
                    <a:solidFill>
                      <a:srgbClr val="F7F2FD"/>
                    </a:solidFill>
                  </a:tcPr>
                </a:tc>
                <a:tc>
                  <a:txBody>
                    <a:bodyPr wrap="square"/>
                    <a:lstStyle/>
                    <a:p>
                      <a:r>
                        <a:rPr sz="1050" b="0">
                          <a:solidFill>
                            <a:srgbClr val="3B2A54"/>
                          </a:solidFill>
                          <a:latin typeface="Arial"/>
                        </a:rPr>
                        <a:t>Q2'26 earnings call, 13 Aug 2026</a:t>
                      </a:r>
                    </a:p>
                  </a:txBody>
                  <a:tcPr marL="64008" marR="64008" marT="36576" marB="36576" anchor="ctr">
                    <a:solidFill>
                      <a:srgbClr val="F7F2FD"/>
                    </a:solidFill>
                  </a:tcPr>
                </a:tc>
              </a:tr>
              <a:tr h="393192">
                <a:tc>
                  <a:txBody>
                    <a:bodyPr wrap="square"/>
                    <a:lstStyle/>
                    <a:p>
                      <a:r>
                        <a:rPr sz="1050" b="1">
                          <a:solidFill>
                            <a:srgbClr val="11052C"/>
                          </a:solidFill>
                          <a:latin typeface="Arial"/>
                        </a:rPr>
                        <a:t>A4</a:t>
                      </a:r>
                    </a:p>
                  </a:txBody>
                  <a:tcPr marL="64008" marR="64008" marT="36576" marB="36576" anchor="ctr">
                    <a:solidFill>
                      <a:srgbClr val="FFFFFF"/>
                    </a:solidFill>
                  </a:tcPr>
                </a:tc>
                <a:tc>
                  <a:txBody>
                    <a:bodyPr wrap="square"/>
                    <a:lstStyle/>
                    <a:p>
                      <a:r>
                        <a:rPr sz="1050" b="0">
                          <a:solidFill>
                            <a:srgbClr val="3B2A54"/>
                          </a:solidFill>
                          <a:latin typeface="Arial"/>
                        </a:rPr>
                        <a:t>The two MTeam members disagree about the growth-opex envelope, core markets against new bets, not about regulatory capital by entity. If wrong, slide 7's capital ranking is the decision.</a:t>
                      </a:r>
                    </a:p>
                  </a:txBody>
                  <a:tcPr marL="64008" marR="64008" marT="36576" marB="36576" anchor="ctr">
                    <a:solidFill>
                      <a:srgbClr val="FFFFFF"/>
                    </a:solidFill>
                  </a:tcPr>
                </a:tc>
                <a:tc>
                  <a:txBody>
                    <a:bodyPr wrap="square"/>
                    <a:lstStyle/>
                    <a:p>
                      <a:r>
                        <a:rPr sz="1050" b="0">
                          <a:solidFill>
                            <a:srgbClr val="3B2A54"/>
                          </a:solidFill>
                          <a:latin typeface="Arial"/>
                        </a:rPr>
                        <a:t>ASSUMPTION</a:t>
                      </a:r>
                    </a:p>
                  </a:txBody>
                  <a:tcPr marL="64008" marR="64008" marT="36576" marB="36576" anchor="ctr">
                    <a:solidFill>
                      <a:srgbClr val="FFFFFF"/>
                    </a:solidFill>
                  </a:tcPr>
                </a:tc>
                <a:tc>
                  <a:txBody>
                    <a:bodyPr wrap="square"/>
                    <a:lstStyle/>
                    <a:p>
                      <a:r>
                        <a:rPr sz="1050" b="0">
                          <a:solidFill>
                            <a:srgbClr val="3B2A54"/>
                          </a:solidFill>
                          <a:latin typeface="Arial"/>
                        </a:rPr>
                        <a:t>Case brief is silent</a:t>
                      </a:r>
                    </a:p>
                  </a:txBody>
                  <a:tcPr marL="64008" marR="64008" marT="36576" marB="36576" anchor="ctr">
                    <a:solidFill>
                      <a:srgbClr val="FFFFFF"/>
                    </a:solidFill>
                  </a:tcPr>
                </a:tc>
              </a:tr>
              <a:tr h="393192">
                <a:tc>
                  <a:txBody>
                    <a:bodyPr wrap="square"/>
                    <a:lstStyle/>
                    <a:p>
                      <a:r>
                        <a:rPr sz="1050" b="1">
                          <a:solidFill>
                            <a:srgbClr val="11052C"/>
                          </a:solidFill>
                          <a:latin typeface="Arial"/>
                        </a:rPr>
                        <a:t>A5</a:t>
                      </a:r>
                    </a:p>
                  </a:txBody>
                  <a:tcPr marL="64008" marR="64008" marT="36576" marB="36576" anchor="ctr">
                    <a:solidFill>
                      <a:srgbClr val="F7F2FD"/>
                    </a:solidFill>
                  </a:tcPr>
                </a:tc>
                <a:tc>
                  <a:txBody>
                    <a:bodyPr wrap="square"/>
                    <a:lstStyle/>
                    <a:p>
                      <a:r>
                        <a:rPr sz="1050" b="0">
                          <a:solidFill>
                            <a:srgbClr val="3B2A54"/>
                          </a:solidFill>
                          <a:latin typeface="Arial"/>
                        </a:rPr>
                        <a:t>$8M of the asks can be met on the shared platform at near-zero marginal cost; what Engineering cannot confirm moves to the case track, never above the cap.</a:t>
                      </a:r>
                    </a:p>
                  </a:txBody>
                  <a:tcPr marL="64008" marR="64008" marT="36576" marB="36576" anchor="ctr">
                    <a:solidFill>
                      <a:srgbClr val="F7F2FD"/>
                    </a:solidFill>
                  </a:tcPr>
                </a:tc>
                <a:tc>
                  <a:txBody>
                    <a:bodyPr wrap="square"/>
                    <a:lstStyle/>
                    <a:p>
                      <a:r>
                        <a:rPr sz="1050" b="0">
                          <a:solidFill>
                            <a:srgbClr val="3B2A54"/>
                          </a:solidFill>
                          <a:latin typeface="Arial"/>
                        </a:rPr>
                        <a:t>ASSUMPTION</a:t>
                      </a:r>
                    </a:p>
                  </a:txBody>
                  <a:tcPr marL="64008" marR="64008" marT="36576" marB="36576" anchor="ctr">
                    <a:solidFill>
                      <a:srgbClr val="F7F2FD"/>
                    </a:solidFill>
                  </a:tcPr>
                </a:tc>
                <a:tc>
                  <a:txBody>
                    <a:bodyPr wrap="square"/>
                    <a:lstStyle/>
                    <a:p>
                      <a:r>
                        <a:rPr sz="1050" b="0">
                          <a:solidFill>
                            <a:srgbClr val="3B2A54"/>
                          </a:solidFill>
                          <a:latin typeface="Arial"/>
                        </a:rPr>
                        <a:t>My estimate</a:t>
                      </a:r>
                    </a:p>
                  </a:txBody>
                  <a:tcPr marL="64008" marR="64008" marT="36576" marB="36576" anchor="ctr">
                    <a:solidFill>
                      <a:srgbClr val="F7F2FD"/>
                    </a:solidFill>
                  </a:tcPr>
                </a:tc>
              </a:tr>
              <a:tr h="393192">
                <a:tc>
                  <a:txBody>
                    <a:bodyPr wrap="square"/>
                    <a:lstStyle/>
                    <a:p>
                      <a:r>
                        <a:rPr sz="1050" b="1">
                          <a:solidFill>
                            <a:srgbClr val="11052C"/>
                          </a:solidFill>
                          <a:latin typeface="Arial"/>
                        </a:rPr>
                        <a:t>A6</a:t>
                      </a:r>
                    </a:p>
                  </a:txBody>
                  <a:tcPr marL="64008" marR="64008" marT="36576" marB="36576" anchor="ctr">
                    <a:solidFill>
                      <a:srgbClr val="FFFFFF"/>
                    </a:solidFill>
                  </a:tcPr>
                </a:tc>
                <a:tc>
                  <a:txBody>
                    <a:bodyPr wrap="square"/>
                    <a:lstStyle/>
                    <a:p>
                      <a:r>
                        <a:rPr sz="1050" b="0">
                          <a:solidFill>
                            <a:srgbClr val="3B2A54"/>
                          </a:solidFill>
                          <a:latin typeface="Arial"/>
                        </a:rPr>
                        <a:t>Spend above $25M only from H1 profit above plan, inside the ~20% guide, with NPL 90+ on plan. The CFO decides; Risk can block; IR sets the disclosure.</a:t>
                      </a:r>
                    </a:p>
                  </a:txBody>
                  <a:tcPr marL="64008" marR="64008" marT="36576" marB="36576" anchor="ctr">
                    <a:solidFill>
                      <a:srgbClr val="FFFFFF"/>
                    </a:solidFill>
                  </a:tcPr>
                </a:tc>
                <a:tc>
                  <a:txBody>
                    <a:bodyPr wrap="square"/>
                    <a:lstStyle/>
                    <a:p>
                      <a:r>
                        <a:rPr sz="1050" b="0">
                          <a:solidFill>
                            <a:srgbClr val="3B2A54"/>
                          </a:solidFill>
                          <a:latin typeface="Arial"/>
                        </a:rPr>
                        <a:t>RULE (proposed)</a:t>
                      </a:r>
                    </a:p>
                  </a:txBody>
                  <a:tcPr marL="64008" marR="64008" marT="36576" marB="36576" anchor="ctr">
                    <a:solidFill>
                      <a:srgbClr val="FFFFFF"/>
                    </a:solidFill>
                  </a:tcPr>
                </a:tc>
                <a:tc>
                  <a:txBody>
                    <a:bodyPr wrap="square"/>
                    <a:lstStyle/>
                    <a:p>
                      <a:r>
                        <a:rPr sz="1050" b="0">
                          <a:solidFill>
                            <a:srgbClr val="3B2A54"/>
                          </a:solidFill>
                          <a:latin typeface="Arial"/>
                        </a:rPr>
                        <a:t>To agree with the CFO</a:t>
                      </a:r>
                    </a:p>
                  </a:txBody>
                  <a:tcPr marL="64008" marR="64008" marT="36576" marB="36576" anchor="ctr">
                    <a:solidFill>
                      <a:srgbClr val="FFFFFF"/>
                    </a:solidFill>
                  </a:tcPr>
                </a:tc>
              </a:tr>
              <a:tr h="393192">
                <a:tc>
                  <a:txBody>
                    <a:bodyPr wrap="square"/>
                    <a:lstStyle/>
                    <a:p>
                      <a:r>
                        <a:rPr sz="1050" b="1">
                          <a:solidFill>
                            <a:srgbClr val="11052C"/>
                          </a:solidFill>
                          <a:latin typeface="Arial"/>
                        </a:rPr>
                        <a:t>A10</a:t>
                      </a:r>
                    </a:p>
                  </a:txBody>
                  <a:tcPr marL="64008" marR="64008" marT="36576" marB="36576" anchor="ctr">
                    <a:solidFill>
                      <a:srgbClr val="F7F2FD"/>
                    </a:solidFill>
                  </a:tcPr>
                </a:tc>
                <a:tc>
                  <a:txBody>
                    <a:bodyPr wrap="square"/>
                    <a:lstStyle/>
                    <a:p>
                      <a:r>
                        <a:rPr sz="1050" b="0">
                          <a:solidFill>
                            <a:srgbClr val="3B2A54"/>
                          </a:solidFill>
                          <a:latin typeface="Arial"/>
                        </a:rPr>
                        <a:t>The cap is FY27's: first release on 1 Jan 2027, second at Q1 close (31 Mar), the reserve at H1 close. The hub needs 4-6 people.</a:t>
                      </a:r>
                    </a:p>
                  </a:txBody>
                  <a:tcPr marL="64008" marR="64008" marT="36576" marB="36576" anchor="ctr">
                    <a:solidFill>
                      <a:srgbClr val="F7F2FD"/>
                    </a:solidFill>
                  </a:tcPr>
                </a:tc>
                <a:tc>
                  <a:txBody>
                    <a:bodyPr wrap="square"/>
                    <a:lstStyle/>
                    <a:p>
                      <a:r>
                        <a:rPr sz="1050" b="0">
                          <a:solidFill>
                            <a:srgbClr val="3B2A54"/>
                          </a:solidFill>
                          <a:latin typeface="Arial"/>
                        </a:rPr>
                        <a:t>ASSUMPTION</a:t>
                      </a:r>
                    </a:p>
                  </a:txBody>
                  <a:tcPr marL="64008" marR="64008" marT="36576" marB="36576" anchor="ctr">
                    <a:solidFill>
                      <a:srgbClr val="F7F2FD"/>
                    </a:solidFill>
                  </a:tcPr>
                </a:tc>
                <a:tc>
                  <a:txBody>
                    <a:bodyPr wrap="square"/>
                    <a:lstStyle/>
                    <a:p>
                      <a:r>
                        <a:rPr sz="1050" b="0">
                          <a:solidFill>
                            <a:srgbClr val="3B2A54"/>
                          </a:solidFill>
                          <a:latin typeface="Arial"/>
                        </a:rPr>
                        <a:t>Calendar fiscal year; sizing is mine</a:t>
                      </a:r>
                    </a:p>
                  </a:txBody>
                  <a:tcPr marL="64008" marR="64008" marT="36576" marB="36576" anchor="ctr">
                    <a:solidFill>
                      <a:srgbClr val="F7F2FD"/>
                    </a:solidFill>
                  </a:tcPr>
                </a:tc>
              </a:tr>
              <a:tr h="393192">
                <a:tc>
                  <a:txBody>
                    <a:bodyPr wrap="square"/>
                    <a:lstStyle/>
                    <a:p>
                      <a:r>
                        <a:rPr sz="1050" b="1">
                          <a:solidFill>
                            <a:srgbClr val="11052C"/>
                          </a:solidFill>
                          <a:latin typeface="Arial"/>
                        </a:rPr>
                        <a:t>A12</a:t>
                      </a:r>
                    </a:p>
                  </a:txBody>
                  <a:tcPr marL="64008" marR="64008" marT="36576" marB="36576" anchor="ctr">
                    <a:solidFill>
                      <a:srgbClr val="FFFFFF"/>
                    </a:solidFill>
                  </a:tcPr>
                </a:tc>
                <a:tc>
                  <a:txBody>
                    <a:bodyPr wrap="square"/>
                    <a:lstStyle/>
                    <a:p>
                      <a:r>
                        <a:rPr sz="1050" b="0">
                          <a:solidFill>
                            <a:srgbClr val="3B2A54"/>
                          </a:solidFill>
                          <a:latin typeface="Arial"/>
                        </a:rPr>
                        <a:t>Net new FY27 cost for the hub and the HQ is small and is funded inside the $25M before the GM releases. If it is material, the second release shrinks by that amount.</a:t>
                      </a:r>
                    </a:p>
                  </a:txBody>
                  <a:tcPr marL="64008" marR="64008" marT="36576" marB="36576" anchor="ctr">
                    <a:solidFill>
                      <a:srgbClr val="FFFFFF"/>
                    </a:solidFill>
                  </a:tcPr>
                </a:tc>
                <a:tc>
                  <a:txBody>
                    <a:bodyPr wrap="square"/>
                    <a:lstStyle/>
                    <a:p>
                      <a:r>
                        <a:rPr sz="1050" b="0">
                          <a:solidFill>
                            <a:srgbClr val="3B2A54"/>
                          </a:solidFill>
                          <a:latin typeface="Arial"/>
                        </a:rPr>
                        <a:t>ASSUMPTION</a:t>
                      </a:r>
                    </a:p>
                  </a:txBody>
                  <a:tcPr marL="64008" marR="64008" marT="36576" marB="36576" anchor="ctr">
                    <a:solidFill>
                      <a:srgbClr val="FFFFFF"/>
                    </a:solidFill>
                  </a:tcPr>
                </a:tc>
                <a:tc>
                  <a:txBody>
                    <a:bodyPr wrap="square"/>
                    <a:lstStyle/>
                    <a:p>
                      <a:r>
                        <a:rPr sz="1050" b="0">
                          <a:solidFill>
                            <a:srgbClr val="3B2A54"/>
                          </a:solidFill>
                          <a:latin typeface="Arial"/>
                        </a:rPr>
                        <a:t>To size with the CFO this week</a:t>
                      </a:r>
                    </a:p>
                  </a:txBody>
                  <a:tcPr marL="64008" marR="64008" marT="36576" marB="36576" anchor="ctr">
                    <a:solidFill>
                      <a:srgbClr val="FFFFFF"/>
                    </a:solidFill>
                  </a:tcPr>
                </a:tc>
              </a:tr>
            </a:tbl>
          </a:graphicData>
        </a:graphic>
      </p:graphicFrame>
      <p:sp>
        <p:nvSpPr>
          <p:cNvPr id="5" name="TextBox 4"/>
          <p:cNvSpPr txBox="1"/>
          <p:nvPr/>
        </p:nvSpPr>
        <p:spPr>
          <a:xfrm>
            <a:off x="612648" y="5806440"/>
            <a:ext cx="10515600" cy="548640"/>
          </a:xfrm>
          <a:prstGeom prst="rect">
            <a:avLst/>
          </a:prstGeom>
          <a:noFill/>
        </p:spPr>
        <p:txBody>
          <a:bodyPr wrap="square" anchor="t">
            <a:spAutoFit/>
          </a:bodyPr>
          <a:lstStyle/>
          <a:p>
            <a:pPr algn="l"/>
            <a:r>
              <a:rPr sz="900" b="0">
                <a:solidFill>
                  <a:srgbClr val="6B5B82"/>
                </a:solidFill>
                <a:latin typeface="Arial"/>
              </a:rPr>
              <a:t>Confirming now: the real MTeam positions; the Board and committee calendar; who owns the planning model; local-CFO decision rights in Mexico and Colombia; the HQ project's status and whether a site shortlist exists; today's cycle time and forecast accuracy. Full list A1-A13: backup A.</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1  //  PLANNING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Staged release beats flat cuts: the precedent matters more than the $35M</a:t>
            </a:r>
          </a:p>
        </p:txBody>
      </p:sp>
      <p:sp>
        <p:nvSpPr>
          <p:cNvPr id="4" name="Rounded Rectangle 3"/>
          <p:cNvSpPr/>
          <p:nvPr/>
        </p:nvSpPr>
        <p:spPr>
          <a:xfrm>
            <a:off x="612648" y="1600200"/>
            <a:ext cx="3108960" cy="4389120"/>
          </a:xfrm>
          <a:prstGeom prst="roundRect">
            <a:avLst>
              <a:gd name="adj" fmla="val 5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31520" y="1737360"/>
            <a:ext cx="2880360" cy="274320"/>
          </a:xfrm>
          <a:prstGeom prst="rect">
            <a:avLst/>
          </a:prstGeom>
          <a:noFill/>
        </p:spPr>
        <p:txBody>
          <a:bodyPr wrap="square" anchor="t">
            <a:spAutoFit/>
          </a:bodyPr>
          <a:lstStyle/>
          <a:p>
            <a:pPr algn="ctr"/>
            <a:r>
              <a:rPr sz="1000" b="1">
                <a:solidFill>
                  <a:srgbClr val="C084FC"/>
                </a:solidFill>
                <a:latin typeface="Arial"/>
              </a:rPr>
              <a:t>THE GAP</a:t>
            </a:r>
          </a:p>
        </p:txBody>
      </p:sp>
      <p:sp>
        <p:nvSpPr>
          <p:cNvPr id="6" name="TextBox 5"/>
          <p:cNvSpPr txBox="1"/>
          <p:nvPr/>
        </p:nvSpPr>
        <p:spPr>
          <a:xfrm>
            <a:off x="731520" y="2011680"/>
            <a:ext cx="2880360" cy="960120"/>
          </a:xfrm>
          <a:prstGeom prst="rect">
            <a:avLst/>
          </a:prstGeom>
          <a:noFill/>
        </p:spPr>
        <p:txBody>
          <a:bodyPr wrap="square" anchor="t">
            <a:spAutoFit/>
          </a:bodyPr>
          <a:lstStyle/>
          <a:p>
            <a:pPr algn="ctr"/>
            <a:r>
              <a:rPr sz="5800" b="1">
                <a:solidFill>
                  <a:srgbClr val="FFFFFF"/>
                </a:solidFill>
                <a:latin typeface="Arial"/>
              </a:rPr>
              <a:t>$35M</a:t>
            </a:r>
          </a:p>
        </p:txBody>
      </p:sp>
      <p:sp>
        <p:nvSpPr>
          <p:cNvPr id="7" name="TextBox 6"/>
          <p:cNvSpPr txBox="1"/>
          <p:nvPr/>
        </p:nvSpPr>
        <p:spPr>
          <a:xfrm>
            <a:off x="777240" y="3017520"/>
            <a:ext cx="2788920" cy="1417320"/>
          </a:xfrm>
          <a:prstGeom prst="rect">
            <a:avLst/>
          </a:prstGeom>
          <a:noFill/>
        </p:spPr>
        <p:txBody>
          <a:bodyPr wrap="square" anchor="t">
            <a:spAutoFit/>
          </a:bodyPr>
          <a:lstStyle/>
          <a:p>
            <a:pPr algn="ctr">
              <a:spcAft>
                <a:spcPts val="600"/>
              </a:spcAft>
            </a:pPr>
            <a:r>
              <a:rPr sz="1250" b="0">
                <a:solidFill>
                  <a:srgbClr val="E9D5FF"/>
                </a:solidFill>
                <a:latin typeface="Arial"/>
              </a:rPr>
              <a:t>$60M of asks against a $25M cap.</a:t>
            </a:r>
          </a:p>
          <a:p>
            <a:pPr algn="ctr">
              <a:spcAft>
                <a:spcPts val="300"/>
              </a:spcAft>
            </a:pPr>
            <a:r>
              <a:rPr sz="1250" b="0">
                <a:solidFill>
                  <a:srgbClr val="E9D5FF"/>
                </a:solidFill>
                <a:latin typeface="Arial"/>
              </a:rPr>
              <a:t>About 15 bps of annualized revenue.</a:t>
            </a:r>
          </a:p>
          <a:p>
            <a:pPr algn="ctr">
              <a:spcAft>
                <a:spcPts val="300"/>
              </a:spcAft>
            </a:pPr>
            <a:r>
              <a:rPr sz="1250" b="0">
                <a:solidFill>
                  <a:srgbClr val="E9D5FF"/>
                </a:solidFill>
                <a:latin typeface="Arial"/>
              </a:rPr>
              <a:t>About 1.1% of annual opex.</a:t>
            </a:r>
          </a:p>
          <a:p>
            <a:pPr algn="ctr">
              <a:spcAft>
                <a:spcPts val="300"/>
              </a:spcAft>
            </a:pPr>
            <a:r>
              <a:rPr sz="1250" b="0">
                <a:solidFill>
                  <a:srgbClr val="E9D5FF"/>
                </a:solidFill>
                <a:latin typeface="Arial"/>
              </a:rPr>
              <a:t>About 0.2 points of efficiency ratio.</a:t>
            </a:r>
          </a:p>
        </p:txBody>
      </p:sp>
      <p:sp>
        <p:nvSpPr>
          <p:cNvPr id="8" name="TextBox 7"/>
          <p:cNvSpPr txBox="1"/>
          <p:nvPr/>
        </p:nvSpPr>
        <p:spPr>
          <a:xfrm>
            <a:off x="777240" y="4526280"/>
            <a:ext cx="2788920" cy="1371600"/>
          </a:xfrm>
          <a:prstGeom prst="rect">
            <a:avLst/>
          </a:prstGeom>
          <a:noFill/>
        </p:spPr>
        <p:txBody>
          <a:bodyPr wrap="square" anchor="t">
            <a:spAutoFit/>
          </a:bodyPr>
          <a:lstStyle/>
          <a:p>
            <a:pPr algn="ctr"/>
            <a:r>
              <a:rPr sz="1050" b="0">
                <a:solidFill>
                  <a:srgbClr val="E9D5FF"/>
                </a:solidFill>
                <a:latin typeface="Arial"/>
              </a:rPr>
              <a:t>Efficiency ratio 19.5% in Q2'26 (17.6% in Q1); FY26 expected near 20%. Cost to serve $1.0 a month ($0.8 a year earlier) against $17.1 of ARPAC.</a:t>
            </a:r>
          </a:p>
        </p:txBody>
      </p:sp>
      <p:sp>
        <p:nvSpPr>
          <p:cNvPr id="9" name="TextBox 8"/>
          <p:cNvSpPr txBox="1"/>
          <p:nvPr/>
        </p:nvSpPr>
        <p:spPr>
          <a:xfrm>
            <a:off x="3931920" y="1554480"/>
            <a:ext cx="7498079" cy="1097280"/>
          </a:xfrm>
          <a:prstGeom prst="rect">
            <a:avLst/>
          </a:prstGeom>
          <a:noFill/>
        </p:spPr>
        <p:txBody>
          <a:bodyPr wrap="square" anchor="t">
            <a:spAutoFit/>
          </a:bodyPr>
          <a:lstStyle/>
          <a:p>
            <a:pPr algn="l">
              <a:spcAft>
                <a:spcPts val="300"/>
              </a:spcAft>
            </a:pPr>
            <a:r>
              <a:rPr sz="1400" b="1">
                <a:solidFill>
                  <a:srgbClr val="820AD1"/>
                </a:solidFill>
                <a:latin typeface="Arial"/>
              </a:rPr>
              <a:t>What is broken today</a:t>
            </a:r>
          </a:p>
          <a:p>
            <a:pPr algn="l"/>
            <a:r>
              <a:rPr sz="1200" b="0">
                <a:solidFill>
                  <a:srgbClr val="3B2A54"/>
                </a:solidFill>
                <a:latin typeface="Arial"/>
              </a:rPr>
              <a:t>Asks arrive as one $60M number, with no shared template, no shared data and a cap set top-down. So the argument is about the number, never the evidence. This first central cycle decides whether GMs bring real cases next year or pad their asks.</a:t>
            </a:r>
          </a:p>
        </p:txBody>
      </p:sp>
      <p:graphicFrame>
        <p:nvGraphicFramePr>
          <p:cNvPr id="10" name="Table 9"/>
          <p:cNvGraphicFramePr>
            <a:graphicFrameLocks noGrp="1"/>
          </p:cNvGraphicFramePr>
          <p:nvPr/>
        </p:nvGraphicFramePr>
        <p:xfrm>
          <a:off x="3931920" y="2743200"/>
          <a:ext cx="7498080" cy="1560576"/>
        </p:xfrm>
        <a:graphic>
          <a:graphicData uri="http://schemas.openxmlformats.org/drawingml/2006/table">
            <a:tbl>
              <a:tblPr>
                <a:tableStyleId>{5C22544A-7EE6-4342-B048-85BDC9FD1C3A}</a:tableStyleId>
              </a:tblPr>
              <a:tblGrid>
                <a:gridCol w="3383280"/>
                <a:gridCol w="731520"/>
                <a:gridCol w="3383280"/>
              </a:tblGrid>
              <a:tr h="384048">
                <a:tc>
                  <a:txBody>
                    <a:bodyPr wrap="square"/>
                    <a:lstStyle/>
                    <a:p>
                      <a:r>
                        <a:rPr sz="1100" b="1">
                          <a:solidFill>
                            <a:srgbClr val="FFFFFF"/>
                          </a:solidFill>
                          <a:latin typeface="Arial"/>
                        </a:rPr>
                        <a:t>Three ways to close the gap</a:t>
                      </a:r>
                    </a:p>
                  </a:txBody>
                  <a:tcPr marL="64008" marR="64008" marT="36576" marB="36576" anchor="ctr">
                    <a:solidFill>
                      <a:srgbClr val="820AD1"/>
                    </a:solidFill>
                  </a:tcPr>
                </a:tc>
                <a:tc>
                  <a:txBody>
                    <a:bodyPr wrap="square"/>
                    <a:lstStyle/>
                    <a:p>
                      <a:r>
                        <a:rPr sz="1100" b="1">
                          <a:solidFill>
                            <a:srgbClr val="FFFFFF"/>
                          </a:solidFill>
                          <a:latin typeface="Arial"/>
                        </a:rPr>
                        <a:t>Score</a:t>
                      </a:r>
                    </a:p>
                  </a:txBody>
                  <a:tcPr marL="64008" marR="64008" marT="36576" marB="36576" anchor="ctr">
                    <a:solidFill>
                      <a:srgbClr val="820AD1"/>
                    </a:solidFill>
                  </a:tcPr>
                </a:tc>
                <a:tc>
                  <a:txBody>
                    <a:bodyPr wrap="square"/>
                    <a:lstStyle/>
                    <a:p>
                      <a:r>
                        <a:rPr sz="1100" b="1">
                          <a:solidFill>
                            <a:srgbClr val="FFFFFF"/>
                          </a:solidFill>
                          <a:latin typeface="Arial"/>
                        </a:rPr>
                        <a:t>Why</a:t>
                      </a:r>
                    </a:p>
                  </a:txBody>
                  <a:tcPr marL="64008" marR="64008" marT="36576" marB="36576" anchor="ctr">
                    <a:solidFill>
                      <a:srgbClr val="820AD1"/>
                    </a:solidFill>
                  </a:tcPr>
                </a:tc>
              </a:tr>
              <a:tr h="384048">
                <a:tc>
                  <a:txBody>
                    <a:bodyPr wrap="square"/>
                    <a:lstStyle/>
                    <a:p>
                      <a:r>
                        <a:rPr sz="1100" b="1">
                          <a:solidFill>
                            <a:srgbClr val="11052C"/>
                          </a:solidFill>
                          <a:latin typeface="Arial"/>
                        </a:rPr>
                        <a:t>Equal cut</a:t>
                      </a:r>
                      <a:r>
                        <a:rPr sz="1100" b="0">
                          <a:solidFill>
                            <a:srgbClr val="11052C"/>
                          </a:solidFill>
                          <a:latin typeface="Arial"/>
                        </a:rPr>
                        <a:t> (every unit gets 42% of its ask)</a:t>
                      </a:r>
                    </a:p>
                  </a:txBody>
                  <a:tcPr marL="64008" marR="64008" marT="36576" marB="36576" anchor="ctr">
                    <a:solidFill>
                      <a:srgbClr val="FFFFFF"/>
                    </a:solidFill>
                  </a:tcPr>
                </a:tc>
                <a:tc>
                  <a:txBody>
                    <a:bodyPr wrap="square"/>
                    <a:lstStyle/>
                    <a:p>
                      <a:r>
                        <a:rPr sz="1100" b="0">
                          <a:solidFill>
                            <a:srgbClr val="3B2A54"/>
                          </a:solidFill>
                          <a:latin typeface="Arial"/>
                        </a:rPr>
                        <a:t>57.8</a:t>
                      </a:r>
                    </a:p>
                  </a:txBody>
                  <a:tcPr marL="64008" marR="64008" marT="36576" marB="36576" anchor="ctr">
                    <a:solidFill>
                      <a:srgbClr val="FFFFFF"/>
                    </a:solidFill>
                  </a:tcPr>
                </a:tc>
                <a:tc>
                  <a:txBody>
                    <a:bodyPr wrap="square"/>
                    <a:lstStyle/>
                    <a:p>
                      <a:r>
                        <a:rPr sz="1100" b="0">
                          <a:solidFill>
                            <a:srgbClr val="3B2A54"/>
                          </a:solidFill>
                          <a:latin typeface="Arial"/>
                        </a:rPr>
                        <a:t>Fast, and it teaches GMs to pad next year's ask</a:t>
                      </a:r>
                    </a:p>
                  </a:txBody>
                  <a:tcPr marL="64008" marR="64008" marT="36576" marB="36576" anchor="ctr">
                    <a:solidFill>
                      <a:srgbClr val="FFFFFF"/>
                    </a:solidFill>
                  </a:tcPr>
                </a:tc>
              </a:tr>
              <a:tr h="384048">
                <a:tc>
                  <a:txBody>
                    <a:bodyPr wrap="square"/>
                    <a:lstStyle/>
                    <a:p>
                      <a:r>
                        <a:rPr sz="1100" b="1">
                          <a:solidFill>
                            <a:srgbClr val="11052C"/>
                          </a:solidFill>
                          <a:latin typeface="Arial"/>
                        </a:rPr>
                        <a:t>Core markets first</a:t>
                      </a:r>
                      <a:r>
                        <a:rPr sz="1100" b="0">
                          <a:solidFill>
                            <a:srgbClr val="11052C"/>
                          </a:solidFill>
                          <a:latin typeface="Arial"/>
                        </a:rPr>
                        <a:t> (pause new bets)</a:t>
                      </a:r>
                    </a:p>
                  </a:txBody>
                  <a:tcPr marL="64008" marR="64008" marT="36576" marB="36576" anchor="ctr">
                    <a:solidFill>
                      <a:srgbClr val="F7F2FD"/>
                    </a:solidFill>
                  </a:tcPr>
                </a:tc>
                <a:tc>
                  <a:txBody>
                    <a:bodyPr wrap="square"/>
                    <a:lstStyle/>
                    <a:p>
                      <a:r>
                        <a:rPr sz="1100" b="0">
                          <a:solidFill>
                            <a:srgbClr val="3B2A54"/>
                          </a:solidFill>
                          <a:latin typeface="Arial"/>
                        </a:rPr>
                        <a:t>63.8</a:t>
                      </a:r>
                    </a:p>
                  </a:txBody>
                  <a:tcPr marL="64008" marR="64008" marT="36576" marB="36576" anchor="ctr">
                    <a:solidFill>
                      <a:srgbClr val="F7F2FD"/>
                    </a:solidFill>
                  </a:tcPr>
                </a:tc>
                <a:tc>
                  <a:txBody>
                    <a:bodyPr wrap="square"/>
                    <a:lstStyle/>
                    <a:p>
                      <a:r>
                        <a:rPr sz="1100" b="0">
                          <a:solidFill>
                            <a:srgbClr val="3B2A54"/>
                          </a:solidFill>
                          <a:latin typeface="Arial"/>
                        </a:rPr>
                        <a:t>Honest, but new bets get nothing to earn</a:t>
                      </a:r>
                    </a:p>
                  </a:txBody>
                  <a:tcPr marL="64008" marR="64008" marT="36576" marB="36576" anchor="ctr">
                    <a:solidFill>
                      <a:srgbClr val="F7F2FD"/>
                    </a:solidFill>
                  </a:tcPr>
                </a:tc>
              </a:tr>
              <a:tr h="408432">
                <a:tc>
                  <a:txBody>
                    <a:bodyPr wrap="square"/>
                    <a:lstStyle/>
                    <a:p>
                      <a:r>
                        <a:rPr sz="1100" b="1">
                          <a:solidFill>
                            <a:srgbClr val="11052C"/>
                          </a:solidFill>
                          <a:latin typeface="Arial"/>
                        </a:rPr>
                        <a:t>Business-case readiness and staged release</a:t>
                      </a:r>
                      <a:r>
                        <a:rPr sz="1100" b="0">
                          <a:solidFill>
                            <a:srgbClr val="11052C"/>
                          </a:solidFill>
                          <a:latin typeface="Arial"/>
                        </a:rPr>
                        <a:t> (recommended)</a:t>
                      </a:r>
                    </a:p>
                  </a:txBody>
                  <a:tcPr marL="64008" marR="64008" marT="36576" marB="36576" anchor="ctr">
                    <a:solidFill>
                      <a:srgbClr val="E9D5FF"/>
                    </a:solidFill>
                  </a:tcPr>
                </a:tc>
                <a:tc>
                  <a:txBody>
                    <a:bodyPr wrap="square"/>
                    <a:lstStyle/>
                    <a:p>
                      <a:r>
                        <a:rPr sz="1100" b="1">
                          <a:solidFill>
                            <a:srgbClr val="3B2A54"/>
                          </a:solidFill>
                          <a:latin typeface="Arial"/>
                        </a:rPr>
                        <a:t>91.8</a:t>
                      </a:r>
                    </a:p>
                  </a:txBody>
                  <a:tcPr marL="64008" marR="64008" marT="36576" marB="36576" anchor="ctr">
                    <a:solidFill>
                      <a:srgbClr val="E9D5FF"/>
                    </a:solidFill>
                  </a:tcPr>
                </a:tc>
                <a:tc>
                  <a:txBody>
                    <a:bodyPr wrap="square"/>
                    <a:lstStyle/>
                    <a:p>
                      <a:r>
                        <a:rPr sz="1100" b="0">
                          <a:solidFill>
                            <a:srgbClr val="3B2A54"/>
                          </a:solidFill>
                          <a:latin typeface="Arial"/>
                        </a:rPr>
                        <a:t>Wins on growth return, ownership and agility; loses only on speed</a:t>
                      </a:r>
                    </a:p>
                  </a:txBody>
                  <a:tcPr marL="64008" marR="64008" marT="36576" marB="36576" anchor="ctr">
                    <a:solidFill>
                      <a:srgbClr val="E9D5FF"/>
                    </a:solidFill>
                  </a:tcPr>
                </a:tc>
              </a:tr>
            </a:tbl>
          </a:graphicData>
        </a:graphic>
      </p:graphicFrame>
      <p:sp>
        <p:nvSpPr>
          <p:cNvPr id="11" name="TextBox 10"/>
          <p:cNvSpPr txBox="1"/>
          <p:nvPr/>
        </p:nvSpPr>
        <p:spPr>
          <a:xfrm>
            <a:off x="3931920" y="4440936"/>
            <a:ext cx="7498079" cy="1325880"/>
          </a:xfrm>
          <a:prstGeom prst="rect">
            <a:avLst/>
          </a:prstGeom>
          <a:noFill/>
        </p:spPr>
        <p:txBody>
          <a:bodyPr wrap="square" anchor="t">
            <a:spAutoFit/>
          </a:bodyPr>
          <a:lstStyle/>
          <a:p>
            <a:pPr algn="l">
              <a:spcAft>
                <a:spcPts val="300"/>
              </a:spcAft>
            </a:pPr>
            <a:r>
              <a:rPr sz="1400" b="1">
                <a:solidFill>
                  <a:srgbClr val="820AD1"/>
                </a:solidFill>
                <a:latin typeface="Arial"/>
              </a:rPr>
              <a:t>Budgets should work like Nu's credit</a:t>
            </a:r>
          </a:p>
          <a:p>
            <a:pPr algn="l"/>
            <a:r>
              <a:rPr sz="1200" b="0">
                <a:solidFill>
                  <a:srgbClr val="3B2A54"/>
                </a:solidFill>
                <a:latin typeface="Arial"/>
              </a:rPr>
              <a:t>Nu's 20-F describes low-and-grow: small limits, raised on behavior. Budgets get the same test-and-learn: start small, grow when four indicators hold: activation, 30-day retention, CAC and unit cost against plan. That is smart efficiency, run by owners.</a:t>
            </a:r>
          </a:p>
        </p:txBody>
      </p:sp>
      <p:sp>
        <p:nvSpPr>
          <p:cNvPr id="12" name="TextBox 11"/>
          <p:cNvSpPr txBox="1"/>
          <p:nvPr/>
        </p:nvSpPr>
        <p:spPr>
          <a:xfrm>
            <a:off x="612648" y="6126480"/>
            <a:ext cx="10515600" cy="594360"/>
          </a:xfrm>
          <a:prstGeom prst="rect">
            <a:avLst/>
          </a:prstGeom>
          <a:noFill/>
        </p:spPr>
        <p:txBody>
          <a:bodyPr wrap="square" anchor="t">
            <a:spAutoFit/>
          </a:bodyPr>
          <a:lstStyle/>
          <a:p>
            <a:pPr algn="l"/>
            <a:r>
              <a:rPr sz="900" b="0">
                <a:solidFill>
                  <a:srgbClr val="6B5B82"/>
                </a:solidFill>
                <a:latin typeface="Arial"/>
              </a:rPr>
              <a:t>Scores and weights are my judgment (A9); option 3 stays first if any single weight moves 10 points (backup C). Sources: Nu Q2'26 release and 6-K (opex $806.2M; net revenue ~$4.1B a quarter), Q2'26 call, Form 20-F. Calculations: the 15 bps is on managerial revenue, ~$23.5B annualized; the 1.1% is on opex, ~$3.2B annualized; the efficiency-ratio points are on Nu's denominator (NII plus fees).</a:t>
            </a:r>
          </a:p>
        </p:txBody>
      </p:sp>
      <p:sp>
        <p:nvSpPr>
          <p:cNvPr id="13" name="TextBox 12"/>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1  //  PLANNING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Five answers for $60M: fund now, stage, reallocate, defer or stop</a:t>
            </a:r>
          </a:p>
        </p:txBody>
      </p:sp>
      <p:graphicFrame>
        <p:nvGraphicFramePr>
          <p:cNvPr id="4" name="Chart 3"/>
          <p:cNvGraphicFramePr>
            <a:graphicFrameLocks noGrp="1"/>
          </p:cNvGraphicFramePr>
          <p:nvPr/>
        </p:nvGraphicFramePr>
        <p:xfrm>
          <a:off x="457200" y="1600200"/>
          <a:ext cx="6035040" cy="3840480"/>
        </p:xfrm>
        <a:graphic>
          <a:graphicData uri="http://schemas.openxmlformats.org/drawingml/2006/chart">
            <c:chart xmlns:c="http://schemas.openxmlformats.org/drawingml/2006/chart" r:id="rId2"/>
          </a:graphicData>
        </a:graphic>
      </p:graphicFrame>
      <p:sp>
        <p:nvSpPr>
          <p:cNvPr id="5" name="Rounded Rectangle 4"/>
          <p:cNvSpPr/>
          <p:nvPr/>
        </p:nvSpPr>
        <p:spPr>
          <a:xfrm>
            <a:off x="6675120" y="1645920"/>
            <a:ext cx="4754880" cy="14173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784848" y="1755648"/>
            <a:ext cx="4535424" cy="1234440"/>
          </a:xfrm>
          <a:prstGeom prst="rect">
            <a:avLst/>
          </a:prstGeom>
          <a:noFill/>
        </p:spPr>
        <p:txBody>
          <a:bodyPr wrap="square" anchor="t">
            <a:spAutoFit/>
          </a:bodyPr>
          <a:lstStyle/>
          <a:p>
            <a:pPr algn="l">
              <a:spcAft>
                <a:spcPts val="300"/>
              </a:spcAft>
            </a:pPr>
            <a:r>
              <a:rPr sz="950" b="1">
                <a:solidFill>
                  <a:srgbClr val="820AD1"/>
                </a:solidFill>
                <a:latin typeface="Arial"/>
              </a:rPr>
              <a:t>FUND NOW  //  FIRST RELEASE, 1 JAN 2027</a:t>
            </a:r>
          </a:p>
          <a:p>
            <a:pPr algn="l">
              <a:spcAft>
                <a:spcPts val="600"/>
              </a:spcAft>
            </a:pPr>
            <a:r>
              <a:rPr sz="1600" b="1">
                <a:solidFill>
                  <a:srgbClr val="11052C"/>
                </a:solidFill>
                <a:latin typeface="Arial"/>
              </a:rPr>
              <a:t>$15M</a:t>
            </a:r>
          </a:p>
          <a:p>
            <a:pPr algn="l">
              <a:spcAft>
                <a:spcPts val="400"/>
              </a:spcAft>
            </a:pPr>
            <a:r>
              <a:rPr sz="1200" b="0">
                <a:solidFill>
                  <a:srgbClr val="3B2A54"/>
                </a:solidFill>
                <a:latin typeface="Arial"/>
              </a:rPr>
              <a:t>$10.5M to core markets (70%) and $4.5M to new bets (30%), for cases already vetted.</a:t>
            </a:r>
          </a:p>
        </p:txBody>
      </p:sp>
      <p:sp>
        <p:nvSpPr>
          <p:cNvPr id="7" name="Rounded Rectangle 6"/>
          <p:cNvSpPr/>
          <p:nvPr/>
        </p:nvSpPr>
        <p:spPr>
          <a:xfrm>
            <a:off x="6675120" y="3154680"/>
            <a:ext cx="4754880" cy="14173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784848" y="3264408"/>
            <a:ext cx="4535424" cy="1234440"/>
          </a:xfrm>
          <a:prstGeom prst="rect">
            <a:avLst/>
          </a:prstGeom>
          <a:noFill/>
        </p:spPr>
        <p:txBody>
          <a:bodyPr wrap="square" anchor="t">
            <a:spAutoFit/>
          </a:bodyPr>
          <a:lstStyle/>
          <a:p>
            <a:pPr algn="l">
              <a:spcAft>
                <a:spcPts val="300"/>
              </a:spcAft>
            </a:pPr>
            <a:r>
              <a:rPr sz="950" b="1">
                <a:solidFill>
                  <a:srgbClr val="820AD1"/>
                </a:solidFill>
                <a:latin typeface="Arial"/>
              </a:rPr>
              <a:t>STAGE-GATE  //  SECOND RELEASE, 31 MAR</a:t>
            </a:r>
          </a:p>
          <a:p>
            <a:pPr algn="l">
              <a:spcAft>
                <a:spcPts val="600"/>
              </a:spcAft>
            </a:pPr>
            <a:r>
              <a:rPr sz="1600" b="1">
                <a:solidFill>
                  <a:srgbClr val="11052C"/>
                </a:solidFill>
                <a:latin typeface="Arial"/>
              </a:rPr>
              <a:t>$10M</a:t>
            </a:r>
          </a:p>
          <a:p>
            <a:pPr algn="l">
              <a:spcAft>
                <a:spcPts val="400"/>
              </a:spcAft>
            </a:pPr>
            <a:r>
              <a:rPr sz="1200" b="0">
                <a:solidFill>
                  <a:srgbClr val="3B2A54"/>
                </a:solidFill>
                <a:latin typeface="Arial"/>
              </a:rPr>
              <a:t>To units whose Q1 indicators hold, decided on Q1 data in early April. Completes the $25M.</a:t>
            </a:r>
          </a:p>
        </p:txBody>
      </p:sp>
      <p:sp>
        <p:nvSpPr>
          <p:cNvPr id="9" name="Rounded Rectangle 8"/>
          <p:cNvSpPr/>
          <p:nvPr/>
        </p:nvSpPr>
        <p:spPr>
          <a:xfrm>
            <a:off x="6675120" y="4663440"/>
            <a:ext cx="4754880" cy="14173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84848" y="4773168"/>
            <a:ext cx="4535424" cy="1234440"/>
          </a:xfrm>
          <a:prstGeom prst="rect">
            <a:avLst/>
          </a:prstGeom>
          <a:noFill/>
        </p:spPr>
        <p:txBody>
          <a:bodyPr wrap="square" anchor="t">
            <a:spAutoFit/>
          </a:bodyPr>
          <a:lstStyle/>
          <a:p>
            <a:pPr algn="l">
              <a:spcAft>
                <a:spcPts val="300"/>
              </a:spcAft>
            </a:pPr>
            <a:r>
              <a:rPr sz="950" b="1">
                <a:solidFill>
                  <a:srgbClr val="D97706"/>
                </a:solidFill>
                <a:latin typeface="Arial"/>
              </a:rPr>
              <a:t>DEFER  //  H2 RESERVE, NOT IN PLAN</a:t>
            </a:r>
          </a:p>
          <a:p>
            <a:pPr algn="l">
              <a:spcAft>
                <a:spcPts val="600"/>
              </a:spcAft>
            </a:pPr>
            <a:r>
              <a:rPr sz="1600" b="1">
                <a:solidFill>
                  <a:srgbClr val="11052C"/>
                </a:solidFill>
                <a:latin typeface="Arial"/>
              </a:rPr>
              <a:t>Up to $15M</a:t>
            </a:r>
          </a:p>
          <a:p>
            <a:pPr algn="l">
              <a:spcAft>
                <a:spcPts val="400"/>
              </a:spcAft>
            </a:pPr>
            <a:r>
              <a:rPr sz="1200" b="0">
                <a:solidFill>
                  <a:srgbClr val="3B2A54"/>
                </a:solidFill>
                <a:latin typeface="Arial"/>
              </a:rPr>
              <a:t>Only from H1 profit above plan, inside the ~20% guide, with NPL 90+ on plan. The CFO decides; Risk can block; IR sets the disclosure.</a:t>
            </a:r>
          </a:p>
        </p:txBody>
      </p:sp>
      <p:sp>
        <p:nvSpPr>
          <p:cNvPr id="11" name="TextBox 10"/>
          <p:cNvSpPr txBox="1"/>
          <p:nvPr/>
        </p:nvSpPr>
        <p:spPr>
          <a:xfrm>
            <a:off x="612648" y="6080760"/>
            <a:ext cx="10515600" cy="594360"/>
          </a:xfrm>
          <a:prstGeom prst="rect">
            <a:avLst/>
          </a:prstGeom>
          <a:noFill/>
        </p:spPr>
        <p:txBody>
          <a:bodyPr wrap="square" anchor="t">
            <a:spAutoFit/>
          </a:bodyPr>
          <a:lstStyle/>
          <a:p>
            <a:pPr algn="l"/>
            <a:r>
              <a:rPr sz="900" b="0">
                <a:solidFill>
                  <a:srgbClr val="6B5B82"/>
                </a:solidFill>
                <a:latin typeface="Arial"/>
              </a:rPr>
              <a:t>$8M of country asks reuse the shared code base at near-zero marginal cost (A5); anything Engineering cannot confirm moves to the case track, and the cap does not grow. $12M gets 60 days to a case with my team, then is funded, deferred or stopped. Stop is real: a unit below plan on two of four indicators has its second-release share held (slide 15).</a:t>
            </a:r>
          </a:p>
        </p:txBody>
      </p:sp>
      <p:sp>
        <p:nvSpPr>
          <p:cNvPr id="12" name="TextBox 11"/>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1  //  PLANNING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A lean hub and three meetings bring planning in-house</a:t>
            </a:r>
          </a:p>
        </p:txBody>
      </p:sp>
      <p:sp>
        <p:nvSpPr>
          <p:cNvPr id="4" name="Rounded Rectangle 3"/>
          <p:cNvSpPr/>
          <p:nvPr/>
        </p:nvSpPr>
        <p:spPr>
          <a:xfrm>
            <a:off x="612648" y="1600200"/>
            <a:ext cx="4206240" cy="31546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09928"/>
            <a:ext cx="3986783" cy="2971800"/>
          </a:xfrm>
          <a:prstGeom prst="rect">
            <a:avLst/>
          </a:prstGeom>
          <a:noFill/>
        </p:spPr>
        <p:txBody>
          <a:bodyPr wrap="square" anchor="t">
            <a:spAutoFit/>
          </a:bodyPr>
          <a:lstStyle/>
          <a:p>
            <a:pPr algn="l">
              <a:spcAft>
                <a:spcPts val="300"/>
              </a:spcAft>
            </a:pPr>
            <a:r>
              <a:rPr sz="950" b="1">
                <a:solidFill>
                  <a:srgbClr val="820AD1"/>
                </a:solidFill>
                <a:latin typeface="Arial"/>
              </a:rPr>
              <a:t>THE HUB</a:t>
            </a:r>
          </a:p>
          <a:p>
            <a:pPr algn="l">
              <a:spcAft>
                <a:spcPts val="600"/>
              </a:spcAft>
            </a:pPr>
            <a:r>
              <a:rPr sz="1500" b="1">
                <a:solidFill>
                  <a:srgbClr val="11052C"/>
                </a:solidFill>
                <a:latin typeface="Arial"/>
              </a:rPr>
              <a:t>A planning hub of 4-6 people (A10)</a:t>
            </a:r>
          </a:p>
          <a:p>
            <a:pPr algn="l">
              <a:spcAft>
                <a:spcPts val="400"/>
              </a:spcAft>
            </a:pPr>
            <a:r>
              <a:rPr sz="1150" b="0">
                <a:solidFill>
                  <a:srgbClr val="3B2A54"/>
                </a:solidFill>
                <a:latin typeface="Arial"/>
              </a:rPr>
              <a:t>One planning model, read straight from Nu's data platform.</a:t>
            </a:r>
          </a:p>
          <a:p>
            <a:pPr algn="l">
              <a:spcAft>
                <a:spcPts val="400"/>
              </a:spcAft>
            </a:pPr>
            <a:r>
              <a:rPr sz="1150" b="0">
                <a:solidFill>
                  <a:srgbClr val="3B2A54"/>
                </a:solidFill>
                <a:latin typeface="Arial"/>
              </a:rPr>
              <a:t>Its KPIs: cycle time under 40 days, forecast accuracy, and 100% of spend with an approved case.</a:t>
            </a:r>
          </a:p>
          <a:p>
            <a:pPr algn="l">
              <a:spcAft>
                <a:spcPts val="400"/>
              </a:spcAft>
            </a:pPr>
            <a:r>
              <a:rPr sz="1150" b="0">
                <a:solidFill>
                  <a:srgbClr val="3B2A54"/>
                </a:solidFill>
                <a:latin typeface="Arial"/>
              </a:rPr>
              <a:t>Finance partners in each market and vertical: solid line to the hub, dotted line to the GM, in place by late November.</a:t>
            </a:r>
          </a:p>
          <a:p>
            <a:pPr algn="l">
              <a:spcAft>
                <a:spcPts val="400"/>
              </a:spcAft>
            </a:pPr>
            <a:r>
              <a:rPr sz="1150" b="0">
                <a:solidFill>
                  <a:srgbClr val="3B2A54"/>
                </a:solidFill>
                <a:latin typeface="Arial"/>
              </a:rPr>
              <a:t>A PMO agent and a review agent do the consolidation (backup H). I hire for modeling and plain-English writing.</a:t>
            </a:r>
          </a:p>
        </p:txBody>
      </p:sp>
      <p:graphicFrame>
        <p:nvGraphicFramePr>
          <p:cNvPr id="6" name="Table 5"/>
          <p:cNvGraphicFramePr>
            <a:graphicFrameLocks noGrp="1"/>
          </p:cNvGraphicFramePr>
          <p:nvPr/>
        </p:nvGraphicFramePr>
        <p:xfrm>
          <a:off x="5029200" y="1600200"/>
          <a:ext cx="6400800" cy="1563624"/>
        </p:xfrm>
        <a:graphic>
          <a:graphicData uri="http://schemas.openxmlformats.org/drawingml/2006/table">
            <a:tbl>
              <a:tblPr>
                <a:tableStyleId>{5C22544A-7EE6-4342-B048-85BDC9FD1C3A}</a:tableStyleId>
              </a:tblPr>
              <a:tblGrid>
                <a:gridCol w="1965960"/>
                <a:gridCol w="2057400"/>
                <a:gridCol w="2377440"/>
              </a:tblGrid>
              <a:tr h="384048">
                <a:tc>
                  <a:txBody>
                    <a:bodyPr wrap="square"/>
                    <a:lstStyle/>
                    <a:p>
                      <a:r>
                        <a:rPr sz="1100" b="1">
                          <a:solidFill>
                            <a:srgbClr val="FFFFFF"/>
                          </a:solidFill>
                          <a:latin typeface="Arial"/>
                        </a:rPr>
                        <a:t>Meeting</a:t>
                      </a:r>
                    </a:p>
                  </a:txBody>
                  <a:tcPr marL="64008" marR="64008" marT="36576" marB="36576" anchor="ctr">
                    <a:solidFill>
                      <a:srgbClr val="820AD1"/>
                    </a:solidFill>
                  </a:tcPr>
                </a:tc>
                <a:tc>
                  <a:txBody>
                    <a:bodyPr wrap="square"/>
                    <a:lstStyle/>
                    <a:p>
                      <a:r>
                        <a:rPr sz="1100" b="1">
                          <a:solidFill>
                            <a:srgbClr val="FFFFFF"/>
                          </a:solidFill>
                          <a:latin typeface="Arial"/>
                        </a:rPr>
                        <a:t>Who runs it</a:t>
                      </a:r>
                    </a:p>
                  </a:txBody>
                  <a:tcPr marL="64008" marR="64008" marT="36576" marB="36576" anchor="ctr">
                    <a:solidFill>
                      <a:srgbClr val="820AD1"/>
                    </a:solidFill>
                  </a:tcPr>
                </a:tc>
                <a:tc>
                  <a:txBody>
                    <a:bodyPr wrap="square"/>
                    <a:lstStyle/>
                    <a:p>
                      <a:r>
                        <a:rPr sz="1100" b="1">
                          <a:solidFill>
                            <a:srgbClr val="FFFFFF"/>
                          </a:solidFill>
                          <a:latin typeface="Arial"/>
                        </a:rPr>
                        <a:t>Output</a:t>
                      </a:r>
                    </a:p>
                  </a:txBody>
                  <a:tcPr marL="64008" marR="64008" marT="36576" marB="36576" anchor="ctr">
                    <a:solidFill>
                      <a:srgbClr val="820AD1"/>
                    </a:solidFill>
                  </a:tcPr>
                </a:tc>
              </a:tr>
              <a:tr h="393192">
                <a:tc>
                  <a:txBody>
                    <a:bodyPr wrap="square"/>
                    <a:lstStyle/>
                    <a:p>
                      <a:r>
                        <a:rPr sz="1050" b="1">
                          <a:solidFill>
                            <a:srgbClr val="11052C"/>
                          </a:solidFill>
                          <a:latin typeface="Arial"/>
                        </a:rPr>
                        <a:t>Squad clinics</a:t>
                      </a:r>
                      <a:r>
                        <a:rPr sz="1050" b="0">
                          <a:solidFill>
                            <a:srgbClr val="11052C"/>
                          </a:solidFill>
                          <a:latin typeface="Arial"/>
                        </a:rPr>
                        <a:t>, weekly</a:t>
                      </a:r>
                    </a:p>
                  </a:txBody>
                  <a:tcPr marL="64008" marR="64008" marT="36576" marB="36576" anchor="ctr">
                    <a:solidFill>
                      <a:srgbClr val="FFFFFF"/>
                    </a:solidFill>
                  </a:tcPr>
                </a:tc>
                <a:tc>
                  <a:txBody>
                    <a:bodyPr wrap="square"/>
                    <a:lstStyle/>
                    <a:p>
                      <a:r>
                        <a:rPr sz="1050" b="0">
                          <a:solidFill>
                            <a:srgbClr val="3B2A54"/>
                          </a:solidFill>
                          <a:latin typeface="Arial"/>
                        </a:rPr>
                        <a:t>Finance partner, with the GM</a:t>
                      </a:r>
                    </a:p>
                  </a:txBody>
                  <a:tcPr marL="64008" marR="64008" marT="36576" marB="36576" anchor="ctr">
                    <a:solidFill>
                      <a:srgbClr val="FFFFFF"/>
                    </a:solidFill>
                  </a:tcPr>
                </a:tc>
                <a:tc>
                  <a:txBody>
                    <a:bodyPr wrap="square"/>
                    <a:lstStyle/>
                    <a:p>
                      <a:r>
                        <a:rPr sz="1050" b="0">
                          <a:solidFill>
                            <a:srgbClr val="3B2A54"/>
                          </a:solidFill>
                          <a:latin typeface="Arial"/>
                        </a:rPr>
                        <a:t>A case in the standard template, co-signed by the GM</a:t>
                      </a:r>
                    </a:p>
                  </a:txBody>
                  <a:tcPr marL="64008" marR="64008" marT="36576" marB="36576" anchor="ctr">
                    <a:solidFill>
                      <a:srgbClr val="FFFFFF"/>
                    </a:solidFill>
                  </a:tcPr>
                </a:tc>
              </a:tr>
              <a:tr h="393192">
                <a:tc>
                  <a:txBody>
                    <a:bodyPr wrap="square"/>
                    <a:lstStyle/>
                    <a:p>
                      <a:r>
                        <a:rPr sz="1050" b="1">
                          <a:solidFill>
                            <a:srgbClr val="11052C"/>
                          </a:solidFill>
                          <a:latin typeface="Arial"/>
                        </a:rPr>
                        <a:t>GM one-to-ones</a:t>
                      </a:r>
                      <a:r>
                        <a:rPr sz="1050" b="0">
                          <a:solidFill>
                            <a:srgbClr val="11052C"/>
                          </a:solidFill>
                          <a:latin typeface="Arial"/>
                        </a:rPr>
                        <a:t>, every two weeks</a:t>
                      </a:r>
                    </a:p>
                  </a:txBody>
                  <a:tcPr marL="64008" marR="64008" marT="36576" marB="36576" anchor="ctr">
                    <a:solidFill>
                      <a:srgbClr val="F7F2FD"/>
                    </a:solidFill>
                  </a:tcPr>
                </a:tc>
                <a:tc>
                  <a:txBody>
                    <a:bodyPr wrap="square"/>
                    <a:lstStyle/>
                    <a:p>
                      <a:r>
                        <a:rPr sz="1050" b="0">
                          <a:solidFill>
                            <a:srgbClr val="3B2A54"/>
                          </a:solidFill>
                          <a:latin typeface="Arial"/>
                        </a:rPr>
                        <a:t>Me</a:t>
                      </a:r>
                    </a:p>
                  </a:txBody>
                  <a:tcPr marL="64008" marR="64008" marT="36576" marB="36576" anchor="ctr">
                    <a:solidFill>
                      <a:srgbClr val="F7F2FD"/>
                    </a:solidFill>
                  </a:tcPr>
                </a:tc>
                <a:tc>
                  <a:txBody>
                    <a:bodyPr wrap="square"/>
                    <a:lstStyle/>
                    <a:p>
                      <a:r>
                        <a:rPr sz="1050" b="0">
                          <a:solidFill>
                            <a:srgbClr val="3B2A54"/>
                          </a:solidFill>
                          <a:latin typeface="Arial"/>
                        </a:rPr>
                        <a:t>No surprises at the lock; every ask has a path to yes</a:t>
                      </a:r>
                    </a:p>
                  </a:txBody>
                  <a:tcPr marL="64008" marR="64008" marT="36576" marB="36576" anchor="ctr">
                    <a:solidFill>
                      <a:srgbClr val="F7F2FD"/>
                    </a:solidFill>
                  </a:tcPr>
                </a:tc>
              </a:tr>
              <a:tr h="393192">
                <a:tc>
                  <a:txBody>
                    <a:bodyPr wrap="square"/>
                    <a:lstStyle/>
                    <a:p>
                      <a:r>
                        <a:rPr sz="1050" b="1">
                          <a:solidFill>
                            <a:srgbClr val="11052C"/>
                          </a:solidFill>
                          <a:latin typeface="Arial"/>
                        </a:rPr>
                        <a:t>Release review</a:t>
                      </a:r>
                      <a:r>
                        <a:rPr sz="1050" b="0">
                          <a:solidFill>
                            <a:srgbClr val="11052C"/>
                          </a:solidFill>
                          <a:latin typeface="Arial"/>
                        </a:rPr>
                        <a:t>, quarterly</a:t>
                      </a:r>
                    </a:p>
                  </a:txBody>
                  <a:tcPr marL="64008" marR="64008" marT="36576" marB="36576" anchor="ctr">
                    <a:solidFill>
                      <a:srgbClr val="FFFFFF"/>
                    </a:solidFill>
                  </a:tcPr>
                </a:tc>
                <a:tc>
                  <a:txBody>
                    <a:bodyPr wrap="square"/>
                    <a:lstStyle/>
                    <a:p>
                      <a:r>
                        <a:rPr sz="1050" b="0">
                          <a:solidFill>
                            <a:srgbClr val="3B2A54"/>
                          </a:solidFill>
                          <a:latin typeface="Arial"/>
                        </a:rPr>
                        <a:t>CFO decides, on my recommendation</a:t>
                      </a:r>
                    </a:p>
                  </a:txBody>
                  <a:tcPr marL="64008" marR="64008" marT="36576" marB="36576" anchor="ctr">
                    <a:solidFill>
                      <a:srgbClr val="FFFFFF"/>
                    </a:solidFill>
                  </a:tcPr>
                </a:tc>
                <a:tc>
                  <a:txBody>
                    <a:bodyPr wrap="square"/>
                    <a:lstStyle/>
                    <a:p>
                      <a:r>
                        <a:rPr sz="1050" b="0">
                          <a:solidFill>
                            <a:srgbClr val="3B2A54"/>
                          </a:solidFill>
                          <a:latin typeface="Arial"/>
                        </a:rPr>
                        <a:t>Release memo to the GMs the same day</a:t>
                      </a:r>
                    </a:p>
                  </a:txBody>
                  <a:tcPr marL="64008" marR="64008" marT="36576" marB="36576" anchor="ctr">
                    <a:solidFill>
                      <a:srgbClr val="FFFFFF"/>
                    </a:solidFill>
                  </a:tcPr>
                </a:tc>
              </a:tr>
            </a:tbl>
          </a:graphicData>
        </a:graphic>
      </p:graphicFrame>
      <p:sp>
        <p:nvSpPr>
          <p:cNvPr id="7" name="Rounded Rectangle 6"/>
          <p:cNvSpPr/>
          <p:nvPr/>
        </p:nvSpPr>
        <p:spPr>
          <a:xfrm>
            <a:off x="5029200" y="3273552"/>
            <a:ext cx="6400800" cy="1481328"/>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12080" y="3364992"/>
            <a:ext cx="6035040" cy="1335024"/>
          </a:xfrm>
          <a:prstGeom prst="rect">
            <a:avLst/>
          </a:prstGeom>
          <a:noFill/>
        </p:spPr>
        <p:txBody>
          <a:bodyPr wrap="square" anchor="ctr">
            <a:spAutoFit/>
          </a:bodyPr>
          <a:lstStyle/>
          <a:p>
            <a:pPr algn="l"/>
            <a:r>
              <a:rPr sz="1150" b="1">
                <a:solidFill>
                  <a:srgbClr val="11052C"/>
                </a:solidFill>
                <a:latin typeface="Arial"/>
              </a:rPr>
              <a:t>Capacity, not only money: </a:t>
            </a:r>
            <a:r>
              <a:rPr sz="1150" b="0">
                <a:solidFill>
                  <a:srgbClr val="11052C"/>
                </a:solidFill>
                <a:latin typeface="Arial"/>
              </a:rPr>
              <a:t>every case states the headcount and engineering capacity it needs, and Engineering confirms it at the lock, so a release never funds work the platform cannot staff. Partners and GMs own the case and its numbers; I assemble the pack and recommend; the CFO decides; the hub runs the release.</a:t>
            </a:r>
          </a:p>
        </p:txBody>
      </p:sp>
      <p:sp>
        <p:nvSpPr>
          <p:cNvPr id="9" name="Rounded Rectangle 8"/>
          <p:cNvSpPr/>
          <p:nvPr/>
        </p:nvSpPr>
        <p:spPr>
          <a:xfrm>
            <a:off x="612648" y="4919472"/>
            <a:ext cx="3520440" cy="1188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2376" y="5029200"/>
            <a:ext cx="3300984" cy="100584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50" b="1">
                <a:solidFill>
                  <a:srgbClr val="11052C"/>
                </a:solidFill>
                <a:latin typeface="Arial"/>
              </a:rPr>
              <a:t>GMs game the indicators</a:t>
            </a:r>
          </a:p>
          <a:p>
            <a:pPr algn="l">
              <a:spcAft>
                <a:spcPts val="400"/>
              </a:spcAft>
            </a:pPr>
            <a:r>
              <a:rPr sz="1050" b="0">
                <a:solidFill>
                  <a:srgbClr val="3B2A54"/>
                </a:solidFill>
                <a:latin typeface="Arial"/>
              </a:rPr>
              <a:t>Finance partners own the read-out; the review agent ties every figure to the data.</a:t>
            </a:r>
          </a:p>
        </p:txBody>
      </p:sp>
      <p:sp>
        <p:nvSpPr>
          <p:cNvPr id="11" name="Rounded Rectangle 10"/>
          <p:cNvSpPr/>
          <p:nvPr/>
        </p:nvSpPr>
        <p:spPr>
          <a:xfrm>
            <a:off x="4224528" y="4919472"/>
            <a:ext cx="3520440" cy="1188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34256" y="5029200"/>
            <a:ext cx="3300984" cy="100584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50" b="1">
                <a:solidFill>
                  <a:srgbClr val="11052C"/>
                </a:solidFill>
                <a:latin typeface="Arial"/>
              </a:rPr>
              <a:t>The $8M platform estimate slips</a:t>
            </a:r>
          </a:p>
          <a:p>
            <a:pPr algn="l">
              <a:spcAft>
                <a:spcPts val="400"/>
              </a:spcAft>
            </a:pPr>
            <a:r>
              <a:rPr sz="1050" b="0">
                <a:solidFill>
                  <a:srgbClr val="3B2A54"/>
                </a:solidFill>
                <a:latin typeface="Arial"/>
              </a:rPr>
              <a:t>What Engineering cannot confirm moves to the case track; the cap does not grow.</a:t>
            </a:r>
          </a:p>
        </p:txBody>
      </p:sp>
      <p:sp>
        <p:nvSpPr>
          <p:cNvPr id="13" name="Rounded Rectangle 12"/>
          <p:cNvSpPr/>
          <p:nvPr/>
        </p:nvSpPr>
        <p:spPr>
          <a:xfrm>
            <a:off x="7836408" y="4919472"/>
            <a:ext cx="3520440" cy="1188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946136" y="5029200"/>
            <a:ext cx="3300984" cy="100584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50" b="1">
                <a:solidFill>
                  <a:srgbClr val="11052C"/>
                </a:solidFill>
                <a:latin typeface="Arial"/>
              </a:rPr>
              <a:t>The hub becomes a cost GMs resent</a:t>
            </a:r>
          </a:p>
          <a:p>
            <a:pPr algn="l">
              <a:spcAft>
                <a:spcPts val="400"/>
              </a:spcAft>
            </a:pPr>
            <a:r>
              <a:rPr sz="1050" b="0">
                <a:solidFill>
                  <a:srgbClr val="3B2A54"/>
                </a:solidFill>
                <a:latin typeface="Arial"/>
              </a:rPr>
              <a:t>Net new cost is funded inside the cap and shown first (A12). If cycle time slips, simplify; do not hire.</a:t>
            </a:r>
          </a:p>
        </p:txBody>
      </p:sp>
      <p:sp>
        <p:nvSpPr>
          <p:cNvPr id="15" name="TextBox 1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2  //  C-SUITE AND BOARD</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The capital dispute becomes one choice for the CEO: four uses, one test</a:t>
            </a:r>
          </a:p>
        </p:txBody>
      </p:sp>
      <p:sp>
        <p:nvSpPr>
          <p:cNvPr id="4" name="Rounded Rectangle 3"/>
          <p:cNvSpPr/>
          <p:nvPr/>
        </p:nvSpPr>
        <p:spPr>
          <a:xfrm>
            <a:off x="612648" y="1600200"/>
            <a:ext cx="3474720" cy="30632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09928"/>
            <a:ext cx="3255263" cy="2880360"/>
          </a:xfrm>
          <a:prstGeom prst="rect">
            <a:avLst/>
          </a:prstGeom>
          <a:noFill/>
        </p:spPr>
        <p:txBody>
          <a:bodyPr wrap="square" anchor="t">
            <a:spAutoFit/>
          </a:bodyPr>
          <a:lstStyle/>
          <a:p>
            <a:pPr algn="l">
              <a:spcAft>
                <a:spcPts val="300"/>
              </a:spcAft>
            </a:pPr>
            <a:r>
              <a:rPr sz="950" b="1">
                <a:solidFill>
                  <a:srgbClr val="820AD1"/>
                </a:solidFill>
                <a:latin typeface="Arial"/>
              </a:rPr>
              <a:t>WHAT IS ON THE TABLE</a:t>
            </a:r>
          </a:p>
          <a:p>
            <a:pPr algn="l">
              <a:spcAft>
                <a:spcPts val="600"/>
              </a:spcAft>
            </a:pPr>
            <a:r>
              <a:rPr sz="1500" b="1">
                <a:solidFill>
                  <a:srgbClr val="11052C"/>
                </a:solidFill>
                <a:latin typeface="Arial"/>
              </a:rPr>
              <a:t>Four uses of equity</a:t>
            </a:r>
          </a:p>
          <a:p>
            <a:pPr algn="l">
              <a:spcAft>
                <a:spcPts val="400"/>
              </a:spcAft>
            </a:pPr>
            <a:r>
              <a:rPr sz="1150" b="0">
                <a:solidFill>
                  <a:srgbClr val="3B2A54"/>
                </a:solidFill>
                <a:latin typeface="Arial"/>
              </a:rPr>
              <a:t>Brazil deepening.</a:t>
            </a:r>
          </a:p>
          <a:p>
            <a:pPr algn="l">
              <a:spcAft>
                <a:spcPts val="400"/>
              </a:spcAft>
            </a:pPr>
            <a:r>
              <a:rPr sz="1150" b="0">
                <a:solidFill>
                  <a:srgbClr val="3B2A54"/>
                </a:solidFill>
                <a:latin typeface="Arial"/>
              </a:rPr>
              <a:t>Nu Mexico: bank authorized 10 Jul 2026, operating since 6 Aug; $4.2B planned to 2030.</a:t>
            </a:r>
          </a:p>
          <a:p>
            <a:pPr algn="l">
              <a:spcAft>
                <a:spcPts val="400"/>
              </a:spcAft>
            </a:pPr>
            <a:r>
              <a:rPr sz="1150" b="0">
                <a:solidFill>
                  <a:srgbClr val="3B2A54"/>
                </a:solidFill>
                <a:latin typeface="Arial"/>
              </a:rPr>
              <a:t>US charter: OCC conditional approval 29 Jan 2026; capital in by about 29 Jan 2027.</a:t>
            </a:r>
          </a:p>
          <a:p>
            <a:pPr algn="l">
              <a:spcAft>
                <a:spcPts val="400"/>
              </a:spcAft>
            </a:pPr>
            <a:r>
              <a:rPr sz="1150" b="0">
                <a:solidFill>
                  <a:srgbClr val="3B2A54"/>
                </a:solidFill>
                <a:latin typeface="Arial"/>
              </a:rPr>
              <a:t>Buyback of up to $1.0B, announced Jun 2026.</a:t>
            </a:r>
          </a:p>
        </p:txBody>
      </p:sp>
      <p:sp>
        <p:nvSpPr>
          <p:cNvPr id="6" name="Rounded Rectangle 5"/>
          <p:cNvSpPr/>
          <p:nvPr/>
        </p:nvSpPr>
        <p:spPr>
          <a:xfrm>
            <a:off x="4270248" y="1600200"/>
            <a:ext cx="3474720" cy="30632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379976" y="1709928"/>
            <a:ext cx="3255263" cy="2880360"/>
          </a:xfrm>
          <a:prstGeom prst="rect">
            <a:avLst/>
          </a:prstGeom>
          <a:noFill/>
        </p:spPr>
        <p:txBody>
          <a:bodyPr wrap="square" anchor="t">
            <a:spAutoFit/>
          </a:bodyPr>
          <a:lstStyle/>
          <a:p>
            <a:pPr algn="l">
              <a:spcAft>
                <a:spcPts val="300"/>
              </a:spcAft>
            </a:pPr>
            <a:r>
              <a:rPr sz="950" b="1">
                <a:solidFill>
                  <a:srgbClr val="820AD1"/>
                </a:solidFill>
                <a:latin typeface="Arial"/>
              </a:rPr>
              <a:t>THE TEST</a:t>
            </a:r>
          </a:p>
          <a:p>
            <a:pPr algn="l">
              <a:spcAft>
                <a:spcPts val="600"/>
              </a:spcAft>
            </a:pPr>
            <a:r>
              <a:rPr sz="1500" b="1">
                <a:solidFill>
                  <a:srgbClr val="11052C"/>
                </a:solidFill>
                <a:latin typeface="Arial"/>
              </a:rPr>
              <a:t>Return on allocated capital</a:t>
            </a:r>
          </a:p>
          <a:p>
            <a:pPr algn="l">
              <a:spcAft>
                <a:spcPts val="400"/>
              </a:spcAft>
            </a:pPr>
            <a:r>
              <a:rPr sz="1150" b="0">
                <a:solidFill>
                  <a:srgbClr val="3B2A54"/>
                </a:solidFill>
                <a:latin typeface="Arial"/>
              </a:rPr>
              <a:t>After-tax return on the extra equity each use needs, against that market's cost of equity, with headroom by entity in a downside case.</a:t>
            </a:r>
          </a:p>
          <a:p>
            <a:pPr algn="l">
              <a:spcAft>
                <a:spcPts val="400"/>
              </a:spcAft>
            </a:pPr>
            <a:r>
              <a:rPr sz="1150" b="0">
                <a:solidFill>
                  <a:srgbClr val="3B2A54"/>
                </a:solidFill>
                <a:latin typeface="Arial"/>
              </a:rPr>
              <a:t>Beating the cost of equity creates value even if it dilutes the 33% group ROE. The buyback is the bar.</a:t>
            </a:r>
          </a:p>
        </p:txBody>
      </p:sp>
      <p:sp>
        <p:nvSpPr>
          <p:cNvPr id="8" name="Rounded Rectangle 7"/>
          <p:cNvSpPr/>
          <p:nvPr/>
        </p:nvSpPr>
        <p:spPr>
          <a:xfrm>
            <a:off x="7927848" y="1600200"/>
            <a:ext cx="3474720" cy="30632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37575" y="1709928"/>
            <a:ext cx="3255263" cy="2880360"/>
          </a:xfrm>
          <a:prstGeom prst="rect">
            <a:avLst/>
          </a:prstGeom>
          <a:noFill/>
        </p:spPr>
        <p:txBody>
          <a:bodyPr wrap="square" anchor="t">
            <a:spAutoFit/>
          </a:bodyPr>
          <a:lstStyle/>
          <a:p>
            <a:pPr algn="l">
              <a:spcAft>
                <a:spcPts val="300"/>
              </a:spcAft>
            </a:pPr>
            <a:r>
              <a:rPr sz="950" b="1">
                <a:solidFill>
                  <a:srgbClr val="820AD1"/>
                </a:solidFill>
                <a:latin typeface="Arial"/>
              </a:rPr>
              <a:t>WHO DECIDES, BY WHEN</a:t>
            </a:r>
          </a:p>
          <a:p>
            <a:pPr algn="l">
              <a:spcAft>
                <a:spcPts val="600"/>
              </a:spcAft>
            </a:pPr>
            <a:r>
              <a:rPr sz="1500" b="1">
                <a:solidFill>
                  <a:srgbClr val="11052C"/>
                </a:solidFill>
                <a:latin typeface="Arial"/>
              </a:rPr>
              <a:t>Before Investor Day</a:t>
            </a:r>
          </a:p>
          <a:p>
            <a:pPr algn="l">
              <a:spcAft>
                <a:spcPts val="400"/>
              </a:spcAft>
            </a:pPr>
            <a:r>
              <a:rPr sz="1150" b="0">
                <a:solidFill>
                  <a:srgbClr val="3B2A54"/>
                </a:solidFill>
                <a:latin typeface="Arial"/>
              </a:rPr>
              <a:t>The CFO recommends, the CEO decides, the Board approves at this meeting, the last before Investor Day on 8 Dec.</a:t>
            </a:r>
          </a:p>
          <a:p>
            <a:pPr algn="l">
              <a:spcAft>
                <a:spcPts val="400"/>
              </a:spcAft>
            </a:pPr>
            <a:r>
              <a:rPr sz="1150" b="0">
                <a:solidFill>
                  <a:srgbClr val="3B2A54"/>
                </a:solidFill>
                <a:latin typeface="Arial"/>
              </a:rPr>
              <a:t>One page per use: return, capital, headroom, risk. Cost of equity comes from Treasury.</a:t>
            </a:r>
          </a:p>
        </p:txBody>
      </p:sp>
      <p:sp>
        <p:nvSpPr>
          <p:cNvPr id="10" name="Rounded Rectangle 9"/>
          <p:cNvSpPr/>
          <p:nvPr/>
        </p:nvSpPr>
        <p:spPr>
          <a:xfrm>
            <a:off x="612648" y="4846320"/>
            <a:ext cx="10789920" cy="118872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5528" y="4937759"/>
            <a:ext cx="10424160" cy="1042416"/>
          </a:xfrm>
          <a:prstGeom prst="rect">
            <a:avLst/>
          </a:prstGeom>
          <a:noFill/>
        </p:spPr>
        <p:txBody>
          <a:bodyPr wrap="square" anchor="ctr">
            <a:spAutoFit/>
          </a:bodyPr>
          <a:lstStyle/>
          <a:p>
            <a:pPr algn="l"/>
            <a:r>
              <a:rPr sz="1150" b="1">
                <a:solidFill>
                  <a:srgbClr val="FFFFFF"/>
                </a:solidFill>
                <a:latin typeface="Arial"/>
              </a:rPr>
              <a:t>On opex, both positions go into the T-16 memo as options: </a:t>
            </a:r>
            <a:r>
              <a:rPr sz="1150" b="0">
                <a:solidFill>
                  <a:srgbClr val="FFFFFF"/>
                </a:solidFill>
                <a:latin typeface="Arial"/>
              </a:rPr>
              <a:t>core markets first, new bets first, or the staged 70/30 release. I recommend 70/30: mature cohorts earn about $31 a month at eight years against $17.1 for the group, and new bets are judged on activation, retention and unit cost, not first-quarter profit. The CEO decides; the dissent is recorded; the Board sees one recommendation. If the dispute is about equity, the test above decides it (A4).</a:t>
            </a:r>
          </a:p>
        </p:txBody>
      </p:sp>
      <p:sp>
        <p:nvSpPr>
          <p:cNvPr id="12" name="TextBox 11"/>
          <p:cNvSpPr txBox="1"/>
          <p:nvPr/>
        </p:nvSpPr>
        <p:spPr>
          <a:xfrm>
            <a:off x="612648" y="6172200"/>
            <a:ext cx="10515600" cy="411480"/>
          </a:xfrm>
          <a:prstGeom prst="rect">
            <a:avLst/>
          </a:prstGeom>
          <a:noFill/>
        </p:spPr>
        <p:txBody>
          <a:bodyPr wrap="square" anchor="t">
            <a:spAutoFit/>
          </a:bodyPr>
          <a:lstStyle/>
          <a:p>
            <a:pPr algn="l"/>
            <a:r>
              <a:rPr sz="900" b="0">
                <a:solidFill>
                  <a:srgbClr val="6B5B82"/>
                </a:solidFill>
                <a:latin typeface="Arial"/>
              </a:rPr>
              <a:t>Sources: Nu Q2'26 release (ROE 33%, ARPAC $17.1); Q1'26 cohort slide ($30.8 at 96 months vs $15.9 total); Nu announcements (Mexico 10 Jul and 6 Aug 2026; OCC 29 Jan 2026; buyback 4 Jun 2026); Nu IR (Investor Day 8 Dec 2026).</a:t>
            </a:r>
          </a:p>
        </p:txBody>
      </p:sp>
      <p:sp>
        <p:nvSpPr>
          <p:cNvPr id="13" name="TextBox 12"/>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2  //  C-SUITE AND BOARD</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When a senior GM pushes back: four moves, in the same order every time</a:t>
            </a:r>
          </a:p>
        </p:txBody>
      </p:sp>
      <p:sp>
        <p:nvSpPr>
          <p:cNvPr id="4" name="Rounded Rectangle 3"/>
          <p:cNvSpPr/>
          <p:nvPr/>
        </p:nvSpPr>
        <p:spPr>
          <a:xfrm>
            <a:off x="612648" y="1645920"/>
            <a:ext cx="2560320" cy="26974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55648"/>
            <a:ext cx="2340863" cy="2514600"/>
          </a:xfrm>
          <a:prstGeom prst="rect">
            <a:avLst/>
          </a:prstGeom>
          <a:noFill/>
        </p:spPr>
        <p:txBody>
          <a:bodyPr wrap="square" anchor="t">
            <a:spAutoFit/>
          </a:bodyPr>
          <a:lstStyle/>
          <a:p>
            <a:pPr algn="l">
              <a:spcAft>
                <a:spcPts val="300"/>
              </a:spcAft>
            </a:pPr>
            <a:r>
              <a:rPr sz="950" b="1">
                <a:solidFill>
                  <a:srgbClr val="820AD1"/>
                </a:solidFill>
                <a:latin typeface="Arial"/>
              </a:rPr>
              <a:t>STEP 1</a:t>
            </a:r>
          </a:p>
          <a:p>
            <a:pPr algn="l">
              <a:spcAft>
                <a:spcPts val="600"/>
              </a:spcAft>
            </a:pPr>
            <a:r>
              <a:rPr sz="1500" b="1">
                <a:solidFill>
                  <a:srgbClr val="11052C"/>
                </a:solidFill>
                <a:latin typeface="Arial"/>
              </a:rPr>
              <a:t>Talk privately first</a:t>
            </a:r>
          </a:p>
          <a:p>
            <a:pPr algn="l">
              <a:spcAft>
                <a:spcPts val="400"/>
              </a:spcAft>
            </a:pPr>
            <a:r>
              <a:rPr sz="1250" b="0">
                <a:solidFill>
                  <a:srgbClr val="3B2A54"/>
                </a:solidFill>
                <a:latin typeface="Arial"/>
              </a:rPr>
              <a:t>I confirm the strategic goal before any budget line comes up. Nobody is corrected in front of the CFO.</a:t>
            </a:r>
          </a:p>
        </p:txBody>
      </p:sp>
      <p:sp>
        <p:nvSpPr>
          <p:cNvPr id="6" name="Rounded Rectangle 5"/>
          <p:cNvSpPr/>
          <p:nvPr/>
        </p:nvSpPr>
        <p:spPr>
          <a:xfrm>
            <a:off x="3355848" y="1645920"/>
            <a:ext cx="2560320" cy="26974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465576" y="1755648"/>
            <a:ext cx="2340863" cy="2514600"/>
          </a:xfrm>
          <a:prstGeom prst="rect">
            <a:avLst/>
          </a:prstGeom>
          <a:noFill/>
        </p:spPr>
        <p:txBody>
          <a:bodyPr wrap="square" anchor="t">
            <a:spAutoFit/>
          </a:bodyPr>
          <a:lstStyle/>
          <a:p>
            <a:pPr algn="l">
              <a:spcAft>
                <a:spcPts val="300"/>
              </a:spcAft>
            </a:pPr>
            <a:r>
              <a:rPr sz="950" b="1">
                <a:solidFill>
                  <a:srgbClr val="820AD1"/>
                </a:solidFill>
                <a:latin typeface="Arial"/>
              </a:rPr>
              <a:t>STEP 2</a:t>
            </a:r>
          </a:p>
          <a:p>
            <a:pPr algn="l">
              <a:spcAft>
                <a:spcPts val="600"/>
              </a:spcAft>
            </a:pPr>
            <a:r>
              <a:rPr sz="1500" b="1">
                <a:solidFill>
                  <a:srgbClr val="11052C"/>
                </a:solidFill>
                <a:latin typeface="Arial"/>
              </a:rPr>
              <a:t>Move to the evidence</a:t>
            </a:r>
          </a:p>
          <a:p>
            <a:pPr algn="l">
              <a:spcAft>
                <a:spcPts val="400"/>
              </a:spcAft>
            </a:pPr>
            <a:r>
              <a:rPr sz="1250" b="0">
                <a:solidFill>
                  <a:srgbClr val="3B2A54"/>
                </a:solidFill>
                <a:latin typeface="Arial"/>
              </a:rPr>
              <a:t>From "I need $25M" to "what would prove this works?" The published rule does the arguing, not me.</a:t>
            </a:r>
          </a:p>
        </p:txBody>
      </p:sp>
      <p:sp>
        <p:nvSpPr>
          <p:cNvPr id="8" name="Rounded Rectangle 7"/>
          <p:cNvSpPr/>
          <p:nvPr/>
        </p:nvSpPr>
        <p:spPr>
          <a:xfrm>
            <a:off x="6099048" y="1645920"/>
            <a:ext cx="2560320" cy="26974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208776" y="1755648"/>
            <a:ext cx="2340863" cy="2514600"/>
          </a:xfrm>
          <a:prstGeom prst="rect">
            <a:avLst/>
          </a:prstGeom>
          <a:noFill/>
        </p:spPr>
        <p:txBody>
          <a:bodyPr wrap="square" anchor="t">
            <a:spAutoFit/>
          </a:bodyPr>
          <a:lstStyle/>
          <a:p>
            <a:pPr algn="l">
              <a:spcAft>
                <a:spcPts val="300"/>
              </a:spcAft>
            </a:pPr>
            <a:r>
              <a:rPr sz="950" b="1">
                <a:solidFill>
                  <a:srgbClr val="820AD1"/>
                </a:solidFill>
                <a:latin typeface="Arial"/>
              </a:rPr>
              <a:t>STEP 3</a:t>
            </a:r>
          </a:p>
          <a:p>
            <a:pPr algn="l">
              <a:spcAft>
                <a:spcPts val="600"/>
              </a:spcAft>
            </a:pPr>
            <a:r>
              <a:rPr sz="1500" b="1">
                <a:solidFill>
                  <a:srgbClr val="11052C"/>
                </a:solidFill>
                <a:latin typeface="Arial"/>
              </a:rPr>
              <a:t>Offer a conditional yes</a:t>
            </a:r>
          </a:p>
          <a:p>
            <a:pPr algn="l">
              <a:spcAft>
                <a:spcPts val="400"/>
              </a:spcAft>
            </a:pPr>
            <a:r>
              <a:rPr sz="1250" b="0">
                <a:solidFill>
                  <a:srgbClr val="3B2A54"/>
                </a:solidFill>
                <a:latin typeface="Arial"/>
              </a:rPr>
              <a:t>A funded start, the $4.5M for new bets in the first release, and a reserved claim on the second release once the indicators hold.</a:t>
            </a:r>
          </a:p>
        </p:txBody>
      </p:sp>
      <p:sp>
        <p:nvSpPr>
          <p:cNvPr id="10" name="Rounded Rectangle 9"/>
          <p:cNvSpPr/>
          <p:nvPr/>
        </p:nvSpPr>
        <p:spPr>
          <a:xfrm>
            <a:off x="8842248" y="1645920"/>
            <a:ext cx="2560320" cy="269748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951976" y="1755648"/>
            <a:ext cx="2340863" cy="2514600"/>
          </a:xfrm>
          <a:prstGeom prst="rect">
            <a:avLst/>
          </a:prstGeom>
          <a:noFill/>
        </p:spPr>
        <p:txBody>
          <a:bodyPr wrap="square" anchor="t">
            <a:spAutoFit/>
          </a:bodyPr>
          <a:lstStyle/>
          <a:p>
            <a:pPr algn="l">
              <a:spcAft>
                <a:spcPts val="300"/>
              </a:spcAft>
            </a:pPr>
            <a:r>
              <a:rPr sz="950" b="1">
                <a:solidFill>
                  <a:srgbClr val="820AD1"/>
                </a:solidFill>
                <a:latin typeface="Arial"/>
              </a:rPr>
              <a:t>STEP 4</a:t>
            </a:r>
          </a:p>
          <a:p>
            <a:pPr algn="l">
              <a:spcAft>
                <a:spcPts val="600"/>
              </a:spcAft>
            </a:pPr>
            <a:r>
              <a:rPr sz="1500" b="1">
                <a:solidFill>
                  <a:srgbClr val="11052C"/>
                </a:solidFill>
                <a:latin typeface="Arial"/>
              </a:rPr>
              <a:t>Present together</a:t>
            </a:r>
          </a:p>
          <a:p>
            <a:pPr algn="l">
              <a:spcAft>
                <a:spcPts val="400"/>
              </a:spcAft>
            </a:pPr>
            <a:r>
              <a:rPr sz="1250" b="0">
                <a:solidFill>
                  <a:srgbClr val="3B2A54"/>
                </a:solidFill>
                <a:latin typeface="Arial"/>
              </a:rPr>
              <a:t>The GM and I present the plan together at the lock. The CEO's office is briefed in advance and sees the same rule.</a:t>
            </a:r>
          </a:p>
        </p:txBody>
      </p:sp>
      <p:sp>
        <p:nvSpPr>
          <p:cNvPr id="12" name="Rounded Rectangle 11"/>
          <p:cNvSpPr/>
          <p:nvPr/>
        </p:nvSpPr>
        <p:spPr>
          <a:xfrm>
            <a:off x="612648" y="4526280"/>
            <a:ext cx="10789920" cy="132588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5528" y="4617720"/>
            <a:ext cx="10424160" cy="1179576"/>
          </a:xfrm>
          <a:prstGeom prst="rect">
            <a:avLst/>
          </a:prstGeom>
          <a:noFill/>
        </p:spPr>
        <p:txBody>
          <a:bodyPr wrap="square" anchor="ctr">
            <a:spAutoFit/>
          </a:bodyPr>
          <a:lstStyle/>
          <a:p>
            <a:pPr algn="l"/>
            <a:r>
              <a:rPr sz="1250" b="1">
                <a:solidFill>
                  <a:srgbClr val="FFFFFF"/>
                </a:solidFill>
                <a:latin typeface="Arial"/>
              </a:rPr>
              <a:t>Why it works without line authority: </a:t>
            </a:r>
            <a:r>
              <a:rPr sz="1250" b="0">
                <a:solidFill>
                  <a:srgbClr val="FFFFFF"/>
                </a:solidFill>
                <a:latin typeface="Arial"/>
              </a:rPr>
              <a:t>people accept a decision they argued against when the criteria were public before it was made. The rule is public on day one, the conversation is private, and the sign-off is joint.</a:t>
            </a:r>
          </a:p>
          <a:p>
            <a:pPr algn="l"/>
            <a:r>
              <a:rPr sz="1250" b="1">
                <a:solidFill>
                  <a:srgbClr val="FFFFFF"/>
                </a:solidFill>
                <a:latin typeface="Arial"/>
              </a:rPr>
              <a:t>With the two MTeam members: </a:t>
            </a:r>
            <a:r>
              <a:rPr sz="1250" b="0">
                <a:solidFill>
                  <a:srgbClr val="FFFFFF"/>
                </a:solidFill>
                <a:latin typeface="Arial"/>
              </a:rPr>
              <a:t>the same four moves run separately at T-21, before they meet at the lock.</a:t>
            </a:r>
          </a:p>
        </p:txBody>
      </p:sp>
      <p:sp>
        <p:nvSpPr>
          <p:cNvPr id="14" name="TextBox 13"/>
          <p:cNvSpPr txBox="1"/>
          <p:nvPr/>
        </p:nvSpPr>
        <p:spPr>
          <a:xfrm>
            <a:off x="612648" y="6035040"/>
            <a:ext cx="10515600" cy="320040"/>
          </a:xfrm>
          <a:prstGeom prst="rect">
            <a:avLst/>
          </a:prstGeom>
          <a:noFill/>
        </p:spPr>
        <p:txBody>
          <a:bodyPr wrap="square" anchor="t">
            <a:spAutoFit/>
          </a:bodyPr>
          <a:lstStyle/>
          <a:p>
            <a:pPr algn="l"/>
            <a:r>
              <a:rPr sz="900" b="0">
                <a:solidFill>
                  <a:srgbClr val="6B5B82"/>
                </a:solidFill>
                <a:latin typeface="Arial"/>
              </a:rPr>
              <a:t>Fair process: Kim and Mauborgne, "Fair Process: Managing in the Knowledge Economy", Harvard Business Review.</a:t>
            </a:r>
          </a:p>
        </p:txBody>
      </p:sp>
      <p:sp>
        <p:nvSpPr>
          <p:cNvPr id="15" name="TextBox 1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2  //  C-SUITE AND BOARD</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Every quarter: the book goes out 7 days before the Board, after a lock at 16 days</a:t>
            </a:r>
          </a:p>
        </p:txBody>
      </p:sp>
      <p:sp>
        <p:nvSpPr>
          <p:cNvPr id="4" name="TextBox 3"/>
          <p:cNvSpPr txBox="1"/>
          <p:nvPr/>
        </p:nvSpPr>
        <p:spPr>
          <a:xfrm>
            <a:off x="612648" y="1463040"/>
            <a:ext cx="10789920" cy="566928"/>
          </a:xfrm>
          <a:prstGeom prst="rect">
            <a:avLst/>
          </a:prstGeom>
          <a:noFill/>
        </p:spPr>
        <p:txBody>
          <a:bodyPr wrap="square" anchor="t">
            <a:spAutoFit/>
          </a:bodyPr>
          <a:lstStyle/>
          <a:p>
            <a:pPr algn="l"/>
            <a:r>
              <a:rPr sz="1150" b="1">
                <a:solidFill>
                  <a:srgbClr val="11052C"/>
                </a:solidFill>
                <a:latin typeface="Arial"/>
              </a:rPr>
              <a:t>Why the book is late: </a:t>
            </a:r>
            <a:r>
              <a:rPr sz="1150" b="0">
                <a:solidFill>
                  <a:srgbClr val="11052C"/>
                </a:solidFill>
                <a:latin typeface="Arial"/>
              </a:rPr>
              <a:t>no locked outline, no standard data tables, and units building rival decks. The fix starts today, with the Corporate Secretary, and the same countdown then runs for every Board from the Secretary's calendar. That calendar is the one the ask approves.</a:t>
            </a:r>
          </a:p>
        </p:txBody>
      </p:sp>
      <p:sp>
        <p:nvSpPr>
          <p:cNvPr id="5" name="Rounded Rectangle 4"/>
          <p:cNvSpPr/>
          <p:nvPr/>
        </p:nvSpPr>
        <p:spPr>
          <a:xfrm>
            <a:off x="612648" y="2075688"/>
            <a:ext cx="2560320" cy="16916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22376" y="2185416"/>
            <a:ext cx="2340863" cy="1508760"/>
          </a:xfrm>
          <a:prstGeom prst="rect">
            <a:avLst/>
          </a:prstGeom>
          <a:noFill/>
        </p:spPr>
        <p:txBody>
          <a:bodyPr wrap="square" anchor="t">
            <a:spAutoFit/>
          </a:bodyPr>
          <a:lstStyle/>
          <a:p>
            <a:pPr algn="l">
              <a:spcAft>
                <a:spcPts val="300"/>
              </a:spcAft>
            </a:pPr>
            <a:r>
              <a:rPr sz="950" b="1">
                <a:solidFill>
                  <a:srgbClr val="820AD1"/>
                </a:solidFill>
                <a:latin typeface="Arial"/>
              </a:rPr>
              <a:t>T-28 TO T-21</a:t>
            </a:r>
          </a:p>
          <a:p>
            <a:pPr algn="l">
              <a:spcAft>
                <a:spcPts val="600"/>
              </a:spcAft>
            </a:pPr>
            <a:r>
              <a:rPr sz="1500" b="1">
                <a:solidFill>
                  <a:srgbClr val="11052C"/>
                </a:solidFill>
                <a:latin typeface="Arial"/>
              </a:rPr>
              <a:t>Outline locked</a:t>
            </a:r>
          </a:p>
          <a:p>
            <a:pPr algn="l">
              <a:spcAft>
                <a:spcPts val="400"/>
              </a:spcAft>
            </a:pPr>
            <a:r>
              <a:rPr sz="1100" b="0">
                <a:solidFill>
                  <a:srgbClr val="3B2A54"/>
                </a:solidFill>
                <a:latin typeface="Arial"/>
              </a:rPr>
              <a:t>Today I issue the locked outline and standard data tables, so units stop building rival decks.</a:t>
            </a:r>
          </a:p>
        </p:txBody>
      </p:sp>
      <p:sp>
        <p:nvSpPr>
          <p:cNvPr id="7" name="Rounded Rectangle 6"/>
          <p:cNvSpPr/>
          <p:nvPr/>
        </p:nvSpPr>
        <p:spPr>
          <a:xfrm>
            <a:off x="3355848" y="2075688"/>
            <a:ext cx="2560320" cy="16916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465576" y="2185416"/>
            <a:ext cx="2340863" cy="1508760"/>
          </a:xfrm>
          <a:prstGeom prst="rect">
            <a:avLst/>
          </a:prstGeom>
          <a:noFill/>
        </p:spPr>
        <p:txBody>
          <a:bodyPr wrap="square" anchor="t">
            <a:spAutoFit/>
          </a:bodyPr>
          <a:lstStyle/>
          <a:p>
            <a:pPr algn="l">
              <a:spcAft>
                <a:spcPts val="300"/>
              </a:spcAft>
            </a:pPr>
            <a:r>
              <a:rPr sz="950" b="1">
                <a:solidFill>
                  <a:srgbClr val="820AD1"/>
                </a:solidFill>
                <a:latin typeface="Arial"/>
              </a:rPr>
              <a:t>T-20 TO T-14</a:t>
            </a:r>
          </a:p>
          <a:p>
            <a:pPr algn="l">
              <a:spcAft>
                <a:spcPts val="600"/>
              </a:spcAft>
            </a:pPr>
            <a:r>
              <a:rPr sz="1500" b="1">
                <a:solidFill>
                  <a:srgbClr val="11052C"/>
                </a:solidFill>
                <a:latin typeface="Arial"/>
              </a:rPr>
              <a:t>Executive lock</a:t>
            </a:r>
          </a:p>
          <a:p>
            <a:pPr algn="l">
              <a:spcAft>
                <a:spcPts val="400"/>
              </a:spcAft>
            </a:pPr>
            <a:r>
              <a:rPr sz="1100" b="0">
                <a:solidFill>
                  <a:srgbClr val="3B2A54"/>
                </a:solidFill>
                <a:latin typeface="Arial"/>
              </a:rPr>
              <a:t>One-to-ones at T-21. The capital options memo settles the ranking and the 70/30 split with the CEO and CFO at T-16.</a:t>
            </a:r>
          </a:p>
        </p:txBody>
      </p:sp>
      <p:sp>
        <p:nvSpPr>
          <p:cNvPr id="9" name="Rounded Rectangle 8"/>
          <p:cNvSpPr/>
          <p:nvPr/>
        </p:nvSpPr>
        <p:spPr>
          <a:xfrm>
            <a:off x="6099048" y="2075688"/>
            <a:ext cx="2560320" cy="16916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08776" y="2185416"/>
            <a:ext cx="2340863" cy="1508760"/>
          </a:xfrm>
          <a:prstGeom prst="rect">
            <a:avLst/>
          </a:prstGeom>
          <a:noFill/>
        </p:spPr>
        <p:txBody>
          <a:bodyPr wrap="square" anchor="t">
            <a:spAutoFit/>
          </a:bodyPr>
          <a:lstStyle/>
          <a:p>
            <a:pPr algn="l">
              <a:spcAft>
                <a:spcPts val="300"/>
              </a:spcAft>
            </a:pPr>
            <a:r>
              <a:rPr sz="950" b="1">
                <a:solidFill>
                  <a:srgbClr val="820AD1"/>
                </a:solidFill>
                <a:latin typeface="Arial"/>
              </a:rPr>
              <a:t>T-13 TO T-7</a:t>
            </a:r>
          </a:p>
          <a:p>
            <a:pPr algn="l">
              <a:spcAft>
                <a:spcPts val="600"/>
              </a:spcAft>
            </a:pPr>
            <a:r>
              <a:rPr sz="1500" b="1">
                <a:solidFill>
                  <a:srgbClr val="11052C"/>
                </a:solidFill>
                <a:latin typeface="Arial"/>
              </a:rPr>
              <a:t>One pen</a:t>
            </a:r>
          </a:p>
          <a:p>
            <a:pPr algn="l">
              <a:spcAft>
                <a:spcPts val="400"/>
              </a:spcAft>
            </a:pPr>
            <a:r>
              <a:rPr sz="1100" b="0">
                <a:solidFill>
                  <a:srgbClr val="3B2A54"/>
                </a:solidFill>
                <a:latin typeface="Arial"/>
              </a:rPr>
              <a:t>Inputs freeze at T-10. Committee chairs are briefed at T-9. The book is on the portal at T-7.</a:t>
            </a:r>
          </a:p>
        </p:txBody>
      </p:sp>
      <p:sp>
        <p:nvSpPr>
          <p:cNvPr id="11" name="Rounded Rectangle 10"/>
          <p:cNvSpPr/>
          <p:nvPr/>
        </p:nvSpPr>
        <p:spPr>
          <a:xfrm>
            <a:off x="8842248" y="2075688"/>
            <a:ext cx="2560320" cy="16916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951976" y="2185416"/>
            <a:ext cx="2340863" cy="1508760"/>
          </a:xfrm>
          <a:prstGeom prst="rect">
            <a:avLst/>
          </a:prstGeom>
          <a:noFill/>
        </p:spPr>
        <p:txBody>
          <a:bodyPr wrap="square" anchor="t">
            <a:spAutoFit/>
          </a:bodyPr>
          <a:lstStyle/>
          <a:p>
            <a:pPr algn="l">
              <a:spcAft>
                <a:spcPts val="300"/>
              </a:spcAft>
            </a:pPr>
            <a:r>
              <a:rPr sz="950" b="1">
                <a:solidFill>
                  <a:srgbClr val="820AD1"/>
                </a:solidFill>
                <a:latin typeface="Arial"/>
              </a:rPr>
              <a:t>T-6 TO T-0</a:t>
            </a:r>
          </a:p>
          <a:p>
            <a:pPr algn="l">
              <a:spcAft>
                <a:spcPts val="600"/>
              </a:spcAft>
            </a:pPr>
            <a:r>
              <a:rPr sz="1500" b="1">
                <a:solidFill>
                  <a:srgbClr val="11052C"/>
                </a:solidFill>
                <a:latin typeface="Arial"/>
              </a:rPr>
              <a:t>Decisions, not read-outs</a:t>
            </a:r>
          </a:p>
          <a:p>
            <a:pPr algn="l">
              <a:spcAft>
                <a:spcPts val="400"/>
              </a:spcAft>
            </a:pPr>
            <a:r>
              <a:rPr sz="1100" b="0">
                <a:solidFill>
                  <a:srgbClr val="3B2A54"/>
                </a:solidFill>
                <a:latin typeface="Arial"/>
              </a:rPr>
              <a:t>Directors' questions are answered in writing by T-3, so the meeting goes to the capital plan.</a:t>
            </a:r>
          </a:p>
        </p:txBody>
      </p:sp>
      <p:sp>
        <p:nvSpPr>
          <p:cNvPr id="13" name="Rounded Rectangle 12"/>
          <p:cNvSpPr/>
          <p:nvPr/>
        </p:nvSpPr>
        <p:spPr>
          <a:xfrm>
            <a:off x="612648" y="3877056"/>
            <a:ext cx="10789920" cy="731520"/>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95528" y="3968496"/>
            <a:ext cx="10424160" cy="585216"/>
          </a:xfrm>
          <a:prstGeom prst="rect">
            <a:avLst/>
          </a:prstGeom>
          <a:noFill/>
        </p:spPr>
        <p:txBody>
          <a:bodyPr wrap="square" anchor="ctr">
            <a:spAutoFit/>
          </a:bodyPr>
          <a:lstStyle/>
          <a:p>
            <a:pPr algn="l"/>
            <a:r>
              <a:rPr sz="1150" b="1">
                <a:solidFill>
                  <a:srgbClr val="11052C"/>
                </a:solidFill>
                <a:latin typeface="Arial"/>
              </a:rPr>
              <a:t>Two items cannot slip: </a:t>
            </a:r>
            <a:r>
              <a:rPr sz="1150" b="0">
                <a:solidFill>
                  <a:srgbClr val="11052C"/>
                </a:solidFill>
                <a:latin typeface="Arial"/>
              </a:rPr>
              <a:t>the capital plan, because this is the last Board before Investor Day on 8 Dec, and the statutory items for new entities: open an entity only when a license or tax substance requires it; officers and signing follow the stage (backup B).</a:t>
            </a:r>
          </a:p>
        </p:txBody>
      </p:sp>
      <p:sp>
        <p:nvSpPr>
          <p:cNvPr id="15" name="Rounded Rectangle 14"/>
          <p:cNvSpPr/>
          <p:nvPr/>
        </p:nvSpPr>
        <p:spPr>
          <a:xfrm>
            <a:off x="612648" y="4709160"/>
            <a:ext cx="3520440" cy="13716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22376" y="4818888"/>
            <a:ext cx="3300984" cy="118872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00" b="1">
                <a:solidFill>
                  <a:srgbClr val="11052C"/>
                </a:solidFill>
                <a:latin typeface="Arial"/>
              </a:rPr>
              <a:t>Still no agreement at the lock</a:t>
            </a:r>
          </a:p>
          <a:p>
            <a:pPr algn="l">
              <a:spcAft>
                <a:spcPts val="400"/>
              </a:spcAft>
            </a:pPr>
            <a:r>
              <a:rPr sz="1050" b="0">
                <a:solidFill>
                  <a:srgbClr val="3B2A54"/>
                </a:solidFill>
                <a:latin typeface="Arial"/>
              </a:rPr>
              <a:t>Both positions go in the memo; the CEO decides; the dissent is recorded, so the Board sees one recommendation.</a:t>
            </a:r>
          </a:p>
        </p:txBody>
      </p:sp>
      <p:sp>
        <p:nvSpPr>
          <p:cNvPr id="17" name="Rounded Rectangle 16"/>
          <p:cNvSpPr/>
          <p:nvPr/>
        </p:nvSpPr>
        <p:spPr>
          <a:xfrm>
            <a:off x="4224528" y="4709160"/>
            <a:ext cx="3520440" cy="13716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334256" y="4818888"/>
            <a:ext cx="3300984" cy="118872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00" b="1">
                <a:solidFill>
                  <a:srgbClr val="11052C"/>
                </a:solidFill>
                <a:latin typeface="Arial"/>
              </a:rPr>
              <a:t>Materials are still late at T-10</a:t>
            </a:r>
          </a:p>
          <a:p>
            <a:pPr algn="l">
              <a:spcAft>
                <a:spcPts val="400"/>
              </a:spcAft>
            </a:pPr>
            <a:r>
              <a:rPr sz="1050" b="0">
                <a:solidFill>
                  <a:srgbClr val="3B2A54"/>
                </a:solidFill>
                <a:latin typeface="Arial"/>
              </a:rPr>
              <a:t>The locked outline decides: anything outside it goes to the appendix or the next meeting.</a:t>
            </a:r>
          </a:p>
        </p:txBody>
      </p:sp>
      <p:sp>
        <p:nvSpPr>
          <p:cNvPr id="19" name="Rounded Rectangle 18"/>
          <p:cNvSpPr/>
          <p:nvPr/>
        </p:nvSpPr>
        <p:spPr>
          <a:xfrm>
            <a:off x="7836408" y="4709160"/>
            <a:ext cx="3520440" cy="13716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946136" y="4818888"/>
            <a:ext cx="3300984" cy="118872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00" b="1">
                <a:solidFill>
                  <a:srgbClr val="11052C"/>
                </a:solidFill>
                <a:latin typeface="Arial"/>
              </a:rPr>
              <a:t>The book holds non-public Q3 results</a:t>
            </a:r>
          </a:p>
          <a:p>
            <a:pPr algn="l">
              <a:spcAft>
                <a:spcPts val="400"/>
              </a:spcAft>
            </a:pPr>
            <a:r>
              <a:rPr sz="1050" b="0">
                <a:solidFill>
                  <a:srgbClr val="3B2A54"/>
                </a:solidFill>
                <a:latin typeface="Arial"/>
              </a:rPr>
              <a:t>Portal only; IR sets what directors may discuss. The review agent's drafts run on Nu-approved tools, and a named owner signs each answer.</a:t>
            </a:r>
          </a:p>
        </p:txBody>
      </p:sp>
      <p:sp>
        <p:nvSpPr>
          <p:cNvPr id="21" name="TextBox 20"/>
          <p:cNvSpPr txBox="1"/>
          <p:nvPr/>
        </p:nvSpPr>
        <p:spPr>
          <a:xfrm>
            <a:off x="612648" y="6217920"/>
            <a:ext cx="10515600" cy="320040"/>
          </a:xfrm>
          <a:prstGeom prst="rect">
            <a:avLst/>
          </a:prstGeom>
          <a:noFill/>
        </p:spPr>
        <p:txBody>
          <a:bodyPr wrap="square" anchor="t">
            <a:spAutoFit/>
          </a:bodyPr>
          <a:lstStyle/>
          <a:p>
            <a:pPr algn="l"/>
            <a:r>
              <a:rPr sz="900" b="0">
                <a:solidFill>
                  <a:srgbClr val="6B5B82"/>
                </a:solidFill>
                <a:latin typeface="Arial"/>
              </a:rPr>
              <a:t>Board assumed on Tue 17 Nov, four weeks from today (A7). Q3'26 results are due 12 Nov.</a:t>
            </a:r>
          </a:p>
        </p:txBody>
      </p:sp>
      <p:sp>
        <p:nvSpPr>
          <p:cNvPr id="22" name="TextBox 21"/>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3  //  HQ PROJECT</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The HQ is a governance project before it is a real-estate deal</a:t>
            </a:r>
          </a:p>
        </p:txBody>
      </p:sp>
      <p:sp>
        <p:nvSpPr>
          <p:cNvPr id="4" name="Rounded Rectangle 3"/>
          <p:cNvSpPr/>
          <p:nvPr/>
        </p:nvSpPr>
        <p:spPr>
          <a:xfrm>
            <a:off x="612648" y="1600200"/>
            <a:ext cx="5212080" cy="23317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09928"/>
            <a:ext cx="4992624" cy="2148839"/>
          </a:xfrm>
          <a:prstGeom prst="rect">
            <a:avLst/>
          </a:prstGeom>
          <a:noFill/>
        </p:spPr>
        <p:txBody>
          <a:bodyPr wrap="square" anchor="t">
            <a:spAutoFit/>
          </a:bodyPr>
          <a:lstStyle/>
          <a:p>
            <a:pPr algn="l">
              <a:spcAft>
                <a:spcPts val="300"/>
              </a:spcAft>
            </a:pPr>
            <a:r>
              <a:rPr sz="950" b="1">
                <a:solidFill>
                  <a:srgbClr val="820AD1"/>
                </a:solidFill>
                <a:latin typeface="Arial"/>
              </a:rPr>
              <a:t>THE ASSESSMENT</a:t>
            </a:r>
          </a:p>
          <a:p>
            <a:pPr algn="l">
              <a:spcAft>
                <a:spcPts val="600"/>
              </a:spcAft>
            </a:pPr>
            <a:r>
              <a:rPr sz="1500" b="1">
                <a:solidFill>
                  <a:srgbClr val="11052C"/>
                </a:solidFill>
                <a:latin typeface="Arial"/>
              </a:rPr>
              <a:t>What can go wrong before a lease exists</a:t>
            </a:r>
          </a:p>
          <a:p>
            <a:pPr algn="l">
              <a:spcAft>
                <a:spcPts val="400"/>
              </a:spcAft>
            </a:pPr>
            <a:r>
              <a:rPr sz="1100" b="0">
                <a:solidFill>
                  <a:srgbClr val="3B2A54"/>
                </a:solidFill>
                <a:latin typeface="Arial"/>
              </a:rPr>
              <a:t>A regional hub and campus, negotiated across Legal, Tax, Compliance, People and Workplace, in more than one jurisdiction, with no line over any of them. The jurisdiction is not given.</a:t>
            </a:r>
          </a:p>
          <a:p>
            <a:pPr algn="l">
              <a:spcAft>
                <a:spcPts val="400"/>
              </a:spcAft>
            </a:pPr>
            <a:r>
              <a:rPr sz="1100" b="0">
                <a:solidFill>
                  <a:srgbClr val="3B2A54"/>
                </a:solidFill>
                <a:latin typeface="Arial"/>
              </a:rPr>
              <a:t>Three early failures: tax residence moves or a taxable presence appears; the incentive is worth less once Pillar Two applies; an officer signs before being approved and insured. So: governance first, campus last.</a:t>
            </a:r>
          </a:p>
        </p:txBody>
      </p:sp>
      <p:sp>
        <p:nvSpPr>
          <p:cNvPr id="6" name="Rounded Rectangle 5"/>
          <p:cNvSpPr/>
          <p:nvPr/>
        </p:nvSpPr>
        <p:spPr>
          <a:xfrm>
            <a:off x="612648" y="4069080"/>
            <a:ext cx="5212080" cy="19659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22376" y="4178808"/>
            <a:ext cx="4992624" cy="1783080"/>
          </a:xfrm>
          <a:prstGeom prst="rect">
            <a:avLst/>
          </a:prstGeom>
          <a:noFill/>
        </p:spPr>
        <p:txBody>
          <a:bodyPr wrap="square" anchor="t">
            <a:spAutoFit/>
          </a:bodyPr>
          <a:lstStyle/>
          <a:p>
            <a:pPr algn="l">
              <a:spcAft>
                <a:spcPts val="300"/>
              </a:spcAft>
            </a:pPr>
            <a:r>
              <a:rPr sz="950" b="1">
                <a:solidFill>
                  <a:srgbClr val="820AD1"/>
                </a:solidFill>
                <a:latin typeface="Arial"/>
              </a:rPr>
              <a:t>WHAT IS NEGOTIATED</a:t>
            </a:r>
          </a:p>
          <a:p>
            <a:pPr algn="l">
              <a:spcAft>
                <a:spcPts val="600"/>
              </a:spcAft>
            </a:pPr>
            <a:r>
              <a:rPr sz="1500" b="1">
                <a:solidFill>
                  <a:srgbClr val="11052C"/>
                </a:solidFill>
                <a:latin typeface="Arial"/>
              </a:rPr>
              <a:t>Two kinds of agreement</a:t>
            </a:r>
          </a:p>
          <a:p>
            <a:pPr algn="l">
              <a:spcAft>
                <a:spcPts val="400"/>
              </a:spcAft>
            </a:pPr>
            <a:r>
              <a:rPr sz="1100" b="0">
                <a:solidFill>
                  <a:srgbClr val="3B2A54"/>
                </a:solidFill>
                <a:latin typeface="Arial"/>
              </a:rPr>
              <a:t>Local regulatory agreements: the incentive or grant, any tax ruling, registrations and permits, work permits (Legal, Tax, Compliance, People).</a:t>
            </a:r>
          </a:p>
          <a:p>
            <a:pPr algn="l">
              <a:spcAft>
                <a:spcPts val="400"/>
              </a:spcAft>
            </a:pPr>
            <a:r>
              <a:rPr sz="1100" b="0">
                <a:solidFill>
                  <a:srgbClr val="3B2A54"/>
                </a:solidFill>
                <a:latin typeface="Arial"/>
              </a:rPr>
              <a:t>Campus infrastructure agreements: lease or build-to-suit, fit-out, utilities, land and zoning (Workplace, Legal).</a:t>
            </a:r>
          </a:p>
        </p:txBody>
      </p:sp>
      <p:sp>
        <p:nvSpPr>
          <p:cNvPr id="8" name="Rounded Rectangle 7"/>
          <p:cNvSpPr/>
          <p:nvPr/>
        </p:nvSpPr>
        <p:spPr>
          <a:xfrm>
            <a:off x="5989320" y="1600200"/>
            <a:ext cx="5440680" cy="44348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9048" y="1709928"/>
            <a:ext cx="5221224" cy="4251959"/>
          </a:xfrm>
          <a:prstGeom prst="rect">
            <a:avLst/>
          </a:prstGeom>
          <a:noFill/>
        </p:spPr>
        <p:txBody>
          <a:bodyPr wrap="square" anchor="t">
            <a:spAutoFit/>
          </a:bodyPr>
          <a:lstStyle/>
          <a:p>
            <a:pPr algn="l">
              <a:spcAft>
                <a:spcPts val="300"/>
              </a:spcAft>
            </a:pPr>
            <a:r>
              <a:rPr sz="950" b="1">
                <a:solidFill>
                  <a:srgbClr val="820AD1"/>
                </a:solidFill>
                <a:latin typeface="Arial"/>
              </a:rPr>
              <a:t>HOW I WOULD CHOOSE THE SITE</a:t>
            </a:r>
          </a:p>
          <a:p>
            <a:pPr algn="l">
              <a:spcAft>
                <a:spcPts val="600"/>
              </a:spcAft>
            </a:pPr>
            <a:r>
              <a:rPr sz="1500" b="1">
                <a:solidFill>
                  <a:srgbClr val="11052C"/>
                </a:solidFill>
                <a:latin typeface="Arial"/>
              </a:rPr>
              <a:t>Four hard tests, then five criteria</a:t>
            </a:r>
          </a:p>
          <a:p>
            <a:pPr algn="l">
              <a:spcAft>
                <a:spcPts val="400"/>
              </a:spcAft>
            </a:pPr>
            <a:r>
              <a:rPr sz="1100" b="0">
                <a:solidFill>
                  <a:srgbClr val="3B2A54"/>
                </a:solidFill>
                <a:latin typeface="Arial"/>
              </a:rPr>
              <a:t>1. Regulatory: the hub's activities need no license Nu does not have (Compliance).</a:t>
            </a:r>
          </a:p>
          <a:p>
            <a:pPr algn="l">
              <a:spcAft>
                <a:spcPts val="400"/>
              </a:spcAft>
            </a:pPr>
            <a:r>
              <a:rPr sz="1100" b="0">
                <a:solidFill>
                  <a:srgbClr val="3B2A54"/>
                </a:solidFill>
                <a:latin typeface="Arial"/>
              </a:rPr>
              <a:t>2. Tax: people and decisions there do not move Nu Holdings' tax residence or create a taxable presence (Tax opinion at gate 1).</a:t>
            </a:r>
          </a:p>
          <a:p>
            <a:pPr algn="l">
              <a:spcAft>
                <a:spcPts val="400"/>
              </a:spcAft>
            </a:pPr>
            <a:r>
              <a:rPr sz="1100" b="0">
                <a:solidFill>
                  <a:srgbClr val="3B2A54"/>
                </a:solidFill>
                <a:latin typeface="Arial"/>
              </a:rPr>
              <a:t>3. Officers: Nu can field directors who pass fit-and-proper (Legal, People).</a:t>
            </a:r>
          </a:p>
          <a:p>
            <a:pPr algn="l">
              <a:spcAft>
                <a:spcPts val="400"/>
              </a:spcAft>
            </a:pPr>
            <a:r>
              <a:rPr sz="1100" b="0">
                <a:solidFill>
                  <a:srgbClr val="3B2A54"/>
                </a:solidFill>
                <a:latin typeface="Arial"/>
              </a:rPr>
              <a:t>4. Substance: real payroll and assets, so the incentive survives Pillar Two (Tax, People).</a:t>
            </a:r>
          </a:p>
          <a:p>
            <a:pPr algn="l">
              <a:spcAft>
                <a:spcPts val="400"/>
              </a:spcAft>
            </a:pPr>
            <a:r>
              <a:rPr sz="1100" b="0">
                <a:solidFill>
                  <a:srgbClr val="3B2A54"/>
                </a:solidFill>
                <a:latin typeface="Arial"/>
              </a:rPr>
              <a:t>Then five weighted criteria: talent and wage cost; incentive net of clawback; campus cost and timing; modeled tax rate; political and reputational risk (weights in backup J).</a:t>
            </a:r>
          </a:p>
          <a:p>
            <a:pPr algn="l">
              <a:spcAft>
                <a:spcPts val="400"/>
              </a:spcAft>
            </a:pPr>
            <a:r>
              <a:rPr sz="1100" b="0">
                <a:solidFill>
                  <a:srgbClr val="3B2A54"/>
                </a:solidFill>
                <a:latin typeface="Arial"/>
              </a:rPr>
              <a:t>I start where Nu already has licensed substance and a local CFO (Brazil, Mexico, Colombia) or is building (the US). Two sites go to term sheet; the CEO and CFO pick. If a shortlist already exists (A13), the tests run on it at gate 1 and the criteria become the tie-break.</a:t>
            </a:r>
          </a:p>
        </p:txBody>
      </p:sp>
      <p:sp>
        <p:nvSpPr>
          <p:cNvPr id="10" name="TextBox 9"/>
          <p:cNvSpPr txBox="1"/>
          <p:nvPr/>
        </p:nvSpPr>
        <p:spPr>
          <a:xfrm>
            <a:off x="612648" y="6144768"/>
            <a:ext cx="10515600" cy="548640"/>
          </a:xfrm>
          <a:prstGeom prst="rect">
            <a:avLst/>
          </a:prstGeom>
          <a:noFill/>
        </p:spPr>
        <p:txBody>
          <a:bodyPr wrap="square" anchor="t">
            <a:spAutoFit/>
          </a:bodyPr>
          <a:lstStyle/>
          <a:p>
            <a:pPr algn="l"/>
            <a:r>
              <a:rPr sz="900" b="0">
                <a:solidFill>
                  <a:srgbClr val="6B5B82"/>
                </a:solidFill>
                <a:latin typeface="Arial"/>
              </a:rPr>
              <a:t>Nu Holdings is Cayman-incorporated (Form 20-F). Nu is above the EUR 750M Pillar Two threshold; 15% minimum; 2026 carve-out 9.4% of payroll and 7.4% of tangible assets (OECD GloBE, Art. 5.3, 9.2). Brazil applies a domestic minimum top-up tax from 2025. Jurisdiction open (A13); no savings figure until a site is chosen.</a:t>
            </a:r>
          </a:p>
        </p:txBody>
      </p:sp>
      <p:sp>
        <p:nvSpPr>
          <p:cNvPr id="11" name="TextBox 10"/>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3  //  HQ PROJECT</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Four decision gates in 120 days; nothing is signed between them</a:t>
            </a:r>
          </a:p>
        </p:txBody>
      </p:sp>
      <p:graphicFrame>
        <p:nvGraphicFramePr>
          <p:cNvPr id="4" name="Table 3"/>
          <p:cNvGraphicFramePr>
            <a:graphicFrameLocks noGrp="1"/>
          </p:cNvGraphicFramePr>
          <p:nvPr/>
        </p:nvGraphicFramePr>
        <p:xfrm>
          <a:off x="612648" y="1554480"/>
          <a:ext cx="10789920" cy="2990087"/>
        </p:xfrm>
        <a:graphic>
          <a:graphicData uri="http://schemas.openxmlformats.org/drawingml/2006/table">
            <a:tbl>
              <a:tblPr>
                <a:tableStyleId>{5C22544A-7EE6-4342-B048-85BDC9FD1C3A}</a:tableStyleId>
              </a:tblPr>
              <a:tblGrid>
                <a:gridCol w="1600200"/>
                <a:gridCol w="1325880"/>
                <a:gridCol w="2377440"/>
                <a:gridCol w="3108960"/>
                <a:gridCol w="2377440"/>
              </a:tblGrid>
              <a:tr h="457200">
                <a:tc>
                  <a:txBody>
                    <a:bodyPr wrap="square"/>
                    <a:lstStyle/>
                    <a:p>
                      <a:r>
                        <a:rPr sz="1100" b="1">
                          <a:solidFill>
                            <a:srgbClr val="FFFFFF"/>
                          </a:solidFill>
                          <a:latin typeface="Arial"/>
                        </a:rPr>
                        <a:t>Gate</a:t>
                      </a:r>
                    </a:p>
                  </a:txBody>
                  <a:tcPr marL="64008" marR="64008" marT="36576" marB="36576" anchor="ctr">
                    <a:solidFill>
                      <a:srgbClr val="820AD1"/>
                    </a:solidFill>
                  </a:tcPr>
                </a:tc>
                <a:tc>
                  <a:txBody>
                    <a:bodyPr wrap="square"/>
                    <a:lstStyle/>
                    <a:p>
                      <a:r>
                        <a:rPr sz="1100" b="1">
                          <a:solidFill>
                            <a:srgbClr val="FFFFFF"/>
                          </a:solidFill>
                          <a:latin typeface="Arial"/>
                        </a:rPr>
                        <a:t>Owner</a:t>
                      </a:r>
                    </a:p>
                  </a:txBody>
                  <a:tcPr marL="64008" marR="64008" marT="36576" marB="36576" anchor="ctr">
                    <a:solidFill>
                      <a:srgbClr val="820AD1"/>
                    </a:solidFill>
                  </a:tcPr>
                </a:tc>
                <a:tc>
                  <a:txBody>
                    <a:bodyPr wrap="square"/>
                    <a:lstStyle/>
                    <a:p>
                      <a:r>
                        <a:rPr sz="1100" b="1">
                          <a:solidFill>
                            <a:srgbClr val="FFFFFF"/>
                          </a:solidFill>
                          <a:latin typeface="Arial"/>
                        </a:rPr>
                        <a:t>What we negotiate</a:t>
                      </a:r>
                    </a:p>
                  </a:txBody>
                  <a:tcPr marL="64008" marR="64008" marT="36576" marB="36576" anchor="ctr">
                    <a:solidFill>
                      <a:srgbClr val="820AD1"/>
                    </a:solidFill>
                  </a:tcPr>
                </a:tc>
                <a:tc>
                  <a:txBody>
                    <a:bodyPr wrap="square"/>
                    <a:lstStyle/>
                    <a:p>
                      <a:r>
                        <a:rPr sz="1100" b="1">
                          <a:solidFill>
                            <a:srgbClr val="FFFFFF"/>
                          </a:solidFill>
                          <a:latin typeface="Arial"/>
                        </a:rPr>
                        <a:t>Exit test</a:t>
                      </a:r>
                    </a:p>
                  </a:txBody>
                  <a:tcPr marL="64008" marR="64008" marT="36576" marB="36576" anchor="ctr">
                    <a:solidFill>
                      <a:srgbClr val="820AD1"/>
                    </a:solidFill>
                  </a:tcPr>
                </a:tc>
                <a:tc>
                  <a:txBody>
                    <a:bodyPr wrap="square"/>
                    <a:lstStyle/>
                    <a:p>
                      <a:r>
                        <a:rPr sz="1100" b="1">
                          <a:solidFill>
                            <a:srgbClr val="FFFFFF"/>
                          </a:solidFill>
                          <a:latin typeface="Arial"/>
                        </a:rPr>
                        <a:t>Walk-away</a:t>
                      </a:r>
                    </a:p>
                  </a:txBody>
                  <a:tcPr marL="64008" marR="64008" marT="36576" marB="36576" anchor="ctr">
                    <a:solidFill>
                      <a:srgbClr val="820AD1"/>
                    </a:solidFill>
                  </a:tcPr>
                </a:tc>
              </a:tr>
              <a:tr h="553211">
                <a:tc>
                  <a:txBody>
                    <a:bodyPr wrap="square"/>
                    <a:lstStyle/>
                    <a:p>
                      <a:r>
                        <a:rPr sz="1050" b="1">
                          <a:solidFill>
                            <a:srgbClr val="11052C"/>
                          </a:solidFill>
                          <a:latin typeface="Arial"/>
                        </a:rPr>
                        <a:t>Gate 1, D+30: can we?</a:t>
                      </a:r>
                      <a:r>
                        <a:rPr sz="1050" b="0">
                          <a:solidFill>
                            <a:srgbClr val="11052C"/>
                          </a:solidFill>
                          <a:latin typeface="Arial"/>
                        </a:rPr>
                        <a:t>
Tax and residence</a:t>
                      </a:r>
                    </a:p>
                  </a:txBody>
                  <a:tcPr marL="64008" marR="64008" marT="36576" marB="36576" anchor="ctr">
                    <a:solidFill>
                      <a:srgbClr val="FFFFFF"/>
                    </a:solidFill>
                  </a:tcPr>
                </a:tc>
                <a:tc>
                  <a:txBody>
                    <a:bodyPr wrap="square"/>
                    <a:lstStyle/>
                    <a:p>
                      <a:r>
                        <a:rPr sz="1050" b="0">
                          <a:solidFill>
                            <a:srgbClr val="3B2A54"/>
                          </a:solidFill>
                          <a:latin typeface="Arial"/>
                        </a:rPr>
                        <a:t>Tax, with Compliance</a:t>
                      </a:r>
                    </a:p>
                  </a:txBody>
                  <a:tcPr marL="64008" marR="64008" marT="36576" marB="36576" anchor="ctr">
                    <a:solidFill>
                      <a:srgbClr val="FFFFFF"/>
                    </a:solidFill>
                  </a:tcPr>
                </a:tc>
                <a:tc>
                  <a:txBody>
                    <a:bodyPr wrap="square"/>
                    <a:lstStyle/>
                    <a:p>
                      <a:r>
                        <a:rPr sz="1050" b="0">
                          <a:solidFill>
                            <a:srgbClr val="3B2A54"/>
                          </a:solidFill>
                          <a:latin typeface="Arial"/>
                        </a:rPr>
                        <a:t>Nothing yet: internal</a:t>
                      </a:r>
                    </a:p>
                  </a:txBody>
                  <a:tcPr marL="64008" marR="64008" marT="36576" marB="36576" anchor="ctr">
                    <a:solidFill>
                      <a:srgbClr val="FFFFFF"/>
                    </a:solidFill>
                  </a:tcPr>
                </a:tc>
                <a:tc>
                  <a:txBody>
                    <a:bodyPr wrap="square"/>
                    <a:lstStyle/>
                    <a:p>
                      <a:r>
                        <a:rPr sz="1050" b="0">
                          <a:solidFill>
                            <a:srgbClr val="3B2A54"/>
                          </a:solidFill>
                          <a:latin typeface="Arial"/>
                        </a:rPr>
                        <a:t>Tax-residence and taxable-presence opinion for both sites; modeled tax rate holds under Pillar Two; Compliance confirms permission</a:t>
                      </a:r>
                    </a:p>
                  </a:txBody>
                  <a:tcPr marL="64008" marR="64008" marT="36576" marB="36576" anchor="ctr">
                    <a:solidFill>
                      <a:srgbClr val="FFFFFF"/>
                    </a:solidFill>
                  </a:tcPr>
                </a:tc>
                <a:tc>
                  <a:txBody>
                    <a:bodyPr wrap="square"/>
                    <a:lstStyle/>
                    <a:p>
                      <a:r>
                        <a:rPr sz="1050" b="0">
                          <a:solidFill>
                            <a:srgbClr val="3B2A54"/>
                          </a:solidFill>
                          <a:latin typeface="Arial"/>
                        </a:rPr>
                        <a:t>Any site where residence or a taxable presence moves, whatever the incentive</a:t>
                      </a:r>
                    </a:p>
                  </a:txBody>
                  <a:tcPr marL="64008" marR="64008" marT="36576" marB="36576" anchor="ctr">
                    <a:solidFill>
                      <a:srgbClr val="FFFFFF"/>
                    </a:solidFill>
                  </a:tcPr>
                </a:tc>
              </a:tr>
              <a:tr h="713231">
                <a:tc>
                  <a:txBody>
                    <a:bodyPr wrap="square"/>
                    <a:lstStyle/>
                    <a:p>
                      <a:r>
                        <a:rPr sz="1050" b="1">
                          <a:solidFill>
                            <a:srgbClr val="11052C"/>
                          </a:solidFill>
                          <a:latin typeface="Arial"/>
                        </a:rPr>
                        <a:t>Gate 2, D+60: what may we offer?</a:t>
                      </a:r>
                      <a:r>
                        <a:rPr sz="1050" b="0">
                          <a:solidFill>
                            <a:srgbClr val="11052C"/>
                          </a:solidFill>
                          <a:latin typeface="Arial"/>
                        </a:rPr>
                        <a:t>
Regulatory and grant terms</a:t>
                      </a:r>
                    </a:p>
                  </a:txBody>
                  <a:tcPr marL="64008" marR="64008" marT="36576" marB="36576" anchor="ctr">
                    <a:solidFill>
                      <a:srgbClr val="F7F2FD"/>
                    </a:solidFill>
                  </a:tcPr>
                </a:tc>
                <a:tc>
                  <a:txBody>
                    <a:bodyPr wrap="square"/>
                    <a:lstStyle/>
                    <a:p>
                      <a:r>
                        <a:rPr sz="1050" b="0">
                          <a:solidFill>
                            <a:srgbClr val="3B2A54"/>
                          </a:solidFill>
                          <a:latin typeface="Arial"/>
                        </a:rPr>
                        <a:t>Legal, with Tax</a:t>
                      </a:r>
                    </a:p>
                  </a:txBody>
                  <a:tcPr marL="64008" marR="64008" marT="36576" marB="36576" anchor="ctr">
                    <a:solidFill>
                      <a:srgbClr val="F7F2FD"/>
                    </a:solidFill>
                  </a:tcPr>
                </a:tc>
                <a:tc>
                  <a:txBody>
                    <a:bodyPr wrap="square"/>
                    <a:lstStyle/>
                    <a:p>
                      <a:r>
                        <a:rPr sz="1050" b="0">
                          <a:solidFill>
                            <a:srgbClr val="3B2A54"/>
                          </a:solidFill>
                          <a:latin typeface="Arial"/>
                        </a:rPr>
                        <a:t>The incentive agreement and any ruling; commitments only inside the published plan</a:t>
                      </a:r>
                    </a:p>
                  </a:txBody>
                  <a:tcPr marL="64008" marR="64008" marT="36576" marB="36576" anchor="ctr">
                    <a:solidFill>
                      <a:srgbClr val="F7F2FD"/>
                    </a:solidFill>
                  </a:tcPr>
                </a:tc>
                <a:tc>
                  <a:txBody>
                    <a:bodyPr wrap="square"/>
                    <a:lstStyle/>
                    <a:p>
                      <a:r>
                        <a:rPr sz="1050" b="0">
                          <a:solidFill>
                            <a:srgbClr val="3B2A54"/>
                          </a:solidFill>
                          <a:latin typeface="Arial"/>
                        </a:rPr>
                        <a:t>Signed term sheet: 85% of headcount keeps 85% of the grant; 24 months' grace; one site dropped</a:t>
                      </a:r>
                    </a:p>
                  </a:txBody>
                  <a:tcPr marL="64008" marR="64008" marT="36576" marB="36576" anchor="ctr">
                    <a:solidFill>
                      <a:srgbClr val="F7F2FD"/>
                    </a:solidFill>
                  </a:tcPr>
                </a:tc>
                <a:tc>
                  <a:txBody>
                    <a:bodyPr wrap="square"/>
                    <a:lstStyle/>
                    <a:p>
                      <a:r>
                        <a:rPr sz="1050" b="0">
                          <a:solidFill>
                            <a:srgbClr val="3B2A54"/>
                          </a:solidFill>
                          <a:latin typeface="Arial"/>
                        </a:rPr>
                        <a:t>A cliff-edge clawback; a headcount commitment above plan; terms that bind other markets</a:t>
                      </a:r>
                    </a:p>
                  </a:txBody>
                  <a:tcPr marL="64008" marR="64008" marT="36576" marB="36576" anchor="ctr">
                    <a:solidFill>
                      <a:srgbClr val="F7F2FD"/>
                    </a:solidFill>
                  </a:tcPr>
                </a:tc>
              </a:tr>
              <a:tr h="713231">
                <a:tc>
                  <a:txBody>
                    <a:bodyPr wrap="square"/>
                    <a:lstStyle/>
                    <a:p>
                      <a:r>
                        <a:rPr sz="1050" b="1">
                          <a:solidFill>
                            <a:srgbClr val="11052C"/>
                          </a:solidFill>
                          <a:latin typeface="Arial"/>
                        </a:rPr>
                        <a:t>Gate 3, D+90: who may bind Nu?</a:t>
                      </a:r>
                      <a:r>
                        <a:rPr sz="1050" b="0">
                          <a:solidFill>
                            <a:srgbClr val="11052C"/>
                          </a:solidFill>
                          <a:latin typeface="Arial"/>
                        </a:rPr>
                        <a:t>
Officers and signing</a:t>
                      </a:r>
                    </a:p>
                  </a:txBody>
                  <a:tcPr marL="64008" marR="64008" marT="36576" marB="36576" anchor="ctr">
                    <a:solidFill>
                      <a:srgbClr val="FFFFFF"/>
                    </a:solidFill>
                  </a:tcPr>
                </a:tc>
                <a:tc>
                  <a:txBody>
                    <a:bodyPr wrap="square"/>
                    <a:lstStyle/>
                    <a:p>
                      <a:r>
                        <a:rPr sz="1050" b="0">
                          <a:solidFill>
                            <a:srgbClr val="3B2A54"/>
                          </a:solidFill>
                          <a:latin typeface="Arial"/>
                        </a:rPr>
                        <a:t>Legal and People</a:t>
                      </a:r>
                    </a:p>
                  </a:txBody>
                  <a:tcPr marL="64008" marR="64008" marT="36576" marB="36576" anchor="ctr">
                    <a:solidFill>
                      <a:srgbClr val="FFFFFF"/>
                    </a:solidFill>
                  </a:tcPr>
                </a:tc>
                <a:tc>
                  <a:txBody>
                    <a:bodyPr wrap="square"/>
                    <a:lstStyle/>
                    <a:p>
                      <a:r>
                        <a:rPr sz="1050" b="0">
                          <a:solidFill>
                            <a:srgbClr val="3B2A54"/>
                          </a:solidFill>
                          <a:latin typeface="Arial"/>
                        </a:rPr>
                        <a:t>Nothing external: Nu's own governance</a:t>
                      </a:r>
                    </a:p>
                  </a:txBody>
                  <a:tcPr marL="64008" marR="64008" marT="36576" marB="36576" anchor="ctr">
                    <a:solidFill>
                      <a:srgbClr val="FFFFFF"/>
                    </a:solidFill>
                  </a:tcPr>
                </a:tc>
                <a:tc>
                  <a:txBody>
                    <a:bodyPr wrap="square"/>
                    <a:lstStyle/>
                    <a:p>
                      <a:r>
                        <a:rPr sz="1050" b="0">
                          <a:solidFill>
                            <a:srgbClr val="3B2A54"/>
                          </a:solidFill>
                          <a:latin typeface="Arial"/>
                        </a:rPr>
                        <a:t>Officers named from licensed executives; fit-and-proper files in (started at gate 1); D&amp;O bound; signing matrix and powers of attorney approved</a:t>
                      </a:r>
                    </a:p>
                  </a:txBody>
                  <a:tcPr marL="64008" marR="64008" marT="36576" marB="36576" anchor="ctr">
                    <a:solidFill>
                      <a:srgbClr val="FFFFFF"/>
                    </a:solidFill>
                  </a:tcPr>
                </a:tc>
                <a:tc>
                  <a:txBody>
                    <a:bodyPr wrap="square"/>
                    <a:lstStyle/>
                    <a:p>
                      <a:r>
                        <a:rPr sz="1050" b="0">
                          <a:solidFill>
                            <a:srgbClr val="3B2A54"/>
                          </a:solidFill>
                          <a:latin typeface="Arial"/>
                        </a:rPr>
                        <a:t>Any appointment without D&amp;O cover or regulator approval</a:t>
                      </a:r>
                    </a:p>
                  </a:txBody>
                  <a:tcPr marL="64008" marR="64008" marT="36576" marB="36576" anchor="ctr">
                    <a:solidFill>
                      <a:srgbClr val="FFFFFF"/>
                    </a:solidFill>
                  </a:tcPr>
                </a:tc>
              </a:tr>
              <a:tr h="553211">
                <a:tc>
                  <a:txBody>
                    <a:bodyPr wrap="square"/>
                    <a:lstStyle/>
                    <a:p>
                      <a:r>
                        <a:rPr sz="1050" b="1">
                          <a:solidFill>
                            <a:srgbClr val="11052C"/>
                          </a:solidFill>
                          <a:latin typeface="Arial"/>
                        </a:rPr>
                        <a:t>Gate 4, D+120: do we commit?</a:t>
                      </a:r>
                      <a:r>
                        <a:rPr sz="1050" b="0">
                          <a:solidFill>
                            <a:srgbClr val="11052C"/>
                          </a:solidFill>
                          <a:latin typeface="Arial"/>
                        </a:rPr>
                        <a:t>
Lease and campus</a:t>
                      </a:r>
                    </a:p>
                  </a:txBody>
                  <a:tcPr marL="64008" marR="64008" marT="36576" marB="36576" anchor="ctr">
                    <a:solidFill>
                      <a:srgbClr val="F7F2FD"/>
                    </a:solidFill>
                  </a:tcPr>
                </a:tc>
                <a:tc>
                  <a:txBody>
                    <a:bodyPr wrap="square"/>
                    <a:lstStyle/>
                    <a:p>
                      <a:r>
                        <a:rPr sz="1050" b="0">
                          <a:solidFill>
                            <a:srgbClr val="3B2A54"/>
                          </a:solidFill>
                          <a:latin typeface="Arial"/>
                        </a:rPr>
                        <a:t>Workplace, with Legal</a:t>
                      </a:r>
                    </a:p>
                  </a:txBody>
                  <a:tcPr marL="64008" marR="64008" marT="36576" marB="36576" anchor="ctr">
                    <a:solidFill>
                      <a:srgbClr val="F7F2FD"/>
                    </a:solidFill>
                  </a:tcPr>
                </a:tc>
                <a:tc>
                  <a:txBody>
                    <a:bodyPr wrap="square"/>
                    <a:lstStyle/>
                    <a:p>
                      <a:r>
                        <a:rPr sz="1050" b="0">
                          <a:solidFill>
                            <a:srgbClr val="3B2A54"/>
                          </a:solidFill>
                          <a:latin typeface="Arial"/>
                        </a:rPr>
                        <a:t>Lease or build-to-suit, fit-out, utilities, infrastructure contribution</a:t>
                      </a:r>
                    </a:p>
                  </a:txBody>
                  <a:tcPr marL="64008" marR="64008" marT="36576" marB="36576" anchor="ctr">
                    <a:solidFill>
                      <a:srgbClr val="F7F2FD"/>
                    </a:solidFill>
                  </a:tcPr>
                </a:tc>
                <a:tc>
                  <a:txBody>
                    <a:bodyPr wrap="square"/>
                    <a:lstStyle/>
                    <a:p>
                      <a:r>
                        <a:rPr sz="1050" b="0">
                          <a:solidFill>
                            <a:srgbClr val="3B2A54"/>
                          </a:solidFill>
                          <a:latin typeface="Arial"/>
                        </a:rPr>
                        <a:t>Lease inside the FY27 plan, cost phased, a break option matched to the grant's grace, a long-stop date tied to gate 2</a:t>
                      </a:r>
                    </a:p>
                  </a:txBody>
                  <a:tcPr marL="64008" marR="64008" marT="36576" marB="36576" anchor="ctr">
                    <a:solidFill>
                      <a:srgbClr val="F7F2FD"/>
                    </a:solidFill>
                  </a:tcPr>
                </a:tc>
                <a:tc>
                  <a:txBody>
                    <a:bodyPr wrap="square"/>
                    <a:lstStyle/>
                    <a:p>
                      <a:r>
                        <a:rPr sz="1050" b="0">
                          <a:solidFill>
                            <a:srgbClr val="3B2A54"/>
                          </a:solidFill>
                          <a:latin typeface="Arial"/>
                        </a:rPr>
                        <a:t>No break option, or cost committed before the incentive is signed</a:t>
                      </a:r>
                    </a:p>
                  </a:txBody>
                  <a:tcPr marL="64008" marR="64008" marT="36576" marB="36576" anchor="ctr">
                    <a:solidFill>
                      <a:srgbClr val="F7F2FD"/>
                    </a:solidFill>
                  </a:tcPr>
                </a:tc>
              </a:tr>
            </a:tbl>
          </a:graphicData>
        </a:graphic>
      </p:graphicFrame>
      <p:sp>
        <p:nvSpPr>
          <p:cNvPr id="5" name="Rounded Rectangle 4"/>
          <p:cNvSpPr/>
          <p:nvPr/>
        </p:nvSpPr>
        <p:spPr>
          <a:xfrm>
            <a:off x="612648" y="4681728"/>
            <a:ext cx="10789920" cy="109728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95528" y="4773168"/>
            <a:ext cx="10424160" cy="950976"/>
          </a:xfrm>
          <a:prstGeom prst="rect">
            <a:avLst/>
          </a:prstGeom>
          <a:noFill/>
        </p:spPr>
        <p:txBody>
          <a:bodyPr wrap="square" anchor="ctr">
            <a:spAutoFit/>
          </a:bodyPr>
          <a:lstStyle/>
          <a:p>
            <a:pPr algn="l"/>
            <a:r>
              <a:rPr sz="1150" b="1">
                <a:solidFill>
                  <a:srgbClr val="FFFFFF"/>
                </a:solidFill>
                <a:latin typeface="Arial"/>
              </a:rPr>
              <a:t>Gate 0 is the charter signed today: </a:t>
            </a:r>
            <a:r>
              <a:rPr sz="1150" b="0">
                <a:solidFill>
                  <a:srgbClr val="FFFFFF"/>
                </a:solidFill>
                <a:latin typeface="Arial"/>
              </a:rPr>
              <a:t>why, the outcomes, the boundaries, the CFO as sponsor. Each gate after it is a decision the CFO makes on a pack I assemble; the walk-aways are the red lines of the negotiating mandate. Legal leads the room. What we give stays inside the published plan: no headcount or spend commitment the $25M cap cannot carry.</a:t>
            </a:r>
          </a:p>
        </p:txBody>
      </p:sp>
      <p:sp>
        <p:nvSpPr>
          <p:cNvPr id="7" name="TextBox 6"/>
          <p:cNvSpPr txBox="1"/>
          <p:nvPr/>
        </p:nvSpPr>
        <p:spPr>
          <a:xfrm>
            <a:off x="612648" y="6144768"/>
            <a:ext cx="10515600" cy="548640"/>
          </a:xfrm>
          <a:prstGeom prst="rect">
            <a:avLst/>
          </a:prstGeom>
          <a:noFill/>
        </p:spPr>
        <p:txBody>
          <a:bodyPr wrap="square" anchor="t">
            <a:spAutoFit/>
          </a:bodyPr>
          <a:lstStyle/>
          <a:p>
            <a:pPr algn="l"/>
            <a:r>
              <a:rPr sz="900" b="0">
                <a:solidFill>
                  <a:srgbClr val="6B5B82"/>
                </a:solidFill>
                <a:latin typeface="Arial"/>
              </a:rPr>
              <a:t>Dates run from the charter signed today (D+0 = 20 Oct): gate 1 on 19 Nov, two days after the Board; gates 2-4 in mid-December, mid-January and mid-February (backup F). The 85% and 24-month terms are proposals. Q2'26 showed how real-estate timing moves the efficiency ratio, so the lease cost is phased.</a:t>
            </a:r>
          </a:p>
        </p:txBody>
      </p:sp>
      <p:sp>
        <p:nvSpPr>
          <p:cNvPr id="8" name="TextBox 7"/>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3  //  HQ PROJECT</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Experts own the judgment, I own the process, the CFO owns residual risk</a:t>
            </a:r>
          </a:p>
        </p:txBody>
      </p:sp>
      <p:sp>
        <p:nvSpPr>
          <p:cNvPr id="4" name="Rounded Rectangle 3"/>
          <p:cNvSpPr/>
          <p:nvPr/>
        </p:nvSpPr>
        <p:spPr>
          <a:xfrm>
            <a:off x="612648" y="1600200"/>
            <a:ext cx="5303520" cy="32918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09928"/>
            <a:ext cx="5084064" cy="3108960"/>
          </a:xfrm>
          <a:prstGeom prst="rect">
            <a:avLst/>
          </a:prstGeom>
          <a:noFill/>
        </p:spPr>
        <p:txBody>
          <a:bodyPr wrap="square" anchor="t">
            <a:spAutoFit/>
          </a:bodyPr>
          <a:lstStyle/>
          <a:p>
            <a:pPr algn="l">
              <a:spcAft>
                <a:spcPts val="300"/>
              </a:spcAft>
            </a:pPr>
            <a:r>
              <a:rPr sz="950" b="1">
                <a:solidFill>
                  <a:srgbClr val="820AD1"/>
                </a:solidFill>
                <a:latin typeface="Arial"/>
              </a:rPr>
              <a:t>STATUTORY OFFICER IMPLICATIONS</a:t>
            </a:r>
          </a:p>
          <a:p>
            <a:pPr algn="l">
              <a:spcAft>
                <a:spcPts val="600"/>
              </a:spcAft>
            </a:pPr>
            <a:r>
              <a:rPr sz="1500" b="1">
                <a:solidFill>
                  <a:srgbClr val="11052C"/>
                </a:solidFill>
                <a:latin typeface="Arial"/>
              </a:rPr>
              <a:t>Who signs, who sits, who carries the risk</a:t>
            </a:r>
          </a:p>
          <a:p>
            <a:pPr algn="l">
              <a:spcAft>
                <a:spcPts val="400"/>
              </a:spcAft>
            </a:pPr>
            <a:r>
              <a:rPr sz="1050" b="0">
                <a:solidFill>
                  <a:srgbClr val="3B2A54"/>
                </a:solidFill>
                <a:latin typeface="Arial"/>
              </a:rPr>
              <a:t>Signing: central only until gate 3, which also avoids an accidental taxable presence; then dual signature above limits set by category, and powers of attorney limited in scope and time, reviewed annually.</a:t>
            </a:r>
          </a:p>
          <a:p>
            <a:pPr algn="l">
              <a:spcAft>
                <a:spcPts val="400"/>
              </a:spcAft>
            </a:pPr>
            <a:r>
              <a:rPr sz="1050" b="0">
                <a:solidFill>
                  <a:srgbClr val="3B2A54"/>
                </a:solidFill>
                <a:latin typeface="Arial"/>
              </a:rPr>
              <a:t>Seats: licensed executives who pass the regulator's fit-and-proper test. Not me: I run the process and hold no power of attorney.</a:t>
            </a:r>
          </a:p>
          <a:p>
            <a:pPr algn="l">
              <a:spcAft>
                <a:spcPts val="400"/>
              </a:spcAft>
            </a:pPr>
            <a:r>
              <a:rPr sz="1050" b="0">
                <a:solidFill>
                  <a:srgbClr val="3B2A54"/>
                </a:solidFill>
                <a:latin typeface="Arial"/>
              </a:rPr>
              <a:t>Liability: officers carry personal liability for the entity's filings and conduct (Legal confirms per site). D&amp;O names the new entity before activation. Regulator approval sets the critical path, so files start at gate 1.</a:t>
            </a:r>
          </a:p>
          <a:p>
            <a:pPr algn="l">
              <a:spcAft>
                <a:spcPts val="400"/>
              </a:spcAft>
            </a:pPr>
            <a:r>
              <a:rPr sz="1050" b="0">
                <a:solidFill>
                  <a:srgbClr val="3B2A54"/>
                </a:solidFill>
                <a:latin typeface="Arial"/>
              </a:rPr>
              <a:t>Capital: a regulated hub entity needs its own capital plan and goes on the Board's statutory agenda (backup B).</a:t>
            </a:r>
          </a:p>
        </p:txBody>
      </p:sp>
      <p:sp>
        <p:nvSpPr>
          <p:cNvPr id="6" name="Rounded Rectangle 5"/>
          <p:cNvSpPr/>
          <p:nvPr/>
        </p:nvSpPr>
        <p:spPr>
          <a:xfrm>
            <a:off x="6099048" y="1600200"/>
            <a:ext cx="5303520" cy="329184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208776" y="1709928"/>
            <a:ext cx="5084064" cy="3108960"/>
          </a:xfrm>
          <a:prstGeom prst="rect">
            <a:avLst/>
          </a:prstGeom>
          <a:noFill/>
        </p:spPr>
        <p:txBody>
          <a:bodyPr wrap="square" anchor="t">
            <a:spAutoFit/>
          </a:bodyPr>
          <a:lstStyle/>
          <a:p>
            <a:pPr algn="l">
              <a:spcAft>
                <a:spcPts val="300"/>
              </a:spcAft>
            </a:pPr>
            <a:r>
              <a:rPr sz="950" b="1">
                <a:solidFill>
                  <a:srgbClr val="820AD1"/>
                </a:solidFill>
                <a:latin typeface="Arial"/>
              </a:rPr>
              <a:t>LEADING AS AN INTERIM ACROSS FIVE FUNCTIONS</a:t>
            </a:r>
          </a:p>
          <a:p>
            <a:pPr algn="l">
              <a:spcAft>
                <a:spcPts val="600"/>
              </a:spcAft>
            </a:pPr>
            <a:r>
              <a:rPr sz="1500" b="1">
                <a:solidFill>
                  <a:srgbClr val="11052C"/>
                </a:solidFill>
                <a:latin typeface="Arial"/>
              </a:rPr>
              <a:t>One pod, one log, clear decision rights</a:t>
            </a:r>
          </a:p>
          <a:p>
            <a:pPr algn="l">
              <a:spcAft>
                <a:spcPts val="400"/>
              </a:spcAft>
            </a:pPr>
            <a:r>
              <a:rPr sz="1050" b="0">
                <a:solidFill>
                  <a:srgbClr val="3B2A54"/>
                </a:solidFill>
                <a:latin typeface="Arial"/>
              </a:rPr>
              <a:t>Weekly 45-minute pod: Legal, Tax, Compliance, People and Workplace, each with one lead who can commit their function.</a:t>
            </a:r>
          </a:p>
          <a:p>
            <a:pPr algn="l">
              <a:spcAft>
                <a:spcPts val="400"/>
              </a:spcAft>
            </a:pPr>
            <a:r>
              <a:rPr sz="1050" b="0">
                <a:solidFill>
                  <a:srgbClr val="3B2A54"/>
                </a:solidFill>
                <a:latin typeface="Arial"/>
              </a:rPr>
              <a:t>I own the integrated outcome and the decision process; I do not second-guess a tax opinion. Each function owns its technical judgment. The CFO owns acceptance of any material residual risk at each gate; the CEO decides the site; the entity's board appoints officers; the Audit and Risk Committee hears at gates 1 and 3.</a:t>
            </a:r>
          </a:p>
          <a:p>
            <a:pPr algn="l">
              <a:spcAft>
                <a:spcPts val="400"/>
              </a:spcAft>
            </a:pPr>
            <a:r>
              <a:rPr sz="1050" b="0">
                <a:solidFill>
                  <a:srgbClr val="3B2A54"/>
                </a:solidFill>
                <a:latin typeface="Arial"/>
              </a:rPr>
              <a:t>One decision log, kept by the PMO agent; escalation to the CFO within 48 hours; a named deputy covers me.</a:t>
            </a:r>
          </a:p>
          <a:p>
            <a:pPr algn="l">
              <a:spcAft>
                <a:spcPts val="400"/>
              </a:spcAft>
            </a:pPr>
            <a:r>
              <a:rPr sz="1050" b="0">
                <a:solidFill>
                  <a:srgbClr val="3B2A54"/>
                </a:solidFill>
                <a:latin typeface="Arial"/>
              </a:rPr>
              <a:t>When functions disagree: their words go in the log; 48 hours to a joint view; if none, both options go to the CFO with mine. Legal and Compliance can veto on legality; nobody vetoes on price.</a:t>
            </a:r>
          </a:p>
        </p:txBody>
      </p:sp>
      <p:sp>
        <p:nvSpPr>
          <p:cNvPr id="8" name="Rounded Rectangle 7"/>
          <p:cNvSpPr/>
          <p:nvPr/>
        </p:nvSpPr>
        <p:spPr>
          <a:xfrm>
            <a:off x="612648" y="5001768"/>
            <a:ext cx="3520440" cy="11430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22376" y="5111496"/>
            <a:ext cx="3300984" cy="96012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00" b="1">
                <a:solidFill>
                  <a:srgbClr val="11052C"/>
                </a:solidFill>
                <a:latin typeface="Arial"/>
              </a:rPr>
              <a:t>Tax residence moves</a:t>
            </a:r>
          </a:p>
          <a:p>
            <a:pPr algn="l">
              <a:spcAft>
                <a:spcPts val="400"/>
              </a:spcAft>
            </a:pPr>
            <a:r>
              <a:rPr sz="1050" b="0">
                <a:solidFill>
                  <a:srgbClr val="3B2A54"/>
                </a:solidFill>
                <a:latin typeface="Arial"/>
              </a:rPr>
              <a:t>Opinion at gate 1; meeting patterns unchanged; no early signing (Tax).</a:t>
            </a:r>
          </a:p>
        </p:txBody>
      </p:sp>
      <p:sp>
        <p:nvSpPr>
          <p:cNvPr id="10" name="Rounded Rectangle 9"/>
          <p:cNvSpPr/>
          <p:nvPr/>
        </p:nvSpPr>
        <p:spPr>
          <a:xfrm>
            <a:off x="4224528" y="5001768"/>
            <a:ext cx="3520440" cy="11430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334256" y="5111496"/>
            <a:ext cx="3300984" cy="96012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00" b="1">
                <a:solidFill>
                  <a:srgbClr val="11052C"/>
                </a:solidFill>
                <a:latin typeface="Arial"/>
              </a:rPr>
              <a:t>Officer approval runs late</a:t>
            </a:r>
          </a:p>
          <a:p>
            <a:pPr algn="l">
              <a:spcAft>
                <a:spcPts val="400"/>
              </a:spcAft>
            </a:pPr>
            <a:r>
              <a:rPr sz="1050" b="0">
                <a:solidFill>
                  <a:srgbClr val="3B2A54"/>
                </a:solidFill>
                <a:latin typeface="Arial"/>
              </a:rPr>
              <a:t>Files at gate 1; no activation before approval; the lease long-stop moves with it (Legal, People).</a:t>
            </a:r>
          </a:p>
        </p:txBody>
      </p:sp>
      <p:sp>
        <p:nvSpPr>
          <p:cNvPr id="12" name="Rounded Rectangle 11"/>
          <p:cNvSpPr/>
          <p:nvPr/>
        </p:nvSpPr>
        <p:spPr>
          <a:xfrm>
            <a:off x="7836408" y="5001768"/>
            <a:ext cx="3520440" cy="114300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46136" y="5111496"/>
            <a:ext cx="3300984" cy="960120"/>
          </a:xfrm>
          <a:prstGeom prst="rect">
            <a:avLst/>
          </a:prstGeom>
          <a:noFill/>
        </p:spPr>
        <p:txBody>
          <a:bodyPr wrap="square" anchor="t">
            <a:spAutoFit/>
          </a:bodyPr>
          <a:lstStyle/>
          <a:p>
            <a:pPr algn="l">
              <a:spcAft>
                <a:spcPts val="300"/>
              </a:spcAft>
            </a:pPr>
            <a:r>
              <a:rPr sz="950" b="1">
                <a:solidFill>
                  <a:srgbClr val="D97706"/>
                </a:solidFill>
                <a:latin typeface="Arial"/>
              </a:rPr>
              <a:t>RISK</a:t>
            </a:r>
          </a:p>
          <a:p>
            <a:pPr algn="l">
              <a:spcAft>
                <a:spcPts val="600"/>
              </a:spcAft>
            </a:pPr>
            <a:r>
              <a:rPr sz="1200" b="1">
                <a:solidFill>
                  <a:srgbClr val="11052C"/>
                </a:solidFill>
                <a:latin typeface="Arial"/>
              </a:rPr>
              <a:t>Dependence on me</a:t>
            </a:r>
          </a:p>
          <a:p>
            <a:pPr algn="l">
              <a:spcAft>
                <a:spcPts val="400"/>
              </a:spcAft>
            </a:pPr>
            <a:r>
              <a:rPr sz="1050" b="0">
                <a:solidFill>
                  <a:srgbClr val="3B2A54"/>
                </a:solidFill>
                <a:latin typeface="Arial"/>
              </a:rPr>
              <a:t>A named deputy, the decision log, and gate packs the CFO can decide on without me.</a:t>
            </a:r>
          </a:p>
        </p:txBody>
      </p:sp>
      <p:sp>
        <p:nvSpPr>
          <p:cNvPr id="14" name="TextBox 13"/>
          <p:cNvSpPr txBox="1"/>
          <p:nvPr/>
        </p:nvSpPr>
        <p:spPr>
          <a:xfrm>
            <a:off x="612648" y="6263640"/>
            <a:ext cx="10515600" cy="411480"/>
          </a:xfrm>
          <a:prstGeom prst="rect">
            <a:avLst/>
          </a:prstGeom>
          <a:noFill/>
        </p:spPr>
        <p:txBody>
          <a:bodyPr wrap="square" anchor="t">
            <a:spAutoFit/>
          </a:bodyPr>
          <a:lstStyle/>
          <a:p>
            <a:pPr algn="l"/>
            <a:r>
              <a:rPr sz="900" b="0">
                <a:solidFill>
                  <a:srgbClr val="6B5B82"/>
                </a:solidFill>
                <a:latin typeface="Arial"/>
              </a:rPr>
              <a:t>Signing limits and the delegation model are proposals. If the hub sits inside an existing licensed entity, gate 3 shrinks to a powers-of-attorney update (backup B). Full HQ risk register and site scorecard: backup J.</a:t>
            </a:r>
          </a:p>
        </p:txBody>
      </p:sp>
      <p:sp>
        <p:nvSpPr>
          <p:cNvPr id="15" name="TextBox 1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4  //  LEADERSHIP STYLE AND OPERATING PHILOSOPHY</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How we work: propose, implement, assess, and change course fast</a:t>
            </a:r>
          </a:p>
        </p:txBody>
      </p:sp>
      <p:sp>
        <p:nvSpPr>
          <p:cNvPr id="4" name="Rounded Rectangle 3"/>
          <p:cNvSpPr/>
          <p:nvPr/>
        </p:nvSpPr>
        <p:spPr>
          <a:xfrm>
            <a:off x="612648" y="1645920"/>
            <a:ext cx="3474720" cy="26517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55648"/>
            <a:ext cx="3255263" cy="2468879"/>
          </a:xfrm>
          <a:prstGeom prst="rect">
            <a:avLst/>
          </a:prstGeom>
          <a:noFill/>
        </p:spPr>
        <p:txBody>
          <a:bodyPr wrap="square" anchor="t">
            <a:spAutoFit/>
          </a:bodyPr>
          <a:lstStyle/>
          <a:p>
            <a:pPr algn="l">
              <a:spcAft>
                <a:spcPts val="300"/>
              </a:spcAft>
            </a:pPr>
            <a:r>
              <a:rPr sz="950" b="1">
                <a:solidFill>
                  <a:srgbClr val="820AD1"/>
                </a:solidFill>
                <a:latin typeface="Arial"/>
              </a:rPr>
              <a:t>HOW WE WORK  //  1</a:t>
            </a:r>
          </a:p>
          <a:p>
            <a:pPr algn="l">
              <a:spcAft>
                <a:spcPts val="600"/>
              </a:spcAft>
            </a:pPr>
            <a:r>
              <a:rPr sz="1500" b="1">
                <a:solidFill>
                  <a:srgbClr val="11052C"/>
                </a:solidFill>
                <a:latin typeface="Arial"/>
              </a:rPr>
              <a:t>Propose, then publish</a:t>
            </a:r>
          </a:p>
          <a:p>
            <a:pPr algn="l">
              <a:spcAft>
                <a:spcPts val="400"/>
              </a:spcAft>
            </a:pPr>
            <a:r>
              <a:rPr sz="1200" b="0">
                <a:solidFill>
                  <a:srgbClr val="3B2A54"/>
                </a:solidFill>
                <a:latin typeface="Arial"/>
              </a:rPr>
              <a:t>We bring a proposal with its evidence, and publish the rule before anyone argues about the outcome.</a:t>
            </a:r>
          </a:p>
          <a:p>
            <a:pPr algn="l">
              <a:spcAft>
                <a:spcPts val="400"/>
              </a:spcAft>
            </a:pPr>
            <a:r>
              <a:rPr sz="1200" b="0">
                <a:solidFill>
                  <a:srgbClr val="3B2A54"/>
                </a:solidFill>
                <a:latin typeface="Arial"/>
              </a:rPr>
              <a:t>People accept a decision they argued against when the criteria were public first.</a:t>
            </a:r>
          </a:p>
        </p:txBody>
      </p:sp>
      <p:sp>
        <p:nvSpPr>
          <p:cNvPr id="6" name="Rounded Rectangle 5"/>
          <p:cNvSpPr/>
          <p:nvPr/>
        </p:nvSpPr>
        <p:spPr>
          <a:xfrm>
            <a:off x="4270248" y="1645920"/>
            <a:ext cx="3474720" cy="26517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379976" y="1755648"/>
            <a:ext cx="3255263" cy="2468879"/>
          </a:xfrm>
          <a:prstGeom prst="rect">
            <a:avLst/>
          </a:prstGeom>
          <a:noFill/>
        </p:spPr>
        <p:txBody>
          <a:bodyPr wrap="square" anchor="t">
            <a:spAutoFit/>
          </a:bodyPr>
          <a:lstStyle/>
          <a:p>
            <a:pPr algn="l">
              <a:spcAft>
                <a:spcPts val="300"/>
              </a:spcAft>
            </a:pPr>
            <a:r>
              <a:rPr sz="950" b="1">
                <a:solidFill>
                  <a:srgbClr val="820AD1"/>
                </a:solidFill>
                <a:latin typeface="Arial"/>
              </a:rPr>
              <a:t>HOW WE WORK  //  2</a:t>
            </a:r>
          </a:p>
          <a:p>
            <a:pPr algn="l">
              <a:spcAft>
                <a:spcPts val="600"/>
              </a:spcAft>
            </a:pPr>
            <a:r>
              <a:rPr sz="1500" b="1">
                <a:solidFill>
                  <a:srgbClr val="11052C"/>
                </a:solidFill>
                <a:latin typeface="Arial"/>
              </a:rPr>
              <a:t>Start small, assess, pivot fast</a:t>
            </a:r>
          </a:p>
          <a:p>
            <a:pPr algn="l">
              <a:spcAft>
                <a:spcPts val="400"/>
              </a:spcAft>
            </a:pPr>
            <a:r>
              <a:rPr sz="1200" b="0">
                <a:solidFill>
                  <a:srgbClr val="3B2A54"/>
                </a:solidFill>
                <a:latin typeface="Arial"/>
              </a:rPr>
              <a:t>Every mechanism in this deck is a first version, with a date to review it.</a:t>
            </a:r>
          </a:p>
          <a:p>
            <a:pPr algn="l">
              <a:spcAft>
                <a:spcPts val="400"/>
              </a:spcAft>
            </a:pPr>
            <a:r>
              <a:rPr sz="1200" b="0">
                <a:solidFill>
                  <a:srgbClr val="3B2A54"/>
                </a:solidFill>
                <a:latin typeface="Arial"/>
              </a:rPr>
              <a:t>If the indicators say we are wrong, we change it at the next quarterly release, not next year.</a:t>
            </a:r>
          </a:p>
        </p:txBody>
      </p:sp>
      <p:sp>
        <p:nvSpPr>
          <p:cNvPr id="8" name="Rounded Rectangle 7"/>
          <p:cNvSpPr/>
          <p:nvPr/>
        </p:nvSpPr>
        <p:spPr>
          <a:xfrm>
            <a:off x="7927848" y="1645920"/>
            <a:ext cx="3474720" cy="26517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37575" y="1755648"/>
            <a:ext cx="3255263" cy="2468879"/>
          </a:xfrm>
          <a:prstGeom prst="rect">
            <a:avLst/>
          </a:prstGeom>
          <a:noFill/>
        </p:spPr>
        <p:txBody>
          <a:bodyPr wrap="square" anchor="t">
            <a:spAutoFit/>
          </a:bodyPr>
          <a:lstStyle/>
          <a:p>
            <a:pPr algn="l">
              <a:spcAft>
                <a:spcPts val="300"/>
              </a:spcAft>
            </a:pPr>
            <a:r>
              <a:rPr sz="950" b="1">
                <a:solidFill>
                  <a:srgbClr val="820AD1"/>
                </a:solidFill>
                <a:latin typeface="Arial"/>
              </a:rPr>
              <a:t>HOW WE WORK  //  3</a:t>
            </a:r>
          </a:p>
          <a:p>
            <a:pPr algn="l">
              <a:spcAft>
                <a:spcPts val="600"/>
              </a:spcAft>
            </a:pPr>
            <a:r>
              <a:rPr sz="1500" b="1">
                <a:solidFill>
                  <a:srgbClr val="11052C"/>
                </a:solidFill>
                <a:latin typeface="Arial"/>
              </a:rPr>
              <a:t>Built with the markets, not for them</a:t>
            </a:r>
          </a:p>
          <a:p>
            <a:pPr algn="l">
              <a:spcAft>
                <a:spcPts val="400"/>
              </a:spcAft>
            </a:pPr>
            <a:r>
              <a:rPr sz="1200" b="0">
                <a:solidFill>
                  <a:srgbClr val="3B2A54"/>
                </a:solidFill>
                <a:latin typeface="Arial"/>
              </a:rPr>
              <a:t>Finance partners sit inside the markets and local CFOs shape the model, so nobody sees their number first in front of the CFO.</a:t>
            </a:r>
          </a:p>
          <a:p>
            <a:pPr algn="l">
              <a:spcAft>
                <a:spcPts val="400"/>
              </a:spcAft>
            </a:pPr>
            <a:r>
              <a:rPr sz="1200" b="0">
                <a:solidFill>
                  <a:srgbClr val="3B2A54"/>
                </a:solidFill>
                <a:latin typeface="Arial"/>
              </a:rPr>
              <a:t>We stay hands-on in the numbers: AI does the first pass, people do the last.</a:t>
            </a:r>
          </a:p>
        </p:txBody>
      </p:sp>
      <p:sp>
        <p:nvSpPr>
          <p:cNvPr id="10" name="Rounded Rectangle 9"/>
          <p:cNvSpPr/>
          <p:nvPr/>
        </p:nvSpPr>
        <p:spPr>
          <a:xfrm>
            <a:off x="612648" y="4480560"/>
            <a:ext cx="10789920" cy="137160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5528" y="4572000"/>
            <a:ext cx="10424160" cy="1225296"/>
          </a:xfrm>
          <a:prstGeom prst="rect">
            <a:avLst/>
          </a:prstGeom>
          <a:noFill/>
        </p:spPr>
        <p:txBody>
          <a:bodyPr wrap="square" anchor="ctr">
            <a:spAutoFit/>
          </a:bodyPr>
          <a:lstStyle/>
          <a:p>
            <a:pPr algn="l"/>
            <a:r>
              <a:rPr sz="1250" b="1">
                <a:solidFill>
                  <a:srgbClr val="FFFFFF"/>
                </a:solidFill>
                <a:latin typeface="Arial"/>
              </a:rPr>
              <a:t>How we get smarter every quarter: </a:t>
            </a:r>
            <a:r>
              <a:rPr sz="1250" b="0">
                <a:solidFill>
                  <a:srgbClr val="FFFFFF"/>
                </a:solidFill>
                <a:latin typeface="Arial"/>
              </a:rPr>
              <a:t>each release review ends with what we got wrong and what we change. Twice a year the GMs rate the function, and we publish the result.</a:t>
            </a:r>
          </a:p>
          <a:p>
            <a:pPr algn="l"/>
            <a:r>
              <a:rPr sz="1250" b="1">
                <a:solidFill>
                  <a:srgbClr val="FFFFFF"/>
                </a:solidFill>
                <a:latin typeface="Arial"/>
              </a:rPr>
              <a:t>What we leave alone for 90 days: </a:t>
            </a:r>
            <a:r>
              <a:rPr sz="1250" b="0">
                <a:solidFill>
                  <a:srgbClr val="FFFFFF"/>
                </a:solidFill>
                <a:latin typeface="Arial"/>
              </a:rPr>
              <a:t>local-CFO decision rights in Mexico and Colombia, credit-model governance and the IR calendar. They work, and they belong to the people who run them.</a:t>
            </a:r>
          </a:p>
        </p:txBody>
      </p:sp>
      <p:sp>
        <p:nvSpPr>
          <p:cNvPr id="12" name="TextBox 11"/>
          <p:cNvSpPr txBox="1"/>
          <p:nvPr/>
        </p:nvSpPr>
        <p:spPr>
          <a:xfrm>
            <a:off x="612648" y="6035040"/>
            <a:ext cx="10515600" cy="320040"/>
          </a:xfrm>
          <a:prstGeom prst="rect">
            <a:avLst/>
          </a:prstGeom>
          <a:noFill/>
        </p:spPr>
        <p:txBody>
          <a:bodyPr wrap="square" anchor="t">
            <a:spAutoFit/>
          </a:bodyPr>
          <a:lstStyle/>
          <a:p>
            <a:pPr algn="l"/>
            <a:r>
              <a:rPr sz="900" b="0">
                <a:solidFill>
                  <a:srgbClr val="6B5B82"/>
                </a:solidFill>
                <a:latin typeface="Arial"/>
              </a:rPr>
              <a:t>Fair process: Kim and Mauborgne (HBR). The GM rating and the review dates are proposals.</a:t>
            </a:r>
          </a:p>
        </p:txBody>
      </p:sp>
      <p:sp>
        <p:nvSpPr>
          <p:cNvPr id="13" name="TextBox 12"/>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DELIVERABLE 4  //  LEADERSHIP STYLE AND OPERATING PHILOSOPHY</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Working with the markets: who owns what, and how we learn</a:t>
            </a:r>
          </a:p>
        </p:txBody>
      </p:sp>
      <p:graphicFrame>
        <p:nvGraphicFramePr>
          <p:cNvPr id="4" name="Table 3"/>
          <p:cNvGraphicFramePr>
            <a:graphicFrameLocks noGrp="1"/>
          </p:cNvGraphicFramePr>
          <p:nvPr/>
        </p:nvGraphicFramePr>
        <p:xfrm>
          <a:off x="612648" y="1600200"/>
          <a:ext cx="10789920" cy="2743200"/>
        </p:xfrm>
        <a:graphic>
          <a:graphicData uri="http://schemas.openxmlformats.org/drawingml/2006/table">
            <a:tbl>
              <a:tblPr>
                <a:tableStyleId>{5C22544A-7EE6-4342-B048-85BDC9FD1C3A}</a:tableStyleId>
              </a:tblPr>
              <a:tblGrid>
                <a:gridCol w="1371600"/>
                <a:gridCol w="3657600"/>
                <a:gridCol w="2880360"/>
                <a:gridCol w="2880360"/>
              </a:tblGrid>
              <a:tr h="685800">
                <a:tc>
                  <a:txBody>
                    <a:bodyPr wrap="square"/>
                    <a:lstStyle/>
                    <a:p>
                      <a:r>
                        <a:rPr sz="1150" b="1">
                          <a:solidFill>
                            <a:srgbClr val="FFFFFF"/>
                          </a:solidFill>
                          <a:latin typeface="Arial"/>
                        </a:rPr>
                        <a:t>Problem</a:t>
                      </a:r>
                    </a:p>
                  </a:txBody>
                  <a:tcPr marL="64008" marR="64008" marT="36576" marB="36576" anchor="ctr">
                    <a:solidFill>
                      <a:srgbClr val="820AD1"/>
                    </a:solidFill>
                  </a:tcPr>
                </a:tc>
                <a:tc>
                  <a:txBody>
                    <a:bodyPr wrap="square"/>
                    <a:lstStyle/>
                    <a:p>
                      <a:r>
                        <a:rPr sz="1150" b="1">
                          <a:solidFill>
                            <a:srgbClr val="FFFFFF"/>
                          </a:solidFill>
                          <a:latin typeface="Arial"/>
                        </a:rPr>
                        <a:t>The function owns</a:t>
                      </a:r>
                    </a:p>
                  </a:txBody>
                  <a:tcPr marL="64008" marR="64008" marT="36576" marB="36576" anchor="ctr">
                    <a:solidFill>
                      <a:srgbClr val="820AD1"/>
                    </a:solidFill>
                  </a:tcPr>
                </a:tc>
                <a:tc>
                  <a:txBody>
                    <a:bodyPr wrap="square"/>
                    <a:lstStyle/>
                    <a:p>
                      <a:r>
                        <a:rPr sz="1150" b="1">
                          <a:solidFill>
                            <a:srgbClr val="FFFFFF"/>
                          </a:solidFill>
                          <a:latin typeface="Arial"/>
                        </a:rPr>
                        <a:t>We influence, with no line authority</a:t>
                      </a:r>
                    </a:p>
                  </a:txBody>
                  <a:tcPr marL="64008" marR="64008" marT="36576" marB="36576" anchor="ctr">
                    <a:solidFill>
                      <a:srgbClr val="820AD1"/>
                    </a:solidFill>
                  </a:tcPr>
                </a:tc>
                <a:tc>
                  <a:txBody>
                    <a:bodyPr wrap="square"/>
                    <a:lstStyle/>
                    <a:p>
                      <a:r>
                        <a:rPr sz="1150" b="1">
                          <a:solidFill>
                            <a:srgbClr val="FFFFFF"/>
                          </a:solidFill>
                          <a:latin typeface="Arial"/>
                        </a:rPr>
                        <a:t>Markets and experts own</a:t>
                      </a:r>
                    </a:p>
                  </a:txBody>
                  <a:tcPr marL="64008" marR="64008" marT="36576" marB="36576" anchor="ctr">
                    <a:solidFill>
                      <a:srgbClr val="820AD1"/>
                    </a:solidFill>
                  </a:tcPr>
                </a:tc>
              </a:tr>
              <a:tr h="685800">
                <a:tc>
                  <a:txBody>
                    <a:bodyPr wrap="square"/>
                    <a:lstStyle/>
                    <a:p>
                      <a:r>
                        <a:rPr sz="1150" b="1">
                          <a:solidFill>
                            <a:srgbClr val="11052C"/>
                          </a:solidFill>
                          <a:latin typeface="Arial"/>
                        </a:rPr>
                        <a:t>Planning</a:t>
                      </a:r>
                    </a:p>
                  </a:txBody>
                  <a:tcPr marL="64008" marR="64008" marT="36576" marB="36576" anchor="ctr">
                    <a:solidFill>
                      <a:srgbClr val="FFFFFF"/>
                    </a:solidFill>
                  </a:tcPr>
                </a:tc>
                <a:tc>
                  <a:txBody>
                    <a:bodyPr wrap="square"/>
                    <a:lstStyle/>
                    <a:p>
                      <a:r>
                        <a:rPr sz="1150" b="0">
                          <a:solidFill>
                            <a:srgbClr val="3B2A54"/>
                          </a:solidFill>
                          <a:latin typeface="Arial"/>
                        </a:rPr>
                        <a:t>One model, read from Nu's data; the case template; a read of every first-release case before the lock</a:t>
                      </a:r>
                    </a:p>
                  </a:txBody>
                  <a:tcPr marL="64008" marR="64008" marT="36576" marB="36576" anchor="ctr">
                    <a:solidFill>
                      <a:srgbClr val="FFFFFF"/>
                    </a:solidFill>
                  </a:tcPr>
                </a:tc>
                <a:tc>
                  <a:txBody>
                    <a:bodyPr wrap="square"/>
                    <a:lstStyle/>
                    <a:p>
                      <a:r>
                        <a:rPr sz="1150" b="0">
                          <a:solidFill>
                            <a:srgbClr val="3B2A54"/>
                          </a:solidFill>
                          <a:latin typeface="Arial"/>
                        </a:rPr>
                        <a:t>GM one-to-ones; the lock with the CEO and CFO; the release memo</a:t>
                      </a:r>
                    </a:p>
                  </a:txBody>
                  <a:tcPr marL="64008" marR="64008" marT="36576" marB="36576" anchor="ctr">
                    <a:solidFill>
                      <a:srgbClr val="FFFFFF"/>
                    </a:solidFill>
                  </a:tcPr>
                </a:tc>
                <a:tc>
                  <a:txBody>
                    <a:bodyPr wrap="square"/>
                    <a:lstStyle/>
                    <a:p>
                      <a:r>
                        <a:rPr sz="1150" b="0">
                          <a:solidFill>
                            <a:srgbClr val="3B2A54"/>
                          </a:solidFill>
                          <a:latin typeface="Arial"/>
                        </a:rPr>
                        <a:t>The case and its numbers (GMs); release decisions (the CFO); local-CFO decision rights</a:t>
                      </a:r>
                    </a:p>
                  </a:txBody>
                  <a:tcPr marL="64008" marR="64008" marT="36576" marB="36576" anchor="ctr">
                    <a:solidFill>
                      <a:srgbClr val="FFFFFF"/>
                    </a:solidFill>
                  </a:tcPr>
                </a:tc>
              </a:tr>
              <a:tr h="685800">
                <a:tc>
                  <a:txBody>
                    <a:bodyPr wrap="square"/>
                    <a:lstStyle/>
                    <a:p>
                      <a:r>
                        <a:rPr sz="1150" b="1">
                          <a:solidFill>
                            <a:srgbClr val="11052C"/>
                          </a:solidFill>
                          <a:latin typeface="Arial"/>
                        </a:rPr>
                        <a:t>Board</a:t>
                      </a:r>
                    </a:p>
                  </a:txBody>
                  <a:tcPr marL="64008" marR="64008" marT="36576" marB="36576" anchor="ctr">
                    <a:solidFill>
                      <a:srgbClr val="F7F2FD"/>
                    </a:solidFill>
                  </a:tcPr>
                </a:tc>
                <a:tc>
                  <a:txBody>
                    <a:bodyPr wrap="square"/>
                    <a:lstStyle/>
                    <a:p>
                      <a:r>
                        <a:rPr sz="1150" b="0">
                          <a:solidFill>
                            <a:srgbClr val="3B2A54"/>
                          </a:solidFill>
                          <a:latin typeface="Arial"/>
                        </a:rPr>
                        <a:t>The capital options memo; every figure tied to its source; directors' data questions answered by T-3</a:t>
                      </a:r>
                    </a:p>
                  </a:txBody>
                  <a:tcPr marL="64008" marR="64008" marT="36576" marB="36576" anchor="ctr">
                    <a:solidFill>
                      <a:srgbClr val="F7F2FD"/>
                    </a:solidFill>
                  </a:tcPr>
                </a:tc>
                <a:tc>
                  <a:txBody>
                    <a:bodyPr wrap="square"/>
                    <a:lstStyle/>
                    <a:p>
                      <a:r>
                        <a:rPr sz="1150" b="0">
                          <a:solidFill>
                            <a:srgbClr val="3B2A54"/>
                          </a:solidFill>
                          <a:latin typeface="Arial"/>
                        </a:rPr>
                        <a:t>The two executives at T-21; committee chairs at T-9</a:t>
                      </a:r>
                    </a:p>
                  </a:txBody>
                  <a:tcPr marL="64008" marR="64008" marT="36576" marB="36576" anchor="ctr">
                    <a:solidFill>
                      <a:srgbClr val="F7F2FD"/>
                    </a:solidFill>
                  </a:tcPr>
                </a:tc>
                <a:tc>
                  <a:txBody>
                    <a:bodyPr wrap="square"/>
                    <a:lstStyle/>
                    <a:p>
                      <a:r>
                        <a:rPr sz="1150" b="0">
                          <a:solidFill>
                            <a:srgbClr val="3B2A54"/>
                          </a:solidFill>
                          <a:latin typeface="Arial"/>
                        </a:rPr>
                        <a:t>The ranking, presented by the CFO; the IR calendar</a:t>
                      </a:r>
                    </a:p>
                  </a:txBody>
                  <a:tcPr marL="64008" marR="64008" marT="36576" marB="36576" anchor="ctr">
                    <a:solidFill>
                      <a:srgbClr val="F7F2FD"/>
                    </a:solidFill>
                  </a:tcPr>
                </a:tc>
              </a:tr>
              <a:tr h="685800">
                <a:tc>
                  <a:txBody>
                    <a:bodyPr wrap="square"/>
                    <a:lstStyle/>
                    <a:p>
                      <a:r>
                        <a:rPr sz="1150" b="1">
                          <a:solidFill>
                            <a:srgbClr val="11052C"/>
                          </a:solidFill>
                          <a:latin typeface="Arial"/>
                        </a:rPr>
                        <a:t>HQ</a:t>
                      </a:r>
                    </a:p>
                  </a:txBody>
                  <a:tcPr marL="64008" marR="64008" marT="36576" marB="36576" anchor="ctr">
                    <a:solidFill>
                      <a:srgbClr val="FFFFFF"/>
                    </a:solidFill>
                  </a:tcPr>
                </a:tc>
                <a:tc>
                  <a:txBody>
                    <a:bodyPr wrap="square"/>
                    <a:lstStyle/>
                    <a:p>
                      <a:r>
                        <a:rPr sz="1150" b="0">
                          <a:solidFill>
                            <a:srgbClr val="3B2A54"/>
                          </a:solidFill>
                          <a:latin typeface="Arial"/>
                        </a:rPr>
                        <a:t>The gate packs, the decision log and the site scorecard</a:t>
                      </a:r>
                    </a:p>
                  </a:txBody>
                  <a:tcPr marL="64008" marR="64008" marT="36576" marB="36576" anchor="ctr">
                    <a:solidFill>
                      <a:srgbClr val="FFFFFF"/>
                    </a:solidFill>
                  </a:tcPr>
                </a:tc>
                <a:tc>
                  <a:txBody>
                    <a:bodyPr wrap="square"/>
                    <a:lstStyle/>
                    <a:p>
                      <a:r>
                        <a:rPr sz="1150" b="0">
                          <a:solidFill>
                            <a:srgbClr val="3B2A54"/>
                          </a:solidFill>
                          <a:latin typeface="Arial"/>
                        </a:rPr>
                        <a:t>The weekly pod; the mandate with the CFO; the CEO on the site</a:t>
                      </a:r>
                    </a:p>
                  </a:txBody>
                  <a:tcPr marL="64008" marR="64008" marT="36576" marB="36576" anchor="ctr">
                    <a:solidFill>
                      <a:srgbClr val="FFFFFF"/>
                    </a:solidFill>
                  </a:tcPr>
                </a:tc>
                <a:tc>
                  <a:txBody>
                    <a:bodyPr wrap="square"/>
                    <a:lstStyle/>
                    <a:p>
                      <a:r>
                        <a:rPr sz="1150" b="0">
                          <a:solidFill>
                            <a:srgbClr val="3B2A54"/>
                          </a:solidFill>
                          <a:latin typeface="Arial"/>
                        </a:rPr>
                        <a:t>Technical judgment (Legal, Tax, Compliance); signing (licensed executives)</a:t>
                      </a:r>
                    </a:p>
                  </a:txBody>
                  <a:tcPr marL="64008" marR="64008" marT="36576" marB="36576" anchor="ctr">
                    <a:solidFill>
                      <a:srgbClr val="FFFFFF"/>
                    </a:solidFill>
                  </a:tcPr>
                </a:tc>
              </a:tr>
            </a:tbl>
          </a:graphicData>
        </a:graphic>
      </p:graphicFrame>
      <p:sp>
        <p:nvSpPr>
          <p:cNvPr id="5" name="Rounded Rectangle 4"/>
          <p:cNvSpPr/>
          <p:nvPr/>
        </p:nvSpPr>
        <p:spPr>
          <a:xfrm>
            <a:off x="612648" y="4572000"/>
            <a:ext cx="10789920" cy="132588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95528" y="4663440"/>
            <a:ext cx="10424160" cy="1179576"/>
          </a:xfrm>
          <a:prstGeom prst="rect">
            <a:avLst/>
          </a:prstGeom>
          <a:noFill/>
        </p:spPr>
        <p:txBody>
          <a:bodyPr wrap="square" anchor="ctr">
            <a:spAutoFit/>
          </a:bodyPr>
          <a:lstStyle/>
          <a:p>
            <a:pPr algn="l"/>
            <a:r>
              <a:rPr sz="1200" b="1">
                <a:solidFill>
                  <a:srgbClr val="FFFFFF"/>
                </a:solidFill>
                <a:latin typeface="Arial"/>
              </a:rPr>
              <a:t>Propose, implement, assess. </a:t>
            </a:r>
            <a:r>
              <a:rPr sz="1200" b="0">
                <a:solidFill>
                  <a:srgbClr val="FFFFFF"/>
                </a:solidFill>
                <a:latin typeface="Arial"/>
              </a:rPr>
              <a:t>Each quarter the function and the GMs review what worked; we keep it, fix it or drop it. The function earns its place with the markets instead of ruling from HQ.</a:t>
            </a:r>
          </a:p>
          <a:p>
            <a:pPr algn="l"/>
            <a:r>
              <a:rPr sz="1200" b="1">
                <a:solidFill>
                  <a:srgbClr val="FFFFFF"/>
                </a:solidFill>
                <a:latin typeface="Arial"/>
              </a:rPr>
              <a:t>The team we build: </a:t>
            </a:r>
            <a:r>
              <a:rPr sz="1200" b="0">
                <a:solidFill>
                  <a:srgbClr val="FFFFFF"/>
                </a:solidFill>
                <a:latin typeface="Arial"/>
              </a:rPr>
              <a:t>modelers who write plain English, each owning one market's release pack and sitting with that market, with a named deputy so nothing depends on one person.</a:t>
            </a:r>
          </a:p>
        </p:txBody>
      </p:sp>
      <p:sp>
        <p:nvSpPr>
          <p:cNvPr id="7" name="TextBox 6"/>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NEXT 90 DAYS AND THE ASK</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Next 90 days: the Board on 17 Nov, the first release on 1 Jan, and the ask</a:t>
            </a:r>
          </a:p>
        </p:txBody>
      </p:sp>
      <p:sp>
        <p:nvSpPr>
          <p:cNvPr id="4" name="Rounded Rectangle 3"/>
          <p:cNvSpPr/>
          <p:nvPr/>
        </p:nvSpPr>
        <p:spPr>
          <a:xfrm>
            <a:off x="612648" y="1600200"/>
            <a:ext cx="3474720" cy="21031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09928"/>
            <a:ext cx="3255263" cy="1920239"/>
          </a:xfrm>
          <a:prstGeom prst="rect">
            <a:avLst/>
          </a:prstGeom>
          <a:noFill/>
        </p:spPr>
        <p:txBody>
          <a:bodyPr wrap="square" anchor="t">
            <a:spAutoFit/>
          </a:bodyPr>
          <a:lstStyle/>
          <a:p>
            <a:pPr algn="l">
              <a:spcAft>
                <a:spcPts val="300"/>
              </a:spcAft>
            </a:pPr>
            <a:r>
              <a:rPr sz="950" b="1">
                <a:solidFill>
                  <a:srgbClr val="820AD1"/>
                </a:solidFill>
                <a:latin typeface="Arial"/>
              </a:rPr>
              <a:t>NOW TO THE BOARD</a:t>
            </a:r>
          </a:p>
          <a:p>
            <a:pPr algn="l">
              <a:spcAft>
                <a:spcPts val="600"/>
              </a:spcAft>
            </a:pPr>
            <a:r>
              <a:rPr sz="1500" b="1">
                <a:solidFill>
                  <a:srgbClr val="11052C"/>
                </a:solidFill>
                <a:latin typeface="Arial"/>
              </a:rPr>
              <a:t>20 Oct to 19 Nov</a:t>
            </a:r>
          </a:p>
          <a:p>
            <a:pPr algn="l">
              <a:spcAft>
                <a:spcPts val="400"/>
              </a:spcAft>
            </a:pPr>
            <a:r>
              <a:rPr sz="1100" b="0">
                <a:solidFill>
                  <a:srgbClr val="3B2A54"/>
                </a:solidFill>
                <a:latin typeface="Arial"/>
              </a:rPr>
              <a:t>Today: Board outline out, HQ charter signed, tax gate launched.</a:t>
            </a:r>
          </a:p>
          <a:p>
            <a:pPr algn="l">
              <a:spcAft>
                <a:spcPts val="400"/>
              </a:spcAft>
            </a:pPr>
            <a:r>
              <a:rPr sz="1100" b="0">
                <a:solidFill>
                  <a:srgbClr val="3B2A54"/>
                </a:solidFill>
                <a:latin typeface="Arial"/>
              </a:rPr>
              <a:t>Early Nov (T-16): capital options lock with the CEO, CFO and MTeam.</a:t>
            </a:r>
          </a:p>
          <a:p>
            <a:pPr algn="l">
              <a:spcAft>
                <a:spcPts val="400"/>
              </a:spcAft>
            </a:pPr>
            <a:r>
              <a:rPr sz="1100" b="0">
                <a:solidFill>
                  <a:srgbClr val="3B2A54"/>
                </a:solidFill>
                <a:latin typeface="Arial"/>
              </a:rPr>
              <a:t>17 Nov: Board approves the FY27 plan. 19 Nov: HQ gate 1.</a:t>
            </a:r>
          </a:p>
        </p:txBody>
      </p:sp>
      <p:sp>
        <p:nvSpPr>
          <p:cNvPr id="6" name="Rounded Rectangle 5"/>
          <p:cNvSpPr/>
          <p:nvPr/>
        </p:nvSpPr>
        <p:spPr>
          <a:xfrm>
            <a:off x="4270248" y="1600200"/>
            <a:ext cx="3474720" cy="21031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379976" y="1709928"/>
            <a:ext cx="3255263" cy="1920239"/>
          </a:xfrm>
          <a:prstGeom prst="rect">
            <a:avLst/>
          </a:prstGeom>
          <a:noFill/>
        </p:spPr>
        <p:txBody>
          <a:bodyPr wrap="square" anchor="t">
            <a:spAutoFit/>
          </a:bodyPr>
          <a:lstStyle/>
          <a:p>
            <a:pPr algn="l">
              <a:spcAft>
                <a:spcPts val="300"/>
              </a:spcAft>
            </a:pPr>
            <a:r>
              <a:rPr sz="950" b="1">
                <a:solidFill>
                  <a:srgbClr val="820AD1"/>
                </a:solidFill>
                <a:latin typeface="Arial"/>
              </a:rPr>
              <a:t>BOARD TO YEAR-END</a:t>
            </a:r>
          </a:p>
          <a:p>
            <a:pPr algn="l">
              <a:spcAft>
                <a:spcPts val="600"/>
              </a:spcAft>
            </a:pPr>
            <a:r>
              <a:rPr sz="1500" b="1">
                <a:solidFill>
                  <a:srgbClr val="11052C"/>
                </a:solidFill>
                <a:latin typeface="Arial"/>
              </a:rPr>
              <a:t>Build the hub</a:t>
            </a:r>
          </a:p>
          <a:p>
            <a:pPr algn="l">
              <a:spcAft>
                <a:spcPts val="400"/>
              </a:spcAft>
            </a:pPr>
            <a:r>
              <a:rPr sz="1100" b="0">
                <a:solidFill>
                  <a:srgbClr val="3B2A54"/>
                </a:solidFill>
                <a:latin typeface="Arial"/>
              </a:rPr>
              <a:t>Late Nov: hub in place, partners embedded; PMO agent live, status templates retired.</a:t>
            </a:r>
          </a:p>
          <a:p>
            <a:pPr algn="l">
              <a:spcAft>
                <a:spcPts val="400"/>
              </a:spcAft>
            </a:pPr>
            <a:r>
              <a:rPr sz="1100" b="0">
                <a:solidFill>
                  <a:srgbClr val="3B2A54"/>
                </a:solidFill>
                <a:latin typeface="Arial"/>
              </a:rPr>
              <a:t>Early Dec: squad clinics running; $12M case track under way.</a:t>
            </a:r>
          </a:p>
          <a:p>
            <a:pPr algn="l">
              <a:spcAft>
                <a:spcPts val="400"/>
              </a:spcAft>
            </a:pPr>
            <a:r>
              <a:rPr sz="1100" b="0">
                <a:solidFill>
                  <a:srgbClr val="3B2A54"/>
                </a:solidFill>
                <a:latin typeface="Arial"/>
              </a:rPr>
              <a:t>Mid-Dec (D+60): HQ grant terms agreed.</a:t>
            </a:r>
          </a:p>
        </p:txBody>
      </p:sp>
      <p:sp>
        <p:nvSpPr>
          <p:cNvPr id="8" name="Rounded Rectangle 7"/>
          <p:cNvSpPr/>
          <p:nvPr/>
        </p:nvSpPr>
        <p:spPr>
          <a:xfrm>
            <a:off x="7927848" y="1600200"/>
            <a:ext cx="3474720" cy="210312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37575" y="1709928"/>
            <a:ext cx="3255263" cy="1920239"/>
          </a:xfrm>
          <a:prstGeom prst="rect">
            <a:avLst/>
          </a:prstGeom>
          <a:noFill/>
        </p:spPr>
        <p:txBody>
          <a:bodyPr wrap="square" anchor="t">
            <a:spAutoFit/>
          </a:bodyPr>
          <a:lstStyle/>
          <a:p>
            <a:pPr algn="l">
              <a:spcAft>
                <a:spcPts val="300"/>
              </a:spcAft>
            </a:pPr>
            <a:r>
              <a:rPr sz="950" b="1">
                <a:solidFill>
                  <a:srgbClr val="820AD1"/>
                </a:solidFill>
                <a:latin typeface="Arial"/>
              </a:rPr>
              <a:t>JANUARY TO MARCH</a:t>
            </a:r>
          </a:p>
          <a:p>
            <a:pPr algn="l">
              <a:spcAft>
                <a:spcPts val="600"/>
              </a:spcAft>
            </a:pPr>
            <a:r>
              <a:rPr sz="1500" b="1">
                <a:solidFill>
                  <a:srgbClr val="11052C"/>
                </a:solidFill>
                <a:latin typeface="Arial"/>
              </a:rPr>
              <a:t>Open FY27</a:t>
            </a:r>
          </a:p>
          <a:p>
            <a:pPr algn="l">
              <a:spcAft>
                <a:spcPts val="400"/>
              </a:spcAft>
            </a:pPr>
            <a:r>
              <a:rPr sz="1100" b="0">
                <a:solidFill>
                  <a:srgbClr val="3B2A54"/>
                </a:solidFill>
                <a:latin typeface="Arial"/>
              </a:rPr>
              <a:t>1 Jan: FY27 starts; $15M first release.</a:t>
            </a:r>
          </a:p>
          <a:p>
            <a:pPr algn="l">
              <a:spcAft>
                <a:spcPts val="400"/>
              </a:spcAft>
            </a:pPr>
            <a:r>
              <a:rPr sz="1100" b="0">
                <a:solidFill>
                  <a:srgbClr val="3B2A54"/>
                </a:solidFill>
                <a:latin typeface="Arial"/>
              </a:rPr>
              <a:t>Mid-Jan (D+90): HQ officers in place; my 90-day report to the CFO.</a:t>
            </a:r>
          </a:p>
          <a:p>
            <a:pPr algn="l">
              <a:spcAft>
                <a:spcPts val="400"/>
              </a:spcAft>
            </a:pPr>
            <a:r>
              <a:rPr sz="1100" b="0">
                <a:solidFill>
                  <a:srgbClr val="3B2A54"/>
                </a:solidFill>
                <a:latin typeface="Arial"/>
              </a:rPr>
              <a:t>Mid-Feb: lease (D+120). 31 Mar: Q1 close; second release decided in early April.</a:t>
            </a:r>
          </a:p>
        </p:txBody>
      </p:sp>
      <p:sp>
        <p:nvSpPr>
          <p:cNvPr id="10" name="Rounded Rectangle 9"/>
          <p:cNvSpPr/>
          <p:nvPr/>
        </p:nvSpPr>
        <p:spPr>
          <a:xfrm>
            <a:off x="612648" y="3840480"/>
            <a:ext cx="10789920" cy="868680"/>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5528" y="3931920"/>
            <a:ext cx="10424160" cy="722375"/>
          </a:xfrm>
          <a:prstGeom prst="rect">
            <a:avLst/>
          </a:prstGeom>
          <a:noFill/>
        </p:spPr>
        <p:txBody>
          <a:bodyPr wrap="square" anchor="ctr">
            <a:spAutoFit/>
          </a:bodyPr>
          <a:lstStyle/>
          <a:p>
            <a:pPr algn="l"/>
            <a:r>
              <a:rPr sz="1150" b="1">
                <a:solidFill>
                  <a:srgbClr val="11052C"/>
                </a:solidFill>
                <a:latin typeface="Arial"/>
              </a:rPr>
              <a:t>Stop rules, public from today: </a:t>
            </a:r>
            <a:r>
              <a:rPr sz="1150" b="0">
                <a:solidFill>
                  <a:srgbClr val="11052C"/>
                </a:solidFill>
                <a:latin typeface="Arial"/>
              </a:rPr>
              <a:t>a unit below plan on two of four indicators has its second-release share held. Efficiency ratio above the guide in force at Q1 close: the second release is held for every unit. Credit cost or NPL 90+ above plan: the reserve stays shut, and Risk can block it.</a:t>
            </a:r>
          </a:p>
        </p:txBody>
      </p:sp>
      <p:sp>
        <p:nvSpPr>
          <p:cNvPr id="12" name="Rounded Rectangle 11"/>
          <p:cNvSpPr/>
          <p:nvPr/>
        </p:nvSpPr>
        <p:spPr>
          <a:xfrm>
            <a:off x="612648" y="4846320"/>
            <a:ext cx="10789920" cy="1234440"/>
          </a:xfrm>
          <a:prstGeom prst="roundRect">
            <a:avLst>
              <a:gd name="adj" fmla="val 8000"/>
            </a:avLst>
          </a:prstGeom>
          <a:solidFill>
            <a:srgbClr val="1905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5528" y="4937759"/>
            <a:ext cx="10424160" cy="1088136"/>
          </a:xfrm>
          <a:prstGeom prst="rect">
            <a:avLst/>
          </a:prstGeom>
          <a:noFill/>
        </p:spPr>
        <p:txBody>
          <a:bodyPr wrap="square" anchor="ctr">
            <a:spAutoFit/>
          </a:bodyPr>
          <a:lstStyle/>
          <a:p>
            <a:pPr algn="l"/>
            <a:r>
              <a:rPr sz="1250" b="1">
                <a:solidFill>
                  <a:srgbClr val="C084FC"/>
                </a:solidFill>
                <a:latin typeface="Arial"/>
              </a:rPr>
              <a:t>THE ASK  </a:t>
            </a:r>
          </a:p>
          <a:p>
            <a:pPr algn="l"/>
            <a:r>
              <a:rPr sz="1250" b="1">
                <a:solidFill>
                  <a:srgbClr val="FFFFFF"/>
                </a:solidFill>
                <a:latin typeface="Arial"/>
              </a:rPr>
              <a:t>Approve the $25M FY27 cap in two releases, the Board calendar and the HQ charter.</a:t>
            </a:r>
          </a:p>
          <a:p>
            <a:pPr algn="l"/>
            <a:r>
              <a:rPr sz="1250" b="0">
                <a:solidFill>
                  <a:srgbClr val="FFFFFF"/>
                </a:solidFill>
                <a:latin typeface="Arial"/>
              </a:rPr>
              <a:t>In 90 days (mid-January): every first-release dollar has an approved case; the Board book went out 7 days early; HQ gates 1 and 2 are cleared. You are approving one way of deciding, used three times, and I report on it in 90 days.</a:t>
            </a:r>
          </a:p>
        </p:txBody>
      </p:sp>
      <p:sp>
        <p:nvSpPr>
          <p:cNvPr id="14" name="TextBox 13"/>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2377440"/>
            <a:ext cx="10972800" cy="914400"/>
          </a:xfrm>
          <a:prstGeom prst="rect">
            <a:avLst/>
          </a:prstGeom>
          <a:noFill/>
        </p:spPr>
        <p:txBody>
          <a:bodyPr wrap="square" anchor="t">
            <a:spAutoFit/>
          </a:bodyPr>
          <a:lstStyle/>
          <a:p>
            <a:pPr algn="ctr"/>
            <a:r>
              <a:rPr sz="4000" b="1">
                <a:solidFill>
                  <a:srgbClr val="11052C"/>
                </a:solidFill>
                <a:latin typeface="Arial"/>
              </a:rPr>
              <a:t>Backup</a:t>
            </a:r>
          </a:p>
        </p:txBody>
      </p:sp>
      <p:sp>
        <p:nvSpPr>
          <p:cNvPr id="3" name="TextBox 2"/>
          <p:cNvSpPr txBox="1"/>
          <p:nvPr/>
        </p:nvSpPr>
        <p:spPr>
          <a:xfrm>
            <a:off x="1097280" y="3383280"/>
            <a:ext cx="9966960" cy="1463040"/>
          </a:xfrm>
          <a:prstGeom prst="rect">
            <a:avLst/>
          </a:prstGeom>
          <a:noFill/>
        </p:spPr>
        <p:txBody>
          <a:bodyPr wrap="square" anchor="t">
            <a:spAutoFit/>
          </a:bodyPr>
          <a:lstStyle/>
          <a:p>
            <a:pPr algn="ctr"/>
            <a:r>
              <a:rPr sz="1400" b="0">
                <a:solidFill>
                  <a:srgbClr val="3B2A54"/>
                </a:solidFill>
                <a:latin typeface="Arial"/>
              </a:rPr>
              <a:t>A  Full assumptions (A1-A13)   |   B  Statutory entity model   |   C  Option sensitivity</a:t>
            </a:r>
          </a:p>
          <a:p>
            <a:pPr algn="ctr"/>
            <a:r>
              <a:rPr sz="1400" b="0">
                <a:solidFill>
                  <a:srgbClr val="3B2A54"/>
                </a:solidFill>
                <a:latin typeface="Arial"/>
              </a:rPr>
              <a:t>D  Sources   |   E  Full-year split by horizon   |   F  Day-by-day timeline   |   G  Stakeholder map</a:t>
            </a:r>
          </a:p>
          <a:p>
            <a:pPr algn="ctr"/>
            <a:r>
              <a:rPr sz="1400" b="0">
                <a:solidFill>
                  <a:srgbClr val="3B2A54"/>
                </a:solidFill>
                <a:latin typeface="Arial"/>
              </a:rPr>
              <a:t>H  Two AI agents   |   I  Scenarios and stop rules   |   J  HQ site scorecard and risk register</a:t>
            </a:r>
          </a:p>
        </p:txBody>
      </p:sp>
      <p:sp>
        <p:nvSpPr>
          <p:cNvPr id="4" name="TextBox 3"/>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A</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All assumptions, with the facts they rest on</a:t>
            </a:r>
          </a:p>
        </p:txBody>
      </p:sp>
      <p:graphicFrame>
        <p:nvGraphicFramePr>
          <p:cNvPr id="4" name="Table 3"/>
          <p:cNvGraphicFramePr>
            <a:graphicFrameLocks noGrp="1"/>
          </p:cNvGraphicFramePr>
          <p:nvPr/>
        </p:nvGraphicFramePr>
        <p:xfrm>
          <a:off x="612648" y="1280160"/>
          <a:ext cx="10972800" cy="4636007"/>
        </p:xfrm>
        <a:graphic>
          <a:graphicData uri="http://schemas.openxmlformats.org/drawingml/2006/table">
            <a:tbl>
              <a:tblPr>
                <a:tableStyleId>{5C22544A-7EE6-4342-B048-85BDC9FD1C3A}</a:tableStyleId>
              </a:tblPr>
              <a:tblGrid>
                <a:gridCol w="502920"/>
                <a:gridCol w="6903720"/>
                <a:gridCol w="1737360"/>
                <a:gridCol w="1828800"/>
              </a:tblGrid>
              <a:tr h="274320">
                <a:tc>
                  <a:txBody>
                    <a:bodyPr wrap="square"/>
                    <a:lstStyle/>
                    <a:p>
                      <a:r>
                        <a:rPr sz="1000" b="1">
                          <a:solidFill>
                            <a:srgbClr val="FFFFFF"/>
                          </a:solidFill>
                          <a:latin typeface="Arial"/>
                        </a:rPr>
                        <a:t>#</a:t>
                      </a:r>
                    </a:p>
                  </a:txBody>
                  <a:tcPr marL="64008" marR="64008" marT="36576" marB="36576" anchor="ctr">
                    <a:solidFill>
                      <a:srgbClr val="820AD1"/>
                    </a:solidFill>
                  </a:tcPr>
                </a:tc>
                <a:tc>
                  <a:txBody>
                    <a:bodyPr wrap="square"/>
                    <a:lstStyle/>
                    <a:p>
                      <a:r>
                        <a:rPr sz="1000" b="1">
                          <a:solidFill>
                            <a:srgbClr val="FFFFFF"/>
                          </a:solidFill>
                          <a:latin typeface="Arial"/>
                        </a:rPr>
                        <a:t>Statement</a:t>
                      </a:r>
                    </a:p>
                  </a:txBody>
                  <a:tcPr marL="64008" marR="64008" marT="36576" marB="36576" anchor="ctr">
                    <a:solidFill>
                      <a:srgbClr val="820AD1"/>
                    </a:solidFill>
                  </a:tcPr>
                </a:tc>
                <a:tc>
                  <a:txBody>
                    <a:bodyPr wrap="square"/>
                    <a:lstStyle/>
                    <a:p>
                      <a:r>
                        <a:rPr sz="1000" b="1">
                          <a:solidFill>
                            <a:srgbClr val="FFFFFF"/>
                          </a:solidFill>
                          <a:latin typeface="Arial"/>
                        </a:rPr>
                        <a:t>Class</a:t>
                      </a:r>
                    </a:p>
                  </a:txBody>
                  <a:tcPr marL="64008" marR="64008" marT="36576" marB="36576" anchor="ctr">
                    <a:solidFill>
                      <a:srgbClr val="820AD1"/>
                    </a:solidFill>
                  </a:tcPr>
                </a:tc>
                <a:tc>
                  <a:txBody>
                    <a:bodyPr wrap="square"/>
                    <a:lstStyle/>
                    <a:p>
                      <a:r>
                        <a:rPr sz="1000" b="1">
                          <a:solidFill>
                            <a:srgbClr val="FFFFFF"/>
                          </a:solidFill>
                          <a:latin typeface="Arial"/>
                        </a:rPr>
                        <a:t>Basis</a:t>
                      </a:r>
                    </a:p>
                  </a:txBody>
                  <a:tcPr marL="64008" marR="64008" marT="36576" marB="36576" anchor="ctr">
                    <a:solidFill>
                      <a:srgbClr val="820AD1"/>
                    </a:solidFill>
                  </a:tcPr>
                </a:tc>
              </a:tr>
              <a:tr h="274320">
                <a:tc>
                  <a:txBody>
                    <a:bodyPr wrap="square"/>
                    <a:lstStyle/>
                    <a:p>
                      <a:r>
                        <a:rPr sz="950" b="1">
                          <a:solidFill>
                            <a:srgbClr val="11052C"/>
                          </a:solidFill>
                          <a:latin typeface="Arial"/>
                        </a:rPr>
                        <a:t>A1</a:t>
                      </a:r>
                    </a:p>
                  </a:txBody>
                  <a:tcPr marL="64008" marR="64008" marT="36576" marB="36576" anchor="ctr">
                    <a:solidFill>
                      <a:srgbClr val="FFFFFF"/>
                    </a:solidFill>
                  </a:tcPr>
                </a:tc>
                <a:tc>
                  <a:txBody>
                    <a:bodyPr wrap="square"/>
                    <a:lstStyle/>
                    <a:p>
                      <a:r>
                        <a:rPr sz="950" b="0">
                          <a:solidFill>
                            <a:srgbClr val="3B2A54"/>
                          </a:solidFill>
                          <a:latin typeface="Arial"/>
                        </a:rPr>
                        <a:t>Nu Q2'26: 138.9M customers, monthly ARPAC $17.1, cost to serve $1.0, efficiency ratio 19.5%, ROE 33%, net income $1.06B.</a:t>
                      </a:r>
                    </a:p>
                  </a:txBody>
                  <a:tcPr marL="64008" marR="64008" marT="36576" marB="36576" anchor="ctr">
                    <a:solidFill>
                      <a:srgbClr val="FFFFFF"/>
                    </a:solidFill>
                  </a:tcPr>
                </a:tc>
                <a:tc>
                  <a:txBody>
                    <a:bodyPr wrap="square"/>
                    <a:lstStyle/>
                    <a:p>
                      <a:r>
                        <a:rPr sz="950" b="0">
                          <a:solidFill>
                            <a:srgbClr val="3B2A54"/>
                          </a:solidFill>
                          <a:latin typeface="Arial"/>
                        </a:rPr>
                        <a:t>FACT</a:t>
                      </a:r>
                    </a:p>
                  </a:txBody>
                  <a:tcPr marL="64008" marR="64008" marT="36576" marB="36576" anchor="ctr">
                    <a:solidFill>
                      <a:srgbClr val="FFFFFF"/>
                    </a:solidFill>
                  </a:tcPr>
                </a:tc>
                <a:tc>
                  <a:txBody>
                    <a:bodyPr wrap="square"/>
                    <a:lstStyle/>
                    <a:p>
                      <a:r>
                        <a:rPr sz="950" b="0">
                          <a:solidFill>
                            <a:srgbClr val="3B2A54"/>
                          </a:solidFill>
                          <a:latin typeface="Arial"/>
                        </a:rPr>
                        <a:t>Q2'26 release and 6-K</a:t>
                      </a:r>
                    </a:p>
                  </a:txBody>
                  <a:tcPr marL="64008" marR="64008" marT="36576" marB="36576" anchor="ctr">
                    <a:solidFill>
                      <a:srgbClr val="FFFFFF"/>
                    </a:solidFill>
                  </a:tcPr>
                </a:tc>
              </a:tr>
              <a:tr h="362712">
                <a:tc>
                  <a:txBody>
                    <a:bodyPr wrap="square"/>
                    <a:lstStyle/>
                    <a:p>
                      <a:r>
                        <a:rPr sz="950" b="1">
                          <a:solidFill>
                            <a:srgbClr val="11052C"/>
                          </a:solidFill>
                          <a:latin typeface="Arial"/>
                        </a:rPr>
                        <a:t>A2</a:t>
                      </a:r>
                    </a:p>
                  </a:txBody>
                  <a:tcPr marL="64008" marR="64008" marT="36576" marB="36576" anchor="ctr">
                    <a:solidFill>
                      <a:srgbClr val="F7F2FD"/>
                    </a:solidFill>
                  </a:tcPr>
                </a:tc>
                <a:tc>
                  <a:txBody>
                    <a:bodyPr wrap="square"/>
                    <a:lstStyle/>
                    <a:p>
                      <a:r>
                        <a:rPr sz="950" b="0">
                          <a:solidFill>
                            <a:srgbClr val="3B2A54"/>
                          </a:solidFill>
                          <a:latin typeface="Arial"/>
                        </a:rPr>
                        <a:t>FY26 efficiency ratio near 20%; the US entry kept within about 100 bps of efficiency-ratio impact.</a:t>
                      </a:r>
                    </a:p>
                  </a:txBody>
                  <a:tcPr marL="64008" marR="64008" marT="36576" marB="36576" anchor="ctr">
                    <a:solidFill>
                      <a:srgbClr val="F7F2FD"/>
                    </a:solidFill>
                  </a:tcPr>
                </a:tc>
                <a:tc>
                  <a:txBody>
                    <a:bodyPr wrap="square"/>
                    <a:lstStyle/>
                    <a:p>
                      <a:r>
                        <a:rPr sz="950" b="0">
                          <a:solidFill>
                            <a:srgbClr val="3B2A54"/>
                          </a:solidFill>
                          <a:latin typeface="Arial"/>
                        </a:rPr>
                        <a:t>FACT (management guidance)</a:t>
                      </a:r>
                    </a:p>
                  </a:txBody>
                  <a:tcPr marL="64008" marR="64008" marT="36576" marB="36576" anchor="ctr">
                    <a:solidFill>
                      <a:srgbClr val="F7F2FD"/>
                    </a:solidFill>
                  </a:tcPr>
                </a:tc>
                <a:tc>
                  <a:txBody>
                    <a:bodyPr wrap="square"/>
                    <a:lstStyle/>
                    <a:p>
                      <a:r>
                        <a:rPr sz="950" b="0">
                          <a:solidFill>
                            <a:srgbClr val="3B2A54"/>
                          </a:solidFill>
                          <a:latin typeface="Arial"/>
                        </a:rPr>
                        <a:t>Q2'26 call, 13 Aug 2026</a:t>
                      </a:r>
                    </a:p>
                  </a:txBody>
                  <a:tcPr marL="64008" marR="64008" marT="36576" marB="36576" anchor="ctr">
                    <a:solidFill>
                      <a:srgbClr val="F7F2FD"/>
                    </a:solidFill>
                  </a:tcPr>
                </a:tc>
              </a:tr>
              <a:tr h="362712">
                <a:tc>
                  <a:txBody>
                    <a:bodyPr wrap="square"/>
                    <a:lstStyle/>
                    <a:p>
                      <a:r>
                        <a:rPr sz="950" b="1">
                          <a:solidFill>
                            <a:srgbClr val="11052C"/>
                          </a:solidFill>
                          <a:latin typeface="Arial"/>
                        </a:rPr>
                        <a:t>A3</a:t>
                      </a:r>
                    </a:p>
                  </a:txBody>
                  <a:tcPr marL="64008" marR="64008" marT="36576" marB="36576" anchor="ctr">
                    <a:solidFill>
                      <a:srgbClr val="FFFFFF"/>
                    </a:solidFill>
                  </a:tcPr>
                </a:tc>
                <a:tc>
                  <a:txBody>
                    <a:bodyPr wrap="square"/>
                    <a:lstStyle/>
                    <a:p>
                      <a:r>
                        <a:rPr sz="950" b="0">
                          <a:solidFill>
                            <a:srgbClr val="3B2A54"/>
                          </a:solidFill>
                          <a:latin typeface="Arial"/>
                        </a:rPr>
                        <a:t>The $60M asks and $25M cap are the case's figures. $35M is about 15 bps of annualized revenue, about 1.1% of opex and about 0.2 points of efficiency ratio ($25M: about 0.15).</a:t>
                      </a:r>
                    </a:p>
                  </a:txBody>
                  <a:tcPr marL="64008" marR="64008" marT="36576" marB="36576" anchor="ctr">
                    <a:solidFill>
                      <a:srgbClr val="FFFFFF"/>
                    </a:solidFill>
                  </a:tcPr>
                </a:tc>
                <a:tc>
                  <a:txBody>
                    <a:bodyPr wrap="square"/>
                    <a:lstStyle/>
                    <a:p>
                      <a:r>
                        <a:rPr sz="950" b="0">
                          <a:solidFill>
                            <a:srgbClr val="3B2A54"/>
                          </a:solidFill>
                          <a:latin typeface="Arial"/>
                        </a:rPr>
                        <a:t>ASSUMPTION + CALCULATION</a:t>
                      </a:r>
                    </a:p>
                  </a:txBody>
                  <a:tcPr marL="64008" marR="64008" marT="36576" marB="36576" anchor="ctr">
                    <a:solidFill>
                      <a:srgbClr val="FFFFFF"/>
                    </a:solidFill>
                  </a:tcPr>
                </a:tc>
                <a:tc>
                  <a:txBody>
                    <a:bodyPr wrap="square"/>
                    <a:lstStyle/>
                    <a:p>
                      <a:r>
                        <a:rPr sz="950" b="0">
                          <a:solidFill>
                            <a:srgbClr val="3B2A54"/>
                          </a:solidFill>
                          <a:latin typeface="Arial"/>
                        </a:rPr>
                        <a:t>Case brief; Q2'26 figures</a:t>
                      </a:r>
                    </a:p>
                  </a:txBody>
                  <a:tcPr marL="64008" marR="64008" marT="36576" marB="36576" anchor="ctr">
                    <a:solidFill>
                      <a:srgbClr val="FFFFFF"/>
                    </a:solidFill>
                  </a:tcPr>
                </a:tc>
              </a:tr>
              <a:tr h="274320">
                <a:tc>
                  <a:txBody>
                    <a:bodyPr wrap="square"/>
                    <a:lstStyle/>
                    <a:p>
                      <a:r>
                        <a:rPr sz="950" b="1">
                          <a:solidFill>
                            <a:srgbClr val="11052C"/>
                          </a:solidFill>
                          <a:latin typeface="Arial"/>
                        </a:rPr>
                        <a:t>A4</a:t>
                      </a:r>
                    </a:p>
                  </a:txBody>
                  <a:tcPr marL="64008" marR="64008" marT="36576" marB="36576" anchor="ctr">
                    <a:solidFill>
                      <a:srgbClr val="F7F2FD"/>
                    </a:solidFill>
                  </a:tcPr>
                </a:tc>
                <a:tc>
                  <a:txBody>
                    <a:bodyPr wrap="square"/>
                    <a:lstStyle/>
                    <a:p>
                      <a:r>
                        <a:rPr sz="950" b="0">
                          <a:solidFill>
                            <a:srgbClr val="3B2A54"/>
                          </a:solidFill>
                          <a:latin typeface="Arial"/>
                        </a:rPr>
                        <a:t>The MTeam dispute is about the growth-opex envelope (core vs new bets), not regulatory capital by entity.</a:t>
                      </a:r>
                    </a:p>
                  </a:txBody>
                  <a:tcPr marL="64008" marR="64008" marT="36576" marB="36576" anchor="ctr">
                    <a:solidFill>
                      <a:srgbClr val="F7F2FD"/>
                    </a:solidFill>
                  </a:tcPr>
                </a:tc>
                <a:tc>
                  <a:txBody>
                    <a:bodyPr wrap="square"/>
                    <a:lstStyle/>
                    <a:p>
                      <a:r>
                        <a:rPr sz="950" b="0">
                          <a:solidFill>
                            <a:srgbClr val="3B2A54"/>
                          </a:solidFill>
                          <a:latin typeface="Arial"/>
                        </a:rPr>
                        <a:t>ASSUMPTION</a:t>
                      </a:r>
                    </a:p>
                  </a:txBody>
                  <a:tcPr marL="64008" marR="64008" marT="36576" marB="36576" anchor="ctr">
                    <a:solidFill>
                      <a:srgbClr val="F7F2FD"/>
                    </a:solidFill>
                  </a:tcPr>
                </a:tc>
                <a:tc>
                  <a:txBody>
                    <a:bodyPr wrap="square"/>
                    <a:lstStyle/>
                    <a:p>
                      <a:r>
                        <a:rPr sz="950" b="0">
                          <a:solidFill>
                            <a:srgbClr val="3B2A54"/>
                          </a:solidFill>
                          <a:latin typeface="Arial"/>
                        </a:rPr>
                        <a:t>Case brief is silent</a:t>
                      </a:r>
                    </a:p>
                  </a:txBody>
                  <a:tcPr marL="64008" marR="64008" marT="36576" marB="36576" anchor="ctr">
                    <a:solidFill>
                      <a:srgbClr val="F7F2FD"/>
                    </a:solidFill>
                  </a:tcPr>
                </a:tc>
              </a:tr>
              <a:tr h="362712">
                <a:tc>
                  <a:txBody>
                    <a:bodyPr wrap="square"/>
                    <a:lstStyle/>
                    <a:p>
                      <a:r>
                        <a:rPr sz="950" b="1">
                          <a:solidFill>
                            <a:srgbClr val="11052C"/>
                          </a:solidFill>
                          <a:latin typeface="Arial"/>
                        </a:rPr>
                        <a:t>A5</a:t>
                      </a:r>
                    </a:p>
                  </a:txBody>
                  <a:tcPr marL="64008" marR="64008" marT="36576" marB="36576" anchor="ctr">
                    <a:solidFill>
                      <a:srgbClr val="FFFFFF"/>
                    </a:solidFill>
                  </a:tcPr>
                </a:tc>
                <a:tc>
                  <a:txBody>
                    <a:bodyPr wrap="square"/>
                    <a:lstStyle/>
                    <a:p>
                      <a:r>
                        <a:rPr sz="950" b="0">
                          <a:solidFill>
                            <a:srgbClr val="3B2A54"/>
                          </a:solidFill>
                          <a:latin typeface="Arial"/>
                        </a:rPr>
                        <a:t>$8M met on the shared platform at near-zero marginal cost; unconfirmed scope moves to the case track; $12M needs a case, ready in 60 days.</a:t>
                      </a:r>
                    </a:p>
                  </a:txBody>
                  <a:tcPr marL="64008" marR="64008" marT="36576" marB="36576" anchor="ctr">
                    <a:solidFill>
                      <a:srgbClr val="FFFFFF"/>
                    </a:solidFill>
                  </a:tcPr>
                </a:tc>
                <a:tc>
                  <a:txBody>
                    <a:bodyPr wrap="square"/>
                    <a:lstStyle/>
                    <a:p>
                      <a:r>
                        <a:rPr sz="950" b="0">
                          <a:solidFill>
                            <a:srgbClr val="3B2A54"/>
                          </a:solidFill>
                          <a:latin typeface="Arial"/>
                        </a:rPr>
                        <a:t>ASSUMPTION</a:t>
                      </a:r>
                    </a:p>
                  </a:txBody>
                  <a:tcPr marL="64008" marR="64008" marT="36576" marB="36576" anchor="ctr">
                    <a:solidFill>
                      <a:srgbClr val="FFFFFF"/>
                    </a:solidFill>
                  </a:tcPr>
                </a:tc>
                <a:tc>
                  <a:txBody>
                    <a:bodyPr wrap="square"/>
                    <a:lstStyle/>
                    <a:p>
                      <a:r>
                        <a:rPr sz="950" b="0">
                          <a:solidFill>
                            <a:srgbClr val="3B2A54"/>
                          </a:solidFill>
                          <a:latin typeface="Arial"/>
                        </a:rPr>
                        <a:t>My estimate; Engineering confirms</a:t>
                      </a:r>
                    </a:p>
                  </a:txBody>
                  <a:tcPr marL="64008" marR="64008" marT="36576" marB="36576" anchor="ctr">
                    <a:solidFill>
                      <a:srgbClr val="FFFFFF"/>
                    </a:solidFill>
                  </a:tcPr>
                </a:tc>
              </a:tr>
              <a:tr h="362712">
                <a:tc>
                  <a:txBody>
                    <a:bodyPr wrap="square"/>
                    <a:lstStyle/>
                    <a:p>
                      <a:r>
                        <a:rPr sz="950" b="1">
                          <a:solidFill>
                            <a:srgbClr val="11052C"/>
                          </a:solidFill>
                          <a:latin typeface="Arial"/>
                        </a:rPr>
                        <a:t>A6</a:t>
                      </a:r>
                    </a:p>
                  </a:txBody>
                  <a:tcPr marL="64008" marR="64008" marT="36576" marB="36576" anchor="ctr">
                    <a:solidFill>
                      <a:srgbClr val="F7F2FD"/>
                    </a:solidFill>
                  </a:tcPr>
                </a:tc>
                <a:tc>
                  <a:txBody>
                    <a:bodyPr wrap="square"/>
                    <a:lstStyle/>
                    <a:p>
                      <a:r>
                        <a:rPr sz="950" b="0">
                          <a:solidFill>
                            <a:srgbClr val="3B2A54"/>
                          </a:solidFill>
                          <a:latin typeface="Arial"/>
                        </a:rPr>
                        <a:t>Spend above $25M only from H1 profit above plan, inside the ~20% guide, NPL 90+ on plan; CFO decides, Risk can block, IR sets disclosure.</a:t>
                      </a:r>
                    </a:p>
                  </a:txBody>
                  <a:tcPr marL="64008" marR="64008" marT="36576" marB="36576" anchor="ctr">
                    <a:solidFill>
                      <a:srgbClr val="F7F2FD"/>
                    </a:solidFill>
                  </a:tcPr>
                </a:tc>
                <a:tc>
                  <a:txBody>
                    <a:bodyPr wrap="square"/>
                    <a:lstStyle/>
                    <a:p>
                      <a:r>
                        <a:rPr sz="950" b="0">
                          <a:solidFill>
                            <a:srgbClr val="3B2A54"/>
                          </a:solidFill>
                          <a:latin typeface="Arial"/>
                        </a:rPr>
                        <a:t>RULE (proposed)</a:t>
                      </a:r>
                    </a:p>
                  </a:txBody>
                  <a:tcPr marL="64008" marR="64008" marT="36576" marB="36576" anchor="ctr">
                    <a:solidFill>
                      <a:srgbClr val="F7F2FD"/>
                    </a:solidFill>
                  </a:tcPr>
                </a:tc>
                <a:tc>
                  <a:txBody>
                    <a:bodyPr wrap="square"/>
                    <a:lstStyle/>
                    <a:p>
                      <a:r>
                        <a:rPr sz="950" b="0">
                          <a:solidFill>
                            <a:srgbClr val="3B2A54"/>
                          </a:solidFill>
                          <a:latin typeface="Arial"/>
                        </a:rPr>
                        <a:t>To agree with the CFO</a:t>
                      </a:r>
                    </a:p>
                  </a:txBody>
                  <a:tcPr marL="64008" marR="64008" marT="36576" marB="36576" anchor="ctr">
                    <a:solidFill>
                      <a:srgbClr val="F7F2FD"/>
                    </a:solidFill>
                  </a:tcPr>
                </a:tc>
              </a:tr>
              <a:tr h="362712">
                <a:tc>
                  <a:txBody>
                    <a:bodyPr wrap="square"/>
                    <a:lstStyle/>
                    <a:p>
                      <a:r>
                        <a:rPr sz="950" b="1">
                          <a:solidFill>
                            <a:srgbClr val="11052C"/>
                          </a:solidFill>
                          <a:latin typeface="Arial"/>
                        </a:rPr>
                        <a:t>A7</a:t>
                      </a:r>
                    </a:p>
                  </a:txBody>
                  <a:tcPr marL="64008" marR="64008" marT="36576" marB="36576" anchor="ctr">
                    <a:solidFill>
                      <a:srgbClr val="FFFFFF"/>
                    </a:solidFill>
                  </a:tcPr>
                </a:tc>
                <a:tc>
                  <a:txBody>
                    <a:bodyPr wrap="square"/>
                    <a:lstStyle/>
                    <a:p>
                      <a:r>
                        <a:rPr sz="950" b="0">
                          <a:solidFill>
                            <a:srgbClr val="3B2A54"/>
                          </a:solidFill>
                          <a:latin typeface="Arial"/>
                        </a:rPr>
                        <a:t>Board in 4 weeks (assumed Tue 17 Nov); Investor Day 8 Dec 2026; the Board approves the capital plan before the Investor Day story is set.</a:t>
                      </a:r>
                    </a:p>
                  </a:txBody>
                  <a:tcPr marL="64008" marR="64008" marT="36576" marB="36576" anchor="ctr">
                    <a:solidFill>
                      <a:srgbClr val="FFFFFF"/>
                    </a:solidFill>
                  </a:tcPr>
                </a:tc>
                <a:tc>
                  <a:txBody>
                    <a:bodyPr wrap="square"/>
                    <a:lstStyle/>
                    <a:p>
                      <a:r>
                        <a:rPr sz="950" b="0">
                          <a:solidFill>
                            <a:srgbClr val="3B2A54"/>
                          </a:solidFill>
                          <a:latin typeface="Arial"/>
                        </a:rPr>
                        <a:t>FACT (dates) + ASSUMPTION</a:t>
                      </a:r>
                    </a:p>
                  </a:txBody>
                  <a:tcPr marL="64008" marR="64008" marT="36576" marB="36576" anchor="ctr">
                    <a:solidFill>
                      <a:srgbClr val="FFFFFF"/>
                    </a:solidFill>
                  </a:tcPr>
                </a:tc>
                <a:tc>
                  <a:txBody>
                    <a:bodyPr wrap="square"/>
                    <a:lstStyle/>
                    <a:p>
                      <a:r>
                        <a:rPr sz="950" b="0">
                          <a:solidFill>
                            <a:srgbClr val="3B2A54"/>
                          </a:solidFill>
                          <a:latin typeface="Arial"/>
                        </a:rPr>
                        <a:t>Case brief; Nu IR</a:t>
                      </a:r>
                    </a:p>
                  </a:txBody>
                  <a:tcPr marL="64008" marR="64008" marT="36576" marB="36576" anchor="ctr">
                    <a:solidFill>
                      <a:srgbClr val="FFFFFF"/>
                    </a:solidFill>
                  </a:tcPr>
                </a:tc>
              </a:tr>
              <a:tr h="362712">
                <a:tc>
                  <a:txBody>
                    <a:bodyPr wrap="square"/>
                    <a:lstStyle/>
                    <a:p>
                      <a:r>
                        <a:rPr sz="950" b="1">
                          <a:solidFill>
                            <a:srgbClr val="11052C"/>
                          </a:solidFill>
                          <a:latin typeface="Arial"/>
                        </a:rPr>
                        <a:t>A8</a:t>
                      </a:r>
                    </a:p>
                  </a:txBody>
                  <a:tcPr marL="64008" marR="64008" marT="36576" marB="36576" anchor="ctr">
                    <a:solidFill>
                      <a:srgbClr val="F7F2FD"/>
                    </a:solidFill>
                  </a:tcPr>
                </a:tc>
                <a:tc>
                  <a:txBody>
                    <a:bodyPr wrap="square"/>
                    <a:lstStyle/>
                    <a:p>
                      <a:r>
                        <a:rPr sz="950" b="0">
                          <a:solidFill>
                            <a:srgbClr val="3B2A54"/>
                          </a:solidFill>
                          <a:latin typeface="Arial"/>
                        </a:rPr>
                        <a:t>HQ jurisdiction open. Nu is above the EUR 750M Pillar Two threshold; 2026 carve-out 9.4% of payroll, 7.4% of tangible assets.</a:t>
                      </a:r>
                    </a:p>
                  </a:txBody>
                  <a:tcPr marL="64008" marR="64008" marT="36576" marB="36576" anchor="ctr">
                    <a:solidFill>
                      <a:srgbClr val="F7F2FD"/>
                    </a:solidFill>
                  </a:tcPr>
                </a:tc>
                <a:tc>
                  <a:txBody>
                    <a:bodyPr wrap="square"/>
                    <a:lstStyle/>
                    <a:p>
                      <a:r>
                        <a:rPr sz="950" b="0">
                          <a:solidFill>
                            <a:srgbClr val="3B2A54"/>
                          </a:solidFill>
                          <a:latin typeface="Arial"/>
                        </a:rPr>
                        <a:t>FACT (rule) + ASSUMPTION (site)</a:t>
                      </a:r>
                    </a:p>
                  </a:txBody>
                  <a:tcPr marL="64008" marR="64008" marT="36576" marB="36576" anchor="ctr">
                    <a:solidFill>
                      <a:srgbClr val="F7F2FD"/>
                    </a:solidFill>
                  </a:tcPr>
                </a:tc>
                <a:tc>
                  <a:txBody>
                    <a:bodyPr wrap="square"/>
                    <a:lstStyle/>
                    <a:p>
                      <a:r>
                        <a:rPr sz="950" b="0">
                          <a:solidFill>
                            <a:srgbClr val="3B2A54"/>
                          </a:solidFill>
                          <a:latin typeface="Arial"/>
                        </a:rPr>
                        <a:t>OECD GloBE rules</a:t>
                      </a:r>
                    </a:p>
                  </a:txBody>
                  <a:tcPr marL="64008" marR="64008" marT="36576" marB="36576" anchor="ctr">
                    <a:solidFill>
                      <a:srgbClr val="F7F2FD"/>
                    </a:solidFill>
                  </a:tcPr>
                </a:tc>
              </a:tr>
              <a:tr h="274320">
                <a:tc>
                  <a:txBody>
                    <a:bodyPr wrap="square"/>
                    <a:lstStyle/>
                    <a:p>
                      <a:r>
                        <a:rPr sz="950" b="1">
                          <a:solidFill>
                            <a:srgbClr val="11052C"/>
                          </a:solidFill>
                          <a:latin typeface="Arial"/>
                        </a:rPr>
                        <a:t>A9</a:t>
                      </a:r>
                    </a:p>
                  </a:txBody>
                  <a:tcPr marL="64008" marR="64008" marT="36576" marB="36576" anchor="ctr">
                    <a:solidFill>
                      <a:srgbClr val="FFFFFF"/>
                    </a:solidFill>
                  </a:tcPr>
                </a:tc>
                <a:tc>
                  <a:txBody>
                    <a:bodyPr wrap="square"/>
                    <a:lstStyle/>
                    <a:p>
                      <a:r>
                        <a:rPr sz="950" b="0">
                          <a:solidFill>
                            <a:srgbClr val="3B2A54"/>
                          </a:solidFill>
                          <a:latin typeface="Arial"/>
                        </a:rPr>
                        <a:t>Option scores and weights are my judgment; third-party benchmarks are context only.</a:t>
                      </a:r>
                    </a:p>
                  </a:txBody>
                  <a:tcPr marL="64008" marR="64008" marT="36576" marB="36576" anchor="ctr">
                    <a:solidFill>
                      <a:srgbClr val="FFFFFF"/>
                    </a:solidFill>
                  </a:tcPr>
                </a:tc>
                <a:tc>
                  <a:txBody>
                    <a:bodyPr wrap="square"/>
                    <a:lstStyle/>
                    <a:p>
                      <a:r>
                        <a:rPr sz="950" b="0">
                          <a:solidFill>
                            <a:srgbClr val="3B2A54"/>
                          </a:solidFill>
                          <a:latin typeface="Arial"/>
                        </a:rPr>
                        <a:t>ASSUMPTION</a:t>
                      </a:r>
                    </a:p>
                  </a:txBody>
                  <a:tcPr marL="64008" marR="64008" marT="36576" marB="36576" anchor="ctr">
                    <a:solidFill>
                      <a:srgbClr val="FFFFFF"/>
                    </a:solidFill>
                  </a:tcPr>
                </a:tc>
                <a:tc>
                  <a:txBody>
                    <a:bodyPr wrap="square"/>
                    <a:lstStyle/>
                    <a:p>
                      <a:r>
                        <a:rPr sz="950" b="0">
                          <a:solidFill>
                            <a:srgbClr val="3B2A54"/>
                          </a:solidFill>
                          <a:latin typeface="Arial"/>
                        </a:rPr>
                        <a:t>Slide 4; backups C, D</a:t>
                      </a:r>
                    </a:p>
                  </a:txBody>
                  <a:tcPr marL="64008" marR="64008" marT="36576" marB="36576" anchor="ctr">
                    <a:solidFill>
                      <a:srgbClr val="FFFFFF"/>
                    </a:solidFill>
                  </a:tcPr>
                </a:tc>
              </a:tr>
              <a:tr h="362712">
                <a:tc>
                  <a:txBody>
                    <a:bodyPr wrap="square"/>
                    <a:lstStyle/>
                    <a:p>
                      <a:r>
                        <a:rPr sz="950" b="1">
                          <a:solidFill>
                            <a:srgbClr val="11052C"/>
                          </a:solidFill>
                          <a:latin typeface="Arial"/>
                        </a:rPr>
                        <a:t>A10</a:t>
                      </a:r>
                    </a:p>
                  </a:txBody>
                  <a:tcPr marL="64008" marR="64008" marT="36576" marB="36576" anchor="ctr">
                    <a:solidFill>
                      <a:srgbClr val="F7F2FD"/>
                    </a:solidFill>
                  </a:tcPr>
                </a:tc>
                <a:tc>
                  <a:txBody>
                    <a:bodyPr wrap="square"/>
                    <a:lstStyle/>
                    <a:p>
                      <a:r>
                        <a:rPr sz="950" b="0">
                          <a:solidFill>
                            <a:srgbClr val="3B2A54"/>
                          </a:solidFill>
                          <a:latin typeface="Arial"/>
                        </a:rPr>
                        <a:t>FY27 envelope: first release 1 Jan 2027, second at Q1 close (31 Mar), reserve at H1 close. Hub of 4-6 people.</a:t>
                      </a:r>
                    </a:p>
                  </a:txBody>
                  <a:tcPr marL="64008" marR="64008" marT="36576" marB="36576" anchor="ctr">
                    <a:solidFill>
                      <a:srgbClr val="F7F2FD"/>
                    </a:solidFill>
                  </a:tcPr>
                </a:tc>
                <a:tc>
                  <a:txBody>
                    <a:bodyPr wrap="square"/>
                    <a:lstStyle/>
                    <a:p>
                      <a:r>
                        <a:rPr sz="950" b="0">
                          <a:solidFill>
                            <a:srgbClr val="3B2A54"/>
                          </a:solidFill>
                          <a:latin typeface="Arial"/>
                        </a:rPr>
                        <a:t>ASSUMPTION</a:t>
                      </a:r>
                    </a:p>
                  </a:txBody>
                  <a:tcPr marL="64008" marR="64008" marT="36576" marB="36576" anchor="ctr">
                    <a:solidFill>
                      <a:srgbClr val="F7F2FD"/>
                    </a:solidFill>
                  </a:tcPr>
                </a:tc>
                <a:tc>
                  <a:txBody>
                    <a:bodyPr wrap="square"/>
                    <a:lstStyle/>
                    <a:p>
                      <a:r>
                        <a:rPr sz="950" b="0">
                          <a:solidFill>
                            <a:srgbClr val="3B2A54"/>
                          </a:solidFill>
                          <a:latin typeface="Arial"/>
                        </a:rPr>
                        <a:t>Calendar fiscal year; sizing is mine</a:t>
                      </a:r>
                    </a:p>
                  </a:txBody>
                  <a:tcPr marL="64008" marR="64008" marT="36576" marB="36576" anchor="ctr">
                    <a:solidFill>
                      <a:srgbClr val="F7F2FD"/>
                    </a:solidFill>
                  </a:tcPr>
                </a:tc>
              </a:tr>
              <a:tr h="362712">
                <a:tc>
                  <a:txBody>
                    <a:bodyPr wrap="square"/>
                    <a:lstStyle/>
                    <a:p>
                      <a:r>
                        <a:rPr sz="950" b="1">
                          <a:solidFill>
                            <a:srgbClr val="11052C"/>
                          </a:solidFill>
                          <a:latin typeface="Arial"/>
                        </a:rPr>
                        <a:t>A11</a:t>
                      </a:r>
                    </a:p>
                  </a:txBody>
                  <a:tcPr marL="64008" marR="64008" marT="36576" marB="36576" anchor="ctr">
                    <a:solidFill>
                      <a:srgbClr val="FFFFFF"/>
                    </a:solidFill>
                  </a:tcPr>
                </a:tc>
                <a:tc>
                  <a:txBody>
                    <a:bodyPr wrap="square"/>
                    <a:lstStyle/>
                    <a:p>
                      <a:r>
                        <a:rPr sz="950" b="0">
                          <a:solidFill>
                            <a:srgbClr val="3B2A54"/>
                          </a:solidFill>
                          <a:latin typeface="Arial"/>
                        </a:rPr>
                        <a:t>The hub can run Nu-approved AI tools inside Nu's environment; Security and Risk approve data access before the agents go live.</a:t>
                      </a:r>
                    </a:p>
                  </a:txBody>
                  <a:tcPr marL="64008" marR="64008" marT="36576" marB="36576" anchor="ctr">
                    <a:solidFill>
                      <a:srgbClr val="FFFFFF"/>
                    </a:solidFill>
                  </a:tcPr>
                </a:tc>
                <a:tc>
                  <a:txBody>
                    <a:bodyPr wrap="square"/>
                    <a:lstStyle/>
                    <a:p>
                      <a:r>
                        <a:rPr sz="950" b="0">
                          <a:solidFill>
                            <a:srgbClr val="3B2A54"/>
                          </a:solidFill>
                          <a:latin typeface="Arial"/>
                        </a:rPr>
                        <a:t>ASSUMPTION</a:t>
                      </a:r>
                    </a:p>
                  </a:txBody>
                  <a:tcPr marL="64008" marR="64008" marT="36576" marB="36576" anchor="ctr">
                    <a:solidFill>
                      <a:srgbClr val="FFFFFF"/>
                    </a:solidFill>
                  </a:tcPr>
                </a:tc>
                <a:tc>
                  <a:txBody>
                    <a:bodyPr wrap="square"/>
                    <a:lstStyle/>
                    <a:p>
                      <a:r>
                        <a:rPr sz="950" b="0">
                          <a:solidFill>
                            <a:srgbClr val="3B2A54"/>
                          </a:solidFill>
                          <a:latin typeface="Arial"/>
                        </a:rPr>
                        <a:t>To confirm with Security and Risk</a:t>
                      </a:r>
                    </a:p>
                  </a:txBody>
                  <a:tcPr marL="64008" marR="64008" marT="36576" marB="36576" anchor="ctr">
                    <a:solidFill>
                      <a:srgbClr val="FFFFFF"/>
                    </a:solidFill>
                  </a:tcPr>
                </a:tc>
              </a:tr>
              <a:tr h="362712">
                <a:tc>
                  <a:txBody>
                    <a:bodyPr wrap="square"/>
                    <a:lstStyle/>
                    <a:p>
                      <a:r>
                        <a:rPr sz="950" b="1">
                          <a:solidFill>
                            <a:srgbClr val="11052C"/>
                          </a:solidFill>
                          <a:latin typeface="Arial"/>
                        </a:rPr>
                        <a:t>A12</a:t>
                      </a:r>
                    </a:p>
                  </a:txBody>
                  <a:tcPr marL="64008" marR="64008" marT="36576" marB="36576" anchor="ctr">
                    <a:solidFill>
                      <a:srgbClr val="F7F2FD"/>
                    </a:solidFill>
                  </a:tcPr>
                </a:tc>
                <a:tc>
                  <a:txBody>
                    <a:bodyPr wrap="square"/>
                    <a:lstStyle/>
                    <a:p>
                      <a:r>
                        <a:rPr sz="950" b="0">
                          <a:solidFill>
                            <a:srgbClr val="3B2A54"/>
                          </a:solidFill>
                          <a:latin typeface="Arial"/>
                        </a:rPr>
                        <a:t>Net new FY27 cost for the hub and the HQ is small and funded inside the $25M before the GM releases; if material, the second release shrinks by that amount.</a:t>
                      </a:r>
                    </a:p>
                  </a:txBody>
                  <a:tcPr marL="64008" marR="64008" marT="36576" marB="36576" anchor="ctr">
                    <a:solidFill>
                      <a:srgbClr val="F7F2FD"/>
                    </a:solidFill>
                  </a:tcPr>
                </a:tc>
                <a:tc>
                  <a:txBody>
                    <a:bodyPr wrap="square"/>
                    <a:lstStyle/>
                    <a:p>
                      <a:r>
                        <a:rPr sz="950" b="0">
                          <a:solidFill>
                            <a:srgbClr val="3B2A54"/>
                          </a:solidFill>
                          <a:latin typeface="Arial"/>
                        </a:rPr>
                        <a:t>ASSUMPTION</a:t>
                      </a:r>
                    </a:p>
                  </a:txBody>
                  <a:tcPr marL="64008" marR="64008" marT="36576" marB="36576" anchor="ctr">
                    <a:solidFill>
                      <a:srgbClr val="F7F2FD"/>
                    </a:solidFill>
                  </a:tcPr>
                </a:tc>
                <a:tc>
                  <a:txBody>
                    <a:bodyPr wrap="square"/>
                    <a:lstStyle/>
                    <a:p>
                      <a:r>
                        <a:rPr sz="950" b="0">
                          <a:solidFill>
                            <a:srgbClr val="3B2A54"/>
                          </a:solidFill>
                          <a:latin typeface="Arial"/>
                        </a:rPr>
                        <a:t>To size with the CFO</a:t>
                      </a:r>
                    </a:p>
                  </a:txBody>
                  <a:tcPr marL="64008" marR="64008" marT="36576" marB="36576" anchor="ctr">
                    <a:solidFill>
                      <a:srgbClr val="F7F2FD"/>
                    </a:solidFill>
                  </a:tcPr>
                </a:tc>
              </a:tr>
              <a:tr h="274320">
                <a:tc>
                  <a:txBody>
                    <a:bodyPr wrap="square"/>
                    <a:lstStyle/>
                    <a:p>
                      <a:r>
                        <a:rPr sz="950" b="1">
                          <a:solidFill>
                            <a:srgbClr val="11052C"/>
                          </a:solidFill>
                          <a:latin typeface="Arial"/>
                        </a:rPr>
                        <a:t>A13</a:t>
                      </a:r>
                    </a:p>
                  </a:txBody>
                  <a:tcPr marL="64008" marR="64008" marT="36576" marB="36576" anchor="ctr">
                    <a:solidFill>
                      <a:srgbClr val="FFFFFF"/>
                    </a:solidFill>
                  </a:tcPr>
                </a:tc>
                <a:tc>
                  <a:txBody>
                    <a:bodyPr wrap="square"/>
                    <a:lstStyle/>
                    <a:p>
                      <a:r>
                        <a:rPr sz="950" b="0">
                          <a:solidFill>
                            <a:srgbClr val="3B2A54"/>
                          </a:solidFill>
                          <a:latin typeface="Arial"/>
                        </a:rPr>
                        <a:t>HQ jurisdiction open; two candidate sites go to term sheet; the site scorecard weights are my judgment (backup J).</a:t>
                      </a:r>
                    </a:p>
                  </a:txBody>
                  <a:tcPr marL="64008" marR="64008" marT="36576" marB="36576" anchor="ctr">
                    <a:solidFill>
                      <a:srgbClr val="FFFFFF"/>
                    </a:solidFill>
                  </a:tcPr>
                </a:tc>
                <a:tc>
                  <a:txBody>
                    <a:bodyPr wrap="square"/>
                    <a:lstStyle/>
                    <a:p>
                      <a:r>
                        <a:rPr sz="950" b="0">
                          <a:solidFill>
                            <a:srgbClr val="3B2A54"/>
                          </a:solidFill>
                          <a:latin typeface="Arial"/>
                        </a:rPr>
                        <a:t>ASSUMPTION</a:t>
                      </a:r>
                    </a:p>
                  </a:txBody>
                  <a:tcPr marL="64008" marR="64008" marT="36576" marB="36576" anchor="ctr">
                    <a:solidFill>
                      <a:srgbClr val="FFFFFF"/>
                    </a:solidFill>
                  </a:tcPr>
                </a:tc>
                <a:tc>
                  <a:txBody>
                    <a:bodyPr wrap="square"/>
                    <a:lstStyle/>
                    <a:p>
                      <a:r>
                        <a:rPr sz="950" b="0">
                          <a:solidFill>
                            <a:srgbClr val="3B2A54"/>
                          </a:solidFill>
                          <a:latin typeface="Arial"/>
                        </a:rPr>
                        <a:t>Case brief is silent</a:t>
                      </a:r>
                    </a:p>
                  </a:txBody>
                  <a:tcPr marL="64008" marR="64008" marT="36576" marB="36576" anchor="ctr">
                    <a:solidFill>
                      <a:srgbClr val="FFFFFF"/>
                    </a:solidFill>
                  </a:tcPr>
                </a:tc>
              </a:tr>
            </a:tbl>
          </a:graphicData>
        </a:graphic>
      </p:graphicFrame>
      <p:sp>
        <p:nvSpPr>
          <p:cNvPr id="5" name="TextBox 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B</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Open an entity only when a license or tax substance requires it; officers and signing follow the stage</a:t>
            </a:r>
          </a:p>
        </p:txBody>
      </p:sp>
      <p:graphicFrame>
        <p:nvGraphicFramePr>
          <p:cNvPr id="4" name="Table 3"/>
          <p:cNvGraphicFramePr>
            <a:graphicFrameLocks noGrp="1"/>
          </p:cNvGraphicFramePr>
          <p:nvPr/>
        </p:nvGraphicFramePr>
        <p:xfrm>
          <a:off x="612648" y="1600200"/>
          <a:ext cx="10972800" cy="2688336"/>
        </p:xfrm>
        <a:graphic>
          <a:graphicData uri="http://schemas.openxmlformats.org/drawingml/2006/table">
            <a:tbl>
              <a:tblPr>
                <a:tableStyleId>{5C22544A-7EE6-4342-B048-85BDC9FD1C3A}</a:tableStyleId>
              </a:tblPr>
              <a:tblGrid>
                <a:gridCol w="1828800"/>
                <a:gridCol w="3474720"/>
                <a:gridCol w="2194560"/>
                <a:gridCol w="3474720"/>
              </a:tblGrid>
              <a:tr h="457200">
                <a:tc>
                  <a:txBody>
                    <a:bodyPr wrap="square"/>
                    <a:lstStyle/>
                    <a:p>
                      <a:r>
                        <a:rPr sz="1100" b="1">
                          <a:solidFill>
                            <a:srgbClr val="FFFFFF"/>
                          </a:solidFill>
                          <a:latin typeface="Arial"/>
                        </a:rPr>
                        <a:t>Stage</a:t>
                      </a:r>
                    </a:p>
                  </a:txBody>
                  <a:tcPr marL="64008" marR="64008" marT="36576" marB="36576" anchor="ctr">
                    <a:solidFill>
                      <a:srgbClr val="820AD1"/>
                    </a:solidFill>
                  </a:tcPr>
                </a:tc>
                <a:tc>
                  <a:txBody>
                    <a:bodyPr wrap="square"/>
                    <a:lstStyle/>
                    <a:p>
                      <a:r>
                        <a:rPr sz="1100" b="1">
                          <a:solidFill>
                            <a:srgbClr val="FFFFFF"/>
                          </a:solidFill>
                          <a:latin typeface="Arial"/>
                        </a:rPr>
                        <a:t>Trigger for a local entity</a:t>
                      </a:r>
                    </a:p>
                  </a:txBody>
                  <a:tcPr marL="64008" marR="64008" marT="36576" marB="36576" anchor="ctr">
                    <a:solidFill>
                      <a:srgbClr val="820AD1"/>
                    </a:solidFill>
                  </a:tcPr>
                </a:tc>
                <a:tc>
                  <a:txBody>
                    <a:bodyPr wrap="square"/>
                    <a:lstStyle/>
                    <a:p>
                      <a:r>
                        <a:rPr sz="1100" b="1">
                          <a:solidFill>
                            <a:srgbClr val="FFFFFF"/>
                          </a:solidFill>
                          <a:latin typeface="Arial"/>
                        </a:rPr>
                        <a:t>Setup</a:t>
                      </a:r>
                    </a:p>
                  </a:txBody>
                  <a:tcPr marL="64008" marR="64008" marT="36576" marB="36576" anchor="ctr">
                    <a:solidFill>
                      <a:srgbClr val="820AD1"/>
                    </a:solidFill>
                  </a:tcPr>
                </a:tc>
                <a:tc>
                  <a:txBody>
                    <a:bodyPr wrap="square"/>
                    <a:lstStyle/>
                    <a:p>
                      <a:r>
                        <a:rPr sz="1100" b="1">
                          <a:solidFill>
                            <a:srgbClr val="FFFFFF"/>
                          </a:solidFill>
                          <a:latin typeface="Arial"/>
                        </a:rPr>
                        <a:t>Officers, signing and insurance</a:t>
                      </a:r>
                    </a:p>
                  </a:txBody>
                  <a:tcPr marL="64008" marR="64008" marT="36576" marB="36576" anchor="ctr">
                    <a:solidFill>
                      <a:srgbClr val="820AD1"/>
                    </a:solidFill>
                  </a:tcPr>
                </a:tc>
              </a:tr>
              <a:tr h="743711">
                <a:tc>
                  <a:txBody>
                    <a:bodyPr wrap="square"/>
                    <a:lstStyle/>
                    <a:p>
                      <a:r>
                        <a:rPr sz="1100" b="1">
                          <a:solidFill>
                            <a:srgbClr val="11052C"/>
                          </a:solidFill>
                          <a:latin typeface="Arial"/>
                        </a:rPr>
                        <a:t>1. Market test</a:t>
                      </a:r>
                      <a:r>
                        <a:rPr sz="1100" b="0">
                          <a:solidFill>
                            <a:srgbClr val="11052C"/>
                          </a:solidFill>
                          <a:latin typeface="Arial"/>
                        </a:rPr>
                        <a:t> (new countries)</a:t>
                      </a:r>
                    </a:p>
                  </a:txBody>
                  <a:tcPr marL="64008" marR="64008" marT="36576" marB="36576" anchor="ctr">
                    <a:solidFill>
                      <a:srgbClr val="FFFFFF"/>
                    </a:solidFill>
                  </a:tcPr>
                </a:tc>
                <a:tc>
                  <a:txBody>
                    <a:bodyPr wrap="square"/>
                    <a:lstStyle/>
                    <a:p>
                      <a:r>
                        <a:rPr sz="1100" b="0">
                          <a:solidFill>
                            <a:srgbClr val="3B2A54"/>
                          </a:solidFill>
                          <a:latin typeface="Arial"/>
                        </a:rPr>
                        <a:t>No local license needed and no taxable presence; served from an existing licensed entity or a partner bank (as the US is today, through Lead Bank, since 10 Sep 2026).</a:t>
                      </a:r>
                    </a:p>
                  </a:txBody>
                  <a:tcPr marL="64008" marR="64008" marT="36576" marB="36576" anchor="ctr">
                    <a:solidFill>
                      <a:srgbClr val="FFFFFF"/>
                    </a:solidFill>
                  </a:tcPr>
                </a:tc>
                <a:tc>
                  <a:txBody>
                    <a:bodyPr wrap="square"/>
                    <a:lstStyle/>
                    <a:p>
                      <a:r>
                        <a:rPr sz="1100" b="0">
                          <a:solidFill>
                            <a:srgbClr val="3B2A54"/>
                          </a:solidFill>
                          <a:latin typeface="Arial"/>
                        </a:rPr>
                        <a:t>No local entity. Cross-border or partner model.</a:t>
                      </a:r>
                    </a:p>
                  </a:txBody>
                  <a:tcPr marL="64008" marR="64008" marT="36576" marB="36576" anchor="ctr">
                    <a:solidFill>
                      <a:srgbClr val="FFFFFF"/>
                    </a:solidFill>
                  </a:tcPr>
                </a:tc>
                <a:tc>
                  <a:txBody>
                    <a:bodyPr wrap="square"/>
                    <a:lstStyle/>
                    <a:p>
                      <a:r>
                        <a:rPr sz="1100" b="0">
                          <a:solidFill>
                            <a:srgbClr val="3B2A54"/>
                          </a:solidFill>
                          <a:latin typeface="Arial"/>
                        </a:rPr>
                        <a:t>Central signing only. No local director. Prevents an accidental permanent establishment.</a:t>
                      </a:r>
                    </a:p>
                  </a:txBody>
                  <a:tcPr marL="64008" marR="64008" marT="36576" marB="36576" anchor="ctr">
                    <a:solidFill>
                      <a:srgbClr val="FFFFFF"/>
                    </a:solidFill>
                  </a:tcPr>
                </a:tc>
              </a:tr>
              <a:tr h="576072">
                <a:tc>
                  <a:txBody>
                    <a:bodyPr wrap="square"/>
                    <a:lstStyle/>
                    <a:p>
                      <a:r>
                        <a:rPr sz="1100" b="1">
                          <a:solidFill>
                            <a:srgbClr val="11052C"/>
                          </a:solidFill>
                          <a:latin typeface="Arial"/>
                        </a:rPr>
                        <a:t>2. Licensed scale-up</a:t>
                      </a:r>
                      <a:r>
                        <a:rPr sz="1100" b="0">
                          <a:solidFill>
                            <a:srgbClr val="11052C"/>
                          </a:solidFill>
                          <a:latin typeface="Arial"/>
                        </a:rPr>
                        <a:t> (US charter, new verticals)</a:t>
                      </a:r>
                    </a:p>
                  </a:txBody>
                  <a:tcPr marL="64008" marR="64008" marT="36576" marB="36576" anchor="ctr">
                    <a:solidFill>
                      <a:srgbClr val="F7F2FD"/>
                    </a:solidFill>
                  </a:tcPr>
                </a:tc>
                <a:tc>
                  <a:txBody>
                    <a:bodyPr wrap="square"/>
                    <a:lstStyle/>
                    <a:p>
                      <a:r>
                        <a:rPr sz="1100" b="0">
                          <a:solidFill>
                            <a:srgbClr val="3B2A54"/>
                          </a:solidFill>
                          <a:latin typeface="Arial"/>
                        </a:rPr>
                        <a:t>A regulator requires a local licensed entity (deposits, lending, custody), or substance rules require local payroll and assets.</a:t>
                      </a:r>
                    </a:p>
                  </a:txBody>
                  <a:tcPr marL="64008" marR="64008" marT="36576" marB="36576" anchor="ctr">
                    <a:solidFill>
                      <a:srgbClr val="F7F2FD"/>
                    </a:solidFill>
                  </a:tcPr>
                </a:tc>
                <a:tc>
                  <a:txBody>
                    <a:bodyPr wrap="square"/>
                    <a:lstStyle/>
                    <a:p>
                      <a:r>
                        <a:rPr sz="1100" b="0">
                          <a:solidFill>
                            <a:srgbClr val="3B2A54"/>
                          </a:solidFill>
                          <a:latin typeface="Arial"/>
                        </a:rPr>
                        <a:t>Dedicated licensed entity with its own capital plan and headroom.</a:t>
                      </a:r>
                    </a:p>
                  </a:txBody>
                  <a:tcPr marL="64008" marR="64008" marT="36576" marB="36576" anchor="ctr">
                    <a:solidFill>
                      <a:srgbClr val="F7F2FD"/>
                    </a:solidFill>
                  </a:tcPr>
                </a:tc>
                <a:tc>
                  <a:txBody>
                    <a:bodyPr wrap="square"/>
                    <a:lstStyle/>
                    <a:p>
                      <a:r>
                        <a:rPr sz="1100" b="0">
                          <a:solidFill>
                            <a:srgbClr val="3B2A54"/>
                          </a:solidFill>
                          <a:latin typeface="Arial"/>
                        </a:rPr>
                        <a:t>Fit-and-proper directors; two central officers plus one local leader; dual signature above a set limit; D&amp;O before activation.</a:t>
                      </a:r>
                    </a:p>
                  </a:txBody>
                  <a:tcPr marL="64008" marR="64008" marT="36576" marB="36576" anchor="ctr">
                    <a:solidFill>
                      <a:srgbClr val="F7F2FD"/>
                    </a:solidFill>
                  </a:tcPr>
                </a:tc>
              </a:tr>
              <a:tr h="911351">
                <a:tc>
                  <a:txBody>
                    <a:bodyPr wrap="square"/>
                    <a:lstStyle/>
                    <a:p>
                      <a:r>
                        <a:rPr sz="1100" b="1">
                          <a:solidFill>
                            <a:srgbClr val="11052C"/>
                          </a:solidFill>
                          <a:latin typeface="Arial"/>
                        </a:rPr>
                        <a:t>3. Core hub</a:t>
                      </a:r>
                      <a:r>
                        <a:rPr sz="1100" b="0">
                          <a:solidFill>
                            <a:srgbClr val="11052C"/>
                          </a:solidFill>
                          <a:latin typeface="Arial"/>
                        </a:rPr>
                        <a:t> (Mexico, a bank since Aug 2026; Colombia; the HQ)</a:t>
                      </a:r>
                    </a:p>
                  </a:txBody>
                  <a:tcPr marL="64008" marR="64008" marT="36576" marB="36576" anchor="ctr">
                    <a:solidFill>
                      <a:srgbClr val="FFFFFF"/>
                    </a:solidFill>
                  </a:tcPr>
                </a:tc>
                <a:tc>
                  <a:txBody>
                    <a:bodyPr wrap="square"/>
                    <a:lstStyle/>
                    <a:p>
                      <a:r>
                        <a:rPr sz="1100" b="0">
                          <a:solidFill>
                            <a:srgbClr val="3B2A54"/>
                          </a:solidFill>
                          <a:latin typeface="Arial"/>
                        </a:rPr>
                        <a:t>Full banking or fintech license in force; local CFO in place (already so in Mexico and Colombia).</a:t>
                      </a:r>
                    </a:p>
                  </a:txBody>
                  <a:tcPr marL="64008" marR="64008" marT="36576" marB="36576" anchor="ctr">
                    <a:solidFill>
                      <a:srgbClr val="FFFFFF"/>
                    </a:solidFill>
                  </a:tcPr>
                </a:tc>
                <a:tc>
                  <a:txBody>
                    <a:bodyPr wrap="square"/>
                    <a:lstStyle/>
                    <a:p>
                      <a:r>
                        <a:rPr sz="1100" b="0">
                          <a:solidFill>
                            <a:srgbClr val="3B2A54"/>
                          </a:solidFill>
                          <a:latin typeface="Arial"/>
                        </a:rPr>
                        <a:t>Full licensed entity; regional campus where the HQ lands.</a:t>
                      </a:r>
                    </a:p>
                  </a:txBody>
                  <a:tcPr marL="64008" marR="64008" marT="36576" marB="36576" anchor="ctr">
                    <a:solidFill>
                      <a:srgbClr val="FFFFFF"/>
                    </a:solidFill>
                  </a:tcPr>
                </a:tc>
                <a:tc>
                  <a:txBody>
                    <a:bodyPr wrap="square"/>
                    <a:lstStyle/>
                    <a:p>
                      <a:r>
                        <a:rPr sz="1100" b="0">
                          <a:solidFill>
                            <a:srgbClr val="3B2A54"/>
                          </a:solidFill>
                          <a:latin typeface="Arial"/>
                        </a:rPr>
                        <a:t>Audit and Risk Committee oversight; dual signature above limits set by category; director liability insurance; annual review of powers of attorney. If the HQ sits inside an existing licensed entity: a powers-of-attorney update only.</a:t>
                      </a:r>
                    </a:p>
                  </a:txBody>
                  <a:tcPr marL="64008" marR="64008" marT="36576" marB="36576" anchor="ctr">
                    <a:solidFill>
                      <a:srgbClr val="FFFFFF"/>
                    </a:solidFill>
                  </a:tcPr>
                </a:tc>
              </a:tr>
            </a:tbl>
          </a:graphicData>
        </a:graphic>
      </p:graphicFrame>
      <p:sp>
        <p:nvSpPr>
          <p:cNvPr id="5" name="TextBox 4"/>
          <p:cNvSpPr txBox="1"/>
          <p:nvPr/>
        </p:nvSpPr>
        <p:spPr>
          <a:xfrm>
            <a:off x="612648" y="5760720"/>
            <a:ext cx="10515600" cy="457200"/>
          </a:xfrm>
          <a:prstGeom prst="rect">
            <a:avLst/>
          </a:prstGeom>
          <a:noFill/>
        </p:spPr>
        <p:txBody>
          <a:bodyPr wrap="square" anchor="t">
            <a:spAutoFit/>
          </a:bodyPr>
          <a:lstStyle/>
          <a:p>
            <a:pPr algn="l"/>
            <a:r>
              <a:rPr sz="900" b="0">
                <a:solidFill>
                  <a:srgbClr val="6B5B82"/>
                </a:solidFill>
                <a:latin typeface="Arial"/>
              </a:rPr>
              <a:t>Sources: Nu announcements (US launch via Lead Bank, 10 Sep 2026; OCC conditional approval, 29 Jan 2026; Mexico bank authorization, 10 Jul 2026; local finance leadership per the CFO appointment release). Signing limits are proposals.</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C</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Option 3 stays first under every 10-point change to a single weight</a:t>
            </a:r>
          </a:p>
        </p:txBody>
      </p:sp>
      <p:graphicFrame>
        <p:nvGraphicFramePr>
          <p:cNvPr id="4" name="Table 3"/>
          <p:cNvGraphicFramePr>
            <a:graphicFrameLocks noGrp="1"/>
          </p:cNvGraphicFramePr>
          <p:nvPr/>
        </p:nvGraphicFramePr>
        <p:xfrm>
          <a:off x="612648" y="1325880"/>
          <a:ext cx="9509760" cy="4169663"/>
        </p:xfrm>
        <a:graphic>
          <a:graphicData uri="http://schemas.openxmlformats.org/drawingml/2006/table">
            <a:tbl>
              <a:tblPr>
                <a:tableStyleId>{5C22544A-7EE6-4342-B048-85BDC9FD1C3A}</a:tableStyleId>
              </a:tblPr>
              <a:tblGrid>
                <a:gridCol w="3108960"/>
                <a:gridCol w="1554480"/>
                <a:gridCol w="1554480"/>
                <a:gridCol w="1554480"/>
                <a:gridCol w="1737360"/>
              </a:tblGrid>
              <a:tr h="347472">
                <a:tc>
                  <a:txBody>
                    <a:bodyPr wrap="square"/>
                    <a:lstStyle/>
                    <a:p>
                      <a:r>
                        <a:rPr sz="1050" b="1">
                          <a:solidFill>
                            <a:srgbClr val="FFFFFF"/>
                          </a:solidFill>
                          <a:latin typeface="Arial"/>
                        </a:rPr>
                        <a:t>Weight changed</a:t>
                      </a:r>
                    </a:p>
                  </a:txBody>
                  <a:tcPr marL="64008" marR="64008" marT="36576" marB="36576" anchor="ctr">
                    <a:solidFill>
                      <a:srgbClr val="820AD1"/>
                    </a:solidFill>
                  </a:tcPr>
                </a:tc>
                <a:tc>
                  <a:txBody>
                    <a:bodyPr wrap="square"/>
                    <a:lstStyle/>
                    <a:p>
                      <a:r>
                        <a:rPr sz="1050" b="1">
                          <a:solidFill>
                            <a:srgbClr val="FFFFFF"/>
                          </a:solidFill>
                          <a:latin typeface="Arial"/>
                        </a:rPr>
                        <a:t>Option 1</a:t>
                      </a:r>
                    </a:p>
                  </a:txBody>
                  <a:tcPr marL="64008" marR="64008" marT="36576" marB="36576" anchor="ctr">
                    <a:solidFill>
                      <a:srgbClr val="820AD1"/>
                    </a:solidFill>
                  </a:tcPr>
                </a:tc>
                <a:tc>
                  <a:txBody>
                    <a:bodyPr wrap="square"/>
                    <a:lstStyle/>
                    <a:p>
                      <a:r>
                        <a:rPr sz="1050" b="1">
                          <a:solidFill>
                            <a:srgbClr val="FFFFFF"/>
                          </a:solidFill>
                          <a:latin typeface="Arial"/>
                        </a:rPr>
                        <a:t>Option 2</a:t>
                      </a:r>
                    </a:p>
                  </a:txBody>
                  <a:tcPr marL="64008" marR="64008" marT="36576" marB="36576" anchor="ctr">
                    <a:solidFill>
                      <a:srgbClr val="820AD1"/>
                    </a:solidFill>
                  </a:tcPr>
                </a:tc>
                <a:tc>
                  <a:txBody>
                    <a:bodyPr wrap="square"/>
                    <a:lstStyle/>
                    <a:p>
                      <a:r>
                        <a:rPr sz="1050" b="1">
                          <a:solidFill>
                            <a:srgbClr val="FFFFFF"/>
                          </a:solidFill>
                          <a:latin typeface="Arial"/>
                        </a:rPr>
                        <a:t>Option 3</a:t>
                      </a:r>
                    </a:p>
                  </a:txBody>
                  <a:tcPr marL="64008" marR="64008" marT="36576" marB="36576" anchor="ctr">
                    <a:solidFill>
                      <a:srgbClr val="820AD1"/>
                    </a:solidFill>
                  </a:tcPr>
                </a:tc>
                <a:tc>
                  <a:txBody>
                    <a:bodyPr wrap="square"/>
                    <a:lstStyle/>
                    <a:p>
                      <a:r>
                        <a:rPr sz="1050" b="1">
                          <a:solidFill>
                            <a:srgbClr val="FFFFFF"/>
                          </a:solidFill>
                          <a:latin typeface="Arial"/>
                        </a:rPr>
                        <a:t>Order</a:t>
                      </a:r>
                    </a:p>
                  </a:txBody>
                  <a:tcPr marL="64008" marR="64008" marT="36576" marB="36576" anchor="ctr">
                    <a:solidFill>
                      <a:srgbClr val="820AD1"/>
                    </a:solidFill>
                  </a:tcPr>
                </a:tc>
              </a:tr>
              <a:tr h="347472">
                <a:tc>
                  <a:txBody>
                    <a:bodyPr wrap="square"/>
                    <a:lstStyle/>
                    <a:p>
                      <a:r>
                        <a:rPr sz="1050" b="1">
                          <a:solidFill>
                            <a:srgbClr val="11052C"/>
                          </a:solidFill>
                          <a:latin typeface="Arial"/>
                        </a:rPr>
                        <a:t>Base weights</a:t>
                      </a:r>
                    </a:p>
                  </a:txBody>
                  <a:tcPr marL="64008" marR="64008" marT="36576" marB="36576" anchor="ctr">
                    <a:solidFill>
                      <a:srgbClr val="FFFFFF"/>
                    </a:solidFill>
                  </a:tcPr>
                </a:tc>
                <a:tc>
                  <a:txBody>
                    <a:bodyPr wrap="square"/>
                    <a:lstStyle/>
                    <a:p>
                      <a:r>
                        <a:rPr sz="1050" b="0">
                          <a:solidFill>
                            <a:srgbClr val="3B2A54"/>
                          </a:solidFill>
                          <a:latin typeface="Arial"/>
                        </a:rPr>
                        <a:t>57.8</a:t>
                      </a:r>
                    </a:p>
                  </a:txBody>
                  <a:tcPr marL="64008" marR="64008" marT="36576" marB="36576" anchor="ctr">
                    <a:solidFill>
                      <a:srgbClr val="FFFFFF"/>
                    </a:solidFill>
                  </a:tcPr>
                </a:tc>
                <a:tc>
                  <a:txBody>
                    <a:bodyPr wrap="square"/>
                    <a:lstStyle/>
                    <a:p>
                      <a:r>
                        <a:rPr sz="1050" b="0">
                          <a:solidFill>
                            <a:srgbClr val="3B2A54"/>
                          </a:solidFill>
                          <a:latin typeface="Arial"/>
                        </a:rPr>
                        <a:t>63.8</a:t>
                      </a:r>
                    </a:p>
                  </a:txBody>
                  <a:tcPr marL="64008" marR="64008" marT="36576" marB="36576" anchor="ctr">
                    <a:solidFill>
                      <a:srgbClr val="FFFFFF"/>
                    </a:solidFill>
                  </a:tcPr>
                </a:tc>
                <a:tc>
                  <a:txBody>
                    <a:bodyPr wrap="square"/>
                    <a:lstStyle/>
                    <a:p>
                      <a:r>
                        <a:rPr sz="1050" b="0">
                          <a:solidFill>
                            <a:srgbClr val="3B2A54"/>
                          </a:solidFill>
                          <a:latin typeface="Arial"/>
                        </a:rPr>
                        <a:t>91.8</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Meets $25M cap +10 pts</a:t>
                      </a:r>
                    </a:p>
                  </a:txBody>
                  <a:tcPr marL="64008" marR="64008" marT="36576" marB="36576" anchor="ctr">
                    <a:solidFill>
                      <a:srgbClr val="F7F2FD"/>
                    </a:solidFill>
                  </a:tcPr>
                </a:tc>
                <a:tc>
                  <a:txBody>
                    <a:bodyPr wrap="square"/>
                    <a:lstStyle/>
                    <a:p>
                      <a:r>
                        <a:rPr sz="1050" b="0">
                          <a:solidFill>
                            <a:srgbClr val="3B2A54"/>
                          </a:solidFill>
                          <a:latin typeface="Arial"/>
                        </a:rPr>
                        <a:t>62.4</a:t>
                      </a:r>
                    </a:p>
                  </a:txBody>
                  <a:tcPr marL="64008" marR="64008" marT="36576" marB="36576" anchor="ctr">
                    <a:solidFill>
                      <a:srgbClr val="F7F2FD"/>
                    </a:solidFill>
                  </a:tcPr>
                </a:tc>
                <a:tc>
                  <a:txBody>
                    <a:bodyPr wrap="square"/>
                    <a:lstStyle/>
                    <a:p>
                      <a:r>
                        <a:rPr sz="1050" b="0">
                          <a:solidFill>
                            <a:srgbClr val="3B2A54"/>
                          </a:solidFill>
                          <a:latin typeface="Arial"/>
                        </a:rPr>
                        <a:t>68.2</a:t>
                      </a:r>
                    </a:p>
                  </a:txBody>
                  <a:tcPr marL="64008" marR="64008" marT="36576" marB="36576" anchor="ctr">
                    <a:solidFill>
                      <a:srgbClr val="F7F2FD"/>
                    </a:solidFill>
                  </a:tcPr>
                </a:tc>
                <a:tc>
                  <a:txBody>
                    <a:bodyPr wrap="square"/>
                    <a:lstStyle/>
                    <a:p>
                      <a:r>
                        <a:rPr sz="1050" b="0">
                          <a:solidFill>
                            <a:srgbClr val="3B2A54"/>
                          </a:solidFill>
                          <a:latin typeface="Arial"/>
                        </a:rPr>
                        <a:t>92.9</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Meets $25M cap -10 pts</a:t>
                      </a:r>
                    </a:p>
                  </a:txBody>
                  <a:tcPr marL="64008" marR="64008" marT="36576" marB="36576" anchor="ctr">
                    <a:solidFill>
                      <a:srgbClr val="FFFFFF"/>
                    </a:solidFill>
                  </a:tcPr>
                </a:tc>
                <a:tc>
                  <a:txBody>
                    <a:bodyPr wrap="square"/>
                    <a:lstStyle/>
                    <a:p>
                      <a:r>
                        <a:rPr sz="1050" b="0">
                          <a:solidFill>
                            <a:srgbClr val="3B2A54"/>
                          </a:solidFill>
                          <a:latin typeface="Arial"/>
                        </a:rPr>
                        <a:t>53.1</a:t>
                      </a:r>
                    </a:p>
                  </a:txBody>
                  <a:tcPr marL="64008" marR="64008" marT="36576" marB="36576" anchor="ctr">
                    <a:solidFill>
                      <a:srgbClr val="FFFFFF"/>
                    </a:solidFill>
                  </a:tcPr>
                </a:tc>
                <a:tc>
                  <a:txBody>
                    <a:bodyPr wrap="square"/>
                    <a:lstStyle/>
                    <a:p>
                      <a:r>
                        <a:rPr sz="1050" b="0">
                          <a:solidFill>
                            <a:srgbClr val="3B2A54"/>
                          </a:solidFill>
                          <a:latin typeface="Arial"/>
                        </a:rPr>
                        <a:t>59.3</a:t>
                      </a:r>
                    </a:p>
                  </a:txBody>
                  <a:tcPr marL="64008" marR="64008" marT="36576" marB="36576" anchor="ctr">
                    <a:solidFill>
                      <a:srgbClr val="FFFFFF"/>
                    </a:solidFill>
                  </a:tcPr>
                </a:tc>
                <a:tc>
                  <a:txBody>
                    <a:bodyPr wrap="square"/>
                    <a:lstStyle/>
                    <a:p>
                      <a:r>
                        <a:rPr sz="1050" b="0">
                          <a:solidFill>
                            <a:srgbClr val="3B2A54"/>
                          </a:solidFill>
                          <a:latin typeface="Arial"/>
                        </a:rPr>
                        <a:t>90.6</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Growth return +10 pts</a:t>
                      </a:r>
                    </a:p>
                  </a:txBody>
                  <a:tcPr marL="64008" marR="64008" marT="36576" marB="36576" anchor="ctr">
                    <a:solidFill>
                      <a:srgbClr val="F7F2FD"/>
                    </a:solidFill>
                  </a:tcPr>
                </a:tc>
                <a:tc>
                  <a:txBody>
                    <a:bodyPr wrap="square"/>
                    <a:lstStyle/>
                    <a:p>
                      <a:r>
                        <a:rPr sz="1050" b="0">
                          <a:solidFill>
                            <a:srgbClr val="3B2A54"/>
                          </a:solidFill>
                          <a:latin typeface="Arial"/>
                        </a:rPr>
                        <a:t>55.4</a:t>
                      </a:r>
                    </a:p>
                  </a:txBody>
                  <a:tcPr marL="64008" marR="64008" marT="36576" marB="36576" anchor="ctr">
                    <a:solidFill>
                      <a:srgbClr val="F7F2FD"/>
                    </a:solidFill>
                  </a:tcPr>
                </a:tc>
                <a:tc>
                  <a:txBody>
                    <a:bodyPr wrap="square"/>
                    <a:lstStyle/>
                    <a:p>
                      <a:r>
                        <a:rPr sz="1050" b="0">
                          <a:solidFill>
                            <a:srgbClr val="3B2A54"/>
                          </a:solidFill>
                          <a:latin typeface="Arial"/>
                        </a:rPr>
                        <a:t>62.6</a:t>
                      </a:r>
                    </a:p>
                  </a:txBody>
                  <a:tcPr marL="64008" marR="64008" marT="36576" marB="36576" anchor="ctr">
                    <a:solidFill>
                      <a:srgbClr val="F7F2FD"/>
                    </a:solidFill>
                  </a:tcPr>
                </a:tc>
                <a:tc>
                  <a:txBody>
                    <a:bodyPr wrap="square"/>
                    <a:lstStyle/>
                    <a:p>
                      <a:r>
                        <a:rPr sz="1050" b="0">
                          <a:solidFill>
                            <a:srgbClr val="3B2A54"/>
                          </a:solidFill>
                          <a:latin typeface="Arial"/>
                        </a:rPr>
                        <a:t>92.2</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Growth return -10 pts</a:t>
                      </a:r>
                    </a:p>
                  </a:txBody>
                  <a:tcPr marL="64008" marR="64008" marT="36576" marB="36576" anchor="ctr">
                    <a:solidFill>
                      <a:srgbClr val="FFFFFF"/>
                    </a:solidFill>
                  </a:tcPr>
                </a:tc>
                <a:tc>
                  <a:txBody>
                    <a:bodyPr wrap="square"/>
                    <a:lstStyle/>
                    <a:p>
                      <a:r>
                        <a:rPr sz="1050" b="0">
                          <a:solidFill>
                            <a:srgbClr val="3B2A54"/>
                          </a:solidFill>
                          <a:latin typeface="Arial"/>
                        </a:rPr>
                        <a:t>60.1</a:t>
                      </a:r>
                    </a:p>
                  </a:txBody>
                  <a:tcPr marL="64008" marR="64008" marT="36576" marB="36576" anchor="ctr">
                    <a:solidFill>
                      <a:srgbClr val="FFFFFF"/>
                    </a:solidFill>
                  </a:tcPr>
                </a:tc>
                <a:tc>
                  <a:txBody>
                    <a:bodyPr wrap="square"/>
                    <a:lstStyle/>
                    <a:p>
                      <a:r>
                        <a:rPr sz="1050" b="0">
                          <a:solidFill>
                            <a:srgbClr val="3B2A54"/>
                          </a:solidFill>
                          <a:latin typeface="Arial"/>
                        </a:rPr>
                        <a:t>64.9</a:t>
                      </a:r>
                    </a:p>
                  </a:txBody>
                  <a:tcPr marL="64008" marR="64008" marT="36576" marB="36576" anchor="ctr">
                    <a:solidFill>
                      <a:srgbClr val="FFFFFF"/>
                    </a:solidFill>
                  </a:tcPr>
                </a:tc>
                <a:tc>
                  <a:txBody>
                    <a:bodyPr wrap="square"/>
                    <a:lstStyle/>
                    <a:p>
                      <a:r>
                        <a:rPr sz="1050" b="0">
                          <a:solidFill>
                            <a:srgbClr val="3B2A54"/>
                          </a:solidFill>
                          <a:latin typeface="Arial"/>
                        </a:rPr>
                        <a:t>91.3</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GM ownership +10 pts</a:t>
                      </a:r>
                    </a:p>
                  </a:txBody>
                  <a:tcPr marL="64008" marR="64008" marT="36576" marB="36576" anchor="ctr">
                    <a:solidFill>
                      <a:srgbClr val="F7F2FD"/>
                    </a:solidFill>
                  </a:tcPr>
                </a:tc>
                <a:tc>
                  <a:txBody>
                    <a:bodyPr wrap="square"/>
                    <a:lstStyle/>
                    <a:p>
                      <a:r>
                        <a:rPr sz="1050" b="0">
                          <a:solidFill>
                            <a:srgbClr val="3B2A54"/>
                          </a:solidFill>
                          <a:latin typeface="Arial"/>
                        </a:rPr>
                        <a:t>54.3</a:t>
                      </a:r>
                    </a:p>
                  </a:txBody>
                  <a:tcPr marL="64008" marR="64008" marT="36576" marB="36576" anchor="ctr">
                    <a:solidFill>
                      <a:srgbClr val="F7F2FD"/>
                    </a:solidFill>
                  </a:tcPr>
                </a:tc>
                <a:tc>
                  <a:txBody>
                    <a:bodyPr wrap="square"/>
                    <a:lstStyle/>
                    <a:p>
                      <a:r>
                        <a:rPr sz="1050" b="0">
                          <a:solidFill>
                            <a:srgbClr val="3B2A54"/>
                          </a:solidFill>
                          <a:latin typeface="Arial"/>
                        </a:rPr>
                        <a:t>61.4</a:t>
                      </a:r>
                    </a:p>
                  </a:txBody>
                  <a:tcPr marL="64008" marR="64008" marT="36576" marB="36576" anchor="ctr">
                    <a:solidFill>
                      <a:srgbClr val="F7F2FD"/>
                    </a:solidFill>
                  </a:tcPr>
                </a:tc>
                <a:tc>
                  <a:txBody>
                    <a:bodyPr wrap="square"/>
                    <a:lstStyle/>
                    <a:p>
                      <a:r>
                        <a:rPr sz="1050" b="0">
                          <a:solidFill>
                            <a:srgbClr val="3B2A54"/>
                          </a:solidFill>
                          <a:latin typeface="Arial"/>
                        </a:rPr>
                        <a:t>90.9</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GM ownership -10 pts</a:t>
                      </a:r>
                    </a:p>
                  </a:txBody>
                  <a:tcPr marL="64008" marR="64008" marT="36576" marB="36576" anchor="ctr">
                    <a:solidFill>
                      <a:srgbClr val="FFFFFF"/>
                    </a:solidFill>
                  </a:tcPr>
                </a:tc>
                <a:tc>
                  <a:txBody>
                    <a:bodyPr wrap="square"/>
                    <a:lstStyle/>
                    <a:p>
                      <a:r>
                        <a:rPr sz="1050" b="0">
                          <a:solidFill>
                            <a:srgbClr val="3B2A54"/>
                          </a:solidFill>
                          <a:latin typeface="Arial"/>
                        </a:rPr>
                        <a:t>61.2</a:t>
                      </a:r>
                    </a:p>
                  </a:txBody>
                  <a:tcPr marL="64008" marR="64008" marT="36576" marB="36576" anchor="ctr">
                    <a:solidFill>
                      <a:srgbClr val="FFFFFF"/>
                    </a:solidFill>
                  </a:tcPr>
                </a:tc>
                <a:tc>
                  <a:txBody>
                    <a:bodyPr wrap="square"/>
                    <a:lstStyle/>
                    <a:p>
                      <a:r>
                        <a:rPr sz="1050" b="0">
                          <a:solidFill>
                            <a:srgbClr val="3B2A54"/>
                          </a:solidFill>
                          <a:latin typeface="Arial"/>
                        </a:rPr>
                        <a:t>66.1</a:t>
                      </a:r>
                    </a:p>
                  </a:txBody>
                  <a:tcPr marL="64008" marR="64008" marT="36576" marB="36576" anchor="ctr">
                    <a:solidFill>
                      <a:srgbClr val="FFFFFF"/>
                    </a:solidFill>
                  </a:tcPr>
                </a:tc>
                <a:tc>
                  <a:txBody>
                    <a:bodyPr wrap="square"/>
                    <a:lstStyle/>
                    <a:p>
                      <a:r>
                        <a:rPr sz="1050" b="0">
                          <a:solidFill>
                            <a:srgbClr val="3B2A54"/>
                          </a:solidFill>
                          <a:latin typeface="Arial"/>
                        </a:rPr>
                        <a:t>92.6</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Agility +10 pts</a:t>
                      </a:r>
                    </a:p>
                  </a:txBody>
                  <a:tcPr marL="64008" marR="64008" marT="36576" marB="36576" anchor="ctr">
                    <a:solidFill>
                      <a:srgbClr val="F7F2FD"/>
                    </a:solidFill>
                  </a:tcPr>
                </a:tc>
                <a:tc>
                  <a:txBody>
                    <a:bodyPr wrap="square"/>
                    <a:lstStyle/>
                    <a:p>
                      <a:r>
                        <a:rPr sz="1050" b="0">
                          <a:solidFill>
                            <a:srgbClr val="3B2A54"/>
                          </a:solidFill>
                          <a:latin typeface="Arial"/>
                        </a:rPr>
                        <a:t>55.1</a:t>
                      </a:r>
                    </a:p>
                  </a:txBody>
                  <a:tcPr marL="64008" marR="64008" marT="36576" marB="36576" anchor="ctr">
                    <a:solidFill>
                      <a:srgbClr val="F7F2FD"/>
                    </a:solidFill>
                  </a:tcPr>
                </a:tc>
                <a:tc>
                  <a:txBody>
                    <a:bodyPr wrap="square"/>
                    <a:lstStyle/>
                    <a:p>
                      <a:r>
                        <a:rPr sz="1050" b="0">
                          <a:solidFill>
                            <a:srgbClr val="3B2A54"/>
                          </a:solidFill>
                          <a:latin typeface="Arial"/>
                        </a:rPr>
                        <a:t>59.8</a:t>
                      </a:r>
                    </a:p>
                  </a:txBody>
                  <a:tcPr marL="64008" marR="64008" marT="36576" marB="36576" anchor="ctr">
                    <a:solidFill>
                      <a:srgbClr val="F7F2FD"/>
                    </a:solidFill>
                  </a:tcPr>
                </a:tc>
                <a:tc>
                  <a:txBody>
                    <a:bodyPr wrap="square"/>
                    <a:lstStyle/>
                    <a:p>
                      <a:r>
                        <a:rPr sz="1050" b="0">
                          <a:solidFill>
                            <a:srgbClr val="3B2A54"/>
                          </a:solidFill>
                          <a:latin typeface="Arial"/>
                        </a:rPr>
                        <a:t>91.5</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Agility -10 pts</a:t>
                      </a:r>
                    </a:p>
                  </a:txBody>
                  <a:tcPr marL="64008" marR="64008" marT="36576" marB="36576" anchor="ctr">
                    <a:solidFill>
                      <a:srgbClr val="FFFFFF"/>
                    </a:solidFill>
                  </a:tcPr>
                </a:tc>
                <a:tc>
                  <a:txBody>
                    <a:bodyPr wrap="square"/>
                    <a:lstStyle/>
                    <a:p>
                      <a:r>
                        <a:rPr sz="1050" b="0">
                          <a:solidFill>
                            <a:srgbClr val="3B2A54"/>
                          </a:solidFill>
                          <a:latin typeface="Arial"/>
                        </a:rPr>
                        <a:t>60.4</a:t>
                      </a:r>
                    </a:p>
                  </a:txBody>
                  <a:tcPr marL="64008" marR="64008" marT="36576" marB="36576" anchor="ctr">
                    <a:solidFill>
                      <a:srgbClr val="FFFFFF"/>
                    </a:solidFill>
                  </a:tcPr>
                </a:tc>
                <a:tc>
                  <a:txBody>
                    <a:bodyPr wrap="square"/>
                    <a:lstStyle/>
                    <a:p>
                      <a:r>
                        <a:rPr sz="1050" b="0">
                          <a:solidFill>
                            <a:srgbClr val="3B2A54"/>
                          </a:solidFill>
                          <a:latin typeface="Arial"/>
                        </a:rPr>
                        <a:t>67.7</a:t>
                      </a:r>
                    </a:p>
                  </a:txBody>
                  <a:tcPr marL="64008" marR="64008" marT="36576" marB="36576" anchor="ctr">
                    <a:solidFill>
                      <a:srgbClr val="FFFFFF"/>
                    </a:solidFill>
                  </a:tcPr>
                </a:tc>
                <a:tc>
                  <a:txBody>
                    <a:bodyPr wrap="square"/>
                    <a:lstStyle/>
                    <a:p>
                      <a:r>
                        <a:rPr sz="1050" b="0">
                          <a:solidFill>
                            <a:srgbClr val="3B2A54"/>
                          </a:solidFill>
                          <a:latin typeface="Arial"/>
                        </a:rPr>
                        <a:t>92.0</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r h="347472">
                <a:tc>
                  <a:txBody>
                    <a:bodyPr wrap="square"/>
                    <a:lstStyle/>
                    <a:p>
                      <a:r>
                        <a:rPr sz="1050" b="1">
                          <a:solidFill>
                            <a:srgbClr val="11052C"/>
                          </a:solidFill>
                          <a:latin typeface="Arial"/>
                        </a:rPr>
                        <a:t>Speed +10 pts</a:t>
                      </a:r>
                    </a:p>
                  </a:txBody>
                  <a:tcPr marL="64008" marR="64008" marT="36576" marB="36576" anchor="ctr">
                    <a:solidFill>
                      <a:srgbClr val="F7F2FD"/>
                    </a:solidFill>
                  </a:tcPr>
                </a:tc>
                <a:tc>
                  <a:txBody>
                    <a:bodyPr wrap="square"/>
                    <a:lstStyle/>
                    <a:p>
                      <a:r>
                        <a:rPr sz="1050" b="0">
                          <a:solidFill>
                            <a:srgbClr val="3B2A54"/>
                          </a:solidFill>
                          <a:latin typeface="Arial"/>
                        </a:rPr>
                        <a:t>61.9</a:t>
                      </a:r>
                    </a:p>
                  </a:txBody>
                  <a:tcPr marL="64008" marR="64008" marT="36576" marB="36576" anchor="ctr">
                    <a:solidFill>
                      <a:srgbClr val="F7F2FD"/>
                    </a:solidFill>
                  </a:tcPr>
                </a:tc>
                <a:tc>
                  <a:txBody>
                    <a:bodyPr wrap="square"/>
                    <a:lstStyle/>
                    <a:p>
                      <a:r>
                        <a:rPr sz="1050" b="0">
                          <a:solidFill>
                            <a:srgbClr val="3B2A54"/>
                          </a:solidFill>
                          <a:latin typeface="Arial"/>
                        </a:rPr>
                        <a:t>65.6</a:t>
                      </a:r>
                    </a:p>
                  </a:txBody>
                  <a:tcPr marL="64008" marR="64008" marT="36576" marB="36576" anchor="ctr">
                    <a:solidFill>
                      <a:srgbClr val="F7F2FD"/>
                    </a:solidFill>
                  </a:tcPr>
                </a:tc>
                <a:tc>
                  <a:txBody>
                    <a:bodyPr wrap="square"/>
                    <a:lstStyle/>
                    <a:p>
                      <a:r>
                        <a:rPr sz="1050" b="0">
                          <a:solidFill>
                            <a:srgbClr val="3B2A54"/>
                          </a:solidFill>
                          <a:latin typeface="Arial"/>
                        </a:rPr>
                        <a:t>89.9</a:t>
                      </a:r>
                    </a:p>
                  </a:txBody>
                  <a:tcPr marL="64008" marR="64008" marT="36576" marB="36576" anchor="ctr">
                    <a:solidFill>
                      <a:srgbClr val="F7F2FD"/>
                    </a:solidFill>
                  </a:tcPr>
                </a:tc>
                <a:tc>
                  <a:txBody>
                    <a:bodyPr wrap="square"/>
                    <a:lstStyle/>
                    <a:p>
                      <a:r>
                        <a:rPr sz="1050" b="0">
                          <a:solidFill>
                            <a:srgbClr val="3B2A54"/>
                          </a:solidFill>
                          <a:latin typeface="Arial"/>
                        </a:rPr>
                        <a:t>3 &gt; 2 &gt; 1</a:t>
                      </a:r>
                    </a:p>
                  </a:txBody>
                  <a:tcPr marL="64008" marR="64008" marT="36576" marB="36576" anchor="ctr">
                    <a:solidFill>
                      <a:srgbClr val="F7F2FD"/>
                    </a:solidFill>
                  </a:tcPr>
                </a:tc>
              </a:tr>
              <a:tr h="347472">
                <a:tc>
                  <a:txBody>
                    <a:bodyPr wrap="square"/>
                    <a:lstStyle/>
                    <a:p>
                      <a:r>
                        <a:rPr sz="1050" b="1">
                          <a:solidFill>
                            <a:srgbClr val="11052C"/>
                          </a:solidFill>
                          <a:latin typeface="Arial"/>
                        </a:rPr>
                        <a:t>Speed -10 pts</a:t>
                      </a:r>
                    </a:p>
                  </a:txBody>
                  <a:tcPr marL="64008" marR="64008" marT="36576" marB="36576" anchor="ctr">
                    <a:solidFill>
                      <a:srgbClr val="FFFFFF"/>
                    </a:solidFill>
                  </a:tcPr>
                </a:tc>
                <a:tc>
                  <a:txBody>
                    <a:bodyPr wrap="square"/>
                    <a:lstStyle/>
                    <a:p>
                      <a:r>
                        <a:rPr sz="1050" b="0">
                          <a:solidFill>
                            <a:srgbClr val="3B2A54"/>
                          </a:solidFill>
                          <a:latin typeface="Arial"/>
                        </a:rPr>
                        <a:t>53.6</a:t>
                      </a:r>
                    </a:p>
                  </a:txBody>
                  <a:tcPr marL="64008" marR="64008" marT="36576" marB="36576" anchor="ctr">
                    <a:solidFill>
                      <a:srgbClr val="FFFFFF"/>
                    </a:solidFill>
                  </a:tcPr>
                </a:tc>
                <a:tc>
                  <a:txBody>
                    <a:bodyPr wrap="square"/>
                    <a:lstStyle/>
                    <a:p>
                      <a:r>
                        <a:rPr sz="1050" b="0">
                          <a:solidFill>
                            <a:srgbClr val="3B2A54"/>
                          </a:solidFill>
                          <a:latin typeface="Arial"/>
                        </a:rPr>
                        <a:t>61.9</a:t>
                      </a:r>
                    </a:p>
                  </a:txBody>
                  <a:tcPr marL="64008" marR="64008" marT="36576" marB="36576" anchor="ctr">
                    <a:solidFill>
                      <a:srgbClr val="FFFFFF"/>
                    </a:solidFill>
                  </a:tcPr>
                </a:tc>
                <a:tc>
                  <a:txBody>
                    <a:bodyPr wrap="square"/>
                    <a:lstStyle/>
                    <a:p>
                      <a:r>
                        <a:rPr sz="1050" b="0">
                          <a:solidFill>
                            <a:srgbClr val="3B2A54"/>
                          </a:solidFill>
                          <a:latin typeface="Arial"/>
                        </a:rPr>
                        <a:t>93.6</a:t>
                      </a:r>
                    </a:p>
                  </a:txBody>
                  <a:tcPr marL="64008" marR="64008" marT="36576" marB="36576" anchor="ctr">
                    <a:solidFill>
                      <a:srgbClr val="FFFFFF"/>
                    </a:solidFill>
                  </a:tcPr>
                </a:tc>
                <a:tc>
                  <a:txBody>
                    <a:bodyPr wrap="square"/>
                    <a:lstStyle/>
                    <a:p>
                      <a:r>
                        <a:rPr sz="1050" b="0">
                          <a:solidFill>
                            <a:srgbClr val="3B2A54"/>
                          </a:solidFill>
                          <a:latin typeface="Arial"/>
                        </a:rPr>
                        <a:t>3 &gt; 2 &gt; 1</a:t>
                      </a:r>
                    </a:p>
                  </a:txBody>
                  <a:tcPr marL="64008" marR="64008" marT="36576" marB="36576" anchor="ctr">
                    <a:solidFill>
                      <a:srgbClr val="FFFFFF"/>
                    </a:solidFill>
                  </a:tcPr>
                </a:tc>
              </a:tr>
            </a:tbl>
          </a:graphicData>
        </a:graphic>
      </p:graphicFrame>
      <p:sp>
        <p:nvSpPr>
          <p:cNvPr id="5" name="TextBox 4"/>
          <p:cNvSpPr txBox="1"/>
          <p:nvPr/>
        </p:nvSpPr>
        <p:spPr>
          <a:xfrm>
            <a:off x="612648" y="6217920"/>
            <a:ext cx="10515600" cy="411480"/>
          </a:xfrm>
          <a:prstGeom prst="rect">
            <a:avLst/>
          </a:prstGeom>
          <a:noFill/>
        </p:spPr>
        <p:txBody>
          <a:bodyPr wrap="square" anchor="t">
            <a:spAutoFit/>
          </a:bodyPr>
          <a:lstStyle/>
          <a:p>
            <a:pPr algn="l"/>
            <a:r>
              <a:rPr sz="900" b="0">
                <a:solidFill>
                  <a:srgbClr val="6B5B82"/>
                </a:solidFill>
                <a:latin typeface="Arial"/>
              </a:rPr>
              <a:t>Base weights: cap 30%, growth return 25%, GM ownership 20%, agility 15%, speed 10%. The changed weight moves 10 points; the others are rebalanced pro rata. Smallest gap between options 3 and 2: 24.2 points. Scores are judgment (A9).</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D</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Every number is a sourced fact, a labeled assumption or context</a:t>
            </a:r>
          </a:p>
        </p:txBody>
      </p:sp>
      <p:graphicFrame>
        <p:nvGraphicFramePr>
          <p:cNvPr id="4" name="Table 3"/>
          <p:cNvGraphicFramePr>
            <a:graphicFrameLocks noGrp="1"/>
          </p:cNvGraphicFramePr>
          <p:nvPr/>
        </p:nvGraphicFramePr>
        <p:xfrm>
          <a:off x="612648" y="1325880"/>
          <a:ext cx="10972800" cy="3462528"/>
        </p:xfrm>
        <a:graphic>
          <a:graphicData uri="http://schemas.openxmlformats.org/drawingml/2006/table">
            <a:tbl>
              <a:tblPr>
                <a:tableStyleId>{5C22544A-7EE6-4342-B048-85BDC9FD1C3A}</a:tableStyleId>
              </a:tblPr>
              <a:tblGrid>
                <a:gridCol w="1828800"/>
                <a:gridCol w="2651760"/>
                <a:gridCol w="4663440"/>
                <a:gridCol w="1828800"/>
              </a:tblGrid>
              <a:tr h="329184">
                <a:tc>
                  <a:txBody>
                    <a:bodyPr wrap="square"/>
                    <a:lstStyle/>
                    <a:p>
                      <a:r>
                        <a:rPr sz="1050" b="1">
                          <a:solidFill>
                            <a:srgbClr val="FFFFFF"/>
                          </a:solidFill>
                          <a:latin typeface="Arial"/>
                        </a:rPr>
                        <a:t>Topic</a:t>
                      </a:r>
                    </a:p>
                  </a:txBody>
                  <a:tcPr marL="64008" marR="64008" marT="36576" marB="36576" anchor="ctr">
                    <a:solidFill>
                      <a:srgbClr val="820AD1"/>
                    </a:solidFill>
                  </a:tcPr>
                </a:tc>
                <a:tc>
                  <a:txBody>
                    <a:bodyPr wrap="square"/>
                    <a:lstStyle/>
                    <a:p>
                      <a:r>
                        <a:rPr sz="1050" b="1">
                          <a:solidFill>
                            <a:srgbClr val="FFFFFF"/>
                          </a:solidFill>
                          <a:latin typeface="Arial"/>
                        </a:rPr>
                        <a:t>Source and class</a:t>
                      </a:r>
                    </a:p>
                  </a:txBody>
                  <a:tcPr marL="64008" marR="64008" marT="36576" marB="36576" anchor="ctr">
                    <a:solidFill>
                      <a:srgbClr val="820AD1"/>
                    </a:solidFill>
                  </a:tcPr>
                </a:tc>
                <a:tc>
                  <a:txBody>
                    <a:bodyPr wrap="square"/>
                    <a:lstStyle/>
                    <a:p>
                      <a:r>
                        <a:rPr sz="1050" b="1">
                          <a:solidFill>
                            <a:srgbClr val="FFFFFF"/>
                          </a:solidFill>
                          <a:latin typeface="Arial"/>
                        </a:rPr>
                        <a:t>Data point</a:t>
                      </a:r>
                    </a:p>
                  </a:txBody>
                  <a:tcPr marL="64008" marR="64008" marT="36576" marB="36576" anchor="ctr">
                    <a:solidFill>
                      <a:srgbClr val="820AD1"/>
                    </a:solidFill>
                  </a:tcPr>
                </a:tc>
                <a:tc>
                  <a:txBody>
                    <a:bodyPr wrap="square"/>
                    <a:lstStyle/>
                    <a:p>
                      <a:r>
                        <a:rPr sz="1050" b="1">
                          <a:solidFill>
                            <a:srgbClr val="FFFFFF"/>
                          </a:solidFill>
                          <a:latin typeface="Arial"/>
                        </a:rPr>
                        <a:t>Where it is used</a:t>
                      </a:r>
                    </a:p>
                  </a:txBody>
                  <a:tcPr marL="64008" marR="64008" marT="36576" marB="36576" anchor="ctr">
                    <a:solidFill>
                      <a:srgbClr val="820AD1"/>
                    </a:solidFill>
                  </a:tcPr>
                </a:tc>
              </a:tr>
              <a:tr h="530352">
                <a:tc>
                  <a:txBody>
                    <a:bodyPr wrap="square"/>
                    <a:lstStyle/>
                    <a:p>
                      <a:r>
                        <a:rPr sz="1000" b="1">
                          <a:solidFill>
                            <a:srgbClr val="11052C"/>
                          </a:solidFill>
                          <a:latin typeface="Arial"/>
                        </a:rPr>
                        <a:t>Nu scale and efficiency</a:t>
                      </a:r>
                    </a:p>
                  </a:txBody>
                  <a:tcPr marL="64008" marR="64008" marT="36576" marB="36576" anchor="ctr">
                    <a:solidFill>
                      <a:srgbClr val="FFFFFF"/>
                    </a:solidFill>
                  </a:tcPr>
                </a:tc>
                <a:tc>
                  <a:txBody>
                    <a:bodyPr wrap="square"/>
                    <a:lstStyle/>
                    <a:p>
                      <a:r>
                        <a:rPr sz="1000" b="0">
                          <a:solidFill>
                            <a:srgbClr val="3B2A54"/>
                          </a:solidFill>
                          <a:latin typeface="Arial"/>
                        </a:rPr>
                        <a:t>Nu Q2'26 release and 6-K; Form 20-F  |  FACT</a:t>
                      </a:r>
                    </a:p>
                  </a:txBody>
                  <a:tcPr marL="64008" marR="64008" marT="36576" marB="36576" anchor="ctr">
                    <a:solidFill>
                      <a:srgbClr val="FFFFFF"/>
                    </a:solidFill>
                  </a:tcPr>
                </a:tc>
                <a:tc>
                  <a:txBody>
                    <a:bodyPr wrap="square"/>
                    <a:lstStyle/>
                    <a:p>
                      <a:r>
                        <a:rPr sz="1000" b="0">
                          <a:solidFill>
                            <a:srgbClr val="3B2A54"/>
                          </a:solidFill>
                          <a:latin typeface="Arial"/>
                        </a:rPr>
                        <a:t>138.9M customers; ARPAC $17.1; cost to serve $1.0 ($0.8 a year earlier); efficiency ratio 19.5% (17.6% in Q1; ~20% FY26 per the call); ROE 33%; net income $1.06B; opex $806.2M; net revenue ~$4.1B; low-and-grow underwriting.</a:t>
                      </a:r>
                    </a:p>
                  </a:txBody>
                  <a:tcPr marL="64008" marR="64008" marT="36576" marB="36576" anchor="ctr">
                    <a:solidFill>
                      <a:srgbClr val="FFFFFF"/>
                    </a:solidFill>
                  </a:tcPr>
                </a:tc>
                <a:tc>
                  <a:txBody>
                    <a:bodyPr wrap="square"/>
                    <a:lstStyle/>
                    <a:p>
                      <a:r>
                        <a:rPr sz="1000" b="0">
                          <a:solidFill>
                            <a:srgbClr val="3B2A54"/>
                          </a:solidFill>
                          <a:latin typeface="Arial"/>
                        </a:rPr>
                        <a:t>Slides 3, 4, 7; backup I</a:t>
                      </a:r>
                    </a:p>
                  </a:txBody>
                  <a:tcPr marL="64008" marR="64008" marT="36576" marB="36576" anchor="ctr">
                    <a:solidFill>
                      <a:srgbClr val="FFFFFF"/>
                    </a:solidFill>
                  </a:tcPr>
                </a:tc>
              </a:tr>
              <a:tr h="682751">
                <a:tc>
                  <a:txBody>
                    <a:bodyPr wrap="square"/>
                    <a:lstStyle/>
                    <a:p>
                      <a:r>
                        <a:rPr sz="1000" b="1">
                          <a:solidFill>
                            <a:srgbClr val="11052C"/>
                          </a:solidFill>
                          <a:latin typeface="Arial"/>
                        </a:rPr>
                        <a:t>Corporate events</a:t>
                      </a:r>
                    </a:p>
                  </a:txBody>
                  <a:tcPr marL="64008" marR="64008" marT="36576" marB="36576" anchor="ctr">
                    <a:solidFill>
                      <a:srgbClr val="F7F2FD"/>
                    </a:solidFill>
                  </a:tcPr>
                </a:tc>
                <a:tc>
                  <a:txBody>
                    <a:bodyPr wrap="square"/>
                    <a:lstStyle/>
                    <a:p>
                      <a:r>
                        <a:rPr sz="1000" b="0">
                          <a:solidFill>
                            <a:srgbClr val="3B2A54"/>
                          </a:solidFill>
                          <a:latin typeface="Arial"/>
                        </a:rPr>
                        <a:t>Nu announcements; OCC; Nu IR  |  FACT</a:t>
                      </a:r>
                    </a:p>
                  </a:txBody>
                  <a:tcPr marL="64008" marR="64008" marT="36576" marB="36576" anchor="ctr">
                    <a:solidFill>
                      <a:srgbClr val="F7F2FD"/>
                    </a:solidFill>
                  </a:tcPr>
                </a:tc>
                <a:tc>
                  <a:txBody>
                    <a:bodyPr wrap="square"/>
                    <a:lstStyle/>
                    <a:p>
                      <a:r>
                        <a:rPr sz="1000" b="0">
                          <a:solidFill>
                            <a:srgbClr val="3B2A54"/>
                          </a:solidFill>
                          <a:latin typeface="Arial"/>
                        </a:rPr>
                        <a:t>Mexico bank authorization 10 Jul 2026 (operating from 6 Aug), $4.2B plan to 2030; OCC conditional approval 29 Jan 2026 (capital within 12 months); US launch via Lead Bank 10 Sep 2026; buyback up to $1.0B (4 Jun 2026); CFO since 13 Jul 2026; Q3'26 results 12 Nov; Investor Day 8 Dec 2026.</a:t>
                      </a:r>
                    </a:p>
                  </a:txBody>
                  <a:tcPr marL="64008" marR="64008" marT="36576" marB="36576" anchor="ctr">
                    <a:solidFill>
                      <a:srgbClr val="F7F2FD"/>
                    </a:solidFill>
                  </a:tcPr>
                </a:tc>
                <a:tc>
                  <a:txBody>
                    <a:bodyPr wrap="square"/>
                    <a:lstStyle/>
                    <a:p>
                      <a:r>
                        <a:rPr sz="1000" b="0">
                          <a:solidFill>
                            <a:srgbClr val="3B2A54"/>
                          </a:solidFill>
                          <a:latin typeface="Arial"/>
                        </a:rPr>
                        <a:t>Slides 7, 9, 15; backup B</a:t>
                      </a:r>
                    </a:p>
                  </a:txBody>
                  <a:tcPr marL="64008" marR="64008" marT="36576" marB="36576" anchor="ctr">
                    <a:solidFill>
                      <a:srgbClr val="F7F2FD"/>
                    </a:solidFill>
                  </a:tcPr>
                </a:tc>
              </a:tr>
              <a:tr h="329184">
                <a:tc>
                  <a:txBody>
                    <a:bodyPr wrap="square"/>
                    <a:lstStyle/>
                    <a:p>
                      <a:r>
                        <a:rPr sz="1000" b="1">
                          <a:solidFill>
                            <a:srgbClr val="11052C"/>
                          </a:solidFill>
                          <a:latin typeface="Arial"/>
                        </a:rPr>
                        <a:t>Cohorts</a:t>
                      </a:r>
                    </a:p>
                  </a:txBody>
                  <a:tcPr marL="64008" marR="64008" marT="36576" marB="36576" anchor="ctr">
                    <a:solidFill>
                      <a:srgbClr val="FFFFFF"/>
                    </a:solidFill>
                  </a:tcPr>
                </a:tc>
                <a:tc>
                  <a:txBody>
                    <a:bodyPr wrap="square"/>
                    <a:lstStyle/>
                    <a:p>
                      <a:r>
                        <a:rPr sz="1000" b="0">
                          <a:solidFill>
                            <a:srgbClr val="3B2A54"/>
                          </a:solidFill>
                          <a:latin typeface="Arial"/>
                        </a:rPr>
                        <a:t>Q1'26 earnings presentation  |  FACT</a:t>
                      </a:r>
                    </a:p>
                  </a:txBody>
                  <a:tcPr marL="64008" marR="64008" marT="36576" marB="36576" anchor="ctr">
                    <a:solidFill>
                      <a:srgbClr val="FFFFFF"/>
                    </a:solidFill>
                  </a:tcPr>
                </a:tc>
                <a:tc>
                  <a:txBody>
                    <a:bodyPr wrap="square"/>
                    <a:lstStyle/>
                    <a:p>
                      <a:r>
                        <a:rPr sz="1000" b="0">
                          <a:solidFill>
                            <a:srgbClr val="3B2A54"/>
                          </a:solidFill>
                          <a:latin typeface="Arial"/>
                        </a:rPr>
                        <a:t>$30.8 monthly ARPAC at 96 months since origination vs $15.9 total.</a:t>
                      </a:r>
                    </a:p>
                  </a:txBody>
                  <a:tcPr marL="64008" marR="64008" marT="36576" marB="36576" anchor="ctr">
                    <a:solidFill>
                      <a:srgbClr val="FFFFFF"/>
                    </a:solidFill>
                  </a:tcPr>
                </a:tc>
                <a:tc>
                  <a:txBody>
                    <a:bodyPr wrap="square"/>
                    <a:lstStyle/>
                    <a:p>
                      <a:r>
                        <a:rPr sz="1000" b="0">
                          <a:solidFill>
                            <a:srgbClr val="3B2A54"/>
                          </a:solidFill>
                          <a:latin typeface="Arial"/>
                        </a:rPr>
                        <a:t>Slide 7; backup E</a:t>
                      </a:r>
                    </a:p>
                  </a:txBody>
                  <a:tcPr marL="64008" marR="64008" marT="36576" marB="36576" anchor="ctr">
                    <a:solidFill>
                      <a:srgbClr val="FFFFFF"/>
                    </a:solidFill>
                  </a:tcPr>
                </a:tc>
              </a:tr>
              <a:tr h="377952">
                <a:tc>
                  <a:txBody>
                    <a:bodyPr wrap="square"/>
                    <a:lstStyle/>
                    <a:p>
                      <a:r>
                        <a:rPr sz="1000" b="1">
                          <a:solidFill>
                            <a:srgbClr val="11052C"/>
                          </a:solidFill>
                          <a:latin typeface="Arial"/>
                        </a:rPr>
                        <a:t>HQ tax rules</a:t>
                      </a:r>
                    </a:p>
                  </a:txBody>
                  <a:tcPr marL="64008" marR="64008" marT="36576" marB="36576" anchor="ctr">
                    <a:solidFill>
                      <a:srgbClr val="F7F2FD"/>
                    </a:solidFill>
                  </a:tcPr>
                </a:tc>
                <a:tc>
                  <a:txBody>
                    <a:bodyPr wrap="square"/>
                    <a:lstStyle/>
                    <a:p>
                      <a:r>
                        <a:rPr sz="1000" b="0">
                          <a:solidFill>
                            <a:srgbClr val="3B2A54"/>
                          </a:solidFill>
                          <a:latin typeface="Arial"/>
                        </a:rPr>
                        <a:t>OECD GloBE Model Rules; Form 20-F  |  FACT (rule)</a:t>
                      </a:r>
                    </a:p>
                  </a:txBody>
                  <a:tcPr marL="64008" marR="64008" marT="36576" marB="36576" anchor="ctr">
                    <a:solidFill>
                      <a:srgbClr val="F7F2FD"/>
                    </a:solidFill>
                  </a:tcPr>
                </a:tc>
                <a:tc>
                  <a:txBody>
                    <a:bodyPr wrap="square"/>
                    <a:lstStyle/>
                    <a:p>
                      <a:r>
                        <a:rPr sz="1000" b="0">
                          <a:solidFill>
                            <a:srgbClr val="3B2A54"/>
                          </a:solidFill>
                          <a:latin typeface="Arial"/>
                        </a:rPr>
                        <a:t>EUR 750M threshold; 15% minimum; 2026 transitional carve-out 9.4% of payroll and 7.4% of tangible assets (Art. 5.3, 9.2); Nu Holdings is Cayman-incorporated.</a:t>
                      </a:r>
                    </a:p>
                  </a:txBody>
                  <a:tcPr marL="64008" marR="64008" marT="36576" marB="36576" anchor="ctr">
                    <a:solidFill>
                      <a:srgbClr val="F7F2FD"/>
                    </a:solidFill>
                  </a:tcPr>
                </a:tc>
                <a:tc>
                  <a:txBody>
                    <a:bodyPr wrap="square"/>
                    <a:lstStyle/>
                    <a:p>
                      <a:r>
                        <a:rPr sz="1000" b="0">
                          <a:solidFill>
                            <a:srgbClr val="3B2A54"/>
                          </a:solidFill>
                          <a:latin typeface="Arial"/>
                        </a:rPr>
                        <a:t>Slide 10</a:t>
                      </a:r>
                    </a:p>
                  </a:txBody>
                  <a:tcPr marL="64008" marR="64008" marT="36576" marB="36576" anchor="ctr">
                    <a:solidFill>
                      <a:srgbClr val="F7F2FD"/>
                    </a:solidFill>
                  </a:tcPr>
                </a:tc>
              </a:tr>
              <a:tr h="682751">
                <a:tc>
                  <a:txBody>
                    <a:bodyPr wrap="square"/>
                    <a:lstStyle/>
                    <a:p>
                      <a:r>
                        <a:rPr sz="1000" b="1">
                          <a:solidFill>
                            <a:srgbClr val="11052C"/>
                          </a:solidFill>
                          <a:latin typeface="Arial"/>
                        </a:rPr>
                        <a:t>Context only</a:t>
                      </a:r>
                    </a:p>
                  </a:txBody>
                  <a:tcPr marL="64008" marR="64008" marT="36576" marB="36576" anchor="ctr">
                    <a:solidFill>
                      <a:srgbClr val="FFFFFF"/>
                    </a:solidFill>
                  </a:tcPr>
                </a:tc>
                <a:tc>
                  <a:txBody>
                    <a:bodyPr wrap="square"/>
                    <a:lstStyle/>
                    <a:p>
                      <a:r>
                        <a:rPr sz="1000" b="0">
                          <a:solidFill>
                            <a:srgbClr val="3B2A54"/>
                          </a:solidFill>
                          <a:latin typeface="Arial"/>
                        </a:rPr>
                        <a:t>Hackett, McKinsey, Gartner, HBR, NACD, Deloitte, Baker McKenzie; three-horizons framing (Baghai, Coley and White)  |  CONTEXT</a:t>
                      </a:r>
                    </a:p>
                  </a:txBody>
                  <a:tcPr marL="64008" marR="64008" marT="36576" marB="36576" anchor="ctr">
                    <a:solidFill>
                      <a:srgbClr val="FFFFFF"/>
                    </a:solidFill>
                  </a:tcPr>
                </a:tc>
                <a:tc>
                  <a:txBody>
                    <a:bodyPr wrap="square"/>
                    <a:lstStyle/>
                    <a:p>
                      <a:r>
                        <a:rPr sz="1000" b="0">
                          <a:solidFill>
                            <a:srgbClr val="3B2A54"/>
                          </a:solidFill>
                          <a:latin typeface="Arial"/>
                        </a:rPr>
                        <a:t>Central hubs shorten planning cycles; active reallocators earn higher returns; fair process wins acceptance; Board books at T-7.</a:t>
                      </a:r>
                    </a:p>
                  </a:txBody>
                  <a:tcPr marL="64008" marR="64008" marT="36576" marB="36576" anchor="ctr">
                    <a:solidFill>
                      <a:srgbClr val="FFFFFF"/>
                    </a:solidFill>
                  </a:tcPr>
                </a:tc>
                <a:tc>
                  <a:txBody>
                    <a:bodyPr wrap="square"/>
                    <a:lstStyle/>
                    <a:p>
                      <a:r>
                        <a:rPr sz="1000" b="0">
                          <a:solidFill>
                            <a:srgbClr val="3B2A54"/>
                          </a:solidFill>
                          <a:latin typeface="Arial"/>
                        </a:rPr>
                        <a:t>Footers and talk only</a:t>
                      </a:r>
                    </a:p>
                  </a:txBody>
                  <a:tcPr marL="64008" marR="64008" marT="36576" marB="36576" anchor="ctr">
                    <a:solidFill>
                      <a:srgbClr val="FFFFFF"/>
                    </a:solidFill>
                  </a:tcPr>
                </a:tc>
              </a:tr>
              <a:tr h="530352">
                <a:tc>
                  <a:txBody>
                    <a:bodyPr wrap="square"/>
                    <a:lstStyle/>
                    <a:p>
                      <a:r>
                        <a:rPr sz="1000" b="1">
                          <a:solidFill>
                            <a:srgbClr val="11052C"/>
                          </a:solidFill>
                          <a:latin typeface="Arial"/>
                        </a:rPr>
                        <a:t>AI in operations</a:t>
                      </a:r>
                    </a:p>
                  </a:txBody>
                  <a:tcPr marL="64008" marR="64008" marT="36576" marB="36576" anchor="ctr">
                    <a:solidFill>
                      <a:srgbClr val="F7F2FD"/>
                    </a:solidFill>
                  </a:tcPr>
                </a:tc>
                <a:tc>
                  <a:txBody>
                    <a:bodyPr wrap="square"/>
                    <a:lstStyle/>
                    <a:p>
                      <a:r>
                        <a:rPr sz="1000" b="0">
                          <a:solidFill>
                            <a:srgbClr val="3B2A54"/>
                          </a:solidFill>
                          <a:latin typeface="Arial"/>
                        </a:rPr>
                        <a:t>Nu Q2'26 release; Nu newsroom (Hyperplane, Jun 2024)  |  FACT. Gartner; PMI; Science; HBS/BCG  |  CONTEXT</a:t>
                      </a:r>
                    </a:p>
                  </a:txBody>
                  <a:tcPr marL="64008" marR="64008" marT="36576" marB="36576" anchor="ctr">
                    <a:solidFill>
                      <a:srgbClr val="F7F2FD"/>
                    </a:solidFill>
                  </a:tcPr>
                </a:tc>
                <a:tc>
                  <a:txBody>
                    <a:bodyPr wrap="square"/>
                    <a:lstStyle/>
                    <a:p>
                      <a:r>
                        <a:rPr sz="1000" b="0">
                          <a:solidFill>
                            <a:srgbClr val="3B2A54"/>
                          </a:solidFill>
                          <a:latin typeface="Arial"/>
                        </a:rPr>
                        <a:t>AI agents handle more than 60% of support chats in Brazil; AI-first strategy. Studies and surveys on AI in project reporting, writing and finance (backup H).</a:t>
                      </a:r>
                    </a:p>
                  </a:txBody>
                  <a:tcPr marL="64008" marR="64008" marT="36576" marB="36576" anchor="ctr">
                    <a:solidFill>
                      <a:srgbClr val="F7F2FD"/>
                    </a:solidFill>
                  </a:tcPr>
                </a:tc>
                <a:tc>
                  <a:txBody>
                    <a:bodyPr wrap="square"/>
                    <a:lstStyle/>
                    <a:p>
                      <a:r>
                        <a:rPr sz="1000" b="0">
                          <a:solidFill>
                            <a:srgbClr val="3B2A54"/>
                          </a:solidFill>
                          <a:latin typeface="Arial"/>
                        </a:rPr>
                        <a:t>Slides 6, 9, 12; backup H</a:t>
                      </a:r>
                    </a:p>
                  </a:txBody>
                  <a:tcPr marL="64008" marR="64008" marT="36576" marB="36576" anchor="ctr">
                    <a:solidFill>
                      <a:srgbClr val="F7F2FD"/>
                    </a:solidFill>
                  </a:tcPr>
                </a:tc>
              </a:tr>
            </a:tbl>
          </a:graphicData>
        </a:graphic>
      </p:graphicFrame>
      <p:sp>
        <p:nvSpPr>
          <p:cNvPr id="5" name="TextBox 4"/>
          <p:cNvSpPr txBox="1"/>
          <p:nvPr/>
        </p:nvSpPr>
        <p:spPr>
          <a:xfrm>
            <a:off x="612648" y="6035040"/>
            <a:ext cx="10515600" cy="320040"/>
          </a:xfrm>
          <a:prstGeom prst="rect">
            <a:avLst/>
          </a:prstGeom>
          <a:noFill/>
        </p:spPr>
        <p:txBody>
          <a:bodyPr wrap="square" anchor="t">
            <a:spAutoFit/>
          </a:bodyPr>
          <a:lstStyle/>
          <a:p>
            <a:pPr algn="l"/>
            <a:r>
              <a:rPr sz="900" b="0">
                <a:solidFill>
                  <a:srgbClr val="6B5B82"/>
                </a:solidFill>
                <a:latin typeface="Arial"/>
              </a:rPr>
              <a:t>Research assisted by AI tools; every figure, calculation and recommendation was checked by me.</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E</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Full-year split: core markets protect the year, new bets earn the reserve</a:t>
            </a:r>
          </a:p>
        </p:txBody>
      </p:sp>
      <p:sp>
        <p:nvSpPr>
          <p:cNvPr id="4" name="Rounded Rectangle 3"/>
          <p:cNvSpPr/>
          <p:nvPr/>
        </p:nvSpPr>
        <p:spPr>
          <a:xfrm>
            <a:off x="612648" y="1645920"/>
            <a:ext cx="5303520" cy="31089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755648"/>
            <a:ext cx="5084064" cy="2926079"/>
          </a:xfrm>
          <a:prstGeom prst="rect">
            <a:avLst/>
          </a:prstGeom>
          <a:noFill/>
        </p:spPr>
        <p:txBody>
          <a:bodyPr wrap="square" anchor="t">
            <a:spAutoFit/>
          </a:bodyPr>
          <a:lstStyle/>
          <a:p>
            <a:pPr algn="l">
              <a:spcAft>
                <a:spcPts val="300"/>
              </a:spcAft>
            </a:pPr>
            <a:r>
              <a:rPr sz="950" b="1">
                <a:solidFill>
                  <a:srgbClr val="820AD1"/>
                </a:solidFill>
                <a:latin typeface="Arial"/>
              </a:rPr>
              <a:t>CORE MARKETS  //  BRAZIL, MEXICO, COLOMBIA</a:t>
            </a:r>
          </a:p>
          <a:p>
            <a:pPr algn="l">
              <a:spcAft>
                <a:spcPts val="600"/>
              </a:spcAft>
            </a:pPr>
            <a:r>
              <a:rPr sz="1500" b="1">
                <a:solidFill>
                  <a:srgbClr val="11052C"/>
                </a:solidFill>
                <a:latin typeface="Arial"/>
              </a:rPr>
              <a:t>$16.5M in the cap, plus up to $5.0M from the reserve</a:t>
            </a:r>
          </a:p>
          <a:p>
            <a:pPr algn="l">
              <a:spcAft>
                <a:spcPts val="400"/>
              </a:spcAft>
            </a:pPr>
            <a:r>
              <a:rPr sz="1250" b="0">
                <a:solidFill>
                  <a:srgbClr val="3B2A54"/>
                </a:solidFill>
                <a:latin typeface="Arial"/>
              </a:rPr>
              <a:t>70% of the first release: $10.5M on 1 January.</a:t>
            </a:r>
          </a:p>
          <a:p>
            <a:pPr algn="l">
              <a:spcAft>
                <a:spcPts val="400"/>
              </a:spcAft>
            </a:pPr>
            <a:r>
              <a:rPr sz="1250" b="0">
                <a:solidFill>
                  <a:srgbClr val="3B2A54"/>
                </a:solidFill>
                <a:latin typeface="Arial"/>
              </a:rPr>
              <a:t>Mature cohorts reach about $31 of monthly ARPAC at eight years ($30.8 at 96 months, Q1'26) against $17.1 for the group, at 33% ROE.</a:t>
            </a:r>
          </a:p>
        </p:txBody>
      </p:sp>
      <p:sp>
        <p:nvSpPr>
          <p:cNvPr id="6" name="Rounded Rectangle 5"/>
          <p:cNvSpPr/>
          <p:nvPr/>
        </p:nvSpPr>
        <p:spPr>
          <a:xfrm>
            <a:off x="6126480" y="1645920"/>
            <a:ext cx="5303520" cy="3108960"/>
          </a:xfrm>
          <a:prstGeom prst="roundRect">
            <a:avLst>
              <a:gd name="adj" fmla="val 5000"/>
            </a:avLst>
          </a:prstGeom>
          <a:solidFill>
            <a:srgbClr val="FFFFFF"/>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236208" y="1755648"/>
            <a:ext cx="5084064" cy="2926079"/>
          </a:xfrm>
          <a:prstGeom prst="rect">
            <a:avLst/>
          </a:prstGeom>
          <a:noFill/>
        </p:spPr>
        <p:txBody>
          <a:bodyPr wrap="square" anchor="t">
            <a:spAutoFit/>
          </a:bodyPr>
          <a:lstStyle/>
          <a:p>
            <a:pPr algn="l">
              <a:spcAft>
                <a:spcPts val="300"/>
              </a:spcAft>
            </a:pPr>
            <a:r>
              <a:rPr sz="950" b="1">
                <a:solidFill>
                  <a:srgbClr val="820AD1"/>
                </a:solidFill>
                <a:latin typeface="Arial"/>
              </a:rPr>
              <a:t>NEW BETS  //  NEW VERTICALS AND MARKETS</a:t>
            </a:r>
          </a:p>
          <a:p>
            <a:pPr algn="l">
              <a:spcAft>
                <a:spcPts val="600"/>
              </a:spcAft>
            </a:pPr>
            <a:r>
              <a:rPr sz="1500" b="1">
                <a:solidFill>
                  <a:srgbClr val="11052C"/>
                </a:solidFill>
                <a:latin typeface="Arial"/>
              </a:rPr>
              <a:t>$8.5M in the cap, plus up to $10.0M from the reserve</a:t>
            </a:r>
          </a:p>
          <a:p>
            <a:pPr algn="l">
              <a:spcAft>
                <a:spcPts val="400"/>
              </a:spcAft>
            </a:pPr>
            <a:r>
              <a:rPr sz="1250" b="0">
                <a:solidFill>
                  <a:srgbClr val="3B2A54"/>
                </a:solidFill>
                <a:latin typeface="Arial"/>
              </a:rPr>
              <a:t>30% of the first release: $4.5M on 1 January.</a:t>
            </a:r>
          </a:p>
          <a:p>
            <a:pPr algn="l">
              <a:spcAft>
                <a:spcPts val="400"/>
              </a:spcAft>
            </a:pPr>
            <a:r>
              <a:rPr sz="1250" b="0">
                <a:solidFill>
                  <a:srgbClr val="3B2A54"/>
                </a:solidFill>
                <a:latin typeface="Arial"/>
              </a:rPr>
              <a:t>Judged on activation, retention and unit cost until a cohort can show payback. First claim on up to $14M across the second release and the reserve, if it opens.</a:t>
            </a:r>
          </a:p>
        </p:txBody>
      </p:sp>
      <p:sp>
        <p:nvSpPr>
          <p:cNvPr id="8" name="Rounded Rectangle 7"/>
          <p:cNvSpPr/>
          <p:nvPr/>
        </p:nvSpPr>
        <p:spPr>
          <a:xfrm>
            <a:off x="612648" y="4983480"/>
            <a:ext cx="10789920" cy="822960"/>
          </a:xfrm>
          <a:prstGeom prst="roundRect">
            <a:avLst>
              <a:gd name="adj" fmla="val 8000"/>
            </a:avLst>
          </a:prstGeom>
          <a:solidFill>
            <a:srgbClr val="F7F2FD"/>
          </a:solidFill>
          <a:ln w="9525">
            <a:solidFill>
              <a:srgbClr val="E2D9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95528" y="5074920"/>
            <a:ext cx="10424160" cy="676656"/>
          </a:xfrm>
          <a:prstGeom prst="rect">
            <a:avLst/>
          </a:prstGeom>
          <a:noFill/>
        </p:spPr>
        <p:txBody>
          <a:bodyPr wrap="square" anchor="ctr">
            <a:spAutoFit/>
          </a:bodyPr>
          <a:lstStyle/>
          <a:p>
            <a:pPr algn="l"/>
            <a:r>
              <a:rPr sz="1300" b="0">
                <a:solidFill>
                  <a:srgbClr val="11052C"/>
                </a:solidFill>
                <a:latin typeface="Arial"/>
              </a:rPr>
              <a:t>A new bet judged on mature-market profit in its first quarter always loses. The horizon split is a frame, not evidence.</a:t>
            </a:r>
          </a:p>
        </p:txBody>
      </p:sp>
      <p:sp>
        <p:nvSpPr>
          <p:cNvPr id="10" name="TextBox 9"/>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F</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One timeline: tenure days, Board countdown and HQ gates</a:t>
            </a:r>
          </a:p>
        </p:txBody>
      </p:sp>
      <p:graphicFrame>
        <p:nvGraphicFramePr>
          <p:cNvPr id="4" name="Table 3"/>
          <p:cNvGraphicFramePr>
            <a:graphicFrameLocks noGrp="1"/>
          </p:cNvGraphicFramePr>
          <p:nvPr/>
        </p:nvGraphicFramePr>
        <p:xfrm>
          <a:off x="612648" y="1371600"/>
          <a:ext cx="10972800" cy="4608576"/>
        </p:xfrm>
        <a:graphic>
          <a:graphicData uri="http://schemas.openxmlformats.org/drawingml/2006/table">
            <a:tbl>
              <a:tblPr>
                <a:tableStyleId>{5C22544A-7EE6-4342-B048-85BDC9FD1C3A}</a:tableStyleId>
              </a:tblPr>
              <a:tblGrid>
                <a:gridCol w="1371600"/>
                <a:gridCol w="2103120"/>
                <a:gridCol w="2468880"/>
                <a:gridCol w="5029200"/>
              </a:tblGrid>
              <a:tr h="329184">
                <a:tc>
                  <a:txBody>
                    <a:bodyPr wrap="square"/>
                    <a:lstStyle/>
                    <a:p>
                      <a:r>
                        <a:rPr sz="1050" b="1">
                          <a:solidFill>
                            <a:srgbClr val="FFFFFF"/>
                          </a:solidFill>
                          <a:latin typeface="Arial"/>
                        </a:rPr>
                        <a:t>Tenure day</a:t>
                      </a:r>
                    </a:p>
                  </a:txBody>
                  <a:tcPr marL="64008" marR="64008" marT="36576" marB="36576" anchor="ctr">
                    <a:solidFill>
                      <a:srgbClr val="820AD1"/>
                    </a:solidFill>
                  </a:tcPr>
                </a:tc>
                <a:tc>
                  <a:txBody>
                    <a:bodyPr wrap="square"/>
                    <a:lstStyle/>
                    <a:p>
                      <a:r>
                        <a:rPr sz="1050" b="1">
                          <a:solidFill>
                            <a:srgbClr val="FFFFFF"/>
                          </a:solidFill>
                          <a:latin typeface="Arial"/>
                        </a:rPr>
                        <a:t>Date</a:t>
                      </a:r>
                    </a:p>
                  </a:txBody>
                  <a:tcPr marL="64008" marR="64008" marT="36576" marB="36576" anchor="ctr">
                    <a:solidFill>
                      <a:srgbClr val="820AD1"/>
                    </a:solidFill>
                  </a:tcPr>
                </a:tc>
                <a:tc>
                  <a:txBody>
                    <a:bodyPr wrap="square"/>
                    <a:lstStyle/>
                    <a:p>
                      <a:r>
                        <a:rPr sz="1050" b="1">
                          <a:solidFill>
                            <a:srgbClr val="FFFFFF"/>
                          </a:solidFill>
                          <a:latin typeface="Arial"/>
                        </a:rPr>
                        <a:t>Board countdown / HQ gate</a:t>
                      </a:r>
                    </a:p>
                  </a:txBody>
                  <a:tcPr marL="64008" marR="64008" marT="36576" marB="36576" anchor="ctr">
                    <a:solidFill>
                      <a:srgbClr val="820AD1"/>
                    </a:solidFill>
                  </a:tcPr>
                </a:tc>
                <a:tc>
                  <a:txBody>
                    <a:bodyPr wrap="square"/>
                    <a:lstStyle/>
                    <a:p>
                      <a:r>
                        <a:rPr sz="1050" b="1">
                          <a:solidFill>
                            <a:srgbClr val="FFFFFF"/>
                          </a:solidFill>
                          <a:latin typeface="Arial"/>
                        </a:rPr>
                        <a:t>What happens</a:t>
                      </a:r>
                    </a:p>
                  </a:txBody>
                  <a:tcPr marL="64008" marR="64008" marT="36576" marB="36576" anchor="ctr">
                    <a:solidFill>
                      <a:srgbClr val="820AD1"/>
                    </a:solidFill>
                  </a:tcPr>
                </a:tc>
              </a:tr>
              <a:tr h="329184">
                <a:tc>
                  <a:txBody>
                    <a:bodyPr wrap="square"/>
                    <a:lstStyle/>
                    <a:p>
                      <a:r>
                        <a:rPr sz="1050" b="1">
                          <a:solidFill>
                            <a:srgbClr val="11052C"/>
                          </a:solidFill>
                          <a:latin typeface="Arial"/>
                        </a:rPr>
                        <a:t>Day 60</a:t>
                      </a:r>
                    </a:p>
                  </a:txBody>
                  <a:tcPr marL="64008" marR="64008" marT="36576" marB="36576" anchor="ctr">
                    <a:solidFill>
                      <a:srgbClr val="FFFFFF"/>
                    </a:solidFill>
                  </a:tcPr>
                </a:tc>
                <a:tc>
                  <a:txBody>
                    <a:bodyPr wrap="square"/>
                    <a:lstStyle/>
                    <a:p>
                      <a:r>
                        <a:rPr sz="1050" b="0">
                          <a:solidFill>
                            <a:srgbClr val="3B2A54"/>
                          </a:solidFill>
                          <a:latin typeface="Arial"/>
                        </a:rPr>
                        <a:t>Tue 20 Oct</a:t>
                      </a:r>
                    </a:p>
                  </a:txBody>
                  <a:tcPr marL="64008" marR="64008" marT="36576" marB="36576" anchor="ctr">
                    <a:solidFill>
                      <a:srgbClr val="FFFFFF"/>
                    </a:solidFill>
                  </a:tcPr>
                </a:tc>
                <a:tc>
                  <a:txBody>
                    <a:bodyPr wrap="square"/>
                    <a:lstStyle/>
                    <a:p>
                      <a:r>
                        <a:rPr sz="1050" b="0">
                          <a:solidFill>
                            <a:srgbClr val="3B2A54"/>
                          </a:solidFill>
                          <a:latin typeface="Arial"/>
                        </a:rPr>
                        <a:t>T-28  |  HQ D+0</a:t>
                      </a:r>
                    </a:p>
                  </a:txBody>
                  <a:tcPr marL="64008" marR="64008" marT="36576" marB="36576" anchor="ctr">
                    <a:solidFill>
                      <a:srgbClr val="FFFFFF"/>
                    </a:solidFill>
                  </a:tcPr>
                </a:tc>
                <a:tc>
                  <a:txBody>
                    <a:bodyPr wrap="square"/>
                    <a:lstStyle/>
                    <a:p>
                      <a:r>
                        <a:rPr sz="1050" b="0">
                          <a:solidFill>
                            <a:srgbClr val="3B2A54"/>
                          </a:solidFill>
                          <a:latin typeface="Arial"/>
                        </a:rPr>
                        <a:t>Board outline out; HQ charter signed; tax gate launched</a:t>
                      </a:r>
                    </a:p>
                  </a:txBody>
                  <a:tcPr marL="64008" marR="64008" marT="36576" marB="36576" anchor="ctr">
                    <a:solidFill>
                      <a:srgbClr val="FFFFFF"/>
                    </a:solidFill>
                  </a:tcPr>
                </a:tc>
              </a:tr>
              <a:tr h="329184">
                <a:tc>
                  <a:txBody>
                    <a:bodyPr wrap="square"/>
                    <a:lstStyle/>
                    <a:p>
                      <a:r>
                        <a:rPr sz="1050" b="1">
                          <a:solidFill>
                            <a:srgbClr val="11052C"/>
                          </a:solidFill>
                          <a:latin typeface="Arial"/>
                        </a:rPr>
                        <a:t>Day 67</a:t>
                      </a:r>
                    </a:p>
                  </a:txBody>
                  <a:tcPr marL="64008" marR="64008" marT="36576" marB="36576" anchor="ctr">
                    <a:solidFill>
                      <a:srgbClr val="F7F2FD"/>
                    </a:solidFill>
                  </a:tcPr>
                </a:tc>
                <a:tc>
                  <a:txBody>
                    <a:bodyPr wrap="square"/>
                    <a:lstStyle/>
                    <a:p>
                      <a:r>
                        <a:rPr sz="1050" b="0">
                          <a:solidFill>
                            <a:srgbClr val="3B2A54"/>
                          </a:solidFill>
                          <a:latin typeface="Arial"/>
                        </a:rPr>
                        <a:t>Tue 27 Oct</a:t>
                      </a:r>
                    </a:p>
                  </a:txBody>
                  <a:tcPr marL="64008" marR="64008" marT="36576" marB="36576" anchor="ctr">
                    <a:solidFill>
                      <a:srgbClr val="F7F2FD"/>
                    </a:solidFill>
                  </a:tcPr>
                </a:tc>
                <a:tc>
                  <a:txBody>
                    <a:bodyPr wrap="square"/>
                    <a:lstStyle/>
                    <a:p>
                      <a:r>
                        <a:rPr sz="1050" b="0">
                          <a:solidFill>
                            <a:srgbClr val="3B2A54"/>
                          </a:solidFill>
                          <a:latin typeface="Arial"/>
                        </a:rPr>
                        <a:t>T-21</a:t>
                      </a:r>
                    </a:p>
                  </a:txBody>
                  <a:tcPr marL="64008" marR="64008" marT="36576" marB="36576" anchor="ctr">
                    <a:solidFill>
                      <a:srgbClr val="F7F2FD"/>
                    </a:solidFill>
                  </a:tcPr>
                </a:tc>
                <a:tc>
                  <a:txBody>
                    <a:bodyPr wrap="square"/>
                    <a:lstStyle/>
                    <a:p>
                      <a:r>
                        <a:rPr sz="1050" b="0">
                          <a:solidFill>
                            <a:srgbClr val="3B2A54"/>
                          </a:solidFill>
                          <a:latin typeface="Arial"/>
                        </a:rPr>
                        <a:t>One-to-ones with each executive</a:t>
                      </a:r>
                    </a:p>
                  </a:txBody>
                  <a:tcPr marL="64008" marR="64008" marT="36576" marB="36576" anchor="ctr">
                    <a:solidFill>
                      <a:srgbClr val="F7F2FD"/>
                    </a:solidFill>
                  </a:tcPr>
                </a:tc>
              </a:tr>
              <a:tr h="329184">
                <a:tc>
                  <a:txBody>
                    <a:bodyPr wrap="square"/>
                    <a:lstStyle/>
                    <a:p>
                      <a:r>
                        <a:rPr sz="1050" b="1">
                          <a:solidFill>
                            <a:srgbClr val="11052C"/>
                          </a:solidFill>
                          <a:latin typeface="Arial"/>
                        </a:rPr>
                        <a:t>Day 72</a:t>
                      </a:r>
                    </a:p>
                  </a:txBody>
                  <a:tcPr marL="64008" marR="64008" marT="36576" marB="36576" anchor="ctr">
                    <a:solidFill>
                      <a:srgbClr val="FFFFFF"/>
                    </a:solidFill>
                  </a:tcPr>
                </a:tc>
                <a:tc>
                  <a:txBody>
                    <a:bodyPr wrap="square"/>
                    <a:lstStyle/>
                    <a:p>
                      <a:r>
                        <a:rPr sz="1050" b="0">
                          <a:solidFill>
                            <a:srgbClr val="3B2A54"/>
                          </a:solidFill>
                          <a:latin typeface="Arial"/>
                        </a:rPr>
                        <a:t>Early Nov</a:t>
                      </a:r>
                    </a:p>
                  </a:txBody>
                  <a:tcPr marL="64008" marR="64008" marT="36576" marB="36576" anchor="ctr">
                    <a:solidFill>
                      <a:srgbClr val="FFFFFF"/>
                    </a:solidFill>
                  </a:tcPr>
                </a:tc>
                <a:tc>
                  <a:txBody>
                    <a:bodyPr wrap="square"/>
                    <a:lstStyle/>
                    <a:p>
                      <a:r>
                        <a:rPr sz="1050" b="0">
                          <a:solidFill>
                            <a:srgbClr val="3B2A54"/>
                          </a:solidFill>
                          <a:latin typeface="Arial"/>
                        </a:rPr>
                        <a:t>T-16</a:t>
                      </a:r>
                    </a:p>
                  </a:txBody>
                  <a:tcPr marL="64008" marR="64008" marT="36576" marB="36576" anchor="ctr">
                    <a:solidFill>
                      <a:srgbClr val="FFFFFF"/>
                    </a:solidFill>
                  </a:tcPr>
                </a:tc>
                <a:tc>
                  <a:txBody>
                    <a:bodyPr wrap="square"/>
                    <a:lstStyle/>
                    <a:p>
                      <a:r>
                        <a:rPr sz="1050" b="0">
                          <a:solidFill>
                            <a:srgbClr val="3B2A54"/>
                          </a:solidFill>
                          <a:latin typeface="Arial"/>
                        </a:rPr>
                        <a:t>Capital options lock with CEO, CFO and MTeam</a:t>
                      </a:r>
                    </a:p>
                  </a:txBody>
                  <a:tcPr marL="64008" marR="64008" marT="36576" marB="36576" anchor="ctr">
                    <a:solidFill>
                      <a:srgbClr val="FFFFFF"/>
                    </a:solidFill>
                  </a:tcPr>
                </a:tc>
              </a:tr>
              <a:tr h="329184">
                <a:tc>
                  <a:txBody>
                    <a:bodyPr wrap="square"/>
                    <a:lstStyle/>
                    <a:p>
                      <a:r>
                        <a:rPr sz="1050" b="1">
                          <a:solidFill>
                            <a:srgbClr val="11052C"/>
                          </a:solidFill>
                          <a:latin typeface="Arial"/>
                        </a:rPr>
                        <a:t>Day 78-81</a:t>
                      </a:r>
                    </a:p>
                  </a:txBody>
                  <a:tcPr marL="64008" marR="64008" marT="36576" marB="36576" anchor="ctr">
                    <a:solidFill>
                      <a:srgbClr val="F7F2FD"/>
                    </a:solidFill>
                  </a:tcPr>
                </a:tc>
                <a:tc>
                  <a:txBody>
                    <a:bodyPr wrap="square"/>
                    <a:lstStyle/>
                    <a:p>
                      <a:r>
                        <a:rPr sz="1050" b="0">
                          <a:solidFill>
                            <a:srgbClr val="3B2A54"/>
                          </a:solidFill>
                          <a:latin typeface="Arial"/>
                        </a:rPr>
                        <a:t>Early Nov</a:t>
                      </a:r>
                    </a:p>
                  </a:txBody>
                  <a:tcPr marL="64008" marR="64008" marT="36576" marB="36576" anchor="ctr">
                    <a:solidFill>
                      <a:srgbClr val="F7F2FD"/>
                    </a:solidFill>
                  </a:tcPr>
                </a:tc>
                <a:tc>
                  <a:txBody>
                    <a:bodyPr wrap="square"/>
                    <a:lstStyle/>
                    <a:p>
                      <a:r>
                        <a:rPr sz="1050" b="0">
                          <a:solidFill>
                            <a:srgbClr val="3B2A54"/>
                          </a:solidFill>
                          <a:latin typeface="Arial"/>
                        </a:rPr>
                        <a:t>T-10 to T-7</a:t>
                      </a:r>
                    </a:p>
                  </a:txBody>
                  <a:tcPr marL="64008" marR="64008" marT="36576" marB="36576" anchor="ctr">
                    <a:solidFill>
                      <a:srgbClr val="F7F2FD"/>
                    </a:solidFill>
                  </a:tcPr>
                </a:tc>
                <a:tc>
                  <a:txBody>
                    <a:bodyPr wrap="square"/>
                    <a:lstStyle/>
                    <a:p>
                      <a:r>
                        <a:rPr sz="1050" b="0">
                          <a:solidFill>
                            <a:srgbClr val="3B2A54"/>
                          </a:solidFill>
                          <a:latin typeface="Arial"/>
                        </a:rPr>
                        <a:t>Inputs freeze; chairs briefed (T-9); book on portal (T-7)</a:t>
                      </a:r>
                    </a:p>
                  </a:txBody>
                  <a:tcPr marL="64008" marR="64008" marT="36576" marB="36576" anchor="ctr">
                    <a:solidFill>
                      <a:srgbClr val="F7F2FD"/>
                    </a:solidFill>
                  </a:tcPr>
                </a:tc>
              </a:tr>
              <a:tr h="329184">
                <a:tc>
                  <a:txBody>
                    <a:bodyPr wrap="square"/>
                    <a:lstStyle/>
                    <a:p>
                      <a:r>
                        <a:rPr sz="1050" b="1">
                          <a:solidFill>
                            <a:srgbClr val="11052C"/>
                          </a:solidFill>
                          <a:latin typeface="Arial"/>
                        </a:rPr>
                        <a:t>Day 88</a:t>
                      </a:r>
                    </a:p>
                  </a:txBody>
                  <a:tcPr marL="64008" marR="64008" marT="36576" marB="36576" anchor="ctr">
                    <a:solidFill>
                      <a:srgbClr val="FFFFFF"/>
                    </a:solidFill>
                  </a:tcPr>
                </a:tc>
                <a:tc>
                  <a:txBody>
                    <a:bodyPr wrap="square"/>
                    <a:lstStyle/>
                    <a:p>
                      <a:r>
                        <a:rPr sz="1050" b="0">
                          <a:solidFill>
                            <a:srgbClr val="3B2A54"/>
                          </a:solidFill>
                          <a:latin typeface="Arial"/>
                        </a:rPr>
                        <a:t>Tue 17 Nov (assumed)</a:t>
                      </a:r>
                    </a:p>
                  </a:txBody>
                  <a:tcPr marL="64008" marR="64008" marT="36576" marB="36576" anchor="ctr">
                    <a:solidFill>
                      <a:srgbClr val="FFFFFF"/>
                    </a:solidFill>
                  </a:tcPr>
                </a:tc>
                <a:tc>
                  <a:txBody>
                    <a:bodyPr wrap="square"/>
                    <a:lstStyle/>
                    <a:p>
                      <a:r>
                        <a:rPr sz="1050" b="0">
                          <a:solidFill>
                            <a:srgbClr val="3B2A54"/>
                          </a:solidFill>
                          <a:latin typeface="Arial"/>
                        </a:rPr>
                        <a:t>T-0</a:t>
                      </a:r>
                    </a:p>
                  </a:txBody>
                  <a:tcPr marL="64008" marR="64008" marT="36576" marB="36576" anchor="ctr">
                    <a:solidFill>
                      <a:srgbClr val="FFFFFF"/>
                    </a:solidFill>
                  </a:tcPr>
                </a:tc>
                <a:tc>
                  <a:txBody>
                    <a:bodyPr wrap="square"/>
                    <a:lstStyle/>
                    <a:p>
                      <a:r>
                        <a:rPr sz="1050" b="0">
                          <a:solidFill>
                            <a:srgbClr val="3B2A54"/>
                          </a:solidFill>
                          <a:latin typeface="Arial"/>
                        </a:rPr>
                        <a:t>Board approves FY27 plan; first-release allocation published</a:t>
                      </a:r>
                    </a:p>
                  </a:txBody>
                  <a:tcPr marL="64008" marR="64008" marT="36576" marB="36576" anchor="ctr">
                    <a:solidFill>
                      <a:srgbClr val="FFFFFF"/>
                    </a:solidFill>
                  </a:tcPr>
                </a:tc>
              </a:tr>
              <a:tr h="329184">
                <a:tc>
                  <a:txBody>
                    <a:bodyPr wrap="square"/>
                    <a:lstStyle/>
                    <a:p>
                      <a:r>
                        <a:rPr sz="1050" b="1">
                          <a:solidFill>
                            <a:srgbClr val="11052C"/>
                          </a:solidFill>
                          <a:latin typeface="Arial"/>
                        </a:rPr>
                        <a:t>Day 90</a:t>
                      </a:r>
                    </a:p>
                  </a:txBody>
                  <a:tcPr marL="64008" marR="64008" marT="36576" marB="36576" anchor="ctr">
                    <a:solidFill>
                      <a:srgbClr val="F7F2FD"/>
                    </a:solidFill>
                  </a:tcPr>
                </a:tc>
                <a:tc>
                  <a:txBody>
                    <a:bodyPr wrap="square"/>
                    <a:lstStyle/>
                    <a:p>
                      <a:r>
                        <a:rPr sz="1050" b="0">
                          <a:solidFill>
                            <a:srgbClr val="3B2A54"/>
                          </a:solidFill>
                          <a:latin typeface="Arial"/>
                        </a:rPr>
                        <a:t>Thu 19 Nov</a:t>
                      </a:r>
                    </a:p>
                  </a:txBody>
                  <a:tcPr marL="64008" marR="64008" marT="36576" marB="36576" anchor="ctr">
                    <a:solidFill>
                      <a:srgbClr val="F7F2FD"/>
                    </a:solidFill>
                  </a:tcPr>
                </a:tc>
                <a:tc>
                  <a:txBody>
                    <a:bodyPr wrap="square"/>
                    <a:lstStyle/>
                    <a:p>
                      <a:r>
                        <a:rPr sz="1050" b="0">
                          <a:solidFill>
                            <a:srgbClr val="3B2A54"/>
                          </a:solidFill>
                          <a:latin typeface="Arial"/>
                        </a:rPr>
                        <a:t>HQ D+30</a:t>
                      </a:r>
                    </a:p>
                  </a:txBody>
                  <a:tcPr marL="64008" marR="64008" marT="36576" marB="36576" anchor="ctr">
                    <a:solidFill>
                      <a:srgbClr val="F7F2FD"/>
                    </a:solidFill>
                  </a:tcPr>
                </a:tc>
                <a:tc>
                  <a:txBody>
                    <a:bodyPr wrap="square"/>
                    <a:lstStyle/>
                    <a:p>
                      <a:r>
                        <a:rPr sz="1050" b="0">
                          <a:solidFill>
                            <a:srgbClr val="3B2A54"/>
                          </a:solidFill>
                          <a:latin typeface="Arial"/>
                        </a:rPr>
                        <a:t>Gate 1: tax and residence opinion; two sites to term sheet</a:t>
                      </a:r>
                    </a:p>
                  </a:txBody>
                  <a:tcPr marL="64008" marR="64008" marT="36576" marB="36576" anchor="ctr">
                    <a:solidFill>
                      <a:srgbClr val="F7F2FD"/>
                    </a:solidFill>
                  </a:tcPr>
                </a:tc>
              </a:tr>
              <a:tr h="329184">
                <a:tc>
                  <a:txBody>
                    <a:bodyPr wrap="square"/>
                    <a:lstStyle/>
                    <a:p>
                      <a:r>
                        <a:rPr sz="1050" b="1">
                          <a:solidFill>
                            <a:srgbClr val="11052C"/>
                          </a:solidFill>
                          <a:latin typeface="Arial"/>
                        </a:rPr>
                        <a:t>Day 95</a:t>
                      </a:r>
                    </a:p>
                  </a:txBody>
                  <a:tcPr marL="64008" marR="64008" marT="36576" marB="36576" anchor="ctr">
                    <a:solidFill>
                      <a:srgbClr val="FFFFFF"/>
                    </a:solidFill>
                  </a:tcPr>
                </a:tc>
                <a:tc>
                  <a:txBody>
                    <a:bodyPr wrap="square"/>
                    <a:lstStyle/>
                    <a:p>
                      <a:r>
                        <a:rPr sz="1050" b="0">
                          <a:solidFill>
                            <a:srgbClr val="3B2A54"/>
                          </a:solidFill>
                          <a:latin typeface="Arial"/>
                        </a:rPr>
                        <a:t>Late Nov</a:t>
                      </a:r>
                    </a:p>
                  </a:txBody>
                  <a:tcPr marL="64008" marR="64008" marT="36576" marB="36576" anchor="ctr">
                    <a:solidFill>
                      <a:srgbClr val="FFFFFF"/>
                    </a:solidFill>
                  </a:tcPr>
                </a:tc>
                <a:tc>
                  <a:txBody>
                    <a:bodyPr wrap="square"/>
                    <a:lstStyle/>
                    <a:p>
                      <a:r>
                        <a:rPr sz="1050" b="0">
                          <a:solidFill>
                            <a:srgbClr val="3B2A54"/>
                          </a:solidFill>
                          <a:latin typeface="Arial"/>
                        </a:rPr>
                        <a:t/>
                      </a:r>
                    </a:p>
                  </a:txBody>
                  <a:tcPr marL="64008" marR="64008" marT="36576" marB="36576" anchor="ctr">
                    <a:solidFill>
                      <a:srgbClr val="FFFFFF"/>
                    </a:solidFill>
                  </a:tcPr>
                </a:tc>
                <a:tc>
                  <a:txBody>
                    <a:bodyPr wrap="square"/>
                    <a:lstStyle/>
                    <a:p>
                      <a:r>
                        <a:rPr sz="1050" b="0">
                          <a:solidFill>
                            <a:srgbClr val="3B2A54"/>
                          </a:solidFill>
                          <a:latin typeface="Arial"/>
                        </a:rPr>
                        <a:t>Hub in place; finance partners embedded</a:t>
                      </a:r>
                    </a:p>
                  </a:txBody>
                  <a:tcPr marL="64008" marR="64008" marT="36576" marB="36576" anchor="ctr">
                    <a:solidFill>
                      <a:srgbClr val="FFFFFF"/>
                    </a:solidFill>
                  </a:tcPr>
                </a:tc>
              </a:tr>
              <a:tr h="329184">
                <a:tc>
                  <a:txBody>
                    <a:bodyPr wrap="square"/>
                    <a:lstStyle/>
                    <a:p>
                      <a:r>
                        <a:rPr sz="1050" b="1">
                          <a:solidFill>
                            <a:srgbClr val="11052C"/>
                          </a:solidFill>
                          <a:latin typeface="Arial"/>
                        </a:rPr>
                        <a:t>Day 105</a:t>
                      </a:r>
                    </a:p>
                  </a:txBody>
                  <a:tcPr marL="64008" marR="64008" marT="36576" marB="36576" anchor="ctr">
                    <a:solidFill>
                      <a:srgbClr val="F7F2FD"/>
                    </a:solidFill>
                  </a:tcPr>
                </a:tc>
                <a:tc>
                  <a:txBody>
                    <a:bodyPr wrap="square"/>
                    <a:lstStyle/>
                    <a:p>
                      <a:r>
                        <a:rPr sz="1050" b="0">
                          <a:solidFill>
                            <a:srgbClr val="3B2A54"/>
                          </a:solidFill>
                          <a:latin typeface="Arial"/>
                        </a:rPr>
                        <a:t>Early Dec</a:t>
                      </a:r>
                    </a:p>
                  </a:txBody>
                  <a:tcPr marL="64008" marR="64008" marT="36576" marB="36576" anchor="ctr">
                    <a:solidFill>
                      <a:srgbClr val="F7F2FD"/>
                    </a:solidFill>
                  </a:tcPr>
                </a:tc>
                <a:tc>
                  <a:txBody>
                    <a:bodyPr wrap="square"/>
                    <a:lstStyle/>
                    <a:p>
                      <a:r>
                        <a:rPr sz="1050" b="0">
                          <a:solidFill>
                            <a:srgbClr val="3B2A54"/>
                          </a:solidFill>
                          <a:latin typeface="Arial"/>
                        </a:rPr>
                        <a:t/>
                      </a:r>
                    </a:p>
                  </a:txBody>
                  <a:tcPr marL="64008" marR="64008" marT="36576" marB="36576" anchor="ctr">
                    <a:solidFill>
                      <a:srgbClr val="F7F2FD"/>
                    </a:solidFill>
                  </a:tcPr>
                </a:tc>
                <a:tc>
                  <a:txBody>
                    <a:bodyPr wrap="square"/>
                    <a:lstStyle/>
                    <a:p>
                      <a:r>
                        <a:rPr sz="1050" b="0">
                          <a:solidFill>
                            <a:srgbClr val="3B2A54"/>
                          </a:solidFill>
                          <a:latin typeface="Arial"/>
                        </a:rPr>
                        <a:t>Squad clinics running; $12M case track under way</a:t>
                      </a:r>
                    </a:p>
                  </a:txBody>
                  <a:tcPr marL="64008" marR="64008" marT="36576" marB="36576" anchor="ctr">
                    <a:solidFill>
                      <a:srgbClr val="F7F2FD"/>
                    </a:solidFill>
                  </a:tcPr>
                </a:tc>
              </a:tr>
              <a:tr h="329184">
                <a:tc>
                  <a:txBody>
                    <a:bodyPr wrap="square"/>
                    <a:lstStyle/>
                    <a:p>
                      <a:r>
                        <a:rPr sz="1050" b="1">
                          <a:solidFill>
                            <a:srgbClr val="11052C"/>
                          </a:solidFill>
                          <a:latin typeface="Arial"/>
                        </a:rPr>
                        <a:t>Day 120</a:t>
                      </a:r>
                    </a:p>
                  </a:txBody>
                  <a:tcPr marL="64008" marR="64008" marT="36576" marB="36576" anchor="ctr">
                    <a:solidFill>
                      <a:srgbClr val="FFFFFF"/>
                    </a:solidFill>
                  </a:tcPr>
                </a:tc>
                <a:tc>
                  <a:txBody>
                    <a:bodyPr wrap="square"/>
                    <a:lstStyle/>
                    <a:p>
                      <a:r>
                        <a:rPr sz="1050" b="0">
                          <a:solidFill>
                            <a:srgbClr val="3B2A54"/>
                          </a:solidFill>
                          <a:latin typeface="Arial"/>
                        </a:rPr>
                        <a:t>Mid-Dec</a:t>
                      </a:r>
                    </a:p>
                  </a:txBody>
                  <a:tcPr marL="64008" marR="64008" marT="36576" marB="36576" anchor="ctr">
                    <a:solidFill>
                      <a:srgbClr val="FFFFFF"/>
                    </a:solidFill>
                  </a:tcPr>
                </a:tc>
                <a:tc>
                  <a:txBody>
                    <a:bodyPr wrap="square"/>
                    <a:lstStyle/>
                    <a:p>
                      <a:r>
                        <a:rPr sz="1050" b="0">
                          <a:solidFill>
                            <a:srgbClr val="3B2A54"/>
                          </a:solidFill>
                          <a:latin typeface="Arial"/>
                        </a:rPr>
                        <a:t>HQ D+60</a:t>
                      </a:r>
                    </a:p>
                  </a:txBody>
                  <a:tcPr marL="64008" marR="64008" marT="36576" marB="36576" anchor="ctr">
                    <a:solidFill>
                      <a:srgbClr val="FFFFFF"/>
                    </a:solidFill>
                  </a:tcPr>
                </a:tc>
                <a:tc>
                  <a:txBody>
                    <a:bodyPr wrap="square"/>
                    <a:lstStyle/>
                    <a:p>
                      <a:r>
                        <a:rPr sz="1050" b="0">
                          <a:solidFill>
                            <a:srgbClr val="3B2A54"/>
                          </a:solidFill>
                          <a:latin typeface="Arial"/>
                        </a:rPr>
                        <a:t>Gate 2: grant terms (24-month grace); one site dropped</a:t>
                      </a:r>
                    </a:p>
                  </a:txBody>
                  <a:tcPr marL="64008" marR="64008" marT="36576" marB="36576" anchor="ctr">
                    <a:solidFill>
                      <a:srgbClr val="FFFFFF"/>
                    </a:solidFill>
                  </a:tcPr>
                </a:tc>
              </a:tr>
              <a:tr h="329184">
                <a:tc>
                  <a:txBody>
                    <a:bodyPr wrap="square"/>
                    <a:lstStyle/>
                    <a:p>
                      <a:r>
                        <a:rPr sz="1050" b="1">
                          <a:solidFill>
                            <a:srgbClr val="11052C"/>
                          </a:solidFill>
                          <a:latin typeface="Arial"/>
                        </a:rPr>
                        <a:t>Day 133</a:t>
                      </a:r>
                    </a:p>
                  </a:txBody>
                  <a:tcPr marL="64008" marR="64008" marT="36576" marB="36576" anchor="ctr">
                    <a:solidFill>
                      <a:srgbClr val="F7F2FD"/>
                    </a:solidFill>
                  </a:tcPr>
                </a:tc>
                <a:tc>
                  <a:txBody>
                    <a:bodyPr wrap="square"/>
                    <a:lstStyle/>
                    <a:p>
                      <a:r>
                        <a:rPr sz="1050" b="0">
                          <a:solidFill>
                            <a:srgbClr val="3B2A54"/>
                          </a:solidFill>
                          <a:latin typeface="Arial"/>
                        </a:rPr>
                        <a:t>Fri 1 Jan 2027</a:t>
                      </a:r>
                    </a:p>
                  </a:txBody>
                  <a:tcPr marL="64008" marR="64008" marT="36576" marB="36576" anchor="ctr">
                    <a:solidFill>
                      <a:srgbClr val="F7F2FD"/>
                    </a:solidFill>
                  </a:tcPr>
                </a:tc>
                <a:tc>
                  <a:txBody>
                    <a:bodyPr wrap="square"/>
                    <a:lstStyle/>
                    <a:p>
                      <a:r>
                        <a:rPr sz="1050" b="0">
                          <a:solidFill>
                            <a:srgbClr val="3B2A54"/>
                          </a:solidFill>
                          <a:latin typeface="Arial"/>
                        </a:rPr>
                        <a:t/>
                      </a:r>
                    </a:p>
                  </a:txBody>
                  <a:tcPr marL="64008" marR="64008" marT="36576" marB="36576" anchor="ctr">
                    <a:solidFill>
                      <a:srgbClr val="F7F2FD"/>
                    </a:solidFill>
                  </a:tcPr>
                </a:tc>
                <a:tc>
                  <a:txBody>
                    <a:bodyPr wrap="square"/>
                    <a:lstStyle/>
                    <a:p>
                      <a:r>
                        <a:rPr sz="1050" b="0">
                          <a:solidFill>
                            <a:srgbClr val="3B2A54"/>
                          </a:solidFill>
                          <a:latin typeface="Arial"/>
                        </a:rPr>
                        <a:t>FY27 starts; $15M first release</a:t>
                      </a:r>
                    </a:p>
                  </a:txBody>
                  <a:tcPr marL="64008" marR="64008" marT="36576" marB="36576" anchor="ctr">
                    <a:solidFill>
                      <a:srgbClr val="F7F2FD"/>
                    </a:solidFill>
                  </a:tcPr>
                </a:tc>
              </a:tr>
              <a:tr h="329184">
                <a:tc>
                  <a:txBody>
                    <a:bodyPr wrap="square"/>
                    <a:lstStyle/>
                    <a:p>
                      <a:r>
                        <a:rPr sz="1050" b="1">
                          <a:solidFill>
                            <a:srgbClr val="11052C"/>
                          </a:solidFill>
                          <a:latin typeface="Arial"/>
                        </a:rPr>
                        <a:t>Day 150</a:t>
                      </a:r>
                    </a:p>
                  </a:txBody>
                  <a:tcPr marL="64008" marR="64008" marT="36576" marB="36576" anchor="ctr">
                    <a:solidFill>
                      <a:srgbClr val="FFFFFF"/>
                    </a:solidFill>
                  </a:tcPr>
                </a:tc>
                <a:tc>
                  <a:txBody>
                    <a:bodyPr wrap="square"/>
                    <a:lstStyle/>
                    <a:p>
                      <a:r>
                        <a:rPr sz="1050" b="0">
                          <a:solidFill>
                            <a:srgbClr val="3B2A54"/>
                          </a:solidFill>
                          <a:latin typeface="Arial"/>
                        </a:rPr>
                        <a:t>Mid-Jan</a:t>
                      </a:r>
                    </a:p>
                  </a:txBody>
                  <a:tcPr marL="64008" marR="64008" marT="36576" marB="36576" anchor="ctr">
                    <a:solidFill>
                      <a:srgbClr val="FFFFFF"/>
                    </a:solidFill>
                  </a:tcPr>
                </a:tc>
                <a:tc>
                  <a:txBody>
                    <a:bodyPr wrap="square"/>
                    <a:lstStyle/>
                    <a:p>
                      <a:r>
                        <a:rPr sz="1050" b="0">
                          <a:solidFill>
                            <a:srgbClr val="3B2A54"/>
                          </a:solidFill>
                          <a:latin typeface="Arial"/>
                        </a:rPr>
                        <a:t>HQ D+90</a:t>
                      </a:r>
                    </a:p>
                  </a:txBody>
                  <a:tcPr marL="64008" marR="64008" marT="36576" marB="36576" anchor="ctr">
                    <a:solidFill>
                      <a:srgbClr val="FFFFFF"/>
                    </a:solidFill>
                  </a:tcPr>
                </a:tc>
                <a:tc>
                  <a:txBody>
                    <a:bodyPr wrap="square"/>
                    <a:lstStyle/>
                    <a:p>
                      <a:r>
                        <a:rPr sz="1050" b="0">
                          <a:solidFill>
                            <a:srgbClr val="3B2A54"/>
                          </a:solidFill>
                          <a:latin typeface="Arial"/>
                        </a:rPr>
                        <a:t>Gate 3: officers and D&amp;O; 90-day report to the CFO</a:t>
                      </a:r>
                    </a:p>
                  </a:txBody>
                  <a:tcPr marL="64008" marR="64008" marT="36576" marB="36576" anchor="ctr">
                    <a:solidFill>
                      <a:srgbClr val="FFFFFF"/>
                    </a:solidFill>
                  </a:tcPr>
                </a:tc>
              </a:tr>
              <a:tr h="329184">
                <a:tc>
                  <a:txBody>
                    <a:bodyPr wrap="square"/>
                    <a:lstStyle/>
                    <a:p>
                      <a:r>
                        <a:rPr sz="1050" b="1">
                          <a:solidFill>
                            <a:srgbClr val="11052C"/>
                          </a:solidFill>
                          <a:latin typeface="Arial"/>
                        </a:rPr>
                        <a:t>Day 180</a:t>
                      </a:r>
                    </a:p>
                  </a:txBody>
                  <a:tcPr marL="64008" marR="64008" marT="36576" marB="36576" anchor="ctr">
                    <a:solidFill>
                      <a:srgbClr val="F7F2FD"/>
                    </a:solidFill>
                  </a:tcPr>
                </a:tc>
                <a:tc>
                  <a:txBody>
                    <a:bodyPr wrap="square"/>
                    <a:lstStyle/>
                    <a:p>
                      <a:r>
                        <a:rPr sz="1050" b="0">
                          <a:solidFill>
                            <a:srgbClr val="3B2A54"/>
                          </a:solidFill>
                          <a:latin typeface="Arial"/>
                        </a:rPr>
                        <a:t>Mid-Feb</a:t>
                      </a:r>
                    </a:p>
                  </a:txBody>
                  <a:tcPr marL="64008" marR="64008" marT="36576" marB="36576" anchor="ctr">
                    <a:solidFill>
                      <a:srgbClr val="F7F2FD"/>
                    </a:solidFill>
                  </a:tcPr>
                </a:tc>
                <a:tc>
                  <a:txBody>
                    <a:bodyPr wrap="square"/>
                    <a:lstStyle/>
                    <a:p>
                      <a:r>
                        <a:rPr sz="1050" b="0">
                          <a:solidFill>
                            <a:srgbClr val="3B2A54"/>
                          </a:solidFill>
                          <a:latin typeface="Arial"/>
                        </a:rPr>
                        <a:t>HQ D+120</a:t>
                      </a:r>
                    </a:p>
                  </a:txBody>
                  <a:tcPr marL="64008" marR="64008" marT="36576" marB="36576" anchor="ctr">
                    <a:solidFill>
                      <a:srgbClr val="F7F2FD"/>
                    </a:solidFill>
                  </a:tcPr>
                </a:tc>
                <a:tc>
                  <a:txBody>
                    <a:bodyPr wrap="square"/>
                    <a:lstStyle/>
                    <a:p>
                      <a:r>
                        <a:rPr sz="1050" b="0">
                          <a:solidFill>
                            <a:srgbClr val="3B2A54"/>
                          </a:solidFill>
                          <a:latin typeface="Arial"/>
                        </a:rPr>
                        <a:t>Gate 4: lease</a:t>
                      </a:r>
                    </a:p>
                  </a:txBody>
                  <a:tcPr marL="64008" marR="64008" marT="36576" marB="36576" anchor="ctr">
                    <a:solidFill>
                      <a:srgbClr val="F7F2FD"/>
                    </a:solidFill>
                  </a:tcPr>
                </a:tc>
              </a:tr>
              <a:tr h="329184">
                <a:tc>
                  <a:txBody>
                    <a:bodyPr wrap="square"/>
                    <a:lstStyle/>
                    <a:p>
                      <a:r>
                        <a:rPr sz="1050" b="1">
                          <a:solidFill>
                            <a:srgbClr val="11052C"/>
                          </a:solidFill>
                          <a:latin typeface="Arial"/>
                        </a:rPr>
                        <a:t>Day 222</a:t>
                      </a:r>
                    </a:p>
                  </a:txBody>
                  <a:tcPr marL="64008" marR="64008" marT="36576" marB="36576" anchor="ctr">
                    <a:solidFill>
                      <a:srgbClr val="FFFFFF"/>
                    </a:solidFill>
                  </a:tcPr>
                </a:tc>
                <a:tc>
                  <a:txBody>
                    <a:bodyPr wrap="square"/>
                    <a:lstStyle/>
                    <a:p>
                      <a:r>
                        <a:rPr sz="1050" b="0">
                          <a:solidFill>
                            <a:srgbClr val="3B2A54"/>
                          </a:solidFill>
                          <a:latin typeface="Arial"/>
                        </a:rPr>
                        <a:t>Wed 31 Mar</a:t>
                      </a:r>
                    </a:p>
                  </a:txBody>
                  <a:tcPr marL="64008" marR="64008" marT="36576" marB="36576" anchor="ctr">
                    <a:solidFill>
                      <a:srgbClr val="FFFFFF"/>
                    </a:solidFill>
                  </a:tcPr>
                </a:tc>
                <a:tc>
                  <a:txBody>
                    <a:bodyPr wrap="square"/>
                    <a:lstStyle/>
                    <a:p>
                      <a:r>
                        <a:rPr sz="1050" b="0">
                          <a:solidFill>
                            <a:srgbClr val="3B2A54"/>
                          </a:solidFill>
                          <a:latin typeface="Arial"/>
                        </a:rPr>
                        <a:t/>
                      </a:r>
                    </a:p>
                  </a:txBody>
                  <a:tcPr marL="64008" marR="64008" marT="36576" marB="36576" anchor="ctr">
                    <a:solidFill>
                      <a:srgbClr val="FFFFFF"/>
                    </a:solidFill>
                  </a:tcPr>
                </a:tc>
                <a:tc>
                  <a:txBody>
                    <a:bodyPr wrap="square"/>
                    <a:lstStyle/>
                    <a:p>
                      <a:r>
                        <a:rPr sz="1050" b="0">
                          <a:solidFill>
                            <a:srgbClr val="3B2A54"/>
                          </a:solidFill>
                          <a:latin typeface="Arial"/>
                        </a:rPr>
                        <a:t>Q1 close; second release ($10M) decided on Q1 data in early April</a:t>
                      </a:r>
                    </a:p>
                  </a:txBody>
                  <a:tcPr marL="64008" marR="64008" marT="36576" marB="36576" anchor="ctr">
                    <a:solidFill>
                      <a:srgbClr val="FFFFFF"/>
                    </a:solidFill>
                  </a:tcPr>
                </a:tc>
              </a:tr>
            </a:tbl>
          </a:graphicData>
        </a:graphic>
      </p:graphicFrame>
      <p:sp>
        <p:nvSpPr>
          <p:cNvPr id="5" name="TextBox 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G</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Stakeholder map: who decides, who is consulted, and when they hear it</a:t>
            </a:r>
          </a:p>
        </p:txBody>
      </p:sp>
      <p:graphicFrame>
        <p:nvGraphicFramePr>
          <p:cNvPr id="4" name="Table 3"/>
          <p:cNvGraphicFramePr>
            <a:graphicFrameLocks noGrp="1"/>
          </p:cNvGraphicFramePr>
          <p:nvPr/>
        </p:nvGraphicFramePr>
        <p:xfrm>
          <a:off x="612648" y="1371600"/>
          <a:ext cx="10972800" cy="4306823"/>
        </p:xfrm>
        <a:graphic>
          <a:graphicData uri="http://schemas.openxmlformats.org/drawingml/2006/table">
            <a:tbl>
              <a:tblPr>
                <a:tableStyleId>{5C22544A-7EE6-4342-B048-85BDC9FD1C3A}</a:tableStyleId>
              </a:tblPr>
              <a:tblGrid>
                <a:gridCol w="2926080"/>
                <a:gridCol w="4023360"/>
                <a:gridCol w="4023360"/>
              </a:tblGrid>
              <a:tr h="347472">
                <a:tc>
                  <a:txBody>
                    <a:bodyPr wrap="square"/>
                    <a:lstStyle/>
                    <a:p>
                      <a:r>
                        <a:rPr sz="1050" b="1">
                          <a:solidFill>
                            <a:srgbClr val="FFFFFF"/>
                          </a:solidFill>
                          <a:latin typeface="Arial"/>
                        </a:rPr>
                        <a:t>Who</a:t>
                      </a:r>
                    </a:p>
                  </a:txBody>
                  <a:tcPr marL="64008" marR="64008" marT="36576" marB="36576" anchor="ctr">
                    <a:solidFill>
                      <a:srgbClr val="820AD1"/>
                    </a:solidFill>
                  </a:tcPr>
                </a:tc>
                <a:tc>
                  <a:txBody>
                    <a:bodyPr wrap="square"/>
                    <a:lstStyle/>
                    <a:p>
                      <a:r>
                        <a:rPr sz="1050" b="1">
                          <a:solidFill>
                            <a:srgbClr val="FFFFFF"/>
                          </a:solidFill>
                          <a:latin typeface="Arial"/>
                        </a:rPr>
                        <a:t>Role in these decisions</a:t>
                      </a:r>
                    </a:p>
                  </a:txBody>
                  <a:tcPr marL="64008" marR="64008" marT="36576" marB="36576" anchor="ctr">
                    <a:solidFill>
                      <a:srgbClr val="820AD1"/>
                    </a:solidFill>
                  </a:tcPr>
                </a:tc>
                <a:tc>
                  <a:txBody>
                    <a:bodyPr wrap="square"/>
                    <a:lstStyle/>
                    <a:p>
                      <a:r>
                        <a:rPr sz="1050" b="1">
                          <a:solidFill>
                            <a:srgbClr val="FFFFFF"/>
                          </a:solidFill>
                          <a:latin typeface="Arial"/>
                        </a:rPr>
                        <a:t>When they hear it</a:t>
                      </a:r>
                    </a:p>
                  </a:txBody>
                  <a:tcPr marL="64008" marR="64008" marT="36576" marB="36576" anchor="ctr">
                    <a:solidFill>
                      <a:srgbClr val="820AD1"/>
                    </a:solidFill>
                  </a:tcPr>
                </a:tc>
              </a:tr>
              <a:tr h="393192">
                <a:tc>
                  <a:txBody>
                    <a:bodyPr wrap="square"/>
                    <a:lstStyle/>
                    <a:p>
                      <a:r>
                        <a:rPr sz="1050" b="1">
                          <a:solidFill>
                            <a:srgbClr val="11052C"/>
                          </a:solidFill>
                          <a:latin typeface="Arial"/>
                        </a:rPr>
                        <a:t>CEO</a:t>
                      </a:r>
                    </a:p>
                  </a:txBody>
                  <a:tcPr marL="64008" marR="64008" marT="36576" marB="36576" anchor="ctr">
                    <a:solidFill>
                      <a:srgbClr val="FFFFFF"/>
                    </a:solidFill>
                  </a:tcPr>
                </a:tc>
                <a:tc>
                  <a:txBody>
                    <a:bodyPr wrap="square"/>
                    <a:lstStyle/>
                    <a:p>
                      <a:r>
                        <a:rPr sz="1050" b="0">
                          <a:solidFill>
                            <a:srgbClr val="3B2A54"/>
                          </a:solidFill>
                          <a:latin typeface="Arial"/>
                        </a:rPr>
                        <a:t>Decides the capital ranking</a:t>
                      </a:r>
                    </a:p>
                  </a:txBody>
                  <a:tcPr marL="64008" marR="64008" marT="36576" marB="36576" anchor="ctr">
                    <a:solidFill>
                      <a:srgbClr val="FFFFFF"/>
                    </a:solidFill>
                  </a:tcPr>
                </a:tc>
                <a:tc>
                  <a:txBody>
                    <a:bodyPr wrap="square"/>
                    <a:lstStyle/>
                    <a:p>
                      <a:r>
                        <a:rPr sz="1050" b="0">
                          <a:solidFill>
                            <a:srgbClr val="3B2A54"/>
                          </a:solidFill>
                          <a:latin typeface="Arial"/>
                        </a:rPr>
                        <a:t>Options memo before T-16; CEO's office briefed before any GM lock</a:t>
                      </a:r>
                    </a:p>
                  </a:txBody>
                  <a:tcPr marL="64008" marR="64008" marT="36576" marB="36576" anchor="ctr">
                    <a:solidFill>
                      <a:srgbClr val="FFFFFF"/>
                    </a:solidFill>
                  </a:tcPr>
                </a:tc>
              </a:tr>
              <a:tr h="347472">
                <a:tc>
                  <a:txBody>
                    <a:bodyPr wrap="square"/>
                    <a:lstStyle/>
                    <a:p>
                      <a:r>
                        <a:rPr sz="1050" b="1">
                          <a:solidFill>
                            <a:srgbClr val="11052C"/>
                          </a:solidFill>
                          <a:latin typeface="Arial"/>
                        </a:rPr>
                        <a:t>CFO (since 13 Jul 2026)</a:t>
                      </a:r>
                    </a:p>
                  </a:txBody>
                  <a:tcPr marL="64008" marR="64008" marT="36576" marB="36576" anchor="ctr">
                    <a:solidFill>
                      <a:srgbClr val="F7F2FD"/>
                    </a:solidFill>
                  </a:tcPr>
                </a:tc>
                <a:tc>
                  <a:txBody>
                    <a:bodyPr wrap="square"/>
                    <a:lstStyle/>
                    <a:p>
                      <a:r>
                        <a:rPr sz="1050" b="0">
                          <a:solidFill>
                            <a:srgbClr val="3B2A54"/>
                          </a:solidFill>
                          <a:latin typeface="Arial"/>
                        </a:rPr>
                        <a:t>Recommends the ranking; decides releases and the H2 reserve</a:t>
                      </a:r>
                    </a:p>
                  </a:txBody>
                  <a:tcPr marL="64008" marR="64008" marT="36576" marB="36576" anchor="ctr">
                    <a:solidFill>
                      <a:srgbClr val="F7F2FD"/>
                    </a:solidFill>
                  </a:tcPr>
                </a:tc>
                <a:tc>
                  <a:txBody>
                    <a:bodyPr wrap="square"/>
                    <a:lstStyle/>
                    <a:p>
                      <a:r>
                        <a:rPr sz="1050" b="0">
                          <a:solidFill>
                            <a:srgbClr val="3B2A54"/>
                          </a:solidFill>
                          <a:latin typeface="Arial"/>
                        </a:rPr>
                        <a:t>Weekly; every pack before it moves</a:t>
                      </a:r>
                    </a:p>
                  </a:txBody>
                  <a:tcPr marL="64008" marR="64008" marT="36576" marB="36576" anchor="ctr">
                    <a:solidFill>
                      <a:srgbClr val="F7F2FD"/>
                    </a:solidFill>
                  </a:tcPr>
                </a:tc>
              </a:tr>
              <a:tr h="347472">
                <a:tc>
                  <a:txBody>
                    <a:bodyPr wrap="square"/>
                    <a:lstStyle/>
                    <a:p>
                      <a:r>
                        <a:rPr sz="1050" b="1">
                          <a:solidFill>
                            <a:srgbClr val="11052C"/>
                          </a:solidFill>
                          <a:latin typeface="Arial"/>
                        </a:rPr>
                        <a:t>Board chair and committee chairs</a:t>
                      </a:r>
                    </a:p>
                  </a:txBody>
                  <a:tcPr marL="64008" marR="64008" marT="36576" marB="36576" anchor="ctr">
                    <a:solidFill>
                      <a:srgbClr val="FFFFFF"/>
                    </a:solidFill>
                  </a:tcPr>
                </a:tc>
                <a:tc>
                  <a:txBody>
                    <a:bodyPr wrap="square"/>
                    <a:lstStyle/>
                    <a:p>
                      <a:r>
                        <a:rPr sz="1050" b="0">
                          <a:solidFill>
                            <a:srgbClr val="3B2A54"/>
                          </a:solidFill>
                          <a:latin typeface="Arial"/>
                        </a:rPr>
                        <a:t>Approve the capital plan; oversee entities</a:t>
                      </a:r>
                    </a:p>
                  </a:txBody>
                  <a:tcPr marL="64008" marR="64008" marT="36576" marB="36576" anchor="ctr">
                    <a:solidFill>
                      <a:srgbClr val="FFFFFF"/>
                    </a:solidFill>
                  </a:tcPr>
                </a:tc>
                <a:tc>
                  <a:txBody>
                    <a:bodyPr wrap="square"/>
                    <a:lstStyle/>
                    <a:p>
                      <a:r>
                        <a:rPr sz="1050" b="0">
                          <a:solidFill>
                            <a:srgbClr val="3B2A54"/>
                          </a:solidFill>
                          <a:latin typeface="Arial"/>
                        </a:rPr>
                        <a:t>Pre-read at T-9; book at T-7</a:t>
                      </a:r>
                    </a:p>
                  </a:txBody>
                  <a:tcPr marL="64008" marR="64008" marT="36576" marB="36576" anchor="ctr">
                    <a:solidFill>
                      <a:srgbClr val="FFFFFF"/>
                    </a:solidFill>
                  </a:tcPr>
                </a:tc>
              </a:tr>
              <a:tr h="347472">
                <a:tc>
                  <a:txBody>
                    <a:bodyPr wrap="square"/>
                    <a:lstStyle/>
                    <a:p>
                      <a:r>
                        <a:rPr sz="1050" b="1">
                          <a:solidFill>
                            <a:srgbClr val="11052C"/>
                          </a:solidFill>
                          <a:latin typeface="Arial"/>
                        </a:rPr>
                        <a:t>Corporate Secretary</a:t>
                      </a:r>
                    </a:p>
                  </a:txBody>
                  <a:tcPr marL="64008" marR="64008" marT="36576" marB="36576" anchor="ctr">
                    <a:solidFill>
                      <a:srgbClr val="F7F2FD"/>
                    </a:solidFill>
                  </a:tcPr>
                </a:tc>
                <a:tc>
                  <a:txBody>
                    <a:bodyPr wrap="square"/>
                    <a:lstStyle/>
                    <a:p>
                      <a:r>
                        <a:rPr sz="1050" b="0">
                          <a:solidFill>
                            <a:srgbClr val="3B2A54"/>
                          </a:solidFill>
                          <a:latin typeface="Arial"/>
                        </a:rPr>
                        <a:t>Owns the Board book and statutory calendar</a:t>
                      </a:r>
                    </a:p>
                  </a:txBody>
                  <a:tcPr marL="64008" marR="64008" marT="36576" marB="36576" anchor="ctr">
                    <a:solidFill>
                      <a:srgbClr val="F7F2FD"/>
                    </a:solidFill>
                  </a:tcPr>
                </a:tc>
                <a:tc>
                  <a:txBody>
                    <a:bodyPr wrap="square"/>
                    <a:lstStyle/>
                    <a:p>
                      <a:r>
                        <a:rPr sz="1050" b="0">
                          <a:solidFill>
                            <a:srgbClr val="3B2A54"/>
                          </a:solidFill>
                          <a:latin typeface="Arial"/>
                        </a:rPr>
                        <a:t>From today (T-28)</a:t>
                      </a:r>
                    </a:p>
                  </a:txBody>
                  <a:tcPr marL="64008" marR="64008" marT="36576" marB="36576" anchor="ctr">
                    <a:solidFill>
                      <a:srgbClr val="F7F2FD"/>
                    </a:solidFill>
                  </a:tcPr>
                </a:tc>
              </a:tr>
              <a:tr h="347472">
                <a:tc>
                  <a:txBody>
                    <a:bodyPr wrap="square"/>
                    <a:lstStyle/>
                    <a:p>
                      <a:r>
                        <a:rPr sz="1050" b="1">
                          <a:solidFill>
                            <a:srgbClr val="11052C"/>
                          </a:solidFill>
                          <a:latin typeface="Arial"/>
                        </a:rPr>
                        <a:t>The two MTeam members</a:t>
                      </a:r>
                    </a:p>
                  </a:txBody>
                  <a:tcPr marL="64008" marR="64008" marT="36576" marB="36576" anchor="ctr">
                    <a:solidFill>
                      <a:srgbClr val="FFFFFF"/>
                    </a:solidFill>
                  </a:tcPr>
                </a:tc>
                <a:tc>
                  <a:txBody>
                    <a:bodyPr wrap="square"/>
                    <a:lstStyle/>
                    <a:p>
                      <a:r>
                        <a:rPr sz="1050" b="0">
                          <a:solidFill>
                            <a:srgbClr val="3B2A54"/>
                          </a:solidFill>
                          <a:latin typeface="Arial"/>
                        </a:rPr>
                        <a:t>Hold the opposing capital views</a:t>
                      </a:r>
                    </a:p>
                  </a:txBody>
                  <a:tcPr marL="64008" marR="64008" marT="36576" marB="36576" anchor="ctr">
                    <a:solidFill>
                      <a:srgbClr val="FFFFFF"/>
                    </a:solidFill>
                  </a:tcPr>
                </a:tc>
                <a:tc>
                  <a:txBody>
                    <a:bodyPr wrap="square"/>
                    <a:lstStyle/>
                    <a:p>
                      <a:r>
                        <a:rPr sz="1050" b="0">
                          <a:solidFill>
                            <a:srgbClr val="3B2A54"/>
                          </a:solidFill>
                          <a:latin typeface="Arial"/>
                        </a:rPr>
                        <a:t>One-to-ones at T-21; joint lock at T-16</a:t>
                      </a:r>
                    </a:p>
                  </a:txBody>
                  <a:tcPr marL="64008" marR="64008" marT="36576" marB="36576" anchor="ctr">
                    <a:solidFill>
                      <a:srgbClr val="FFFFFF"/>
                    </a:solidFill>
                  </a:tcPr>
                </a:tc>
              </a:tr>
              <a:tr h="393192">
                <a:tc>
                  <a:txBody>
                    <a:bodyPr wrap="square"/>
                    <a:lstStyle/>
                    <a:p>
                      <a:r>
                        <a:rPr sz="1050" b="1">
                          <a:solidFill>
                            <a:srgbClr val="11052C"/>
                          </a:solidFill>
                          <a:latin typeface="Arial"/>
                        </a:rPr>
                        <a:t>Local CFOs (Mexico, Colombia); Brazil CFO (new role)</a:t>
                      </a:r>
                    </a:p>
                  </a:txBody>
                  <a:tcPr marL="64008" marR="64008" marT="36576" marB="36576" anchor="ctr">
                    <a:solidFill>
                      <a:srgbClr val="F7F2FD"/>
                    </a:solidFill>
                  </a:tcPr>
                </a:tc>
                <a:tc>
                  <a:txBody>
                    <a:bodyPr wrap="square"/>
                    <a:lstStyle/>
                    <a:p>
                      <a:r>
                        <a:rPr sz="1050" b="0">
                          <a:solidFill>
                            <a:srgbClr val="3B2A54"/>
                          </a:solidFill>
                          <a:latin typeface="Arial"/>
                        </a:rPr>
                        <a:t>Own local decision rights; inputs to the model</a:t>
                      </a:r>
                    </a:p>
                  </a:txBody>
                  <a:tcPr marL="64008" marR="64008" marT="36576" marB="36576" anchor="ctr">
                    <a:solidFill>
                      <a:srgbClr val="F7F2FD"/>
                    </a:solidFill>
                  </a:tcPr>
                </a:tc>
                <a:tc>
                  <a:txBody>
                    <a:bodyPr wrap="square"/>
                    <a:lstStyle/>
                    <a:p>
                      <a:r>
                        <a:rPr sz="1050" b="0">
                          <a:solidFill>
                            <a:srgbClr val="3B2A54"/>
                          </a:solidFill>
                          <a:latin typeface="Arial"/>
                        </a:rPr>
                        <a:t>Squad clinics; decision rights unchanged for 90 days</a:t>
                      </a:r>
                    </a:p>
                  </a:txBody>
                  <a:tcPr marL="64008" marR="64008" marT="36576" marB="36576" anchor="ctr">
                    <a:solidFill>
                      <a:srgbClr val="F7F2FD"/>
                    </a:solidFill>
                  </a:tcPr>
                </a:tc>
              </a:tr>
              <a:tr h="347472">
                <a:tc>
                  <a:txBody>
                    <a:bodyPr wrap="square"/>
                    <a:lstStyle/>
                    <a:p>
                      <a:r>
                        <a:rPr sz="1050" b="1">
                          <a:solidFill>
                            <a:srgbClr val="11052C"/>
                          </a:solidFill>
                          <a:latin typeface="Arial"/>
                        </a:rPr>
                        <a:t>Risk</a:t>
                      </a:r>
                    </a:p>
                  </a:txBody>
                  <a:tcPr marL="64008" marR="64008" marT="36576" marB="36576" anchor="ctr">
                    <a:solidFill>
                      <a:srgbClr val="FFFFFF"/>
                    </a:solidFill>
                  </a:tcPr>
                </a:tc>
                <a:tc>
                  <a:txBody>
                    <a:bodyPr wrap="square"/>
                    <a:lstStyle/>
                    <a:p>
                      <a:r>
                        <a:rPr sz="1050" b="0">
                          <a:solidFill>
                            <a:srgbClr val="3B2A54"/>
                          </a:solidFill>
                          <a:latin typeface="Arial"/>
                        </a:rPr>
                        <a:t>Confirms credit conditions; can block the H2 reserve</a:t>
                      </a:r>
                    </a:p>
                  </a:txBody>
                  <a:tcPr marL="64008" marR="64008" marT="36576" marB="36576" anchor="ctr">
                    <a:solidFill>
                      <a:srgbClr val="FFFFFF"/>
                    </a:solidFill>
                  </a:tcPr>
                </a:tc>
                <a:tc>
                  <a:txBody>
                    <a:bodyPr wrap="square"/>
                    <a:lstStyle/>
                    <a:p>
                      <a:r>
                        <a:rPr sz="1050" b="0">
                          <a:solidFill>
                            <a:srgbClr val="3B2A54"/>
                          </a:solidFill>
                          <a:latin typeface="Arial"/>
                        </a:rPr>
                        <a:t>Quarterly release review; H1 close</a:t>
                      </a:r>
                    </a:p>
                  </a:txBody>
                  <a:tcPr marL="64008" marR="64008" marT="36576" marB="36576" anchor="ctr">
                    <a:solidFill>
                      <a:srgbClr val="FFFFFF"/>
                    </a:solidFill>
                  </a:tcPr>
                </a:tc>
              </a:tr>
              <a:tr h="347472">
                <a:tc>
                  <a:txBody>
                    <a:bodyPr wrap="square"/>
                    <a:lstStyle/>
                    <a:p>
                      <a:r>
                        <a:rPr sz="1050" b="1">
                          <a:solidFill>
                            <a:srgbClr val="11052C"/>
                          </a:solidFill>
                          <a:latin typeface="Arial"/>
                        </a:rPr>
                        <a:t>IR</a:t>
                      </a:r>
                    </a:p>
                  </a:txBody>
                  <a:tcPr marL="64008" marR="64008" marT="36576" marB="36576" anchor="ctr">
                    <a:solidFill>
                      <a:srgbClr val="F7F2FD"/>
                    </a:solidFill>
                  </a:tcPr>
                </a:tc>
                <a:tc>
                  <a:txBody>
                    <a:bodyPr wrap="square"/>
                    <a:lstStyle/>
                    <a:p>
                      <a:r>
                        <a:rPr sz="1050" b="0">
                          <a:solidFill>
                            <a:srgbClr val="3B2A54"/>
                          </a:solidFill>
                          <a:latin typeface="Arial"/>
                        </a:rPr>
                        <a:t>Sets how the plan and reserve are disclosed</a:t>
                      </a:r>
                    </a:p>
                  </a:txBody>
                  <a:tcPr marL="64008" marR="64008" marT="36576" marB="36576" anchor="ctr">
                    <a:solidFill>
                      <a:srgbClr val="F7F2FD"/>
                    </a:solidFill>
                  </a:tcPr>
                </a:tc>
                <a:tc>
                  <a:txBody>
                    <a:bodyPr wrap="square"/>
                    <a:lstStyle/>
                    <a:p>
                      <a:r>
                        <a:rPr sz="1050" b="0">
                          <a:solidFill>
                            <a:srgbClr val="3B2A54"/>
                          </a:solidFill>
                          <a:latin typeface="Arial"/>
                        </a:rPr>
                        <a:t>Before Investor Day (8 Dec)</a:t>
                      </a:r>
                    </a:p>
                  </a:txBody>
                  <a:tcPr marL="64008" marR="64008" marT="36576" marB="36576" anchor="ctr">
                    <a:solidFill>
                      <a:srgbClr val="F7F2FD"/>
                    </a:solidFill>
                  </a:tcPr>
                </a:tc>
              </a:tr>
              <a:tr h="347472">
                <a:tc>
                  <a:txBody>
                    <a:bodyPr wrap="square"/>
                    <a:lstStyle/>
                    <a:p>
                      <a:r>
                        <a:rPr sz="1050" b="1">
                          <a:solidFill>
                            <a:srgbClr val="11052C"/>
                          </a:solidFill>
                          <a:latin typeface="Arial"/>
                        </a:rPr>
                        <a:t>Tax, Legal, Compliance, People, Workplace</a:t>
                      </a:r>
                    </a:p>
                  </a:txBody>
                  <a:tcPr marL="64008" marR="64008" marT="36576" marB="36576" anchor="ctr">
                    <a:solidFill>
                      <a:srgbClr val="FFFFFF"/>
                    </a:solidFill>
                  </a:tcPr>
                </a:tc>
                <a:tc>
                  <a:txBody>
                    <a:bodyPr wrap="square"/>
                    <a:lstStyle/>
                    <a:p>
                      <a:r>
                        <a:rPr sz="1050" b="0">
                          <a:solidFill>
                            <a:srgbClr val="3B2A54"/>
                          </a:solidFill>
                          <a:latin typeface="Arial"/>
                        </a:rPr>
                        <a:t>Own HQ gates 1-4</a:t>
                      </a:r>
                    </a:p>
                  </a:txBody>
                  <a:tcPr marL="64008" marR="64008" marT="36576" marB="36576" anchor="ctr">
                    <a:solidFill>
                      <a:srgbClr val="FFFFFF"/>
                    </a:solidFill>
                  </a:tcPr>
                </a:tc>
                <a:tc>
                  <a:txBody>
                    <a:bodyPr wrap="square"/>
                    <a:lstStyle/>
                    <a:p>
                      <a:r>
                        <a:rPr sz="1050" b="0">
                          <a:solidFill>
                            <a:srgbClr val="3B2A54"/>
                          </a:solidFill>
                          <a:latin typeface="Arial"/>
                        </a:rPr>
                        <a:t>Weekly HQ pod; 48-hour escalation</a:t>
                      </a:r>
                    </a:p>
                  </a:txBody>
                  <a:tcPr marL="64008" marR="64008" marT="36576" marB="36576" anchor="ctr">
                    <a:solidFill>
                      <a:srgbClr val="FFFFFF"/>
                    </a:solidFill>
                  </a:tcPr>
                </a:tc>
              </a:tr>
              <a:tr h="393192">
                <a:tc>
                  <a:txBody>
                    <a:bodyPr wrap="square"/>
                    <a:lstStyle/>
                    <a:p>
                      <a:r>
                        <a:rPr sz="1050" b="1">
                          <a:solidFill>
                            <a:srgbClr val="11052C"/>
                          </a:solidFill>
                          <a:latin typeface="Arial"/>
                        </a:rPr>
                        <a:t>Counterparties (local authority, incentive agency, landlord)</a:t>
                      </a:r>
                    </a:p>
                  </a:txBody>
                  <a:tcPr marL="64008" marR="64008" marT="36576" marB="36576" anchor="ctr">
                    <a:solidFill>
                      <a:srgbClr val="F7F2FD"/>
                    </a:solidFill>
                  </a:tcPr>
                </a:tc>
                <a:tc>
                  <a:txBody>
                    <a:bodyPr wrap="square"/>
                    <a:lstStyle/>
                    <a:p>
                      <a:r>
                        <a:rPr sz="1050" b="0">
                          <a:solidFill>
                            <a:srgbClr val="3B2A54"/>
                          </a:solidFill>
                          <a:latin typeface="Arial"/>
                        </a:rPr>
                        <a:t>Across the table</a:t>
                      </a:r>
                    </a:p>
                  </a:txBody>
                  <a:tcPr marL="64008" marR="64008" marT="36576" marB="36576" anchor="ctr">
                    <a:solidFill>
                      <a:srgbClr val="F7F2FD"/>
                    </a:solidFill>
                  </a:tcPr>
                </a:tc>
                <a:tc>
                  <a:txBody>
                    <a:bodyPr wrap="square"/>
                    <a:lstStyle/>
                    <a:p>
                      <a:r>
                        <a:rPr sz="1050" b="0">
                          <a:solidFill>
                            <a:srgbClr val="3B2A54"/>
                          </a:solidFill>
                          <a:latin typeface="Arial"/>
                        </a:rPr>
                        <a:t>Only after gate 1, through Legal; never before the CEO and CFO see the scorecard</a:t>
                      </a:r>
                    </a:p>
                  </a:txBody>
                  <a:tcPr marL="64008" marR="64008" marT="36576" marB="36576" anchor="ctr">
                    <a:solidFill>
                      <a:srgbClr val="F7F2FD"/>
                    </a:solidFill>
                  </a:tcPr>
                </a:tc>
              </a:tr>
              <a:tr h="347472">
                <a:tc>
                  <a:txBody>
                    <a:bodyPr wrap="square"/>
                    <a:lstStyle/>
                    <a:p>
                      <a:r>
                        <a:rPr sz="1050" b="1">
                          <a:solidFill>
                            <a:srgbClr val="11052C"/>
                          </a:solidFill>
                          <a:latin typeface="Arial"/>
                        </a:rPr>
                        <a:t>GMs</a:t>
                      </a:r>
                    </a:p>
                  </a:txBody>
                  <a:tcPr marL="64008" marR="64008" marT="36576" marB="36576" anchor="ctr">
                    <a:solidFill>
                      <a:srgbClr val="FFFFFF"/>
                    </a:solidFill>
                  </a:tcPr>
                </a:tc>
                <a:tc>
                  <a:txBody>
                    <a:bodyPr wrap="square"/>
                    <a:lstStyle/>
                    <a:p>
                      <a:r>
                        <a:rPr sz="1050" b="0">
                          <a:solidFill>
                            <a:srgbClr val="3B2A54"/>
                          </a:solidFill>
                          <a:latin typeface="Arial"/>
                        </a:rPr>
                        <a:t>Bring the cases; co-sign them</a:t>
                      </a:r>
                    </a:p>
                  </a:txBody>
                  <a:tcPr marL="64008" marR="64008" marT="36576" marB="36576" anchor="ctr">
                    <a:solidFill>
                      <a:srgbClr val="FFFFFF"/>
                    </a:solidFill>
                  </a:tcPr>
                </a:tc>
                <a:tc>
                  <a:txBody>
                    <a:bodyPr wrap="square"/>
                    <a:lstStyle/>
                    <a:p>
                      <a:r>
                        <a:rPr sz="1050" b="0">
                          <a:solidFill>
                            <a:srgbClr val="3B2A54"/>
                          </a:solidFill>
                          <a:latin typeface="Arial"/>
                        </a:rPr>
                        <a:t>Squad clinics weekly; one-to-ones every two weeks</a:t>
                      </a:r>
                    </a:p>
                  </a:txBody>
                  <a:tcPr marL="64008" marR="64008" marT="36576" marB="36576" anchor="ctr">
                    <a:solidFill>
                      <a:srgbClr val="FFFFFF"/>
                    </a:solidFill>
                  </a:tcPr>
                </a:tc>
              </a:tr>
            </a:tbl>
          </a:graphicData>
        </a:graphic>
      </p:graphicFrame>
      <p:sp>
        <p:nvSpPr>
          <p:cNvPr id="5" name="TextBox 4"/>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H</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Two AI agents take the busywork; people own every number and decision</a:t>
            </a:r>
          </a:p>
        </p:txBody>
      </p:sp>
      <p:graphicFrame>
        <p:nvGraphicFramePr>
          <p:cNvPr id="4" name="Table 3"/>
          <p:cNvGraphicFramePr>
            <a:graphicFrameLocks noGrp="1"/>
          </p:cNvGraphicFramePr>
          <p:nvPr/>
        </p:nvGraphicFramePr>
        <p:xfrm>
          <a:off x="612648" y="1325880"/>
          <a:ext cx="10972800" cy="3435095"/>
        </p:xfrm>
        <a:graphic>
          <a:graphicData uri="http://schemas.openxmlformats.org/drawingml/2006/table">
            <a:tbl>
              <a:tblPr>
                <a:tableStyleId>{5C22544A-7EE6-4342-B048-85BDC9FD1C3A}</a:tableStyleId>
              </a:tblPr>
              <a:tblGrid>
                <a:gridCol w="1737360"/>
                <a:gridCol w="4617720"/>
                <a:gridCol w="4617720"/>
              </a:tblGrid>
              <a:tr h="457200">
                <a:tc>
                  <a:txBody>
                    <a:bodyPr wrap="square"/>
                    <a:lstStyle/>
                    <a:p>
                      <a:r>
                        <a:rPr sz="1150" b="1">
                          <a:solidFill>
                            <a:srgbClr val="FFFFFF"/>
                          </a:solidFill>
                          <a:latin typeface="Arial"/>
                        </a:rPr>
                        <a:t/>
                      </a:r>
                    </a:p>
                  </a:txBody>
                  <a:tcPr marL="64008" marR="64008" marT="36576" marB="36576" anchor="ctr">
                    <a:solidFill>
                      <a:srgbClr val="820AD1"/>
                    </a:solidFill>
                  </a:tcPr>
                </a:tc>
                <a:tc>
                  <a:txBody>
                    <a:bodyPr wrap="square"/>
                    <a:lstStyle/>
                    <a:p>
                      <a:r>
                        <a:rPr sz="1150" b="1">
                          <a:solidFill>
                            <a:srgbClr val="FFFFFF"/>
                          </a:solidFill>
                          <a:latin typeface="Arial"/>
                        </a:rPr>
                        <a:t>PMO agent</a:t>
                      </a:r>
                    </a:p>
                  </a:txBody>
                  <a:tcPr marL="64008" marR="64008" marT="36576" marB="36576" anchor="ctr">
                    <a:solidFill>
                      <a:srgbClr val="820AD1"/>
                    </a:solidFill>
                  </a:tcPr>
                </a:tc>
                <a:tc>
                  <a:txBody>
                    <a:bodyPr wrap="square"/>
                    <a:lstStyle/>
                    <a:p>
                      <a:r>
                        <a:rPr sz="1150" b="1">
                          <a:solidFill>
                            <a:srgbClr val="FFFFFF"/>
                          </a:solidFill>
                          <a:latin typeface="Arial"/>
                        </a:rPr>
                        <a:t>Review agent</a:t>
                      </a:r>
                    </a:p>
                  </a:txBody>
                  <a:tcPr marL="64008" marR="64008" marT="36576" marB="36576" anchor="ctr">
                    <a:solidFill>
                      <a:srgbClr val="820AD1"/>
                    </a:solidFill>
                  </a:tcPr>
                </a:tc>
              </a:tr>
              <a:tr h="743711">
                <a:tc>
                  <a:txBody>
                    <a:bodyPr wrap="square"/>
                    <a:lstStyle/>
                    <a:p>
                      <a:r>
                        <a:rPr sz="1100" b="1">
                          <a:solidFill>
                            <a:srgbClr val="11052C"/>
                          </a:solidFill>
                          <a:latin typeface="Arial"/>
                        </a:rPr>
                        <a:t>Day to day</a:t>
                      </a:r>
                    </a:p>
                  </a:txBody>
                  <a:tcPr marL="64008" marR="64008" marT="36576" marB="36576" anchor="ctr">
                    <a:solidFill>
                      <a:srgbClr val="FFFFFF"/>
                    </a:solidFill>
                  </a:tcPr>
                </a:tc>
                <a:tc>
                  <a:txBody>
                    <a:bodyPr wrap="square"/>
                    <a:lstStyle/>
                    <a:p>
                      <a:r>
                        <a:rPr sz="1100" b="0">
                          <a:solidFill>
                            <a:srgbClr val="3B2A54"/>
                          </a:solidFill>
                          <a:latin typeface="Arial"/>
                        </a:rPr>
                        <a:t>Every Monday it reads status where the work happens (tracker, shared drive, team channels) for the HQ gates, the release plan and the Board countdown. It updates the gate tracker and decision log, flags dates at risk and drafts the pod note.</a:t>
                      </a:r>
                    </a:p>
                  </a:txBody>
                  <a:tcPr marL="64008" marR="64008" marT="36576" marB="36576" anchor="ctr">
                    <a:solidFill>
                      <a:srgbClr val="FFFFFF"/>
                    </a:solidFill>
                  </a:tcPr>
                </a:tc>
                <a:tc>
                  <a:txBody>
                    <a:bodyPr wrap="square"/>
                    <a:lstStyle/>
                    <a:p>
                      <a:r>
                        <a:rPr sz="1100" b="0">
                          <a:solidFill>
                            <a:srgbClr val="3B2A54"/>
                          </a:solidFill>
                          <a:latin typeface="Arial"/>
                        </a:rPr>
                        <a:t>When a GM submits a case, it checks the template and the four indicators, ties each figure to the data platform and flags gaps before the clinic. For the Board, it drafts the book from the locked tables and drafts answers to directors' questions.</a:t>
                      </a:r>
                    </a:p>
                  </a:txBody>
                  <a:tcPr marL="64008" marR="64008" marT="36576" marB="36576" anchor="ctr">
                    <a:solidFill>
                      <a:srgbClr val="FFFFFF"/>
                    </a:solidFill>
                  </a:tcPr>
                </a:tc>
              </a:tr>
              <a:tr h="457200">
                <a:tc>
                  <a:txBody>
                    <a:bodyPr wrap="square"/>
                    <a:lstStyle/>
                    <a:p>
                      <a:r>
                        <a:rPr sz="1100" b="1">
                          <a:solidFill>
                            <a:srgbClr val="11052C"/>
                          </a:solidFill>
                          <a:latin typeface="Arial"/>
                        </a:rPr>
                        <a:t>What it replaces</a:t>
                      </a:r>
                    </a:p>
                  </a:txBody>
                  <a:tcPr marL="64008" marR="64008" marT="36576" marB="36576" anchor="ctr">
                    <a:solidFill>
                      <a:srgbClr val="F7F2FD"/>
                    </a:solidFill>
                  </a:tcPr>
                </a:tc>
                <a:tc>
                  <a:txBody>
                    <a:bodyPr wrap="square"/>
                    <a:lstStyle/>
                    <a:p>
                      <a:r>
                        <a:rPr sz="1100" b="0">
                          <a:solidFill>
                            <a:srgbClr val="3B2A54"/>
                          </a:solidFill>
                          <a:latin typeface="Arial"/>
                        </a:rPr>
                        <a:t>Status templates and the weekly chase. Owners correct a draft instead of filling in a form.</a:t>
                      </a:r>
                    </a:p>
                  </a:txBody>
                  <a:tcPr marL="64008" marR="64008" marT="36576" marB="36576" anchor="ctr">
                    <a:solidFill>
                      <a:srgbClr val="F7F2FD"/>
                    </a:solidFill>
                  </a:tcPr>
                </a:tc>
                <a:tc>
                  <a:txBody>
                    <a:bodyPr wrap="square"/>
                    <a:lstStyle/>
                    <a:p>
                      <a:r>
                        <a:rPr sz="1100" b="0">
                          <a:solidFill>
                            <a:srgbClr val="3B2A54"/>
                          </a:solidFill>
                          <a:latin typeface="Arial"/>
                        </a:rPr>
                        <a:t>Manual tie-outs and blank-page first drafts. Analyst time moves to judgment.</a:t>
                      </a:r>
                    </a:p>
                  </a:txBody>
                  <a:tcPr marL="64008" marR="64008" marT="36576" marB="36576" anchor="ctr">
                    <a:solidFill>
                      <a:srgbClr val="F7F2FD"/>
                    </a:solidFill>
                  </a:tcPr>
                </a:tc>
              </a:tr>
              <a:tr h="743711">
                <a:tc>
                  <a:txBody>
                    <a:bodyPr wrap="square"/>
                    <a:lstStyle/>
                    <a:p>
                      <a:r>
                        <a:rPr sz="1100" b="1">
                          <a:solidFill>
                            <a:srgbClr val="11052C"/>
                          </a:solidFill>
                          <a:latin typeface="Arial"/>
                        </a:rPr>
                        <a:t>Why it is good practice</a:t>
                      </a:r>
                    </a:p>
                  </a:txBody>
                  <a:tcPr marL="64008" marR="64008" marT="36576" marB="36576" anchor="ctr">
                    <a:solidFill>
                      <a:srgbClr val="FFFFFF"/>
                    </a:solidFill>
                  </a:tcPr>
                </a:tc>
                <a:tc>
                  <a:txBody>
                    <a:bodyPr wrap="square"/>
                    <a:lstStyle/>
                    <a:p>
                      <a:r>
                        <a:rPr sz="1100" b="0">
                          <a:solidFill>
                            <a:srgbClr val="3B2A54"/>
                          </a:solidFill>
                          <a:latin typeface="Arial"/>
                        </a:rPr>
                        <a:t>Gartner (2019): data collection, tracking and reporting are the project-management tasks AI takes over; 80% of today's tasks gone by 2030. PMI (2023): reporting is project managers' top AI use (34%).</a:t>
                      </a:r>
                    </a:p>
                  </a:txBody>
                  <a:tcPr marL="64008" marR="64008" marT="36576" marB="36576" anchor="ctr">
                    <a:solidFill>
                      <a:srgbClr val="FFFFFF"/>
                    </a:solidFill>
                  </a:tcPr>
                </a:tc>
                <a:tc>
                  <a:txBody>
                    <a:bodyPr wrap="square"/>
                    <a:lstStyle/>
                    <a:p>
                      <a:r>
                        <a:rPr sz="1100" b="0">
                          <a:solidFill>
                            <a:srgbClr val="3B2A54"/>
                          </a:solidFill>
                          <a:latin typeface="Arial"/>
                        </a:rPr>
                        <a:t>Science (Noy and Zhang, 2023): writing tasks 40% faster, quality up 18%. HBS/BCG (2023): inside AI's frontier, 12.2% more tasks and 40% higher quality; outside it, 19 points less accurate. Gartner (2024): 58% of finance teams use AI.</a:t>
                      </a:r>
                    </a:p>
                  </a:txBody>
                  <a:tcPr marL="64008" marR="64008" marT="36576" marB="36576" anchor="ctr">
                    <a:solidFill>
                      <a:srgbClr val="FFFFFF"/>
                    </a:solidFill>
                  </a:tcPr>
                </a:tc>
              </a:tr>
              <a:tr h="576072">
                <a:tc>
                  <a:txBody>
                    <a:bodyPr wrap="square"/>
                    <a:lstStyle/>
                    <a:p>
                      <a:r>
                        <a:rPr sz="1100" b="1">
                          <a:solidFill>
                            <a:srgbClr val="11052C"/>
                          </a:solidFill>
                          <a:latin typeface="Arial"/>
                        </a:rPr>
                        <a:t>Guardrails</a:t>
                      </a:r>
                    </a:p>
                  </a:txBody>
                  <a:tcPr marL="64008" marR="64008" marT="36576" marB="36576" anchor="ctr">
                    <a:solidFill>
                      <a:srgbClr val="F7F2FD"/>
                    </a:solidFill>
                  </a:tcPr>
                </a:tc>
                <a:tc>
                  <a:txBody>
                    <a:bodyPr wrap="square"/>
                    <a:lstStyle/>
                    <a:p>
                      <a:r>
                        <a:rPr sz="1100" b="0">
                          <a:solidFill>
                            <a:srgbClr val="3B2A54"/>
                          </a:solidFill>
                          <a:latin typeface="Arial"/>
                        </a:rPr>
                        <a:t>Reads only; never changes a date or a decision. Each owner confirms their line. Escalation to the CFO stays human, within 48 hours.</a:t>
                      </a:r>
                    </a:p>
                  </a:txBody>
                  <a:tcPr marL="64008" marR="64008" marT="36576" marB="36576" anchor="ctr">
                    <a:solidFill>
                      <a:srgbClr val="F7F2FD"/>
                    </a:solidFill>
                  </a:tcPr>
                </a:tc>
                <a:tc>
                  <a:txBody>
                    <a:bodyPr wrap="square"/>
                    <a:lstStyle/>
                    <a:p>
                      <a:r>
                        <a:rPr sz="1100" b="0">
                          <a:solidFill>
                            <a:srgbClr val="3B2A54"/>
                          </a:solidFill>
                          <a:latin typeface="Arial"/>
                        </a:rPr>
                        <a:t>Nu-approved tools inside Nu's environment (A11). A named person signs every figure and answer. A wrong number that reaches the CFO sends that step back to manual until it is fixed.</a:t>
                      </a:r>
                    </a:p>
                  </a:txBody>
                  <a:tcPr marL="64008" marR="64008" marT="36576" marB="36576" anchor="ctr">
                    <a:solidFill>
                      <a:srgbClr val="F7F2FD"/>
                    </a:solidFill>
                  </a:tcPr>
                </a:tc>
              </a:tr>
              <a:tr h="457200">
                <a:tc>
                  <a:txBody>
                    <a:bodyPr wrap="square"/>
                    <a:lstStyle/>
                    <a:p>
                      <a:r>
                        <a:rPr sz="1100" b="1">
                          <a:solidFill>
                            <a:srgbClr val="11052C"/>
                          </a:solidFill>
                          <a:latin typeface="Arial"/>
                        </a:rPr>
                        <a:t>How I measure it</a:t>
                      </a:r>
                    </a:p>
                  </a:txBody>
                  <a:tcPr marL="64008" marR="64008" marT="36576" marB="36576" anchor="ctr">
                    <a:solidFill>
                      <a:srgbClr val="FFFFFF"/>
                    </a:solidFill>
                  </a:tcPr>
                </a:tc>
                <a:tc>
                  <a:txBody>
                    <a:bodyPr wrap="square"/>
                    <a:lstStyle/>
                    <a:p>
                      <a:r>
                        <a:rPr sz="1100" b="0">
                          <a:solidFill>
                            <a:srgbClr val="3B2A54"/>
                          </a:solidFill>
                          <a:latin typeface="Arial"/>
                        </a:rPr>
                        <a:t>Hours spent on status (baseline now); gate dates hit; no status templates by late November.</a:t>
                      </a:r>
                    </a:p>
                  </a:txBody>
                  <a:tcPr marL="64008" marR="64008" marT="36576" marB="36576" anchor="ctr">
                    <a:solidFill>
                      <a:srgbClr val="FFFFFF"/>
                    </a:solidFill>
                  </a:tcPr>
                </a:tc>
                <a:tc>
                  <a:txBody>
                    <a:bodyPr wrap="square"/>
                    <a:lstStyle/>
                    <a:p>
                      <a:r>
                        <a:rPr sz="1100" b="0">
                          <a:solidFill>
                            <a:srgbClr val="3B2A54"/>
                          </a:solidFill>
                          <a:latin typeface="Arial"/>
                        </a:rPr>
                        <a:t>Cycle time under 40 days; errors caught before the clinic; directors' answers out by T-3.</a:t>
                      </a:r>
                    </a:p>
                  </a:txBody>
                  <a:tcPr marL="64008" marR="64008" marT="36576" marB="36576" anchor="ctr">
                    <a:solidFill>
                      <a:srgbClr val="FFFFFF"/>
                    </a:solidFill>
                  </a:tcPr>
                </a:tc>
              </a:tr>
            </a:tbl>
          </a:graphicData>
        </a:graphic>
      </p:graphicFrame>
      <p:sp>
        <p:nvSpPr>
          <p:cNvPr id="5" name="TextBox 4"/>
          <p:cNvSpPr txBox="1"/>
          <p:nvPr/>
        </p:nvSpPr>
        <p:spPr>
          <a:xfrm>
            <a:off x="612648" y="6035040"/>
            <a:ext cx="10515600" cy="365760"/>
          </a:xfrm>
          <a:prstGeom prst="rect">
            <a:avLst/>
          </a:prstGeom>
          <a:noFill/>
        </p:spPr>
        <p:txBody>
          <a:bodyPr wrap="square" anchor="t">
            <a:spAutoFit/>
          </a:bodyPr>
          <a:lstStyle/>
          <a:p>
            <a:pPr algn="l"/>
            <a:r>
              <a:rPr sz="900" b="0">
                <a:solidFill>
                  <a:srgbClr val="6B5B82"/>
                </a:solidFill>
                <a:latin typeface="Arial"/>
              </a:rPr>
              <a:t>Nu context: AI agents handle more than 60% of support conversations in Brazil (Q2'26 release); AI-first strategy (Hyperplane acquisition, Jun 2024). The studies are context for the method, not a forecast of Nu's savings.</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I</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The downside is handled by rules: miss Q1 and the second release waits</a:t>
            </a:r>
          </a:p>
        </p:txBody>
      </p:sp>
      <p:graphicFrame>
        <p:nvGraphicFramePr>
          <p:cNvPr id="4" name="Table 3"/>
          <p:cNvGraphicFramePr>
            <a:graphicFrameLocks noGrp="1"/>
          </p:cNvGraphicFramePr>
          <p:nvPr/>
        </p:nvGraphicFramePr>
        <p:xfrm>
          <a:off x="612648" y="1600200"/>
          <a:ext cx="10789920" cy="3163824"/>
        </p:xfrm>
        <a:graphic>
          <a:graphicData uri="http://schemas.openxmlformats.org/drawingml/2006/table">
            <a:tbl>
              <a:tblPr>
                <a:tableStyleId>{5C22544A-7EE6-4342-B048-85BDC9FD1C3A}</a:tableStyleId>
              </a:tblPr>
              <a:tblGrid>
                <a:gridCol w="2194560"/>
                <a:gridCol w="2834640"/>
                <a:gridCol w="2926080"/>
                <a:gridCol w="2834640"/>
              </a:tblGrid>
              <a:tr h="502920">
                <a:tc>
                  <a:txBody>
                    <a:bodyPr wrap="square"/>
                    <a:lstStyle/>
                    <a:p>
                      <a:r>
                        <a:rPr sz="1150" b="1">
                          <a:solidFill>
                            <a:srgbClr val="FFFFFF"/>
                          </a:solidFill>
                          <a:latin typeface="Arial"/>
                        </a:rPr>
                        <a:t/>
                      </a:r>
                    </a:p>
                  </a:txBody>
                  <a:tcPr marL="64008" marR="64008" marT="36576" marB="36576" anchor="ctr">
                    <a:solidFill>
                      <a:srgbClr val="820AD1"/>
                    </a:solidFill>
                  </a:tcPr>
                </a:tc>
                <a:tc>
                  <a:txBody>
                    <a:bodyPr wrap="square"/>
                    <a:lstStyle/>
                    <a:p>
                      <a:r>
                        <a:rPr sz="1150" b="1">
                          <a:solidFill>
                            <a:srgbClr val="FFFFFF"/>
                          </a:solidFill>
                          <a:latin typeface="Arial"/>
                        </a:rPr>
                        <a:t>Market slows</a:t>
                      </a:r>
                    </a:p>
                  </a:txBody>
                  <a:tcPr marL="64008" marR="64008" marT="36576" marB="36576" anchor="ctr">
                    <a:solidFill>
                      <a:srgbClr val="820AD1"/>
                    </a:solidFill>
                  </a:tcPr>
                </a:tc>
                <a:tc>
                  <a:txBody>
                    <a:bodyPr wrap="square"/>
                    <a:lstStyle/>
                    <a:p>
                      <a:r>
                        <a:rPr sz="1150" b="1">
                          <a:solidFill>
                            <a:srgbClr val="FFFFFF"/>
                          </a:solidFill>
                          <a:latin typeface="Arial"/>
                        </a:rPr>
                        <a:t>Base plan</a:t>
                      </a:r>
                    </a:p>
                  </a:txBody>
                  <a:tcPr marL="64008" marR="64008" marT="36576" marB="36576" anchor="ctr">
                    <a:solidFill>
                      <a:srgbClr val="820AD1"/>
                    </a:solidFill>
                  </a:tcPr>
                </a:tc>
                <a:tc>
                  <a:txBody>
                    <a:bodyPr wrap="square"/>
                    <a:lstStyle/>
                    <a:p>
                      <a:r>
                        <a:rPr sz="1150" b="1">
                          <a:solidFill>
                            <a:srgbClr val="FFFFFF"/>
                          </a:solidFill>
                          <a:latin typeface="Arial"/>
                        </a:rPr>
                        <a:t>H1 beats plan</a:t>
                      </a:r>
                    </a:p>
                  </a:txBody>
                  <a:tcPr marL="64008" marR="64008" marT="36576" marB="36576" anchor="ctr">
                    <a:solidFill>
                      <a:srgbClr val="820AD1"/>
                    </a:solidFill>
                  </a:tcPr>
                </a:tc>
              </a:tr>
              <a:tr h="502920">
                <a:tc>
                  <a:txBody>
                    <a:bodyPr wrap="square"/>
                    <a:lstStyle/>
                    <a:p>
                      <a:r>
                        <a:rPr sz="1100" b="1">
                          <a:solidFill>
                            <a:srgbClr val="11052C"/>
                          </a:solidFill>
                          <a:latin typeface="Arial"/>
                        </a:rPr>
                        <a:t>Funded spend vs the $25M cap</a:t>
                      </a:r>
                    </a:p>
                  </a:txBody>
                  <a:tcPr marL="64008" marR="64008" marT="36576" marB="36576" anchor="ctr">
                    <a:solidFill>
                      <a:srgbClr val="FFFFFF"/>
                    </a:solidFill>
                  </a:tcPr>
                </a:tc>
                <a:tc>
                  <a:txBody>
                    <a:bodyPr wrap="square"/>
                    <a:lstStyle/>
                    <a:p>
                      <a:r>
                        <a:rPr sz="1100" b="0">
                          <a:solidFill>
                            <a:srgbClr val="3B2A54"/>
                          </a:solidFill>
                          <a:latin typeface="Arial"/>
                        </a:rPr>
                        <a:t>$15.0M (second release held at Q1 close)</a:t>
                      </a:r>
                    </a:p>
                  </a:txBody>
                  <a:tcPr marL="64008" marR="64008" marT="36576" marB="36576" anchor="ctr">
                    <a:solidFill>
                      <a:srgbClr val="FFFFFF"/>
                    </a:solidFill>
                  </a:tcPr>
                </a:tc>
                <a:tc>
                  <a:txBody>
                    <a:bodyPr wrap="square"/>
                    <a:lstStyle/>
                    <a:p>
                      <a:r>
                        <a:rPr sz="1100" b="0">
                          <a:solidFill>
                            <a:srgbClr val="3B2A54"/>
                          </a:solidFill>
                          <a:latin typeface="Arial"/>
                        </a:rPr>
                        <a:t>$25.0M ($15M + $10M)</a:t>
                      </a:r>
                    </a:p>
                  </a:txBody>
                  <a:tcPr marL="64008" marR="64008" marT="36576" marB="36576" anchor="ctr">
                    <a:solidFill>
                      <a:srgbClr val="FFFFFF"/>
                    </a:solidFill>
                  </a:tcPr>
                </a:tc>
                <a:tc>
                  <a:txBody>
                    <a:bodyPr wrap="square"/>
                    <a:lstStyle/>
                    <a:p>
                      <a:r>
                        <a:rPr sz="1100" b="0">
                          <a:solidFill>
                            <a:srgbClr val="3B2A54"/>
                          </a:solidFill>
                          <a:latin typeface="Arial"/>
                        </a:rPr>
                        <a:t>$25.0M</a:t>
                      </a:r>
                    </a:p>
                  </a:txBody>
                  <a:tcPr marL="64008" marR="64008" marT="36576" marB="36576" anchor="ctr">
                    <a:solidFill>
                      <a:srgbClr val="FFFFFF"/>
                    </a:solidFill>
                  </a:tcPr>
                </a:tc>
              </a:tr>
              <a:tr h="502920">
                <a:tc>
                  <a:txBody>
                    <a:bodyPr wrap="square"/>
                    <a:lstStyle/>
                    <a:p>
                      <a:r>
                        <a:rPr sz="1100" b="1">
                          <a:solidFill>
                            <a:srgbClr val="11052C"/>
                          </a:solidFill>
                          <a:latin typeface="Arial"/>
                        </a:rPr>
                        <a:t>H2 reserve</a:t>
                      </a:r>
                    </a:p>
                  </a:txBody>
                  <a:tcPr marL="64008" marR="64008" marT="36576" marB="36576" anchor="ctr">
                    <a:solidFill>
                      <a:srgbClr val="F7F2FD"/>
                    </a:solidFill>
                  </a:tcPr>
                </a:tc>
                <a:tc>
                  <a:txBody>
                    <a:bodyPr wrap="square"/>
                    <a:lstStyle/>
                    <a:p>
                      <a:r>
                        <a:rPr sz="1100" b="0">
                          <a:solidFill>
                            <a:srgbClr val="3B2A54"/>
                          </a:solidFill>
                          <a:latin typeface="Arial"/>
                        </a:rPr>
                        <a:t>$0</a:t>
                      </a:r>
                    </a:p>
                  </a:txBody>
                  <a:tcPr marL="64008" marR="64008" marT="36576" marB="36576" anchor="ctr">
                    <a:solidFill>
                      <a:srgbClr val="F7F2FD"/>
                    </a:solidFill>
                  </a:tcPr>
                </a:tc>
                <a:tc>
                  <a:txBody>
                    <a:bodyPr wrap="square"/>
                    <a:lstStyle/>
                    <a:p>
                      <a:r>
                        <a:rPr sz="1100" b="0">
                          <a:solidFill>
                            <a:srgbClr val="3B2A54"/>
                          </a:solidFill>
                          <a:latin typeface="Arial"/>
                        </a:rPr>
                        <a:t>$0 (not assumed)</a:t>
                      </a:r>
                    </a:p>
                  </a:txBody>
                  <a:tcPr marL="64008" marR="64008" marT="36576" marB="36576" anchor="ctr">
                    <a:solidFill>
                      <a:srgbClr val="F7F2FD"/>
                    </a:solidFill>
                  </a:tcPr>
                </a:tc>
                <a:tc>
                  <a:txBody>
                    <a:bodyPr wrap="square"/>
                    <a:lstStyle/>
                    <a:p>
                      <a:r>
                        <a:rPr sz="1100" b="0">
                          <a:solidFill>
                            <a:srgbClr val="3B2A54"/>
                          </a:solidFill>
                          <a:latin typeface="Arial"/>
                        </a:rPr>
                        <a:t>Up to $15.0M from H1 profit above plan, inside the guide in force</a:t>
                      </a:r>
                    </a:p>
                  </a:txBody>
                  <a:tcPr marL="64008" marR="64008" marT="36576" marB="36576" anchor="ctr">
                    <a:solidFill>
                      <a:srgbClr val="F7F2FD"/>
                    </a:solidFill>
                  </a:tcPr>
                </a:tc>
              </a:tr>
              <a:tr h="576072">
                <a:tc>
                  <a:txBody>
                    <a:bodyPr wrap="square"/>
                    <a:lstStyle/>
                    <a:p>
                      <a:r>
                        <a:rPr sz="1100" b="1">
                          <a:solidFill>
                            <a:srgbClr val="11052C"/>
                          </a:solidFill>
                          <a:latin typeface="Arial"/>
                        </a:rPr>
                        <a:t>Stop rules</a:t>
                      </a:r>
                    </a:p>
                  </a:txBody>
                  <a:tcPr marL="64008" marR="64008" marT="36576" marB="36576" anchor="ctr">
                    <a:solidFill>
                      <a:srgbClr val="FFFFFF"/>
                    </a:solidFill>
                  </a:tcPr>
                </a:tc>
                <a:tc>
                  <a:txBody>
                    <a:bodyPr wrap="square"/>
                    <a:lstStyle/>
                    <a:p>
                      <a:r>
                        <a:rPr sz="1100" b="0">
                          <a:solidFill>
                            <a:srgbClr val="3B2A54"/>
                          </a:solidFill>
                          <a:latin typeface="Arial"/>
                        </a:rPr>
                        <a:t>A unit below plan on two of four indicators: its second-release share is held</a:t>
                      </a:r>
                    </a:p>
                  </a:txBody>
                  <a:tcPr marL="64008" marR="64008" marT="36576" marB="36576" anchor="ctr">
                    <a:solidFill>
                      <a:srgbClr val="FFFFFF"/>
                    </a:solidFill>
                  </a:tcPr>
                </a:tc>
                <a:tc>
                  <a:txBody>
                    <a:bodyPr wrap="square"/>
                    <a:lstStyle/>
                    <a:p>
                      <a:r>
                        <a:rPr sz="1100" b="0">
                          <a:solidFill>
                            <a:srgbClr val="3B2A54"/>
                          </a:solidFill>
                          <a:latin typeface="Arial"/>
                        </a:rPr>
                        <a:t>Efficiency ratio above the guide in force at Q1 close: the second release is held for every unit</a:t>
                      </a:r>
                    </a:p>
                  </a:txBody>
                  <a:tcPr marL="64008" marR="64008" marT="36576" marB="36576" anchor="ctr">
                    <a:solidFill>
                      <a:srgbClr val="FFFFFF"/>
                    </a:solidFill>
                  </a:tcPr>
                </a:tc>
                <a:tc>
                  <a:txBody>
                    <a:bodyPr wrap="square"/>
                    <a:lstStyle/>
                    <a:p>
                      <a:r>
                        <a:rPr sz="1100" b="0">
                          <a:solidFill>
                            <a:srgbClr val="3B2A54"/>
                          </a:solidFill>
                          <a:latin typeface="Arial"/>
                        </a:rPr>
                        <a:t>Credit cost or NPL 90+ above plan: the reserve stays shut; Risk can block it</a:t>
                      </a:r>
                    </a:p>
                  </a:txBody>
                  <a:tcPr marL="64008" marR="64008" marT="36576" marB="36576" anchor="ctr">
                    <a:solidFill>
                      <a:srgbClr val="FFFFFF"/>
                    </a:solidFill>
                  </a:tcPr>
                </a:tc>
              </a:tr>
              <a:tr h="576072">
                <a:tc>
                  <a:txBody>
                    <a:bodyPr wrap="square"/>
                    <a:lstStyle/>
                    <a:p>
                      <a:r>
                        <a:rPr sz="1100" b="1">
                          <a:solidFill>
                            <a:srgbClr val="11052C"/>
                          </a:solidFill>
                          <a:latin typeface="Arial"/>
                        </a:rPr>
                        <a:t>Top risks and owners</a:t>
                      </a:r>
                    </a:p>
                  </a:txBody>
                  <a:tcPr marL="64008" marR="64008" marT="36576" marB="36576" anchor="ctr">
                    <a:solidFill>
                      <a:srgbClr val="F7F2FD"/>
                    </a:solidFill>
                  </a:tcPr>
                </a:tc>
                <a:tc>
                  <a:txBody>
                    <a:bodyPr wrap="square"/>
                    <a:lstStyle/>
                    <a:p>
                      <a:r>
                        <a:rPr sz="1100" b="0">
                          <a:solidFill>
                            <a:srgbClr val="3B2A54"/>
                          </a:solidFill>
                          <a:latin typeface="Arial"/>
                        </a:rPr>
                        <a:t>GMs game the indicators: finance partners own the read-out</a:t>
                      </a:r>
                    </a:p>
                  </a:txBody>
                  <a:tcPr marL="64008" marR="64008" marT="36576" marB="36576" anchor="ctr">
                    <a:solidFill>
                      <a:srgbClr val="F7F2FD"/>
                    </a:solidFill>
                  </a:tcPr>
                </a:tc>
                <a:tc>
                  <a:txBody>
                    <a:bodyPr wrap="square"/>
                    <a:lstStyle/>
                    <a:p>
                      <a:r>
                        <a:rPr sz="1100" b="0">
                          <a:solidFill>
                            <a:srgbClr val="3B2A54"/>
                          </a:solidFill>
                          <a:latin typeface="Arial"/>
                        </a:rPr>
                        <a:t>Board book slips: the outline locked today decides what goes to the appendix</a:t>
                      </a:r>
                    </a:p>
                  </a:txBody>
                  <a:tcPr marL="64008" marR="64008" marT="36576" marB="36576" anchor="ctr">
                    <a:solidFill>
                      <a:srgbClr val="F7F2FD"/>
                    </a:solidFill>
                  </a:tcPr>
                </a:tc>
                <a:tc>
                  <a:txBody>
                    <a:bodyPr wrap="square"/>
                    <a:lstStyle/>
                    <a:p>
                      <a:r>
                        <a:rPr sz="1100" b="0">
                          <a:solidFill>
                            <a:srgbClr val="3B2A54"/>
                          </a:solidFill>
                          <a:latin typeface="Arial"/>
                        </a:rPr>
                        <a:t>HQ: tax residence, clawback, officer approval, site politics, key-person risk (backup J)</a:t>
                      </a:r>
                    </a:p>
                  </a:txBody>
                  <a:tcPr marL="64008" marR="64008" marT="36576" marB="36576" anchor="ctr">
                    <a:solidFill>
                      <a:srgbClr val="F7F2FD"/>
                    </a:solidFill>
                  </a:tcPr>
                </a:tc>
              </a:tr>
              <a:tr h="502920">
                <a:tc>
                  <a:txBody>
                    <a:bodyPr wrap="square"/>
                    <a:lstStyle/>
                    <a:p>
                      <a:r>
                        <a:rPr sz="1100" b="1">
                          <a:solidFill>
                            <a:srgbClr val="11052C"/>
                          </a:solidFill>
                          <a:latin typeface="Arial"/>
                        </a:rPr>
                        <a:t>What I report in 90 days</a:t>
                      </a:r>
                    </a:p>
                  </a:txBody>
                  <a:tcPr marL="64008" marR="64008" marT="36576" marB="36576" anchor="ctr">
                    <a:solidFill>
                      <a:srgbClr val="FFFFFF"/>
                    </a:solidFill>
                  </a:tcPr>
                </a:tc>
                <a:tc>
                  <a:txBody>
                    <a:bodyPr wrap="square"/>
                    <a:lstStyle/>
                    <a:p>
                      <a:r>
                        <a:rPr sz="1100" b="0">
                          <a:solidFill>
                            <a:srgbClr val="3B2A54"/>
                          </a:solidFill>
                          <a:latin typeface="Arial"/>
                        </a:rPr>
                        <a:t>First monthly indicator read-outs per unit</a:t>
                      </a:r>
                    </a:p>
                  </a:txBody>
                  <a:tcPr marL="64008" marR="64008" marT="36576" marB="36576" anchor="ctr">
                    <a:solidFill>
                      <a:srgbClr val="FFFFFF"/>
                    </a:solidFill>
                  </a:tcPr>
                </a:tc>
                <a:tc>
                  <a:txBody>
                    <a:bodyPr wrap="square"/>
                    <a:lstStyle/>
                    <a:p>
                      <a:r>
                        <a:rPr sz="1100" b="0">
                          <a:solidFill>
                            <a:srgbClr val="3B2A54"/>
                          </a:solidFill>
                          <a:latin typeface="Arial"/>
                        </a:rPr>
                        <a:t>Board delivered; capital plan approved; cycle-time and forecast baselines</a:t>
                      </a:r>
                    </a:p>
                  </a:txBody>
                  <a:tcPr marL="64008" marR="64008" marT="36576" marB="36576" anchor="ctr">
                    <a:solidFill>
                      <a:srgbClr val="FFFFFF"/>
                    </a:solidFill>
                  </a:tcPr>
                </a:tc>
                <a:tc>
                  <a:txBody>
                    <a:bodyPr wrap="square"/>
                    <a:lstStyle/>
                    <a:p>
                      <a:r>
                        <a:rPr sz="1100" b="0">
                          <a:solidFill>
                            <a:srgbClr val="3B2A54"/>
                          </a:solidFill>
                          <a:latin typeface="Arial"/>
                        </a:rPr>
                        <a:t>HQ gates 1 and 2 cleared; gate 3 pack ready</a:t>
                      </a:r>
                    </a:p>
                  </a:txBody>
                  <a:tcPr marL="64008" marR="64008" marT="36576" marB="36576" anchor="ctr">
                    <a:solidFill>
                      <a:srgbClr val="FFFFFF"/>
                    </a:solidFill>
                  </a:tcPr>
                </a:tc>
              </a:tr>
            </a:tbl>
          </a:graphicData>
        </a:graphic>
      </p:graphicFrame>
      <p:sp>
        <p:nvSpPr>
          <p:cNvPr id="5" name="TextBox 4"/>
          <p:cNvSpPr txBox="1"/>
          <p:nvPr/>
        </p:nvSpPr>
        <p:spPr>
          <a:xfrm>
            <a:off x="612648" y="5852160"/>
            <a:ext cx="10515600" cy="411480"/>
          </a:xfrm>
          <a:prstGeom prst="rect">
            <a:avLst/>
          </a:prstGeom>
          <a:noFill/>
        </p:spPr>
        <p:txBody>
          <a:bodyPr wrap="square" anchor="t">
            <a:spAutoFit/>
          </a:bodyPr>
          <a:lstStyle/>
          <a:p>
            <a:pPr algn="l"/>
            <a:r>
              <a:rPr sz="900" b="0">
                <a:solidFill>
                  <a:srgbClr val="6B5B82"/>
                </a:solidFill>
                <a:latin typeface="Arial"/>
              </a:rPr>
              <a:t>Margins are protected without a mid-year freeze. No value figures are claimed beyond the spend lines; before HQ gate 1 they would be guesses.</a:t>
            </a:r>
          </a:p>
        </p:txBody>
      </p:sp>
      <p:sp>
        <p:nvSpPr>
          <p:cNvPr id="6" name="TextBox 5"/>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TextBox 1"/>
          <p:cNvSpPr txBox="1"/>
          <p:nvPr/>
        </p:nvSpPr>
        <p:spPr>
          <a:xfrm>
            <a:off x="612648" y="347472"/>
            <a:ext cx="10972800" cy="274320"/>
          </a:xfrm>
          <a:prstGeom prst="rect">
            <a:avLst/>
          </a:prstGeom>
          <a:noFill/>
        </p:spPr>
        <p:txBody>
          <a:bodyPr wrap="square" anchor="t">
            <a:spAutoFit/>
          </a:bodyPr>
          <a:lstStyle/>
          <a:p>
            <a:pPr algn="l"/>
            <a:r>
              <a:rPr sz="1000" b="1">
                <a:solidFill>
                  <a:srgbClr val="820AD1"/>
                </a:solidFill>
                <a:latin typeface="Arial"/>
              </a:rPr>
              <a:t>BACKUP J</a:t>
            </a:r>
          </a:p>
        </p:txBody>
      </p:sp>
      <p:sp>
        <p:nvSpPr>
          <p:cNvPr id="3" name="TextBox 2"/>
          <p:cNvSpPr txBox="1"/>
          <p:nvPr/>
        </p:nvSpPr>
        <p:spPr>
          <a:xfrm>
            <a:off x="612648" y="621792"/>
            <a:ext cx="10972800" cy="868680"/>
          </a:xfrm>
          <a:prstGeom prst="rect">
            <a:avLst/>
          </a:prstGeom>
          <a:noFill/>
        </p:spPr>
        <p:txBody>
          <a:bodyPr wrap="square" anchor="t">
            <a:spAutoFit/>
          </a:bodyPr>
          <a:lstStyle/>
          <a:p>
            <a:pPr algn="l"/>
            <a:r>
              <a:rPr sz="2400" b="1">
                <a:solidFill>
                  <a:srgbClr val="11052C"/>
                </a:solidFill>
                <a:latin typeface="Arial"/>
              </a:rPr>
              <a:t>HQ site scorecard and risk register: hard tests first, then weights</a:t>
            </a:r>
          </a:p>
        </p:txBody>
      </p:sp>
      <p:sp>
        <p:nvSpPr>
          <p:cNvPr id="4" name="TextBox 3"/>
          <p:cNvSpPr txBox="1"/>
          <p:nvPr/>
        </p:nvSpPr>
        <p:spPr>
          <a:xfrm>
            <a:off x="612648" y="1463040"/>
            <a:ext cx="5394960" cy="685800"/>
          </a:xfrm>
          <a:prstGeom prst="rect">
            <a:avLst/>
          </a:prstGeom>
          <a:noFill/>
        </p:spPr>
        <p:txBody>
          <a:bodyPr wrap="square" anchor="t">
            <a:spAutoFit/>
          </a:bodyPr>
          <a:lstStyle/>
          <a:p>
            <a:pPr algn="l"/>
            <a:r>
              <a:rPr sz="1100" b="1">
                <a:solidFill>
                  <a:srgbClr val="11052C"/>
                </a:solidFill>
                <a:latin typeface="Arial"/>
              </a:rPr>
              <a:t>Hard tests first, pass or fail: </a:t>
            </a:r>
            <a:r>
              <a:rPr sz="1100" b="0">
                <a:solidFill>
                  <a:srgbClr val="11052C"/>
                </a:solidFill>
                <a:latin typeface="Arial"/>
              </a:rPr>
              <a:t>license, tax residence and taxable presence, fit-and-proper officers, real payroll and assets. Only sites that pass are scored.</a:t>
            </a:r>
          </a:p>
        </p:txBody>
      </p:sp>
      <p:graphicFrame>
        <p:nvGraphicFramePr>
          <p:cNvPr id="5" name="Table 4"/>
          <p:cNvGraphicFramePr>
            <a:graphicFrameLocks noGrp="1"/>
          </p:cNvGraphicFramePr>
          <p:nvPr/>
        </p:nvGraphicFramePr>
        <p:xfrm>
          <a:off x="612648" y="2240280"/>
          <a:ext cx="5394960" cy="2350008"/>
        </p:xfrm>
        <a:graphic>
          <a:graphicData uri="http://schemas.openxmlformats.org/drawingml/2006/table">
            <a:tbl>
              <a:tblPr>
                <a:tableStyleId>{5C22544A-7EE6-4342-B048-85BDC9FD1C3A}</a:tableStyleId>
              </a:tblPr>
              <a:tblGrid>
                <a:gridCol w="2514600"/>
                <a:gridCol w="685800"/>
                <a:gridCol w="2194560"/>
              </a:tblGrid>
              <a:tr h="384048">
                <a:tc>
                  <a:txBody>
                    <a:bodyPr wrap="square"/>
                    <a:lstStyle/>
                    <a:p>
                      <a:r>
                        <a:rPr sz="1100" b="1">
                          <a:solidFill>
                            <a:srgbClr val="FFFFFF"/>
                          </a:solidFill>
                          <a:latin typeface="Arial"/>
                        </a:rPr>
                        <a:t>Criterion</a:t>
                      </a:r>
                    </a:p>
                  </a:txBody>
                  <a:tcPr marL="64008" marR="64008" marT="36576" marB="36576" anchor="ctr">
                    <a:solidFill>
                      <a:srgbClr val="820AD1"/>
                    </a:solidFill>
                  </a:tcPr>
                </a:tc>
                <a:tc>
                  <a:txBody>
                    <a:bodyPr wrap="square"/>
                    <a:lstStyle/>
                    <a:p>
                      <a:r>
                        <a:rPr sz="1100" b="1">
                          <a:solidFill>
                            <a:srgbClr val="FFFFFF"/>
                          </a:solidFill>
                          <a:latin typeface="Arial"/>
                        </a:rPr>
                        <a:t>Weight</a:t>
                      </a:r>
                    </a:p>
                  </a:txBody>
                  <a:tcPr marL="64008" marR="64008" marT="36576" marB="36576" anchor="ctr">
                    <a:solidFill>
                      <a:srgbClr val="820AD1"/>
                    </a:solidFill>
                  </a:tcPr>
                </a:tc>
                <a:tc>
                  <a:txBody>
                    <a:bodyPr wrap="square"/>
                    <a:lstStyle/>
                    <a:p>
                      <a:r>
                        <a:rPr sz="1100" b="1">
                          <a:solidFill>
                            <a:srgbClr val="FFFFFF"/>
                          </a:solidFill>
                          <a:latin typeface="Arial"/>
                        </a:rPr>
                        <a:t>Evidence and owner</a:t>
                      </a:r>
                    </a:p>
                  </a:txBody>
                  <a:tcPr marL="64008" marR="64008" marT="36576" marB="36576" anchor="ctr">
                    <a:solidFill>
                      <a:srgbClr val="820AD1"/>
                    </a:solidFill>
                  </a:tcPr>
                </a:tc>
              </a:tr>
              <a:tr h="393192">
                <a:tc>
                  <a:txBody>
                    <a:bodyPr wrap="square"/>
                    <a:lstStyle/>
                    <a:p>
                      <a:r>
                        <a:rPr sz="1050" b="1">
                          <a:solidFill>
                            <a:srgbClr val="11052C"/>
                          </a:solidFill>
                          <a:latin typeface="Arial"/>
                        </a:rPr>
                        <a:t>Talent pool and wage cost</a:t>
                      </a:r>
                    </a:p>
                  </a:txBody>
                  <a:tcPr marL="64008" marR="64008" marT="36576" marB="36576" anchor="ctr">
                    <a:solidFill>
                      <a:srgbClr val="FFFFFF"/>
                    </a:solidFill>
                  </a:tcPr>
                </a:tc>
                <a:tc>
                  <a:txBody>
                    <a:bodyPr wrap="square"/>
                    <a:lstStyle/>
                    <a:p>
                      <a:r>
                        <a:rPr sz="1050" b="0">
                          <a:solidFill>
                            <a:srgbClr val="3B2A54"/>
                          </a:solidFill>
                          <a:latin typeface="Arial"/>
                        </a:rPr>
                        <a:t>30</a:t>
                      </a:r>
                    </a:p>
                  </a:txBody>
                  <a:tcPr marL="64008" marR="64008" marT="36576" marB="36576" anchor="ctr">
                    <a:solidFill>
                      <a:srgbClr val="FFFFFF"/>
                    </a:solidFill>
                  </a:tcPr>
                </a:tc>
                <a:tc>
                  <a:txBody>
                    <a:bodyPr wrap="square"/>
                    <a:lstStyle/>
                    <a:p>
                      <a:r>
                        <a:rPr sz="1050" b="0">
                          <a:solidFill>
                            <a:srgbClr val="3B2A54"/>
                          </a:solidFill>
                          <a:latin typeface="Arial"/>
                        </a:rPr>
                        <a:t>Hiring data and wage benchmarks (People)</a:t>
                      </a:r>
                    </a:p>
                  </a:txBody>
                  <a:tcPr marL="64008" marR="64008" marT="36576" marB="36576" anchor="ctr">
                    <a:solidFill>
                      <a:srgbClr val="FFFFFF"/>
                    </a:solidFill>
                  </a:tcPr>
                </a:tc>
              </a:tr>
              <a:tr h="393192">
                <a:tc>
                  <a:txBody>
                    <a:bodyPr wrap="square"/>
                    <a:lstStyle/>
                    <a:p>
                      <a:r>
                        <a:rPr sz="1050" b="1">
                          <a:solidFill>
                            <a:srgbClr val="11052C"/>
                          </a:solidFill>
                          <a:latin typeface="Arial"/>
                        </a:rPr>
                        <a:t>Incentive value net of clawback</a:t>
                      </a:r>
                    </a:p>
                  </a:txBody>
                  <a:tcPr marL="64008" marR="64008" marT="36576" marB="36576" anchor="ctr">
                    <a:solidFill>
                      <a:srgbClr val="F7F2FD"/>
                    </a:solidFill>
                  </a:tcPr>
                </a:tc>
                <a:tc>
                  <a:txBody>
                    <a:bodyPr wrap="square"/>
                    <a:lstStyle/>
                    <a:p>
                      <a:r>
                        <a:rPr sz="1050" b="0">
                          <a:solidFill>
                            <a:srgbClr val="3B2A54"/>
                          </a:solidFill>
                          <a:latin typeface="Arial"/>
                        </a:rPr>
                        <a:t>20</a:t>
                      </a:r>
                    </a:p>
                  </a:txBody>
                  <a:tcPr marL="64008" marR="64008" marT="36576" marB="36576" anchor="ctr">
                    <a:solidFill>
                      <a:srgbClr val="F7F2FD"/>
                    </a:solidFill>
                  </a:tcPr>
                </a:tc>
                <a:tc>
                  <a:txBody>
                    <a:bodyPr wrap="square"/>
                    <a:lstStyle/>
                    <a:p>
                      <a:r>
                        <a:rPr sz="1050" b="0">
                          <a:solidFill>
                            <a:srgbClr val="3B2A54"/>
                          </a:solidFill>
                          <a:latin typeface="Arial"/>
                        </a:rPr>
                        <a:t>Draft terms with the clawback modeled (Legal, Tax)</a:t>
                      </a:r>
                    </a:p>
                  </a:txBody>
                  <a:tcPr marL="64008" marR="64008" marT="36576" marB="36576" anchor="ctr">
                    <a:solidFill>
                      <a:srgbClr val="F7F2FD"/>
                    </a:solidFill>
                  </a:tcPr>
                </a:tc>
              </a:tr>
              <a:tr h="393192">
                <a:tc>
                  <a:txBody>
                    <a:bodyPr wrap="square"/>
                    <a:lstStyle/>
                    <a:p>
                      <a:r>
                        <a:rPr sz="1050" b="1">
                          <a:solidFill>
                            <a:srgbClr val="11052C"/>
                          </a:solidFill>
                          <a:latin typeface="Arial"/>
                        </a:rPr>
                        <a:t>Campus cost, flexibility and timing</a:t>
                      </a:r>
                    </a:p>
                  </a:txBody>
                  <a:tcPr marL="64008" marR="64008" marT="36576" marB="36576" anchor="ctr">
                    <a:solidFill>
                      <a:srgbClr val="FFFFFF"/>
                    </a:solidFill>
                  </a:tcPr>
                </a:tc>
                <a:tc>
                  <a:txBody>
                    <a:bodyPr wrap="square"/>
                    <a:lstStyle/>
                    <a:p>
                      <a:r>
                        <a:rPr sz="1050" b="0">
                          <a:solidFill>
                            <a:srgbClr val="3B2A54"/>
                          </a:solidFill>
                          <a:latin typeface="Arial"/>
                        </a:rPr>
                        <a:t>20</a:t>
                      </a:r>
                    </a:p>
                  </a:txBody>
                  <a:tcPr marL="64008" marR="64008" marT="36576" marB="36576" anchor="ctr">
                    <a:solidFill>
                      <a:srgbClr val="FFFFFF"/>
                    </a:solidFill>
                  </a:tcPr>
                </a:tc>
                <a:tc>
                  <a:txBody>
                    <a:bodyPr wrap="square"/>
                    <a:lstStyle/>
                    <a:p>
                      <a:r>
                        <a:rPr sz="1050" b="0">
                          <a:solidFill>
                            <a:srgbClr val="3B2A54"/>
                          </a:solidFill>
                          <a:latin typeface="Arial"/>
                        </a:rPr>
                        <a:t>Lease options, break clauses, fit-out time (Workplace)</a:t>
                      </a:r>
                    </a:p>
                  </a:txBody>
                  <a:tcPr marL="64008" marR="64008" marT="36576" marB="36576" anchor="ctr">
                    <a:solidFill>
                      <a:srgbClr val="FFFFFF"/>
                    </a:solidFill>
                  </a:tcPr>
                </a:tc>
              </a:tr>
              <a:tr h="393192">
                <a:tc>
                  <a:txBody>
                    <a:bodyPr wrap="square"/>
                    <a:lstStyle/>
                    <a:p>
                      <a:r>
                        <a:rPr sz="1050" b="1">
                          <a:solidFill>
                            <a:srgbClr val="11052C"/>
                          </a:solidFill>
                          <a:latin typeface="Arial"/>
                        </a:rPr>
                        <a:t>Modeled tax rate under Pillar Two, including any domestic top-up</a:t>
                      </a:r>
                    </a:p>
                  </a:txBody>
                  <a:tcPr marL="64008" marR="64008" marT="36576" marB="36576" anchor="ctr">
                    <a:solidFill>
                      <a:srgbClr val="F7F2FD"/>
                    </a:solidFill>
                  </a:tcPr>
                </a:tc>
                <a:tc>
                  <a:txBody>
                    <a:bodyPr wrap="square"/>
                    <a:lstStyle/>
                    <a:p>
                      <a:r>
                        <a:rPr sz="1050" b="0">
                          <a:solidFill>
                            <a:srgbClr val="3B2A54"/>
                          </a:solidFill>
                          <a:latin typeface="Arial"/>
                        </a:rPr>
                        <a:t>15</a:t>
                      </a:r>
                    </a:p>
                  </a:txBody>
                  <a:tcPr marL="64008" marR="64008" marT="36576" marB="36576" anchor="ctr">
                    <a:solidFill>
                      <a:srgbClr val="F7F2FD"/>
                    </a:solidFill>
                  </a:tcPr>
                </a:tc>
                <a:tc>
                  <a:txBody>
                    <a:bodyPr wrap="square"/>
                    <a:lstStyle/>
                    <a:p>
                      <a:r>
                        <a:rPr sz="1050" b="0">
                          <a:solidFill>
                            <a:srgbClr val="3B2A54"/>
                          </a:solidFill>
                          <a:latin typeface="Arial"/>
                        </a:rPr>
                        <a:t>The gate 1 model (Tax)</a:t>
                      </a:r>
                    </a:p>
                  </a:txBody>
                  <a:tcPr marL="64008" marR="64008" marT="36576" marB="36576" anchor="ctr">
                    <a:solidFill>
                      <a:srgbClr val="F7F2FD"/>
                    </a:solidFill>
                  </a:tcPr>
                </a:tc>
              </a:tr>
              <a:tr h="393192">
                <a:tc>
                  <a:txBody>
                    <a:bodyPr wrap="square"/>
                    <a:lstStyle/>
                    <a:p>
                      <a:r>
                        <a:rPr sz="1050" b="1">
                          <a:solidFill>
                            <a:srgbClr val="11052C"/>
                          </a:solidFill>
                          <a:latin typeface="Arial"/>
                        </a:rPr>
                        <a:t>Political and reputational risk</a:t>
                      </a:r>
                    </a:p>
                  </a:txBody>
                  <a:tcPr marL="64008" marR="64008" marT="36576" marB="36576" anchor="ctr">
                    <a:solidFill>
                      <a:srgbClr val="FFFFFF"/>
                    </a:solidFill>
                  </a:tcPr>
                </a:tc>
                <a:tc>
                  <a:txBody>
                    <a:bodyPr wrap="square"/>
                    <a:lstStyle/>
                    <a:p>
                      <a:r>
                        <a:rPr sz="1050" b="0">
                          <a:solidFill>
                            <a:srgbClr val="3B2A54"/>
                          </a:solidFill>
                          <a:latin typeface="Arial"/>
                        </a:rPr>
                        <a:t>15</a:t>
                      </a:r>
                    </a:p>
                  </a:txBody>
                  <a:tcPr marL="64008" marR="64008" marT="36576" marB="36576" anchor="ctr">
                    <a:solidFill>
                      <a:srgbClr val="FFFFFF"/>
                    </a:solidFill>
                  </a:tcPr>
                </a:tc>
                <a:tc>
                  <a:txBody>
                    <a:bodyPr wrap="square"/>
                    <a:lstStyle/>
                    <a:p>
                      <a:r>
                        <a:rPr sz="1050" b="0">
                          <a:solidFill>
                            <a:srgbClr val="3B2A54"/>
                          </a:solidFill>
                          <a:latin typeface="Arial"/>
                        </a:rPr>
                        <a:t>Local stakeholder map (Legal, Comms)</a:t>
                      </a:r>
                    </a:p>
                  </a:txBody>
                  <a:tcPr marL="64008" marR="64008" marT="36576" marB="36576" anchor="ctr">
                    <a:solidFill>
                      <a:srgbClr val="FFFFFF"/>
                    </a:solidFill>
                  </a:tcPr>
                </a:tc>
              </a:tr>
            </a:tbl>
          </a:graphicData>
        </a:graphic>
      </p:graphicFrame>
      <p:graphicFrame>
        <p:nvGraphicFramePr>
          <p:cNvPr id="6" name="Table 5"/>
          <p:cNvGraphicFramePr>
            <a:graphicFrameLocks noGrp="1"/>
          </p:cNvGraphicFramePr>
          <p:nvPr/>
        </p:nvGraphicFramePr>
        <p:xfrm>
          <a:off x="6217920" y="1463040"/>
          <a:ext cx="5212080" cy="2670048"/>
        </p:xfrm>
        <a:graphic>
          <a:graphicData uri="http://schemas.openxmlformats.org/drawingml/2006/table">
            <a:tbl>
              <a:tblPr>
                <a:tableStyleId>{5C22544A-7EE6-4342-B048-85BDC9FD1C3A}</a:tableStyleId>
              </a:tblPr>
              <a:tblGrid>
                <a:gridCol w="1783080"/>
                <a:gridCol w="2606040"/>
                <a:gridCol w="822960"/>
              </a:tblGrid>
              <a:tr h="384048">
                <a:tc>
                  <a:txBody>
                    <a:bodyPr wrap="square"/>
                    <a:lstStyle/>
                    <a:p>
                      <a:r>
                        <a:rPr sz="1100" b="1">
                          <a:solidFill>
                            <a:srgbClr val="FFFFFF"/>
                          </a:solidFill>
                          <a:latin typeface="Arial"/>
                        </a:rPr>
                        <a:t>Risk</a:t>
                      </a:r>
                    </a:p>
                  </a:txBody>
                  <a:tcPr marL="64008" marR="64008" marT="36576" marB="36576" anchor="ctr">
                    <a:solidFill>
                      <a:srgbClr val="820AD1"/>
                    </a:solidFill>
                  </a:tcPr>
                </a:tc>
                <a:tc>
                  <a:txBody>
                    <a:bodyPr wrap="square"/>
                    <a:lstStyle/>
                    <a:p>
                      <a:r>
                        <a:rPr sz="1100" b="1">
                          <a:solidFill>
                            <a:srgbClr val="FFFFFF"/>
                          </a:solidFill>
                          <a:latin typeface="Arial"/>
                        </a:rPr>
                        <a:t>Mitigation</a:t>
                      </a:r>
                    </a:p>
                  </a:txBody>
                  <a:tcPr marL="64008" marR="64008" marT="36576" marB="36576" anchor="ctr">
                    <a:solidFill>
                      <a:srgbClr val="820AD1"/>
                    </a:solidFill>
                  </a:tcPr>
                </a:tc>
                <a:tc>
                  <a:txBody>
                    <a:bodyPr wrap="square"/>
                    <a:lstStyle/>
                    <a:p>
                      <a:r>
                        <a:rPr sz="1100" b="1">
                          <a:solidFill>
                            <a:srgbClr val="FFFFFF"/>
                          </a:solidFill>
                          <a:latin typeface="Arial"/>
                        </a:rPr>
                        <a:t>Owner</a:t>
                      </a:r>
                    </a:p>
                  </a:txBody>
                  <a:tcPr marL="64008" marR="64008" marT="36576" marB="36576" anchor="ctr">
                    <a:solidFill>
                      <a:srgbClr val="820AD1"/>
                    </a:solidFill>
                  </a:tcPr>
                </a:tc>
              </a:tr>
              <a:tr h="393192">
                <a:tc>
                  <a:txBody>
                    <a:bodyPr wrap="square"/>
                    <a:lstStyle/>
                    <a:p>
                      <a:r>
                        <a:rPr sz="1050" b="1">
                          <a:solidFill>
                            <a:srgbClr val="11052C"/>
                          </a:solidFill>
                          <a:latin typeface="Arial"/>
                        </a:rPr>
                        <a:t>Tax residence or a taxable presence moves</a:t>
                      </a:r>
                    </a:p>
                  </a:txBody>
                  <a:tcPr marL="64008" marR="64008" marT="36576" marB="36576" anchor="ctr">
                    <a:solidFill>
                      <a:srgbClr val="FFFFFF"/>
                    </a:solidFill>
                  </a:tcPr>
                </a:tc>
                <a:tc>
                  <a:txBody>
                    <a:bodyPr wrap="square"/>
                    <a:lstStyle/>
                    <a:p>
                      <a:r>
                        <a:rPr sz="1050" b="0">
                          <a:solidFill>
                            <a:srgbClr val="3B2A54"/>
                          </a:solidFill>
                          <a:latin typeface="Arial"/>
                        </a:rPr>
                        <a:t>Opinion at gate 1; meeting patterns unchanged; no early signing</a:t>
                      </a:r>
                    </a:p>
                  </a:txBody>
                  <a:tcPr marL="64008" marR="64008" marT="36576" marB="36576" anchor="ctr">
                    <a:solidFill>
                      <a:srgbClr val="FFFFFF"/>
                    </a:solidFill>
                  </a:tcPr>
                </a:tc>
                <a:tc>
                  <a:txBody>
                    <a:bodyPr wrap="square"/>
                    <a:lstStyle/>
                    <a:p>
                      <a:r>
                        <a:rPr sz="1050" b="0">
                          <a:solidFill>
                            <a:srgbClr val="3B2A54"/>
                          </a:solidFill>
                          <a:latin typeface="Arial"/>
                        </a:rPr>
                        <a:t>Tax</a:t>
                      </a:r>
                    </a:p>
                  </a:txBody>
                  <a:tcPr marL="64008" marR="64008" marT="36576" marB="36576" anchor="ctr">
                    <a:solidFill>
                      <a:srgbClr val="FFFFFF"/>
                    </a:solidFill>
                  </a:tcPr>
                </a:tc>
              </a:tr>
              <a:tr h="393192">
                <a:tc>
                  <a:txBody>
                    <a:bodyPr wrap="square"/>
                    <a:lstStyle/>
                    <a:p>
                      <a:r>
                        <a:rPr sz="1050" b="1">
                          <a:solidFill>
                            <a:srgbClr val="11052C"/>
                          </a:solidFill>
                          <a:latin typeface="Arial"/>
                        </a:rPr>
                        <a:t>Grant clawback</a:t>
                      </a:r>
                    </a:p>
                  </a:txBody>
                  <a:tcPr marL="64008" marR="64008" marT="36576" marB="36576" anchor="ctr">
                    <a:solidFill>
                      <a:srgbClr val="F7F2FD"/>
                    </a:solidFill>
                  </a:tcPr>
                </a:tc>
                <a:tc>
                  <a:txBody>
                    <a:bodyPr wrap="square"/>
                    <a:lstStyle/>
                    <a:p>
                      <a:r>
                        <a:rPr sz="1050" b="0">
                          <a:solidFill>
                            <a:srgbClr val="3B2A54"/>
                          </a:solidFill>
                          <a:latin typeface="Arial"/>
                        </a:rPr>
                        <a:t>Proportional scaling and 24 months' grace; walk away from cliff-edge terms</a:t>
                      </a:r>
                    </a:p>
                  </a:txBody>
                  <a:tcPr marL="64008" marR="64008" marT="36576" marB="36576" anchor="ctr">
                    <a:solidFill>
                      <a:srgbClr val="F7F2FD"/>
                    </a:solidFill>
                  </a:tcPr>
                </a:tc>
                <a:tc>
                  <a:txBody>
                    <a:bodyPr wrap="square"/>
                    <a:lstStyle/>
                    <a:p>
                      <a:r>
                        <a:rPr sz="1050" b="0">
                          <a:solidFill>
                            <a:srgbClr val="3B2A54"/>
                          </a:solidFill>
                          <a:latin typeface="Arial"/>
                        </a:rPr>
                        <a:t>Legal</a:t>
                      </a:r>
                    </a:p>
                  </a:txBody>
                  <a:tcPr marL="64008" marR="64008" marT="36576" marB="36576" anchor="ctr">
                    <a:solidFill>
                      <a:srgbClr val="F7F2FD"/>
                    </a:solidFill>
                  </a:tcPr>
                </a:tc>
              </a:tr>
              <a:tr h="553211">
                <a:tc>
                  <a:txBody>
                    <a:bodyPr wrap="square"/>
                    <a:lstStyle/>
                    <a:p>
                      <a:r>
                        <a:rPr sz="1050" b="1">
                          <a:solidFill>
                            <a:srgbClr val="11052C"/>
                          </a:solidFill>
                          <a:latin typeface="Arial"/>
                        </a:rPr>
                        <a:t>Officer approval runs late</a:t>
                      </a:r>
                    </a:p>
                  </a:txBody>
                  <a:tcPr marL="64008" marR="64008" marT="36576" marB="36576" anchor="ctr">
                    <a:solidFill>
                      <a:srgbClr val="FFFFFF"/>
                    </a:solidFill>
                  </a:tcPr>
                </a:tc>
                <a:tc>
                  <a:txBody>
                    <a:bodyPr wrap="square"/>
                    <a:lstStyle/>
                    <a:p>
                      <a:r>
                        <a:rPr sz="1050" b="0">
                          <a:solidFill>
                            <a:srgbClr val="3B2A54"/>
                          </a:solidFill>
                          <a:latin typeface="Arial"/>
                        </a:rPr>
                        <a:t>Files at gate 1; no activation before approval; the lease long-stop moves with it</a:t>
                      </a:r>
                    </a:p>
                  </a:txBody>
                  <a:tcPr marL="64008" marR="64008" marT="36576" marB="36576" anchor="ctr">
                    <a:solidFill>
                      <a:srgbClr val="FFFFFF"/>
                    </a:solidFill>
                  </a:tcPr>
                </a:tc>
                <a:tc>
                  <a:txBody>
                    <a:bodyPr wrap="square"/>
                    <a:lstStyle/>
                    <a:p>
                      <a:r>
                        <a:rPr sz="1050" b="0">
                          <a:solidFill>
                            <a:srgbClr val="3B2A54"/>
                          </a:solidFill>
                          <a:latin typeface="Arial"/>
                        </a:rPr>
                        <a:t>Legal, People</a:t>
                      </a:r>
                    </a:p>
                  </a:txBody>
                  <a:tcPr marL="64008" marR="64008" marT="36576" marB="36576" anchor="ctr">
                    <a:solidFill>
                      <a:srgbClr val="FFFFFF"/>
                    </a:solidFill>
                  </a:tcPr>
                </a:tc>
              </a:tr>
              <a:tr h="553211">
                <a:tc>
                  <a:txBody>
                    <a:bodyPr wrap="square"/>
                    <a:lstStyle/>
                    <a:p>
                      <a:r>
                        <a:rPr sz="1050" b="1">
                          <a:solidFill>
                            <a:srgbClr val="11052C"/>
                          </a:solidFill>
                          <a:latin typeface="Arial"/>
                        </a:rPr>
                        <a:t>Site politics and disclosure</a:t>
                      </a:r>
                    </a:p>
                  </a:txBody>
                  <a:tcPr marL="64008" marR="64008" marT="36576" marB="36576" anchor="ctr">
                    <a:solidFill>
                      <a:srgbClr val="F7F2FD"/>
                    </a:solidFill>
                  </a:tcPr>
                </a:tc>
                <a:tc>
                  <a:txBody>
                    <a:bodyPr wrap="square"/>
                    <a:lstStyle/>
                    <a:p>
                      <a:r>
                        <a:rPr sz="1050" b="0">
                          <a:solidFill>
                            <a:srgbClr val="3B2A54"/>
                          </a:solidFill>
                          <a:latin typeface="Arial"/>
                        </a:rPr>
                        <a:t>No public contact before the scorecard; one spokesperson (Comms); IR decides what is disclosed and when</a:t>
                      </a:r>
                    </a:p>
                  </a:txBody>
                  <a:tcPr marL="64008" marR="64008" marT="36576" marB="36576" anchor="ctr">
                    <a:solidFill>
                      <a:srgbClr val="F7F2FD"/>
                    </a:solidFill>
                  </a:tcPr>
                </a:tc>
                <a:tc>
                  <a:txBody>
                    <a:bodyPr wrap="square"/>
                    <a:lstStyle/>
                    <a:p>
                      <a:r>
                        <a:rPr sz="1050" b="0">
                          <a:solidFill>
                            <a:srgbClr val="3B2A54"/>
                          </a:solidFill>
                          <a:latin typeface="Arial"/>
                        </a:rPr>
                        <a:t>Comms, IR</a:t>
                      </a:r>
                    </a:p>
                  </a:txBody>
                  <a:tcPr marL="64008" marR="64008" marT="36576" marB="36576" anchor="ctr">
                    <a:solidFill>
                      <a:srgbClr val="F7F2FD"/>
                    </a:solidFill>
                  </a:tcPr>
                </a:tc>
              </a:tr>
              <a:tr h="393192">
                <a:tc>
                  <a:txBody>
                    <a:bodyPr wrap="square"/>
                    <a:lstStyle/>
                    <a:p>
                      <a:r>
                        <a:rPr sz="1050" b="1">
                          <a:solidFill>
                            <a:srgbClr val="11052C"/>
                          </a:solidFill>
                          <a:latin typeface="Arial"/>
                        </a:rPr>
                        <a:t>Dependence on me</a:t>
                      </a:r>
                    </a:p>
                  </a:txBody>
                  <a:tcPr marL="64008" marR="64008" marT="36576" marB="36576" anchor="ctr">
                    <a:solidFill>
                      <a:srgbClr val="FFFFFF"/>
                    </a:solidFill>
                  </a:tcPr>
                </a:tc>
                <a:tc>
                  <a:txBody>
                    <a:bodyPr wrap="square"/>
                    <a:lstStyle/>
                    <a:p>
                      <a:r>
                        <a:rPr sz="1050" b="0">
                          <a:solidFill>
                            <a:srgbClr val="3B2A54"/>
                          </a:solidFill>
                          <a:latin typeface="Arial"/>
                        </a:rPr>
                        <a:t>A named deputy, the decision log, gate packs the CFO can read without me</a:t>
                      </a:r>
                    </a:p>
                  </a:txBody>
                  <a:tcPr marL="64008" marR="64008" marT="36576" marB="36576" anchor="ctr">
                    <a:solidFill>
                      <a:srgbClr val="FFFFFF"/>
                    </a:solidFill>
                  </a:tcPr>
                </a:tc>
                <a:tc>
                  <a:txBody>
                    <a:bodyPr wrap="square"/>
                    <a:lstStyle/>
                    <a:p>
                      <a:r>
                        <a:rPr sz="1050" b="0">
                          <a:solidFill>
                            <a:srgbClr val="3B2A54"/>
                          </a:solidFill>
                          <a:latin typeface="Arial"/>
                        </a:rPr>
                        <a:t>Me</a:t>
                      </a:r>
                    </a:p>
                  </a:txBody>
                  <a:tcPr marL="64008" marR="64008" marT="36576" marB="36576" anchor="ctr">
                    <a:solidFill>
                      <a:srgbClr val="FFFFFF"/>
                    </a:solidFill>
                  </a:tcPr>
                </a:tc>
              </a:tr>
            </a:tbl>
          </a:graphicData>
        </a:graphic>
      </p:graphicFrame>
      <p:sp>
        <p:nvSpPr>
          <p:cNvPr id="7" name="TextBox 6"/>
          <p:cNvSpPr txBox="1"/>
          <p:nvPr/>
        </p:nvSpPr>
        <p:spPr>
          <a:xfrm>
            <a:off x="612648" y="6126480"/>
            <a:ext cx="10515600" cy="320040"/>
          </a:xfrm>
          <a:prstGeom prst="rect">
            <a:avLst/>
          </a:prstGeom>
          <a:noFill/>
        </p:spPr>
        <p:txBody>
          <a:bodyPr wrap="square" anchor="t">
            <a:spAutoFit/>
          </a:bodyPr>
          <a:lstStyle/>
          <a:p>
            <a:pPr algn="l"/>
            <a:r>
              <a:rPr sz="900" b="0">
                <a:solidFill>
                  <a:srgbClr val="6B5B82"/>
                </a:solidFill>
                <a:latin typeface="Arial"/>
              </a:rPr>
              <a:t>Weights and mitigations are my proposals (A13). No savings figure until a site is chosen.</a:t>
            </a:r>
          </a:p>
        </p:txBody>
      </p:sp>
      <p:sp>
        <p:nvSpPr>
          <p:cNvPr id="8" name="TextBox 7"/>
          <p:cNvSpPr txBox="1"/>
          <p:nvPr/>
        </p:nvSpPr>
        <p:spPr>
          <a:xfrm>
            <a:off x="11292840" y="6446520"/>
            <a:ext cx="731520" cy="274320"/>
          </a:xfrm>
          <a:prstGeom prst="rect">
            <a:avLst/>
          </a:prstGeom>
          <a:noFill/>
        </p:spPr>
        <p:txBody>
          <a:bodyPr wrap="square" anchor="t">
            <a:spAutoFit/>
          </a:bodyPr>
          <a:lstStyle/>
          <a:p>
            <a:pPr algn="r"/>
            <a:r>
              <a:rPr sz="900" b="0">
                <a:solidFill>
                  <a:srgbClr val="6B5B82"/>
                </a:solidFill>
                <a:latin typeface="Arial"/>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